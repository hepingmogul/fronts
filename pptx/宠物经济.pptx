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1.xml" ContentType="application/vnd.openxmlformats-officedocument.presentationml.notesSlide+xml"/>
  <Override PartName="/ppt/tags/tag13.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35"/>
  </p:notesMasterIdLst>
  <p:sldIdLst>
    <p:sldId id="376" r:id="rId3"/>
    <p:sldId id="374" r:id="rId4"/>
    <p:sldId id="379" r:id="rId5"/>
    <p:sldId id="299" r:id="rId6"/>
    <p:sldId id="302" r:id="rId7"/>
    <p:sldId id="303" r:id="rId8"/>
    <p:sldId id="304" r:id="rId9"/>
    <p:sldId id="7303" r:id="rId10"/>
    <p:sldId id="305" r:id="rId11"/>
    <p:sldId id="308" r:id="rId12"/>
    <p:sldId id="309" r:id="rId13"/>
    <p:sldId id="311" r:id="rId14"/>
    <p:sldId id="310" r:id="rId15"/>
    <p:sldId id="312" r:id="rId16"/>
    <p:sldId id="313" r:id="rId17"/>
    <p:sldId id="7304" r:id="rId18"/>
    <p:sldId id="314" r:id="rId19"/>
    <p:sldId id="316" r:id="rId20"/>
    <p:sldId id="7305" r:id="rId21"/>
    <p:sldId id="317" r:id="rId22"/>
    <p:sldId id="319" r:id="rId23"/>
    <p:sldId id="320" r:id="rId24"/>
    <p:sldId id="321" r:id="rId25"/>
    <p:sldId id="322" r:id="rId26"/>
    <p:sldId id="323" r:id="rId27"/>
    <p:sldId id="7306" r:id="rId28"/>
    <p:sldId id="324" r:id="rId29"/>
    <p:sldId id="326" r:id="rId30"/>
    <p:sldId id="327" r:id="rId31"/>
    <p:sldId id="7307" r:id="rId32"/>
    <p:sldId id="264" r:id="rId33"/>
    <p:sldId id="258"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CA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263" autoAdjust="0"/>
    <p:restoredTop sz="96331" autoAdjust="0"/>
  </p:normalViewPr>
  <p:slideViewPr>
    <p:cSldViewPr snapToGrid="0" showGuides="1">
      <p:cViewPr varScale="1">
        <p:scale>
          <a:sx n="113" d="100"/>
          <a:sy n="113" d="100"/>
        </p:scale>
        <p:origin x="552" y="96"/>
      </p:cViewPr>
      <p:guideLst>
        <p:guide orient="horz" pos="2228"/>
        <p:guide pos="3863"/>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rgbClr val="04CADF"/>
            </a:solidFill>
            <a:ln>
              <a:noFill/>
            </a:ln>
            <a:effectLst/>
          </c:spPr>
          <c:invertIfNegative val="0"/>
          <c:dLbls>
            <c:spPr>
              <a:noFill/>
              <a:ln>
                <a:noFill/>
              </a:ln>
              <a:effectLst/>
            </c:spPr>
            <c:txPr>
              <a:bodyPr rot="0" spcFirstLastPara="1" vertOverflow="ellipsis" vert="horz" wrap="square" anchor="ctr" anchorCtr="1"/>
              <a:lstStyle/>
              <a:p>
                <a:pPr>
                  <a:defRPr sz="1400" b="0" i="0" u="none" strike="noStrike" kern="1200" baseline="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Sheet1!$A$2:$A$4</c:f>
              <c:strCache>
                <c:ptCount val="3"/>
                <c:pt idx="0">
                  <c:v>宠物食品</c:v>
                </c:pt>
                <c:pt idx="1">
                  <c:v>宠物用品</c:v>
                </c:pt>
                <c:pt idx="2">
                  <c:v>宠物服务</c:v>
                </c:pt>
              </c:strCache>
            </c:strRef>
          </c:cat>
          <c:val>
            <c:numRef>
              <c:f>Sheet1!$B$2:$B$4</c:f>
              <c:numCache>
                <c:formatCode>General</c:formatCode>
                <c:ptCount val="3"/>
                <c:pt idx="0">
                  <c:v>18</c:v>
                </c:pt>
                <c:pt idx="1">
                  <c:v>12</c:v>
                </c:pt>
                <c:pt idx="2">
                  <c:v>11</c:v>
                </c:pt>
              </c:numCache>
            </c:numRef>
          </c:val>
          <c:extLst>
            <c:ext xmlns:c16="http://schemas.microsoft.com/office/drawing/2014/chart" uri="{C3380CC4-5D6E-409C-BE32-E72D297353CC}">
              <c16:uniqueId val="{00000000-5D33-4F8E-B7AF-3570509E68F7}"/>
            </c:ext>
          </c:extLst>
        </c:ser>
        <c:dLbls>
          <c:dLblPos val="outEnd"/>
          <c:showLegendKey val="0"/>
          <c:showVal val="1"/>
          <c:showCatName val="0"/>
          <c:showSerName val="0"/>
          <c:showPercent val="0"/>
          <c:showBubbleSize val="0"/>
        </c:dLbls>
        <c:gapWidth val="219"/>
        <c:overlap val="-27"/>
        <c:axId val="1137182048"/>
        <c:axId val="1137177368"/>
      </c:barChart>
      <c:catAx>
        <c:axId val="1137182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defRPr>
            </a:pPr>
            <a:endParaRPr lang="zh-CN"/>
          </a:p>
        </c:txPr>
        <c:crossAx val="1137177368"/>
        <c:crosses val="autoZero"/>
        <c:auto val="1"/>
        <c:lblAlgn val="ctr"/>
        <c:lblOffset val="100"/>
        <c:noMultiLvlLbl val="0"/>
      </c:catAx>
      <c:valAx>
        <c:axId val="113717736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defRPr>
            </a:pPr>
            <a:endParaRPr lang="zh-CN"/>
          </a:p>
        </c:txPr>
        <c:crossAx val="113718204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lnSpc>
          <a:spcPct val="120000"/>
        </a:lnSpc>
        <a:spcBef>
          <a:spcPts val="50"/>
        </a:spcBef>
        <a:spcAft>
          <a:spcPts val="0"/>
        </a:spcAft>
        <a:defRPr sz="14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02-28T08:59:41.401"/>
    </inkml:context>
    <inkml:brush xml:id="br0">
      <inkml:brushProperty name="width" value="0.1" units="cm"/>
      <inkml:brushProperty name="height" value="0.6" units="cm"/>
      <inkml:brushProperty name="color" value="#849398"/>
      <inkml:brushProperty name="ignorePressure" value="1"/>
      <inkml:brushProperty name="inkEffects" value="pencil"/>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9D814F-9286-429B-8638-DEA34997E958}" type="datetimeFigureOut">
              <a:rPr lang="zh-CN" altLang="en-US" smtClean="0"/>
              <a:t>2026/7/18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A4376C-424F-4EC2-979B-21422E485C62}" type="slidenum">
              <a:rPr lang="zh-CN" altLang="en-US" smtClean="0"/>
              <a:t>‹#›</a:t>
            </a:fld>
            <a:endParaRPr lang="zh-CN" altLang="en-US"/>
          </a:p>
        </p:txBody>
      </p:sp>
    </p:spTree>
    <p:extLst>
      <p:ext uri="{BB962C8B-B14F-4D97-AF65-F5344CB8AC3E}">
        <p14:creationId xmlns:p14="http://schemas.microsoft.com/office/powerpoint/2010/main" val="4042489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微软雅黑" panose="020B0503020204020204" pitchFamily="34" charset="-122"/>
                <a:ea typeface="微软雅黑" panose="020B0503020204020204" pitchFamily="34" charset="-122"/>
              </a:rPr>
              <a:t>模板来自于：第一</a:t>
            </a:r>
            <a:r>
              <a:rPr lang="en-US" altLang="zh-CN" sz="1200" dirty="0">
                <a:latin typeface="微软雅黑" panose="020B0503020204020204" pitchFamily="34" charset="-122"/>
                <a:ea typeface="微软雅黑" panose="020B0503020204020204" pitchFamily="34" charset="-122"/>
              </a:rPr>
              <a:t>PPT</a:t>
            </a:r>
            <a:r>
              <a:rPr lang="zh-CN" altLang="en-US" sz="1200" dirty="0">
                <a:latin typeface="微软雅黑" panose="020B0503020204020204" pitchFamily="34" charset="-122"/>
                <a:ea typeface="微软雅黑" panose="020B0503020204020204" pitchFamily="34" charset="-122"/>
              </a:rPr>
              <a:t> </a:t>
            </a:r>
            <a:r>
              <a:rPr lang="en-US" altLang="zh-CN" sz="1200" dirty="0">
                <a:latin typeface="微软雅黑" panose="020B0503020204020204" pitchFamily="34" charset="-122"/>
                <a:ea typeface="微软雅黑" panose="020B0503020204020204" pitchFamily="34" charset="-122"/>
              </a:rPr>
              <a:t>https://www.1ppt.com/</a:t>
            </a:r>
            <a:endParaRPr lang="zh-CN" altLang="en-US" sz="1200" dirty="0">
              <a:latin typeface="微软雅黑" panose="020B0503020204020204" pitchFamily="34" charset="-122"/>
              <a:ea typeface="微软雅黑"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fld id="{75A4376C-424F-4EC2-979B-21422E485C62}" type="slidenum">
              <a:rPr lang="zh-CN" altLang="en-US" smtClean="0"/>
              <a:t>3</a:t>
            </a:fld>
            <a:endParaRPr lang="zh-CN" altLang="en-US"/>
          </a:p>
        </p:txBody>
      </p:sp>
    </p:spTree>
    <p:extLst>
      <p:ext uri="{BB962C8B-B14F-4D97-AF65-F5344CB8AC3E}">
        <p14:creationId xmlns:p14="http://schemas.microsoft.com/office/powerpoint/2010/main" val="739079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08128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83187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627926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060CEC-B602-7225-EB79-42ABEF57465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1DF1DE3-9CF8-A068-7352-B0F11477B2B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8977147-0398-AFF7-2D61-108C07443C4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7D269166-46C2-139B-7760-C950D765843B}"/>
              </a:ext>
            </a:extLst>
          </p:cNvPr>
          <p:cNvSpPr>
            <a:spLocks noGrp="1"/>
          </p:cNvSpPr>
          <p:nvPr>
            <p:ph type="dt" sz="half" idx="10"/>
          </p:nvPr>
        </p:nvSpPr>
        <p:spPr/>
        <p:txBody>
          <a:bodyPr/>
          <a:lstStyle/>
          <a:p>
            <a:fld id="{5F778DDF-D827-4ECA-AED2-0DA4C449578D}" type="datetimeFigureOut">
              <a:rPr lang="zh-CN" altLang="en-US" smtClean="0"/>
              <a:t>2026/7/18</a:t>
            </a:fld>
            <a:endParaRPr lang="zh-CN" altLang="en-US"/>
          </a:p>
        </p:txBody>
      </p:sp>
      <p:sp>
        <p:nvSpPr>
          <p:cNvPr id="6" name="页脚占位符 5">
            <a:extLst>
              <a:ext uri="{FF2B5EF4-FFF2-40B4-BE49-F238E27FC236}">
                <a16:creationId xmlns:a16="http://schemas.microsoft.com/office/drawing/2014/main" id="{362D1189-8332-E1A0-DDE3-A999674E09F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64D6F83-F9AA-3C4C-1F50-93BFAC9D6DA6}"/>
              </a:ext>
            </a:extLst>
          </p:cNvPr>
          <p:cNvSpPr>
            <a:spLocks noGrp="1"/>
          </p:cNvSpPr>
          <p:nvPr>
            <p:ph type="sldNum" sz="quarter" idx="12"/>
          </p:nvPr>
        </p:nvSpPr>
        <p:spPr/>
        <p:txBody>
          <a:bodyPr/>
          <a:lstStyle/>
          <a:p>
            <a:fld id="{8787FAA9-0005-492C-8069-DDCA08DB7110}" type="slidenum">
              <a:rPr lang="zh-CN" altLang="en-US" smtClean="0"/>
              <a:t>‹#›</a:t>
            </a:fld>
            <a:endParaRPr lang="zh-CN" altLang="en-US"/>
          </a:p>
        </p:txBody>
      </p:sp>
    </p:spTree>
    <p:extLst>
      <p:ext uri="{BB962C8B-B14F-4D97-AF65-F5344CB8AC3E}">
        <p14:creationId xmlns:p14="http://schemas.microsoft.com/office/powerpoint/2010/main" val="3663946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AF0050-D4D1-2DEA-002F-F81AE67361B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C4521AB-EB53-AC12-2D1B-1713833B58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E4F0D28-12D5-943A-CAE2-25334B1808B4}"/>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4F1CE25-2CCB-2A4D-66DD-2E367A4B13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6495C7D-BBB3-815A-3166-3B28F808813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E65CDF-F579-B2AA-62FC-D33FC3C43DB3}"/>
              </a:ext>
            </a:extLst>
          </p:cNvPr>
          <p:cNvSpPr>
            <a:spLocks noGrp="1"/>
          </p:cNvSpPr>
          <p:nvPr>
            <p:ph type="dt" sz="half" idx="10"/>
          </p:nvPr>
        </p:nvSpPr>
        <p:spPr/>
        <p:txBody>
          <a:bodyPr/>
          <a:lstStyle/>
          <a:p>
            <a:fld id="{5F778DDF-D827-4ECA-AED2-0DA4C449578D}" type="datetimeFigureOut">
              <a:rPr lang="zh-CN" altLang="en-US" smtClean="0"/>
              <a:t>2026/7/18</a:t>
            </a:fld>
            <a:endParaRPr lang="zh-CN" altLang="en-US"/>
          </a:p>
        </p:txBody>
      </p:sp>
      <p:sp>
        <p:nvSpPr>
          <p:cNvPr id="8" name="页脚占位符 7">
            <a:extLst>
              <a:ext uri="{FF2B5EF4-FFF2-40B4-BE49-F238E27FC236}">
                <a16:creationId xmlns:a16="http://schemas.microsoft.com/office/drawing/2014/main" id="{19FF2162-4AC7-BC20-B912-5C6AC69BA4F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DAE35BDF-FCC8-DC95-FC82-CA701086D5D7}"/>
              </a:ext>
            </a:extLst>
          </p:cNvPr>
          <p:cNvSpPr>
            <a:spLocks noGrp="1"/>
          </p:cNvSpPr>
          <p:nvPr>
            <p:ph type="sldNum" sz="quarter" idx="12"/>
          </p:nvPr>
        </p:nvSpPr>
        <p:spPr/>
        <p:txBody>
          <a:bodyPr/>
          <a:lstStyle/>
          <a:p>
            <a:fld id="{8787FAA9-0005-492C-8069-DDCA08DB7110}" type="slidenum">
              <a:rPr lang="zh-CN" altLang="en-US" smtClean="0"/>
              <a:t>‹#›</a:t>
            </a:fld>
            <a:endParaRPr lang="zh-CN" altLang="en-US"/>
          </a:p>
        </p:txBody>
      </p:sp>
    </p:spTree>
    <p:extLst>
      <p:ext uri="{BB962C8B-B14F-4D97-AF65-F5344CB8AC3E}">
        <p14:creationId xmlns:p14="http://schemas.microsoft.com/office/powerpoint/2010/main" val="1859486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722E0E-BFD8-9002-0912-77A2AF6183A0}"/>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6CCC7FB-C335-653B-2B61-CC839A5B1565}"/>
              </a:ext>
            </a:extLst>
          </p:cNvPr>
          <p:cNvSpPr>
            <a:spLocks noGrp="1"/>
          </p:cNvSpPr>
          <p:nvPr>
            <p:ph type="dt" sz="half" idx="10"/>
          </p:nvPr>
        </p:nvSpPr>
        <p:spPr/>
        <p:txBody>
          <a:bodyPr/>
          <a:lstStyle/>
          <a:p>
            <a:fld id="{5F778DDF-D827-4ECA-AED2-0DA4C449578D}" type="datetimeFigureOut">
              <a:rPr lang="zh-CN" altLang="en-US" smtClean="0"/>
              <a:t>2026/7/18</a:t>
            </a:fld>
            <a:endParaRPr lang="zh-CN" altLang="en-US"/>
          </a:p>
        </p:txBody>
      </p:sp>
      <p:sp>
        <p:nvSpPr>
          <p:cNvPr id="4" name="页脚占位符 3">
            <a:extLst>
              <a:ext uri="{FF2B5EF4-FFF2-40B4-BE49-F238E27FC236}">
                <a16:creationId xmlns:a16="http://schemas.microsoft.com/office/drawing/2014/main" id="{D379BF9A-AD97-07BF-D928-448EA575418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4A475262-B64D-1CE7-0E43-8CBB608BF963}"/>
              </a:ext>
            </a:extLst>
          </p:cNvPr>
          <p:cNvSpPr>
            <a:spLocks noGrp="1"/>
          </p:cNvSpPr>
          <p:nvPr>
            <p:ph type="sldNum" sz="quarter" idx="12"/>
          </p:nvPr>
        </p:nvSpPr>
        <p:spPr/>
        <p:txBody>
          <a:bodyPr/>
          <a:lstStyle/>
          <a:p>
            <a:fld id="{8787FAA9-0005-492C-8069-DDCA08DB7110}" type="slidenum">
              <a:rPr lang="zh-CN" altLang="en-US" smtClean="0"/>
              <a:t>‹#›</a:t>
            </a:fld>
            <a:endParaRPr lang="zh-CN" altLang="en-US"/>
          </a:p>
        </p:txBody>
      </p:sp>
    </p:spTree>
    <p:extLst>
      <p:ext uri="{BB962C8B-B14F-4D97-AF65-F5344CB8AC3E}">
        <p14:creationId xmlns:p14="http://schemas.microsoft.com/office/powerpoint/2010/main" val="25735217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DC5B074-CBE7-8771-FE5C-F4EF485E739D}"/>
              </a:ext>
            </a:extLst>
          </p:cNvPr>
          <p:cNvSpPr>
            <a:spLocks noGrp="1"/>
          </p:cNvSpPr>
          <p:nvPr>
            <p:ph type="dt" sz="half" idx="10"/>
          </p:nvPr>
        </p:nvSpPr>
        <p:spPr/>
        <p:txBody>
          <a:bodyPr/>
          <a:lstStyle/>
          <a:p>
            <a:fld id="{5F778DDF-D827-4ECA-AED2-0DA4C449578D}" type="datetimeFigureOut">
              <a:rPr lang="zh-CN" altLang="en-US" smtClean="0"/>
              <a:t>2026/7/18</a:t>
            </a:fld>
            <a:endParaRPr lang="zh-CN" altLang="en-US"/>
          </a:p>
        </p:txBody>
      </p:sp>
      <p:sp>
        <p:nvSpPr>
          <p:cNvPr id="3" name="页脚占位符 2">
            <a:extLst>
              <a:ext uri="{FF2B5EF4-FFF2-40B4-BE49-F238E27FC236}">
                <a16:creationId xmlns:a16="http://schemas.microsoft.com/office/drawing/2014/main" id="{116E918B-C062-677C-836D-915FD22007E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85CCB15-4E24-49C4-A9D8-6589A15B439A}"/>
              </a:ext>
            </a:extLst>
          </p:cNvPr>
          <p:cNvSpPr>
            <a:spLocks noGrp="1"/>
          </p:cNvSpPr>
          <p:nvPr>
            <p:ph type="sldNum" sz="quarter" idx="12"/>
          </p:nvPr>
        </p:nvSpPr>
        <p:spPr/>
        <p:txBody>
          <a:bodyPr/>
          <a:lstStyle/>
          <a:p>
            <a:fld id="{8787FAA9-0005-492C-8069-DDCA08DB7110}" type="slidenum">
              <a:rPr lang="zh-CN" altLang="en-US" smtClean="0"/>
              <a:t>‹#›</a:t>
            </a:fld>
            <a:endParaRPr lang="zh-CN" altLang="en-US"/>
          </a:p>
        </p:txBody>
      </p:sp>
    </p:spTree>
    <p:extLst>
      <p:ext uri="{BB962C8B-B14F-4D97-AF65-F5344CB8AC3E}">
        <p14:creationId xmlns:p14="http://schemas.microsoft.com/office/powerpoint/2010/main" val="1997912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163D8-362B-393A-ADC3-E4E93F55DF0C}"/>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3B83AC98-5E29-813A-5C96-112A2BFA8C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2FC7CB4-F71F-EA51-654F-92F6A535B9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9CB2042-C2BE-E472-F7F0-A9882A629533}"/>
              </a:ext>
            </a:extLst>
          </p:cNvPr>
          <p:cNvSpPr>
            <a:spLocks noGrp="1"/>
          </p:cNvSpPr>
          <p:nvPr>
            <p:ph type="dt" sz="half" idx="10"/>
          </p:nvPr>
        </p:nvSpPr>
        <p:spPr/>
        <p:txBody>
          <a:bodyPr/>
          <a:lstStyle/>
          <a:p>
            <a:fld id="{5F778DDF-D827-4ECA-AED2-0DA4C449578D}" type="datetimeFigureOut">
              <a:rPr lang="zh-CN" altLang="en-US" smtClean="0"/>
              <a:t>2026/7/18</a:t>
            </a:fld>
            <a:endParaRPr lang="zh-CN" altLang="en-US"/>
          </a:p>
        </p:txBody>
      </p:sp>
      <p:sp>
        <p:nvSpPr>
          <p:cNvPr id="6" name="页脚占位符 5">
            <a:extLst>
              <a:ext uri="{FF2B5EF4-FFF2-40B4-BE49-F238E27FC236}">
                <a16:creationId xmlns:a16="http://schemas.microsoft.com/office/drawing/2014/main" id="{04842B1F-27B8-7251-E916-E466CB62C25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7DB8D5F-642B-1BB0-6AFE-1176652A484C}"/>
              </a:ext>
            </a:extLst>
          </p:cNvPr>
          <p:cNvSpPr>
            <a:spLocks noGrp="1"/>
          </p:cNvSpPr>
          <p:nvPr>
            <p:ph type="sldNum" sz="quarter" idx="12"/>
          </p:nvPr>
        </p:nvSpPr>
        <p:spPr/>
        <p:txBody>
          <a:bodyPr/>
          <a:lstStyle/>
          <a:p>
            <a:fld id="{8787FAA9-0005-492C-8069-DDCA08DB7110}" type="slidenum">
              <a:rPr lang="zh-CN" altLang="en-US" smtClean="0"/>
              <a:t>‹#›</a:t>
            </a:fld>
            <a:endParaRPr lang="zh-CN" altLang="en-US"/>
          </a:p>
        </p:txBody>
      </p:sp>
    </p:spTree>
    <p:extLst>
      <p:ext uri="{BB962C8B-B14F-4D97-AF65-F5344CB8AC3E}">
        <p14:creationId xmlns:p14="http://schemas.microsoft.com/office/powerpoint/2010/main" val="3350682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769435-C768-9914-53E5-CD3C563FDEC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48BDBE1-5BFA-FB13-5C62-687017380C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EB83B8A-0823-E54E-0F72-30415283B3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DD7BD0E-5DBD-C220-943E-ADCD88B0A2D5}"/>
              </a:ext>
            </a:extLst>
          </p:cNvPr>
          <p:cNvSpPr>
            <a:spLocks noGrp="1"/>
          </p:cNvSpPr>
          <p:nvPr>
            <p:ph type="dt" sz="half" idx="10"/>
          </p:nvPr>
        </p:nvSpPr>
        <p:spPr/>
        <p:txBody>
          <a:bodyPr/>
          <a:lstStyle/>
          <a:p>
            <a:fld id="{5F778DDF-D827-4ECA-AED2-0DA4C449578D}" type="datetimeFigureOut">
              <a:rPr lang="zh-CN" altLang="en-US" smtClean="0"/>
              <a:t>2026/7/18</a:t>
            </a:fld>
            <a:endParaRPr lang="zh-CN" altLang="en-US"/>
          </a:p>
        </p:txBody>
      </p:sp>
      <p:sp>
        <p:nvSpPr>
          <p:cNvPr id="6" name="页脚占位符 5">
            <a:extLst>
              <a:ext uri="{FF2B5EF4-FFF2-40B4-BE49-F238E27FC236}">
                <a16:creationId xmlns:a16="http://schemas.microsoft.com/office/drawing/2014/main" id="{C7BFA02A-6FC6-E52F-EE8E-D6ECA8E90A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B73937C-9CFE-9364-A73A-13FCCB87122E}"/>
              </a:ext>
            </a:extLst>
          </p:cNvPr>
          <p:cNvSpPr>
            <a:spLocks noGrp="1"/>
          </p:cNvSpPr>
          <p:nvPr>
            <p:ph type="sldNum" sz="quarter" idx="12"/>
          </p:nvPr>
        </p:nvSpPr>
        <p:spPr/>
        <p:txBody>
          <a:bodyPr/>
          <a:lstStyle/>
          <a:p>
            <a:fld id="{8787FAA9-0005-492C-8069-DDCA08DB7110}" type="slidenum">
              <a:rPr lang="zh-CN" altLang="en-US" smtClean="0"/>
              <a:t>‹#›</a:t>
            </a:fld>
            <a:endParaRPr lang="zh-CN" altLang="en-US"/>
          </a:p>
        </p:txBody>
      </p:sp>
    </p:spTree>
    <p:extLst>
      <p:ext uri="{BB962C8B-B14F-4D97-AF65-F5344CB8AC3E}">
        <p14:creationId xmlns:p14="http://schemas.microsoft.com/office/powerpoint/2010/main" val="33354972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341E15-D4A3-802B-0C38-0C3049921542}"/>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12220FC-45DB-97D0-F6F0-08869123BC7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B112FD9-CB62-56BE-5B8A-A3D592436671}"/>
              </a:ext>
            </a:extLst>
          </p:cNvPr>
          <p:cNvSpPr>
            <a:spLocks noGrp="1"/>
          </p:cNvSpPr>
          <p:nvPr>
            <p:ph type="dt" sz="half" idx="10"/>
          </p:nvPr>
        </p:nvSpPr>
        <p:spPr/>
        <p:txBody>
          <a:bodyPr/>
          <a:lstStyle/>
          <a:p>
            <a:fld id="{5F778DDF-D827-4ECA-AED2-0DA4C449578D}" type="datetimeFigureOut">
              <a:rPr lang="zh-CN" altLang="en-US" smtClean="0"/>
              <a:t>2026/7/18</a:t>
            </a:fld>
            <a:endParaRPr lang="zh-CN" altLang="en-US"/>
          </a:p>
        </p:txBody>
      </p:sp>
      <p:sp>
        <p:nvSpPr>
          <p:cNvPr id="5" name="页脚占位符 4">
            <a:extLst>
              <a:ext uri="{FF2B5EF4-FFF2-40B4-BE49-F238E27FC236}">
                <a16:creationId xmlns:a16="http://schemas.microsoft.com/office/drawing/2014/main" id="{C4492014-A467-3E59-6918-19F1BB01F26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5DF8E12-D083-4096-8F78-EF06206CA808}"/>
              </a:ext>
            </a:extLst>
          </p:cNvPr>
          <p:cNvSpPr>
            <a:spLocks noGrp="1"/>
          </p:cNvSpPr>
          <p:nvPr>
            <p:ph type="sldNum" sz="quarter" idx="12"/>
          </p:nvPr>
        </p:nvSpPr>
        <p:spPr/>
        <p:txBody>
          <a:bodyPr/>
          <a:lstStyle/>
          <a:p>
            <a:fld id="{8787FAA9-0005-492C-8069-DDCA08DB7110}" type="slidenum">
              <a:rPr lang="zh-CN" altLang="en-US" smtClean="0"/>
              <a:t>‹#›</a:t>
            </a:fld>
            <a:endParaRPr lang="zh-CN" altLang="en-US"/>
          </a:p>
        </p:txBody>
      </p:sp>
    </p:spTree>
    <p:extLst>
      <p:ext uri="{BB962C8B-B14F-4D97-AF65-F5344CB8AC3E}">
        <p14:creationId xmlns:p14="http://schemas.microsoft.com/office/powerpoint/2010/main" val="23750575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D00A520-29D5-6A52-8ED8-BC3B46596B2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323FF2E-1894-EB34-941D-BFB1374D76F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E2B637-1075-5055-1629-38FBAB592561}"/>
              </a:ext>
            </a:extLst>
          </p:cNvPr>
          <p:cNvSpPr>
            <a:spLocks noGrp="1"/>
          </p:cNvSpPr>
          <p:nvPr>
            <p:ph type="dt" sz="half" idx="10"/>
          </p:nvPr>
        </p:nvSpPr>
        <p:spPr/>
        <p:txBody>
          <a:bodyPr/>
          <a:lstStyle/>
          <a:p>
            <a:fld id="{5F778DDF-D827-4ECA-AED2-0DA4C449578D}" type="datetimeFigureOut">
              <a:rPr lang="zh-CN" altLang="en-US" smtClean="0"/>
              <a:t>2026/7/18</a:t>
            </a:fld>
            <a:endParaRPr lang="zh-CN" altLang="en-US"/>
          </a:p>
        </p:txBody>
      </p:sp>
      <p:sp>
        <p:nvSpPr>
          <p:cNvPr id="5" name="页脚占位符 4">
            <a:extLst>
              <a:ext uri="{FF2B5EF4-FFF2-40B4-BE49-F238E27FC236}">
                <a16:creationId xmlns:a16="http://schemas.microsoft.com/office/drawing/2014/main" id="{4D9BC89F-16C3-8372-B848-0E3062E1BF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2C8D1C-8E69-21BB-1AF2-25A2C36588C9}"/>
              </a:ext>
            </a:extLst>
          </p:cNvPr>
          <p:cNvSpPr>
            <a:spLocks noGrp="1"/>
          </p:cNvSpPr>
          <p:nvPr>
            <p:ph type="sldNum" sz="quarter" idx="12"/>
          </p:nvPr>
        </p:nvSpPr>
        <p:spPr/>
        <p:txBody>
          <a:bodyPr/>
          <a:lstStyle/>
          <a:p>
            <a:fld id="{8787FAA9-0005-492C-8069-DDCA08DB7110}" type="slidenum">
              <a:rPr lang="zh-CN" altLang="en-US" smtClean="0"/>
              <a:t>‹#›</a:t>
            </a:fld>
            <a:endParaRPr lang="zh-CN" altLang="en-US"/>
          </a:p>
        </p:txBody>
      </p:sp>
    </p:spTree>
    <p:extLst>
      <p:ext uri="{BB962C8B-B14F-4D97-AF65-F5344CB8AC3E}">
        <p14:creationId xmlns:p14="http://schemas.microsoft.com/office/powerpoint/2010/main" val="341121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2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4488252"/>
      </p:ext>
    </p:extLst>
  </p:cSld>
  <p:clrMapOvr>
    <a:masterClrMapping/>
  </p:clrMapOvr>
  <p:transition advTm="2000">
    <p:wedg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3_标题幻灯片">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CCAA48E9-9C66-159C-F41B-4AFEB5E5AA87}"/>
              </a:ext>
            </a:extLst>
          </p:cNvPr>
          <p:cNvSpPr txBox="1"/>
          <p:nvPr userDrawn="1"/>
        </p:nvSpPr>
        <p:spPr>
          <a:xfrm>
            <a:off x="11651940" y="0"/>
            <a:ext cx="540060" cy="118430"/>
          </a:xfrm>
          <a:prstGeom prst="rect">
            <a:avLst/>
          </a:prstGeom>
          <a:noFill/>
        </p:spPr>
        <p:txBody>
          <a:bodyPr wrap="square" rtlCol="0">
            <a:spAutoFit/>
          </a:bodyPr>
          <a:lstStyle/>
          <a:p>
            <a:pPr>
              <a:lnSpc>
                <a:spcPct val="200000"/>
              </a:lnSpc>
            </a:pPr>
            <a:r>
              <a:rPr lang="zh-CN" altLang="en-US" sz="100" dirty="0">
                <a:solidFill>
                  <a:prstClr val="black"/>
                </a:solidFill>
                <a:latin typeface="微软雅黑" panose="020B0503020204020204" pitchFamily="34" charset="-122"/>
                <a:ea typeface="微软雅黑" panose="020B0503020204020204" pitchFamily="34" charset="-122"/>
                <a:hlinkClick r:id="rId2"/>
              </a:rPr>
              <a:t>行业</a:t>
            </a: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en-US" altLang="zh-CN" sz="100" dirty="0">
                <a:solidFill>
                  <a:prstClr val="black"/>
                </a:solid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1553163623"/>
      </p:ext>
    </p:extLst>
  </p:cSld>
  <p:clrMapOvr>
    <a:masterClrMapping/>
  </p:clrMapOvr>
  <p:transition advTm="2000">
    <p:wedg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2026/7/18</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4419890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t>2026/7/18</a:t>
            </a:fld>
            <a:endParaRPr lang="zh-CN" altLang="en-US"/>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t>‹#›</a:t>
            </a:fld>
            <a:endParaRPr lang="zh-CN" altLang="en-US"/>
          </a:p>
        </p:txBody>
      </p:sp>
    </p:spTree>
    <p:extLst>
      <p:ext uri="{BB962C8B-B14F-4D97-AF65-F5344CB8AC3E}">
        <p14:creationId xmlns:p14="http://schemas.microsoft.com/office/powerpoint/2010/main" val="1479429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93507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F4959DB-C652-FA42-5A93-F77FBEDEFB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C930C418-B8C7-F122-B18D-6C3A4AC15B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53D2CB8-283F-D762-CB58-B8DEEAF1CD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778DDF-D827-4ECA-AED2-0DA4C449578D}" type="datetimeFigureOut">
              <a:rPr lang="zh-CN" altLang="en-US" smtClean="0"/>
              <a:t>2026/7/18</a:t>
            </a:fld>
            <a:endParaRPr lang="zh-CN" altLang="en-US"/>
          </a:p>
        </p:txBody>
      </p:sp>
      <p:sp>
        <p:nvSpPr>
          <p:cNvPr id="5" name="页脚占位符 4">
            <a:extLst>
              <a:ext uri="{FF2B5EF4-FFF2-40B4-BE49-F238E27FC236}">
                <a16:creationId xmlns:a16="http://schemas.microsoft.com/office/drawing/2014/main" id="{719F6CC8-5430-0F41-D10A-33FEDF2363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C023727-9548-EAA8-2595-34286AB3E1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87FAA9-0005-492C-8069-DDCA08DB7110}" type="slidenum">
              <a:rPr lang="zh-CN" altLang="en-US" smtClean="0"/>
              <a:t>‹#›</a:t>
            </a:fld>
            <a:endParaRPr lang="zh-CN" altLang="en-US"/>
          </a:p>
        </p:txBody>
      </p:sp>
    </p:spTree>
    <p:extLst>
      <p:ext uri="{BB962C8B-B14F-4D97-AF65-F5344CB8AC3E}">
        <p14:creationId xmlns:p14="http://schemas.microsoft.com/office/powerpoint/2010/main" val="7394444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1275464"/>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png"/><Relationship Id="rId5" Type="http://schemas.openxmlformats.org/officeDocument/2006/relationships/tags" Target="../tags/tag5.xml"/><Relationship Id="rId10" Type="http://schemas.openxmlformats.org/officeDocument/2006/relationships/image" Target="../media/image1.png"/><Relationship Id="rId4" Type="http://schemas.openxmlformats.org/officeDocument/2006/relationships/tags" Target="../tags/tag4.xml"/><Relationship Id="rId9"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2.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2.xml"/><Relationship Id="rId1" Type="http://schemas.openxmlformats.org/officeDocument/2006/relationships/tags" Target="../tags/tag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2.xml"/><Relationship Id="rId1" Type="http://schemas.openxmlformats.org/officeDocument/2006/relationships/tags" Target="../tags/tag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slideLayout" Target="../slideLayouts/slideLayout12.xml"/><Relationship Id="rId1" Type="http://schemas.openxmlformats.org/officeDocument/2006/relationships/tags" Target="../tags/tag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11" Type="http://schemas.openxmlformats.org/officeDocument/2006/relationships/image" Target="../media/image2.png"/><Relationship Id="rId5" Type="http://schemas.openxmlformats.org/officeDocument/2006/relationships/tags" Target="../tags/tag21.xml"/><Relationship Id="rId10" Type="http://schemas.openxmlformats.org/officeDocument/2006/relationships/image" Target="../media/image1.png"/><Relationship Id="rId4" Type="http://schemas.openxmlformats.org/officeDocument/2006/relationships/tags" Target="../tags/tag20.xml"/><Relationship Id="rId9"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hyperlink" Target="https://ibaotu.com/ppt/" TargetMode="External"/><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8" Type="http://schemas.openxmlformats.org/officeDocument/2006/relationships/hyperlink" Target="http://www.1ppt.com/xiazai/" TargetMode="External"/><Relationship Id="rId13" Type="http://schemas.openxmlformats.org/officeDocument/2006/relationships/hyperlink" Target="http://www.1ppt.com/kejian/" TargetMode="External"/><Relationship Id="rId18" Type="http://schemas.openxmlformats.org/officeDocument/2006/relationships/image" Target="../media/image17.png"/><Relationship Id="rId3" Type="http://schemas.openxmlformats.org/officeDocument/2006/relationships/hyperlink" Target="http://www.1ppt.com/hangye/" TargetMode="External"/><Relationship Id="rId7" Type="http://schemas.openxmlformats.org/officeDocument/2006/relationships/hyperlink" Target="http://www.1ppt.com/tubiao/" TargetMode="External"/><Relationship Id="rId12" Type="http://schemas.openxmlformats.org/officeDocument/2006/relationships/hyperlink" Target="http://www.1ppt.com/jianli/" TargetMode="External"/><Relationship Id="rId17" Type="http://schemas.openxmlformats.org/officeDocument/2006/relationships/hyperlink" Target="http://www.1ppt.com/ziti/" TargetMode="External"/><Relationship Id="rId2" Type="http://schemas.openxmlformats.org/officeDocument/2006/relationships/hyperlink" Target="http://www.1ppt.com/moban/" TargetMode="External"/><Relationship Id="rId16" Type="http://schemas.openxmlformats.org/officeDocument/2006/relationships/hyperlink" Target="http://www.1ppt.com/jiaoan/" TargetMode="External"/><Relationship Id="rId20" Type="http://schemas.openxmlformats.org/officeDocument/2006/relationships/image" Target="../media/image18.png"/><Relationship Id="rId1" Type="http://schemas.openxmlformats.org/officeDocument/2006/relationships/slideLayout" Target="../slideLayouts/slideLayout16.xml"/><Relationship Id="rId6" Type="http://schemas.openxmlformats.org/officeDocument/2006/relationships/hyperlink" Target="http://www.1ppt.com/beijing/" TargetMode="External"/><Relationship Id="rId11" Type="http://schemas.openxmlformats.org/officeDocument/2006/relationships/hyperlink" Target="http://www.1ppt.com/excel/" TargetMode="External"/><Relationship Id="rId5" Type="http://schemas.openxmlformats.org/officeDocument/2006/relationships/hyperlink" Target="http://www.1ppt.com/sucai/" TargetMode="External"/><Relationship Id="rId15" Type="http://schemas.openxmlformats.org/officeDocument/2006/relationships/hyperlink" Target="http://www.1ppt.com/shiti/" TargetMode="External"/><Relationship Id="rId10" Type="http://schemas.openxmlformats.org/officeDocument/2006/relationships/hyperlink" Target="http://www.1ppt.com/word/" TargetMode="External"/><Relationship Id="rId19" Type="http://schemas.openxmlformats.org/officeDocument/2006/relationships/customXml" Target="../ink/ink1.xml"/><Relationship Id="rId4" Type="http://schemas.openxmlformats.org/officeDocument/2006/relationships/hyperlink" Target="http://www.1ppt.com/jieri/" TargetMode="External"/><Relationship Id="rId9" Type="http://schemas.openxmlformats.org/officeDocument/2006/relationships/hyperlink" Target="http://www.1ppt.com/powerpoint/" TargetMode="External"/><Relationship Id="rId14" Type="http://schemas.openxmlformats.org/officeDocument/2006/relationships/hyperlink" Target="http://www.1ppt.com/shouchaoba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88B466-7CE4-901A-5185-FA6AEBC288B9}"/>
            </a:ext>
          </a:extLst>
        </p:cNvPr>
        <p:cNvGrpSpPr/>
        <p:nvPr/>
      </p:nvGrpSpPr>
      <p:grpSpPr>
        <a:xfrm>
          <a:off x="0" y="0"/>
          <a:ext cx="0" cy="0"/>
          <a:chOff x="0" y="0"/>
          <a:chExt cx="0" cy="0"/>
        </a:xfrm>
      </p:grpSpPr>
      <p:sp>
        <p:nvSpPr>
          <p:cNvPr id="37" name="图形">
            <a:extLst>
              <a:ext uri="{FF2B5EF4-FFF2-40B4-BE49-F238E27FC236}">
                <a16:creationId xmlns:a16="http://schemas.microsoft.com/office/drawing/2014/main" id="{F0EFD1FD-1A65-69D3-831C-CCA4DA8C9F49}"/>
              </a:ext>
            </a:extLst>
          </p:cNvPr>
          <p:cNvSpPr/>
          <p:nvPr/>
        </p:nvSpPr>
        <p:spPr>
          <a:xfrm flipH="1">
            <a:off x="0" y="2895398"/>
            <a:ext cx="5872763" cy="3962602"/>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53373" h="5325261">
                <a:moveTo>
                  <a:pt x="4595548" y="1367261"/>
                </a:moveTo>
                <a:cubicBezTo>
                  <a:pt x="4985179" y="-967801"/>
                  <a:pt x="8167423" y="395711"/>
                  <a:pt x="10053373" y="395711"/>
                </a:cubicBezTo>
                <a:lnTo>
                  <a:pt x="10053373" y="5325261"/>
                </a:lnTo>
                <a:lnTo>
                  <a:pt x="23548" y="5325261"/>
                </a:lnTo>
                <a:cubicBezTo>
                  <a:pt x="-376502" y="2710528"/>
                  <a:pt x="4450989" y="4358963"/>
                  <a:pt x="4595548" y="1367261"/>
                </a:cubicBezTo>
                <a:close/>
              </a:path>
            </a:pathLst>
          </a:custGeom>
          <a:gradFill flip="none" rotWithShape="1">
            <a:gsLst>
              <a:gs pos="0">
                <a:srgbClr val="04CADF">
                  <a:alpha val="70000"/>
                </a:srgbClr>
              </a:gs>
              <a:gs pos="100000">
                <a:srgbClr val="B9F0F6">
                  <a:alpha val="0"/>
                </a:srgbClr>
              </a:gs>
            </a:gsLst>
            <a:lin ang="16200000" scaled="1"/>
            <a:tileRect/>
          </a:gradFill>
          <a:ln>
            <a:noFill/>
          </a:ln>
          <a:effectLst>
            <a:outerShdw blurRad="50800" dist="38100" dir="21540000" algn="tr" rotWithShape="0">
              <a:srgbClr val="E95D8E">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 name="图形">
            <a:extLst>
              <a:ext uri="{FF2B5EF4-FFF2-40B4-BE49-F238E27FC236}">
                <a16:creationId xmlns:a16="http://schemas.microsoft.com/office/drawing/2014/main" id="{8FF48CFA-3F06-9874-AE71-9A9217B5C078}"/>
              </a:ext>
            </a:extLst>
          </p:cNvPr>
          <p:cNvSpPr/>
          <p:nvPr/>
        </p:nvSpPr>
        <p:spPr>
          <a:xfrm flipV="1">
            <a:off x="7506586" y="1268"/>
            <a:ext cx="4685413" cy="2435023"/>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 name="connsiteX0-121" fmla="*/ 9240363 w 14698188"/>
              <a:gd name="connsiteY0-122" fmla="*/ 1367261 h 5325261"/>
              <a:gd name="connsiteX1-123" fmla="*/ 14698188 w 14698188"/>
              <a:gd name="connsiteY1-124" fmla="*/ 395711 h 5325261"/>
              <a:gd name="connsiteX2-125" fmla="*/ 14698188 w 14698188"/>
              <a:gd name="connsiteY2-126" fmla="*/ 5325261 h 5325261"/>
              <a:gd name="connsiteX3-127" fmla="*/ 12308 w 14698188"/>
              <a:gd name="connsiteY3-128" fmla="*/ 5325261 h 5325261"/>
              <a:gd name="connsiteX4-129" fmla="*/ 9240363 w 14698188"/>
              <a:gd name="connsiteY4-130" fmla="*/ 1367261 h 5325261"/>
              <a:gd name="connsiteX0-131" fmla="*/ 9240363 w 14698188"/>
              <a:gd name="connsiteY0-132" fmla="*/ 1076000 h 5034000"/>
              <a:gd name="connsiteX1-133" fmla="*/ 14698188 w 14698188"/>
              <a:gd name="connsiteY1-134" fmla="*/ 104450 h 5034000"/>
              <a:gd name="connsiteX2-135" fmla="*/ 14698188 w 14698188"/>
              <a:gd name="connsiteY2-136" fmla="*/ 5034000 h 5034000"/>
              <a:gd name="connsiteX3-137" fmla="*/ 12308 w 14698188"/>
              <a:gd name="connsiteY3-138" fmla="*/ 5034000 h 5034000"/>
              <a:gd name="connsiteX4-139" fmla="*/ 9240363 w 14698188"/>
              <a:gd name="connsiteY4-140" fmla="*/ 1076000 h 5034000"/>
              <a:gd name="connsiteX0-141" fmla="*/ 9247695 w 14705520"/>
              <a:gd name="connsiteY0-142" fmla="*/ 1076000 h 5034000"/>
              <a:gd name="connsiteX1-143" fmla="*/ 14705520 w 14705520"/>
              <a:gd name="connsiteY1-144" fmla="*/ 104450 h 5034000"/>
              <a:gd name="connsiteX2-145" fmla="*/ 14705520 w 14705520"/>
              <a:gd name="connsiteY2-146" fmla="*/ 5034000 h 5034000"/>
              <a:gd name="connsiteX3-147" fmla="*/ 19640 w 14705520"/>
              <a:gd name="connsiteY3-148" fmla="*/ 5034000 h 5034000"/>
              <a:gd name="connsiteX4-149" fmla="*/ 9247695 w 14705520"/>
              <a:gd name="connsiteY4-150" fmla="*/ 1076000 h 5034000"/>
              <a:gd name="connsiteX0-151" fmla="*/ 9251946 w 14709771"/>
              <a:gd name="connsiteY0-152" fmla="*/ 1076000 h 5034000"/>
              <a:gd name="connsiteX1-153" fmla="*/ 14709771 w 14709771"/>
              <a:gd name="connsiteY1-154" fmla="*/ 104450 h 5034000"/>
              <a:gd name="connsiteX2-155" fmla="*/ 14709771 w 14709771"/>
              <a:gd name="connsiteY2-156" fmla="*/ 5034000 h 5034000"/>
              <a:gd name="connsiteX3-157" fmla="*/ 23891 w 14709771"/>
              <a:gd name="connsiteY3-158" fmla="*/ 5034000 h 5034000"/>
              <a:gd name="connsiteX4-159" fmla="*/ 9251946 w 14709771"/>
              <a:gd name="connsiteY4-160" fmla="*/ 1076000 h 5034000"/>
              <a:gd name="connsiteX0-161" fmla="*/ 9251946 w 14709771"/>
              <a:gd name="connsiteY0-162" fmla="*/ 1273721 h 5231721"/>
              <a:gd name="connsiteX1-163" fmla="*/ 14709771 w 14709771"/>
              <a:gd name="connsiteY1-164" fmla="*/ 302171 h 5231721"/>
              <a:gd name="connsiteX2-165" fmla="*/ 14709771 w 14709771"/>
              <a:gd name="connsiteY2-166" fmla="*/ 5231721 h 5231721"/>
              <a:gd name="connsiteX3-167" fmla="*/ 23891 w 14709771"/>
              <a:gd name="connsiteY3-168" fmla="*/ 5231721 h 5231721"/>
              <a:gd name="connsiteX4-169" fmla="*/ 9251946 w 14709771"/>
              <a:gd name="connsiteY4-170" fmla="*/ 1273721 h 5231721"/>
              <a:gd name="connsiteX0-171" fmla="*/ 10013250 w 14706648"/>
              <a:gd name="connsiteY0-172" fmla="*/ 2312727 h 4929550"/>
              <a:gd name="connsiteX1-173" fmla="*/ 14706648 w 14706648"/>
              <a:gd name="connsiteY1-174" fmla="*/ 0 h 4929550"/>
              <a:gd name="connsiteX2-175" fmla="*/ 14706648 w 14706648"/>
              <a:gd name="connsiteY2-176" fmla="*/ 4929550 h 4929550"/>
              <a:gd name="connsiteX3-177" fmla="*/ 20768 w 14706648"/>
              <a:gd name="connsiteY3-178" fmla="*/ 4929550 h 4929550"/>
              <a:gd name="connsiteX4-179" fmla="*/ 10013250 w 14706648"/>
              <a:gd name="connsiteY4-180" fmla="*/ 2312727 h 4929550"/>
              <a:gd name="connsiteX0-181" fmla="*/ 10011463 w 14704861"/>
              <a:gd name="connsiteY0-182" fmla="*/ 2312727 h 4929550"/>
              <a:gd name="connsiteX1-183" fmla="*/ 14704861 w 14704861"/>
              <a:gd name="connsiteY1-184" fmla="*/ 0 h 4929550"/>
              <a:gd name="connsiteX2-185" fmla="*/ 14704861 w 14704861"/>
              <a:gd name="connsiteY2-186" fmla="*/ 4929550 h 4929550"/>
              <a:gd name="connsiteX3-187" fmla="*/ 18981 w 14704861"/>
              <a:gd name="connsiteY3-188" fmla="*/ 4929550 h 4929550"/>
              <a:gd name="connsiteX4-189" fmla="*/ 10011463 w 14704861"/>
              <a:gd name="connsiteY4-190" fmla="*/ 2312727 h 4929550"/>
              <a:gd name="connsiteX0-191" fmla="*/ 10011463 w 14704861"/>
              <a:gd name="connsiteY0-192" fmla="*/ 2312727 h 4929550"/>
              <a:gd name="connsiteX1-193" fmla="*/ 14704861 w 14704861"/>
              <a:gd name="connsiteY1-194" fmla="*/ 0 h 4929550"/>
              <a:gd name="connsiteX2-195" fmla="*/ 14704861 w 14704861"/>
              <a:gd name="connsiteY2-196" fmla="*/ 4929550 h 4929550"/>
              <a:gd name="connsiteX3-197" fmla="*/ 18981 w 14704861"/>
              <a:gd name="connsiteY3-198" fmla="*/ 4929550 h 4929550"/>
              <a:gd name="connsiteX4-199" fmla="*/ 10011463 w 14704861"/>
              <a:gd name="connsiteY4-200" fmla="*/ 2312727 h 49295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704861" h="4929550">
                <a:moveTo>
                  <a:pt x="10011463" y="2312727"/>
                </a:moveTo>
                <a:cubicBezTo>
                  <a:pt x="13111336" y="451021"/>
                  <a:pt x="12818911" y="0"/>
                  <a:pt x="14704861" y="0"/>
                </a:cubicBezTo>
                <a:lnTo>
                  <a:pt x="14704861" y="4929550"/>
                </a:lnTo>
                <a:lnTo>
                  <a:pt x="18981" y="4929550"/>
                </a:lnTo>
                <a:cubicBezTo>
                  <a:pt x="-381069" y="2314817"/>
                  <a:pt x="5627810" y="4476055"/>
                  <a:pt x="10011463" y="2312727"/>
                </a:cubicBezTo>
                <a:close/>
              </a:path>
            </a:pathLst>
          </a:custGeom>
          <a:gradFill flip="none" rotWithShape="1">
            <a:gsLst>
              <a:gs pos="13000">
                <a:srgbClr val="04CADF">
                  <a:alpha val="70000"/>
                </a:srgbClr>
              </a:gs>
              <a:gs pos="100000">
                <a:srgbClr val="B9F0F6">
                  <a:alpha val="0"/>
                </a:srgb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9" name="组合 8">
            <a:extLst>
              <a:ext uri="{FF2B5EF4-FFF2-40B4-BE49-F238E27FC236}">
                <a16:creationId xmlns:a16="http://schemas.microsoft.com/office/drawing/2014/main" id="{9D5409ED-22FB-5877-FD89-535045F66DD9}"/>
              </a:ext>
            </a:extLst>
          </p:cNvPr>
          <p:cNvGrpSpPr/>
          <p:nvPr/>
        </p:nvGrpSpPr>
        <p:grpSpPr>
          <a:xfrm>
            <a:off x="229742" y="1281428"/>
            <a:ext cx="4471188" cy="4471189"/>
            <a:chOff x="6550025" y="1108105"/>
            <a:chExt cx="5435600" cy="5435600"/>
          </a:xfrm>
        </p:grpSpPr>
        <p:sp>
          <p:nvSpPr>
            <p:cNvPr id="12" name="椭圆 11">
              <a:extLst>
                <a:ext uri="{FF2B5EF4-FFF2-40B4-BE49-F238E27FC236}">
                  <a16:creationId xmlns:a16="http://schemas.microsoft.com/office/drawing/2014/main" id="{FB7CB735-23FF-7A89-5C9D-E5D941F85049}"/>
                </a:ext>
              </a:extLst>
            </p:cNvPr>
            <p:cNvSpPr/>
            <p:nvPr/>
          </p:nvSpPr>
          <p:spPr>
            <a:xfrm flipH="1">
              <a:off x="6550025" y="1108105"/>
              <a:ext cx="5435600" cy="5435600"/>
            </a:xfrm>
            <a:prstGeom prst="ellipse">
              <a:avLst/>
            </a:prstGeom>
            <a:solidFill>
              <a:schemeClr val="bg1"/>
            </a:solidFill>
            <a:ln>
              <a:noFill/>
            </a:ln>
            <a:effectLst>
              <a:outerShdw blurRad="584200" dist="203200" dir="5400000" sx="92000" sy="92000" algn="ctr" rotWithShape="0">
                <a:srgbClr val="04CADF">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 name="椭圆 12">
              <a:extLst>
                <a:ext uri="{FF2B5EF4-FFF2-40B4-BE49-F238E27FC236}">
                  <a16:creationId xmlns:a16="http://schemas.microsoft.com/office/drawing/2014/main" id="{6146E02B-200D-7E58-02B6-C318C0D32D5B}"/>
                </a:ext>
              </a:extLst>
            </p:cNvPr>
            <p:cNvSpPr/>
            <p:nvPr/>
          </p:nvSpPr>
          <p:spPr>
            <a:xfrm flipH="1">
              <a:off x="7048486" y="1606566"/>
              <a:ext cx="4438678" cy="4438678"/>
            </a:xfrm>
            <a:prstGeom prst="ellipse">
              <a:avLst/>
            </a:prstGeom>
            <a:gradFill flip="none" rotWithShape="1">
              <a:gsLst>
                <a:gs pos="0">
                  <a:srgbClr val="04CADF">
                    <a:alpha val="40000"/>
                  </a:srgbClr>
                </a:gs>
                <a:gs pos="86000">
                  <a:srgbClr val="04CADF">
                    <a:alpha val="0"/>
                  </a:srgbClr>
                </a:gs>
              </a:gsLst>
              <a:lin ang="54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56" name="组合 55">
            <a:extLst>
              <a:ext uri="{FF2B5EF4-FFF2-40B4-BE49-F238E27FC236}">
                <a16:creationId xmlns:a16="http://schemas.microsoft.com/office/drawing/2014/main" id="{EFB3DD98-A540-BD95-1D08-F163982037BC}"/>
              </a:ext>
            </a:extLst>
          </p:cNvPr>
          <p:cNvGrpSpPr/>
          <p:nvPr/>
        </p:nvGrpSpPr>
        <p:grpSpPr>
          <a:xfrm>
            <a:off x="9530872" y="6208793"/>
            <a:ext cx="2506981" cy="649207"/>
            <a:chOff x="7395787" y="5706745"/>
            <a:chExt cx="4445694" cy="1151255"/>
          </a:xfrm>
          <a:solidFill>
            <a:srgbClr val="04CADF"/>
          </a:solidFill>
        </p:grpSpPr>
        <p:sp>
          <p:nvSpPr>
            <p:cNvPr id="6" name="图形">
              <a:extLst>
                <a:ext uri="{FF2B5EF4-FFF2-40B4-BE49-F238E27FC236}">
                  <a16:creationId xmlns:a16="http://schemas.microsoft.com/office/drawing/2014/main" id="{2E37809D-8082-2DCC-6FF4-68B3DA9B7626}"/>
                </a:ext>
              </a:extLst>
            </p:cNvPr>
            <p:cNvSpPr/>
            <p:nvPr/>
          </p:nvSpPr>
          <p:spPr>
            <a:xfrm flipV="1">
              <a:off x="11137266" y="5706745"/>
              <a:ext cx="704215" cy="70421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图形">
              <a:extLst>
                <a:ext uri="{FF2B5EF4-FFF2-40B4-BE49-F238E27FC236}">
                  <a16:creationId xmlns:a16="http://schemas.microsoft.com/office/drawing/2014/main" id="{CC752053-1DB1-110E-07BD-42F78A0D560E}"/>
                </a:ext>
              </a:extLst>
            </p:cNvPr>
            <p:cNvSpPr/>
            <p:nvPr/>
          </p:nvSpPr>
          <p:spPr>
            <a:xfrm flipV="1">
              <a:off x="10269283" y="6279832"/>
              <a:ext cx="262255" cy="26225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 name="任意多边形: 形状 33">
              <a:extLst>
                <a:ext uri="{FF2B5EF4-FFF2-40B4-BE49-F238E27FC236}">
                  <a16:creationId xmlns:a16="http://schemas.microsoft.com/office/drawing/2014/main" id="{1E50DA4E-5CA6-6466-60FC-528E08CA43C8}"/>
                </a:ext>
              </a:extLst>
            </p:cNvPr>
            <p:cNvSpPr/>
            <p:nvPr/>
          </p:nvSpPr>
          <p:spPr>
            <a:xfrm>
              <a:off x="7395787" y="6237305"/>
              <a:ext cx="1553662" cy="620695"/>
            </a:xfrm>
            <a:custGeom>
              <a:avLst/>
              <a:gdLst>
                <a:gd name="connsiteX0" fmla="*/ 776831 w 1553662"/>
                <a:gd name="connsiteY0" fmla="*/ 0 h 620695"/>
                <a:gd name="connsiteX1" fmla="*/ 1512321 w 1553662"/>
                <a:gd name="connsiteY1" fmla="*/ 487516 h 620695"/>
                <a:gd name="connsiteX2" fmla="*/ 1553662 w 1553662"/>
                <a:gd name="connsiteY2" fmla="*/ 620695 h 620695"/>
                <a:gd name="connsiteX3" fmla="*/ 1274065 w 1553662"/>
                <a:gd name="connsiteY3" fmla="*/ 620695 h 620695"/>
                <a:gd name="connsiteX4" fmla="*/ 1265138 w 1553662"/>
                <a:gd name="connsiteY4" fmla="*/ 591937 h 620695"/>
                <a:gd name="connsiteX5" fmla="*/ 776831 w 1553662"/>
                <a:gd name="connsiteY5" fmla="*/ 268265 h 620695"/>
                <a:gd name="connsiteX6" fmla="*/ 288525 w 1553662"/>
                <a:gd name="connsiteY6" fmla="*/ 591937 h 620695"/>
                <a:gd name="connsiteX7" fmla="*/ 279597 w 1553662"/>
                <a:gd name="connsiteY7" fmla="*/ 620695 h 620695"/>
                <a:gd name="connsiteX8" fmla="*/ 0 w 1553662"/>
                <a:gd name="connsiteY8" fmla="*/ 620695 h 620695"/>
                <a:gd name="connsiteX9" fmla="*/ 41341 w 1553662"/>
                <a:gd name="connsiteY9" fmla="*/ 487516 h 620695"/>
                <a:gd name="connsiteX10" fmla="*/ 776831 w 1553662"/>
                <a:gd name="connsiteY10" fmla="*/ 0 h 6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3662" h="620695">
                  <a:moveTo>
                    <a:pt x="776831" y="0"/>
                  </a:moveTo>
                  <a:cubicBezTo>
                    <a:pt x="1107464" y="0"/>
                    <a:pt x="1391145" y="201023"/>
                    <a:pt x="1512321" y="487516"/>
                  </a:cubicBezTo>
                  <a:lnTo>
                    <a:pt x="1553662" y="620695"/>
                  </a:lnTo>
                  <a:lnTo>
                    <a:pt x="1274065" y="620695"/>
                  </a:lnTo>
                  <a:lnTo>
                    <a:pt x="1265138" y="591937"/>
                  </a:lnTo>
                  <a:cubicBezTo>
                    <a:pt x="1184687" y="401729"/>
                    <a:pt x="996345" y="268265"/>
                    <a:pt x="776831" y="268265"/>
                  </a:cubicBezTo>
                  <a:cubicBezTo>
                    <a:pt x="557318" y="268265"/>
                    <a:pt x="368976" y="401729"/>
                    <a:pt x="288525" y="591937"/>
                  </a:cubicBezTo>
                  <a:lnTo>
                    <a:pt x="279597" y="620695"/>
                  </a:lnTo>
                  <a:lnTo>
                    <a:pt x="0" y="620695"/>
                  </a:lnTo>
                  <a:lnTo>
                    <a:pt x="41341" y="487516"/>
                  </a:lnTo>
                  <a:cubicBezTo>
                    <a:pt x="162517" y="201023"/>
                    <a:pt x="446198" y="0"/>
                    <a:pt x="77683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55" name="组合 54">
            <a:extLst>
              <a:ext uri="{FF2B5EF4-FFF2-40B4-BE49-F238E27FC236}">
                <a16:creationId xmlns:a16="http://schemas.microsoft.com/office/drawing/2014/main" id="{EDE831BF-C99C-DE7A-577C-52F5F2069E77}"/>
              </a:ext>
            </a:extLst>
          </p:cNvPr>
          <p:cNvGrpSpPr/>
          <p:nvPr/>
        </p:nvGrpSpPr>
        <p:grpSpPr>
          <a:xfrm>
            <a:off x="0" y="-1"/>
            <a:ext cx="1787768" cy="1076103"/>
            <a:chOff x="0" y="-1"/>
            <a:chExt cx="1787768" cy="1076103"/>
          </a:xfrm>
          <a:solidFill>
            <a:srgbClr val="04CADF"/>
          </a:solidFill>
        </p:grpSpPr>
        <p:sp>
          <p:nvSpPr>
            <p:cNvPr id="39" name="图形">
              <a:extLst>
                <a:ext uri="{FF2B5EF4-FFF2-40B4-BE49-F238E27FC236}">
                  <a16:creationId xmlns:a16="http://schemas.microsoft.com/office/drawing/2014/main" id="{97073D51-8471-7C44-F69C-F016C2E52202}"/>
                </a:ext>
              </a:extLst>
            </p:cNvPr>
            <p:cNvSpPr/>
            <p:nvPr/>
          </p:nvSpPr>
          <p:spPr>
            <a:xfrm flipV="1">
              <a:off x="1409943" y="294581"/>
              <a:ext cx="377825" cy="37782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任意多边形: 形状 41">
              <a:extLst>
                <a:ext uri="{FF2B5EF4-FFF2-40B4-BE49-F238E27FC236}">
                  <a16:creationId xmlns:a16="http://schemas.microsoft.com/office/drawing/2014/main" id="{206CCB58-75F9-867B-8451-F6FE9FF94A02}"/>
                </a:ext>
              </a:extLst>
            </p:cNvPr>
            <p:cNvSpPr/>
            <p:nvPr/>
          </p:nvSpPr>
          <p:spPr>
            <a:xfrm>
              <a:off x="0" y="-1"/>
              <a:ext cx="1041612" cy="1076103"/>
            </a:xfrm>
            <a:custGeom>
              <a:avLst/>
              <a:gdLst>
                <a:gd name="connsiteX0" fmla="*/ 705674 w 1041612"/>
                <a:gd name="connsiteY0" fmla="*/ 0 h 1076103"/>
                <a:gd name="connsiteX1" fmla="*/ 1030592 w 1041612"/>
                <a:gd name="connsiteY1" fmla="*/ 0 h 1076103"/>
                <a:gd name="connsiteX2" fmla="*/ 1041612 w 1041612"/>
                <a:gd name="connsiteY2" fmla="*/ 109315 h 1076103"/>
                <a:gd name="connsiteX3" fmla="*/ 74824 w 1041612"/>
                <a:gd name="connsiteY3" fmla="*/ 1076103 h 1076103"/>
                <a:gd name="connsiteX4" fmla="*/ 0 w 1041612"/>
                <a:gd name="connsiteY4" fmla="*/ 1072325 h 1076103"/>
                <a:gd name="connsiteX5" fmla="*/ 0 w 1041612"/>
                <a:gd name="connsiteY5" fmla="*/ 743642 h 1076103"/>
                <a:gd name="connsiteX6" fmla="*/ 74824 w 1041612"/>
                <a:gd name="connsiteY6" fmla="*/ 751185 h 1076103"/>
                <a:gd name="connsiteX7" fmla="*/ 716694 w 1041612"/>
                <a:gd name="connsiteY7" fmla="*/ 109315 h 107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1612" h="1076103">
                  <a:moveTo>
                    <a:pt x="705674" y="0"/>
                  </a:moveTo>
                  <a:lnTo>
                    <a:pt x="1030592" y="0"/>
                  </a:lnTo>
                  <a:lnTo>
                    <a:pt x="1041612" y="109315"/>
                  </a:lnTo>
                  <a:cubicBezTo>
                    <a:pt x="1041612" y="643257"/>
                    <a:pt x="608766" y="1076103"/>
                    <a:pt x="74824" y="1076103"/>
                  </a:cubicBezTo>
                  <a:lnTo>
                    <a:pt x="0" y="1072325"/>
                  </a:lnTo>
                  <a:lnTo>
                    <a:pt x="0" y="743642"/>
                  </a:lnTo>
                  <a:lnTo>
                    <a:pt x="74824" y="751185"/>
                  </a:lnTo>
                  <a:cubicBezTo>
                    <a:pt x="429319" y="751185"/>
                    <a:pt x="716694" y="463810"/>
                    <a:pt x="716694" y="10931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5" name="矩形 24">
            <a:extLst>
              <a:ext uri="{FF2B5EF4-FFF2-40B4-BE49-F238E27FC236}">
                <a16:creationId xmlns:a16="http://schemas.microsoft.com/office/drawing/2014/main" id="{E26D6865-7DF9-5960-4254-131AD790A5EF}"/>
              </a:ext>
            </a:extLst>
          </p:cNvPr>
          <p:cNvSpPr/>
          <p:nvPr>
            <p:custDataLst>
              <p:tags r:id="rId1"/>
            </p:custDataLst>
          </p:nvPr>
        </p:nvSpPr>
        <p:spPr>
          <a:xfrm>
            <a:off x="2156100" y="315502"/>
            <a:ext cx="5052774" cy="307777"/>
          </a:xfrm>
          <a:prstGeom prst="rect">
            <a:avLst/>
          </a:prstGeom>
        </p:spPr>
        <p:txBody>
          <a:bodyPr wrap="square">
            <a:spAutoFit/>
            <a:scene3d>
              <a:camera prst="orthographicFront"/>
              <a:lightRig rig="threePt" dir="t"/>
            </a:scene3d>
            <a:sp3d contourW="12700"/>
          </a:bodyPr>
          <a:lstStyle/>
          <a:p>
            <a:pPr algn="dist"/>
            <a:r>
              <a:rPr lang="en-US" altLang="zh-CN" sz="140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PET ECONOMY DEPARTMENT REPORT//</a:t>
            </a:r>
            <a:endPar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任意多边形: 形状 45">
            <a:extLst>
              <a:ext uri="{FF2B5EF4-FFF2-40B4-BE49-F238E27FC236}">
                <a16:creationId xmlns:a16="http://schemas.microsoft.com/office/drawing/2014/main" id="{7FF19FC0-41C7-E490-3151-9443FE5A3043}"/>
              </a:ext>
            </a:extLst>
          </p:cNvPr>
          <p:cNvSpPr/>
          <p:nvPr/>
        </p:nvSpPr>
        <p:spPr>
          <a:xfrm rot="5400000">
            <a:off x="4649663" y="866194"/>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4" name="任意多边形: 形状 53">
            <a:extLst>
              <a:ext uri="{FF2B5EF4-FFF2-40B4-BE49-F238E27FC236}">
                <a16:creationId xmlns:a16="http://schemas.microsoft.com/office/drawing/2014/main" id="{629CD7C9-3B73-419F-6BF4-B8AE11E83B68}"/>
              </a:ext>
            </a:extLst>
          </p:cNvPr>
          <p:cNvSpPr/>
          <p:nvPr/>
        </p:nvSpPr>
        <p:spPr>
          <a:xfrm rot="5400000">
            <a:off x="1105092" y="5819174"/>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100000">
                <a:schemeClr val="bg1"/>
              </a:gs>
              <a:gs pos="0">
                <a:srgbClr val="FCF0F4">
                  <a:alpha val="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2" name="组合 1">
            <a:extLst>
              <a:ext uri="{FF2B5EF4-FFF2-40B4-BE49-F238E27FC236}">
                <a16:creationId xmlns:a16="http://schemas.microsoft.com/office/drawing/2014/main" id="{B8DAC786-4FCA-37CF-FC57-0B2A2C09254A}"/>
              </a:ext>
            </a:extLst>
          </p:cNvPr>
          <p:cNvGrpSpPr/>
          <p:nvPr/>
        </p:nvGrpSpPr>
        <p:grpSpPr>
          <a:xfrm>
            <a:off x="4652086" y="991479"/>
            <a:ext cx="7016581" cy="3074088"/>
            <a:chOff x="434171" y="639431"/>
            <a:chExt cx="7016581" cy="3074088"/>
          </a:xfrm>
        </p:grpSpPr>
        <p:grpSp>
          <p:nvGrpSpPr>
            <p:cNvPr id="3" name="组合 2">
              <a:extLst>
                <a:ext uri="{FF2B5EF4-FFF2-40B4-BE49-F238E27FC236}">
                  <a16:creationId xmlns:a16="http://schemas.microsoft.com/office/drawing/2014/main" id="{99281D53-DF0E-AE37-4B4F-E9D204B24393}"/>
                </a:ext>
              </a:extLst>
            </p:cNvPr>
            <p:cNvGrpSpPr/>
            <p:nvPr/>
          </p:nvGrpSpPr>
          <p:grpSpPr>
            <a:xfrm>
              <a:off x="1006371" y="639431"/>
              <a:ext cx="6444381" cy="3074088"/>
              <a:chOff x="924182" y="639431"/>
              <a:chExt cx="6444381" cy="3074088"/>
            </a:xfrm>
          </p:grpSpPr>
          <p:grpSp>
            <p:nvGrpSpPr>
              <p:cNvPr id="31" name="组合 30">
                <a:extLst>
                  <a:ext uri="{FF2B5EF4-FFF2-40B4-BE49-F238E27FC236}">
                    <a16:creationId xmlns:a16="http://schemas.microsoft.com/office/drawing/2014/main" id="{F31025E2-EB3B-F582-C828-CA282B06A1D7}"/>
                  </a:ext>
                </a:extLst>
              </p:cNvPr>
              <p:cNvGrpSpPr/>
              <p:nvPr/>
            </p:nvGrpSpPr>
            <p:grpSpPr>
              <a:xfrm>
                <a:off x="924182" y="639431"/>
                <a:ext cx="6444381" cy="3074088"/>
                <a:chOff x="910385" y="762069"/>
                <a:chExt cx="6221722" cy="2967876"/>
              </a:xfrm>
            </p:grpSpPr>
            <p:sp>
              <p:nvSpPr>
                <p:cNvPr id="32" name="文本框 31">
                  <a:extLst>
                    <a:ext uri="{FF2B5EF4-FFF2-40B4-BE49-F238E27FC236}">
                      <a16:creationId xmlns:a16="http://schemas.microsoft.com/office/drawing/2014/main" id="{7A32BD87-3015-C782-87C9-AE94D34DB7D9}"/>
                    </a:ext>
                  </a:extLst>
                </p:cNvPr>
                <p:cNvSpPr txBox="1"/>
                <p:nvPr/>
              </p:nvSpPr>
              <p:spPr>
                <a:xfrm rot="21040592">
                  <a:off x="910385" y="1027042"/>
                  <a:ext cx="1658173" cy="2646878"/>
                </a:xfrm>
                <a:prstGeom prst="rect">
                  <a:avLst/>
                </a:prstGeom>
                <a:noFill/>
              </p:spPr>
              <p:txBody>
                <a:bodyPr wrap="square" rtlCol="0">
                  <a:spAutoFit/>
                </a:bodyPr>
                <a:lstStyle/>
                <a:p>
                  <a:pPr algn="ctr"/>
                  <a:r>
                    <a:rPr lang="zh-CN" altLang="en-US" sz="16900" spc="-300" dirty="0">
                      <a:solidFill>
                        <a:srgbClr val="04CADF"/>
                      </a:solidFill>
                      <a:latin typeface="猫啃网风雅宋" panose="02020700000000000000" pitchFamily="18" charset="-122"/>
                      <a:ea typeface="猫啃网风雅宋" panose="02020700000000000000" pitchFamily="18" charset="-122"/>
                      <a:sym typeface="思源黑体 CN Medium" panose="020B0600000000000000" pitchFamily="34" charset="-122"/>
                    </a:rPr>
                    <a:t>宠</a:t>
                  </a:r>
                </a:p>
              </p:txBody>
            </p:sp>
            <p:sp>
              <p:nvSpPr>
                <p:cNvPr id="33" name="文本框 32">
                  <a:extLst>
                    <a:ext uri="{FF2B5EF4-FFF2-40B4-BE49-F238E27FC236}">
                      <a16:creationId xmlns:a16="http://schemas.microsoft.com/office/drawing/2014/main" id="{C5D31EFD-7DF8-9F3E-2AF5-B8F59475F69B}"/>
                    </a:ext>
                  </a:extLst>
                </p:cNvPr>
                <p:cNvSpPr txBox="1"/>
                <p:nvPr/>
              </p:nvSpPr>
              <p:spPr>
                <a:xfrm rot="358734">
                  <a:off x="2315184" y="1652111"/>
                  <a:ext cx="1658173" cy="1812570"/>
                </a:xfrm>
                <a:prstGeom prst="rect">
                  <a:avLst/>
                </a:prstGeom>
                <a:noFill/>
              </p:spPr>
              <p:txBody>
                <a:bodyPr wrap="square" rtlCol="0">
                  <a:spAutoFit/>
                </a:bodyPr>
                <a:lstStyle/>
                <a:p>
                  <a:pPr algn="ctr"/>
                  <a:r>
                    <a:rPr lang="zh-CN" altLang="en-US" sz="11600" spc="-300" dirty="0">
                      <a:solidFill>
                        <a:srgbClr val="04CADF"/>
                      </a:solidFill>
                      <a:latin typeface="猫啃网风雅宋" panose="02020700000000000000" pitchFamily="18" charset="-122"/>
                      <a:ea typeface="猫啃网风雅宋" panose="02020700000000000000" pitchFamily="18" charset="-122"/>
                      <a:sym typeface="思源黑体 CN Medium" panose="020B0600000000000000" pitchFamily="34" charset="-122"/>
                    </a:rPr>
                    <a:t>物</a:t>
                  </a:r>
                </a:p>
              </p:txBody>
            </p:sp>
            <p:sp>
              <p:nvSpPr>
                <p:cNvPr id="35" name="文本框 34">
                  <a:extLst>
                    <a:ext uri="{FF2B5EF4-FFF2-40B4-BE49-F238E27FC236}">
                      <a16:creationId xmlns:a16="http://schemas.microsoft.com/office/drawing/2014/main" id="{18BE8B75-0C9F-D4D2-B46C-955DF29810E7}"/>
                    </a:ext>
                  </a:extLst>
                </p:cNvPr>
                <p:cNvSpPr txBox="1"/>
                <p:nvPr/>
              </p:nvSpPr>
              <p:spPr>
                <a:xfrm rot="20986670">
                  <a:off x="3792620" y="762069"/>
                  <a:ext cx="1658173" cy="2646878"/>
                </a:xfrm>
                <a:prstGeom prst="rect">
                  <a:avLst/>
                </a:prstGeom>
                <a:noFill/>
              </p:spPr>
              <p:txBody>
                <a:bodyPr wrap="square" rtlCol="0">
                  <a:spAutoFit/>
                </a:bodyPr>
                <a:lstStyle/>
                <a:p>
                  <a:pPr algn="ctr"/>
                  <a:r>
                    <a:rPr lang="zh-CN" altLang="en-US" sz="16900" spc="-300" dirty="0">
                      <a:solidFill>
                        <a:srgbClr val="04CADF"/>
                      </a:solidFill>
                      <a:latin typeface="猫啃网风雅宋" panose="02020700000000000000" pitchFamily="18" charset="-122"/>
                      <a:ea typeface="猫啃网风雅宋" panose="02020700000000000000" pitchFamily="18" charset="-122"/>
                      <a:sym typeface="思源黑体 CN Medium" panose="020B0600000000000000" pitchFamily="34" charset="-122"/>
                    </a:rPr>
                    <a:t>经</a:t>
                  </a:r>
                </a:p>
              </p:txBody>
            </p:sp>
            <p:sp>
              <p:nvSpPr>
                <p:cNvPr id="36" name="文本框 35">
                  <a:extLst>
                    <a:ext uri="{FF2B5EF4-FFF2-40B4-BE49-F238E27FC236}">
                      <a16:creationId xmlns:a16="http://schemas.microsoft.com/office/drawing/2014/main" id="{FA3BF426-3F85-3793-580B-A2487278E183}"/>
                    </a:ext>
                  </a:extLst>
                </p:cNvPr>
                <p:cNvSpPr txBox="1"/>
                <p:nvPr/>
              </p:nvSpPr>
              <p:spPr>
                <a:xfrm rot="338312">
                  <a:off x="5473934" y="1513954"/>
                  <a:ext cx="1658173" cy="2215991"/>
                </a:xfrm>
                <a:prstGeom prst="rect">
                  <a:avLst/>
                </a:prstGeom>
                <a:noFill/>
              </p:spPr>
              <p:txBody>
                <a:bodyPr wrap="square" rtlCol="0">
                  <a:spAutoFit/>
                </a:bodyPr>
                <a:lstStyle/>
                <a:p>
                  <a:pPr algn="ctr"/>
                  <a:r>
                    <a:rPr lang="zh-CN" altLang="en-US" sz="14400" spc="-300" dirty="0">
                      <a:solidFill>
                        <a:srgbClr val="04CADF"/>
                      </a:solidFill>
                      <a:latin typeface="猫啃网风雅宋" panose="02020700000000000000" pitchFamily="18" charset="-122"/>
                      <a:ea typeface="猫啃网风雅宋" panose="02020700000000000000" pitchFamily="18" charset="-122"/>
                      <a:sym typeface="思源黑体 CN Medium" panose="020B0600000000000000" pitchFamily="34" charset="-122"/>
                    </a:rPr>
                    <a:t>济</a:t>
                  </a:r>
                </a:p>
              </p:txBody>
            </p:sp>
            <p:sp>
              <p:nvSpPr>
                <p:cNvPr id="40" name="文本框 39">
                  <a:extLst>
                    <a:ext uri="{FF2B5EF4-FFF2-40B4-BE49-F238E27FC236}">
                      <a16:creationId xmlns:a16="http://schemas.microsoft.com/office/drawing/2014/main" id="{018E34DD-F4DC-0009-F23F-933DE735AB58}"/>
                    </a:ext>
                  </a:extLst>
                </p:cNvPr>
                <p:cNvSpPr txBox="1"/>
                <p:nvPr/>
              </p:nvSpPr>
              <p:spPr>
                <a:xfrm>
                  <a:off x="2546465" y="1126812"/>
                  <a:ext cx="1156829" cy="505142"/>
                </a:xfrm>
                <a:prstGeom prst="rect">
                  <a:avLst/>
                </a:prstGeom>
                <a:noFill/>
              </p:spPr>
              <p:txBody>
                <a:bodyPr wrap="square">
                  <a:spAutoFit/>
                </a:bodyPr>
                <a:lstStyle/>
                <a:p>
                  <a:pPr algn="ctr"/>
                  <a:r>
                    <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Medium" panose="020B0600000000000000" pitchFamily="34" charset="-122"/>
                    </a:rPr>
                    <a:t>ABOUT PET ECONOMY</a:t>
                  </a:r>
                  <a:endParaRPr lang="zh-CN" altLang="en-US" sz="1400" dirty="0">
                    <a:solidFill>
                      <a:schemeClr val="tx1">
                        <a:lumMod val="75000"/>
                        <a:lumOff val="25000"/>
                      </a:schemeClr>
                    </a:solidFill>
                    <a:latin typeface="微软雅黑" panose="020B0503020204020204" pitchFamily="34" charset="-122"/>
                    <a:ea typeface="微软雅黑" panose="020B0503020204020204" pitchFamily="34" charset="-122"/>
                    <a:sym typeface="思源黑体 CN Medium" panose="020B0600000000000000" pitchFamily="34" charset="-122"/>
                  </a:endParaRPr>
                </a:p>
              </p:txBody>
            </p:sp>
          </p:grpSp>
          <p:sp>
            <p:nvSpPr>
              <p:cNvPr id="24" name="任意多边形: 形状 23">
                <a:extLst>
                  <a:ext uri="{FF2B5EF4-FFF2-40B4-BE49-F238E27FC236}">
                    <a16:creationId xmlns:a16="http://schemas.microsoft.com/office/drawing/2014/main" id="{D482AE46-E1C4-B579-01BC-6A2982293B62}"/>
                  </a:ext>
                </a:extLst>
              </p:cNvPr>
              <p:cNvSpPr/>
              <p:nvPr/>
            </p:nvSpPr>
            <p:spPr>
              <a:xfrm>
                <a:off x="960094" y="1697448"/>
                <a:ext cx="5649686" cy="1518769"/>
              </a:xfrm>
              <a:custGeom>
                <a:avLst/>
                <a:gdLst>
                  <a:gd name="connsiteX0" fmla="*/ 0 w 5734050"/>
                  <a:gd name="connsiteY0" fmla="*/ 306613 h 1505894"/>
                  <a:gd name="connsiteX1" fmla="*/ 628650 w 5734050"/>
                  <a:gd name="connsiteY1" fmla="*/ 78013 h 1505894"/>
                  <a:gd name="connsiteX2" fmla="*/ 2152650 w 5734050"/>
                  <a:gd name="connsiteY2" fmla="*/ 1487713 h 1505894"/>
                  <a:gd name="connsiteX3" fmla="*/ 3371850 w 5734050"/>
                  <a:gd name="connsiteY3" fmla="*/ 916213 h 1505894"/>
                  <a:gd name="connsiteX4" fmla="*/ 4933950 w 5734050"/>
                  <a:gd name="connsiteY4" fmla="*/ 230413 h 1505894"/>
                  <a:gd name="connsiteX5" fmla="*/ 5734050 w 5734050"/>
                  <a:gd name="connsiteY5" fmla="*/ 630463 h 1505894"/>
                  <a:gd name="connsiteX0" fmla="*/ 0 w 5734050"/>
                  <a:gd name="connsiteY0" fmla="*/ 306613 h 1488131"/>
                  <a:gd name="connsiteX1" fmla="*/ 628650 w 5734050"/>
                  <a:gd name="connsiteY1" fmla="*/ 78013 h 1488131"/>
                  <a:gd name="connsiteX2" fmla="*/ 2152650 w 5734050"/>
                  <a:gd name="connsiteY2" fmla="*/ 1487713 h 1488131"/>
                  <a:gd name="connsiteX3" fmla="*/ 4933950 w 5734050"/>
                  <a:gd name="connsiteY3" fmla="*/ 230413 h 1488131"/>
                  <a:gd name="connsiteX4" fmla="*/ 5734050 w 5734050"/>
                  <a:gd name="connsiteY4" fmla="*/ 630463 h 1488131"/>
                  <a:gd name="connsiteX0" fmla="*/ 0 w 5734050"/>
                  <a:gd name="connsiteY0" fmla="*/ 308686 h 1518769"/>
                  <a:gd name="connsiteX1" fmla="*/ 628650 w 5734050"/>
                  <a:gd name="connsiteY1" fmla="*/ 80086 h 1518769"/>
                  <a:gd name="connsiteX2" fmla="*/ 2219325 w 5734050"/>
                  <a:gd name="connsiteY2" fmla="*/ 1518361 h 1518769"/>
                  <a:gd name="connsiteX3" fmla="*/ 4933950 w 5734050"/>
                  <a:gd name="connsiteY3" fmla="*/ 232486 h 1518769"/>
                  <a:gd name="connsiteX4" fmla="*/ 5734050 w 5734050"/>
                  <a:gd name="connsiteY4" fmla="*/ 632536 h 1518769"/>
                  <a:gd name="connsiteX0" fmla="*/ 0 w 5617936"/>
                  <a:gd name="connsiteY0" fmla="*/ 308686 h 1518769"/>
                  <a:gd name="connsiteX1" fmla="*/ 628650 w 5617936"/>
                  <a:gd name="connsiteY1" fmla="*/ 80086 h 1518769"/>
                  <a:gd name="connsiteX2" fmla="*/ 2219325 w 5617936"/>
                  <a:gd name="connsiteY2" fmla="*/ 1518361 h 1518769"/>
                  <a:gd name="connsiteX3" fmla="*/ 4933950 w 5617936"/>
                  <a:gd name="connsiteY3" fmla="*/ 232486 h 1518769"/>
                  <a:gd name="connsiteX4" fmla="*/ 5617936 w 5617936"/>
                  <a:gd name="connsiteY4" fmla="*/ 501908 h 1518769"/>
                  <a:gd name="connsiteX0" fmla="*/ 0 w 5649686"/>
                  <a:gd name="connsiteY0" fmla="*/ 308686 h 1518769"/>
                  <a:gd name="connsiteX1" fmla="*/ 628650 w 5649686"/>
                  <a:gd name="connsiteY1" fmla="*/ 80086 h 1518769"/>
                  <a:gd name="connsiteX2" fmla="*/ 2219325 w 5649686"/>
                  <a:gd name="connsiteY2" fmla="*/ 1518361 h 1518769"/>
                  <a:gd name="connsiteX3" fmla="*/ 4933950 w 5649686"/>
                  <a:gd name="connsiteY3" fmla="*/ 232486 h 1518769"/>
                  <a:gd name="connsiteX4" fmla="*/ 5649686 w 5649686"/>
                  <a:gd name="connsiteY4" fmla="*/ 489208 h 1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9686" h="1518769">
                    <a:moveTo>
                      <a:pt x="0" y="308686"/>
                    </a:moveTo>
                    <a:cubicBezTo>
                      <a:pt x="134937" y="95961"/>
                      <a:pt x="258763" y="-121526"/>
                      <a:pt x="628650" y="80086"/>
                    </a:cubicBezTo>
                    <a:cubicBezTo>
                      <a:pt x="998537" y="281698"/>
                      <a:pt x="1501775" y="1492961"/>
                      <a:pt x="2219325" y="1518361"/>
                    </a:cubicBezTo>
                    <a:cubicBezTo>
                      <a:pt x="2936875" y="1543761"/>
                      <a:pt x="4337050" y="375361"/>
                      <a:pt x="4933950" y="232486"/>
                    </a:cubicBezTo>
                    <a:cubicBezTo>
                      <a:pt x="5327650" y="184861"/>
                      <a:pt x="5446486" y="265370"/>
                      <a:pt x="5649686" y="489208"/>
                    </a:cubicBezTo>
                  </a:path>
                </a:pathLst>
              </a:custGeom>
              <a:noFill/>
              <a:ln w="38100">
                <a:solidFill>
                  <a:srgbClr val="FFF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猫啃网风雅宋" panose="02020700000000000000" pitchFamily="18" charset="-122"/>
                  <a:ea typeface="猫啃网风雅宋" panose="02020700000000000000" pitchFamily="18" charset="-122"/>
                  <a:sym typeface="思源黑体 CN Medium" panose="020B0600000000000000" pitchFamily="34" charset="-122"/>
                </a:endParaRPr>
              </a:p>
            </p:txBody>
          </p:sp>
        </p:grpSp>
        <p:pic>
          <p:nvPicPr>
            <p:cNvPr id="4" name="图片 3">
              <a:extLst>
                <a:ext uri="{FF2B5EF4-FFF2-40B4-BE49-F238E27FC236}">
                  <a16:creationId xmlns:a16="http://schemas.microsoft.com/office/drawing/2014/main" id="{5DE62204-8AE6-BBEA-D566-7BF86C8231ED}"/>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5408126" y="732782"/>
              <a:ext cx="1304762" cy="1123810"/>
            </a:xfrm>
            <a:prstGeom prst="rect">
              <a:avLst/>
            </a:prstGeom>
          </p:spPr>
        </p:pic>
        <p:pic>
          <p:nvPicPr>
            <p:cNvPr id="5" name="图片 4">
              <a:extLst>
                <a:ext uri="{FF2B5EF4-FFF2-40B4-BE49-F238E27FC236}">
                  <a16:creationId xmlns:a16="http://schemas.microsoft.com/office/drawing/2014/main" id="{EF153D2C-95C2-2F6A-8990-2DE9FA38D778}"/>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rot="5249748" flipV="1">
              <a:off x="343695" y="2457473"/>
              <a:ext cx="1304762" cy="1123810"/>
            </a:xfrm>
            <a:prstGeom prst="rect">
              <a:avLst/>
            </a:prstGeom>
          </p:spPr>
        </p:pic>
      </p:grpSp>
      <p:sp>
        <p:nvSpPr>
          <p:cNvPr id="43" name="文本框 42">
            <a:extLst>
              <a:ext uri="{FF2B5EF4-FFF2-40B4-BE49-F238E27FC236}">
                <a16:creationId xmlns:a16="http://schemas.microsoft.com/office/drawing/2014/main" id="{EA5222CA-3529-78EA-689F-25635E7615D3}"/>
              </a:ext>
            </a:extLst>
          </p:cNvPr>
          <p:cNvSpPr txBox="1"/>
          <p:nvPr/>
        </p:nvSpPr>
        <p:spPr>
          <a:xfrm>
            <a:off x="5148460" y="4788859"/>
            <a:ext cx="5661449" cy="850297"/>
          </a:xfrm>
          <a:prstGeom prst="rect">
            <a:avLst/>
          </a:prstGeom>
          <a:noFill/>
        </p:spPr>
        <p:txBody>
          <a:bodyPr wrap="square" rtlCol="0">
            <a:spAutoFit/>
          </a:bodyPr>
          <a:lstStyle/>
          <a:p>
            <a:pPr algn="ctr">
              <a:lnSpc>
                <a:spcPct val="120000"/>
              </a:lnSpc>
              <a:spcBef>
                <a:spcPts val="50"/>
              </a:spcBef>
            </a:pPr>
            <a:r>
              <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Pellentesque habitant morbi tristique senectus et netus et malesuada fames ac turpis egestas. Proin pharetra nonummy pede. Mauris et orci.</a:t>
            </a:r>
          </a:p>
        </p:txBody>
      </p:sp>
      <p:grpSp>
        <p:nvGrpSpPr>
          <p:cNvPr id="44" name="组合 43">
            <a:extLst>
              <a:ext uri="{FF2B5EF4-FFF2-40B4-BE49-F238E27FC236}">
                <a16:creationId xmlns:a16="http://schemas.microsoft.com/office/drawing/2014/main" id="{97318E81-6A82-D621-813D-DD662CC5E827}"/>
              </a:ext>
            </a:extLst>
          </p:cNvPr>
          <p:cNvGrpSpPr/>
          <p:nvPr/>
        </p:nvGrpSpPr>
        <p:grpSpPr>
          <a:xfrm>
            <a:off x="5100415" y="3982519"/>
            <a:ext cx="5757538" cy="626098"/>
            <a:chOff x="912075" y="3510886"/>
            <a:chExt cx="5532218" cy="626098"/>
          </a:xfrm>
        </p:grpSpPr>
        <p:sp>
          <p:nvSpPr>
            <p:cNvPr id="45" name="文本框 44">
              <a:extLst>
                <a:ext uri="{FF2B5EF4-FFF2-40B4-BE49-F238E27FC236}">
                  <a16:creationId xmlns:a16="http://schemas.microsoft.com/office/drawing/2014/main" id="{35CB179E-981D-72E8-EFFE-F81E6D097CC8}"/>
                </a:ext>
              </a:extLst>
            </p:cNvPr>
            <p:cNvSpPr txBox="1"/>
            <p:nvPr/>
          </p:nvSpPr>
          <p:spPr>
            <a:xfrm>
              <a:off x="912075" y="3562677"/>
              <a:ext cx="5532218" cy="553998"/>
            </a:xfrm>
            <a:prstGeom prst="rect">
              <a:avLst/>
            </a:prstGeom>
            <a:noFill/>
          </p:spPr>
          <p:txBody>
            <a:bodyPr wrap="square">
              <a:spAutoFit/>
            </a:bodyPr>
            <a:lstStyle/>
            <a:p>
              <a:pPr algn="dist"/>
              <a:r>
                <a:rPr lang="zh-CN" altLang="en-US" sz="3000"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“宠物经济”行业前景分析报告</a:t>
              </a:r>
              <a:endParaRPr lang="zh-CN" altLang="en-US" sz="3000" dirty="0">
                <a:solidFill>
                  <a:schemeClr val="tx1">
                    <a:lumMod val="85000"/>
                    <a:lumOff val="15000"/>
                  </a:schemeClr>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nvGrpSpPr>
            <p:cNvPr id="57" name="组合 56">
              <a:extLst>
                <a:ext uri="{FF2B5EF4-FFF2-40B4-BE49-F238E27FC236}">
                  <a16:creationId xmlns:a16="http://schemas.microsoft.com/office/drawing/2014/main" id="{9B046C90-8F23-E84D-7D59-34F9DC69C646}"/>
                </a:ext>
              </a:extLst>
            </p:cNvPr>
            <p:cNvGrpSpPr/>
            <p:nvPr/>
          </p:nvGrpSpPr>
          <p:grpSpPr>
            <a:xfrm>
              <a:off x="1189898" y="3510886"/>
              <a:ext cx="5236840" cy="626098"/>
              <a:chOff x="1042861" y="3429000"/>
              <a:chExt cx="5236840" cy="713094"/>
            </a:xfrm>
          </p:grpSpPr>
          <p:cxnSp>
            <p:nvCxnSpPr>
              <p:cNvPr id="59" name="直接连接符 58">
                <a:extLst>
                  <a:ext uri="{FF2B5EF4-FFF2-40B4-BE49-F238E27FC236}">
                    <a16:creationId xmlns:a16="http://schemas.microsoft.com/office/drawing/2014/main" id="{B75BC94B-C220-F064-D54B-4948CF4A53FD}"/>
                  </a:ext>
                </a:extLst>
              </p:cNvPr>
              <p:cNvCxnSpPr>
                <a:cxnSpLocks/>
              </p:cNvCxnSpPr>
              <p:nvPr/>
            </p:nvCxnSpPr>
            <p:spPr>
              <a:xfrm>
                <a:off x="1042861" y="3429000"/>
                <a:ext cx="5236840" cy="0"/>
              </a:xfrm>
              <a:prstGeom prst="line">
                <a:avLst/>
              </a:prstGeom>
              <a:ln>
                <a:solidFill>
                  <a:srgbClr val="04CADF"/>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3CE23093-89B6-A14D-EB56-3C86F4E99904}"/>
                  </a:ext>
                </a:extLst>
              </p:cNvPr>
              <p:cNvCxnSpPr>
                <a:cxnSpLocks/>
              </p:cNvCxnSpPr>
              <p:nvPr/>
            </p:nvCxnSpPr>
            <p:spPr>
              <a:xfrm>
                <a:off x="1042861" y="4142094"/>
                <a:ext cx="5236840" cy="0"/>
              </a:xfrm>
              <a:prstGeom prst="line">
                <a:avLst/>
              </a:prstGeom>
              <a:ln>
                <a:solidFill>
                  <a:srgbClr val="04CADF"/>
                </a:solidFill>
              </a:ln>
            </p:spPr>
            <p:style>
              <a:lnRef idx="1">
                <a:schemeClr val="accent1"/>
              </a:lnRef>
              <a:fillRef idx="0">
                <a:schemeClr val="accent1"/>
              </a:fillRef>
              <a:effectRef idx="0">
                <a:schemeClr val="accent1"/>
              </a:effectRef>
              <a:fontRef idx="minor">
                <a:schemeClr val="tx1"/>
              </a:fontRef>
            </p:style>
          </p:cxnSp>
        </p:grpSp>
      </p:grpSp>
      <p:grpSp>
        <p:nvGrpSpPr>
          <p:cNvPr id="61" name="组合 60">
            <a:extLst>
              <a:ext uri="{FF2B5EF4-FFF2-40B4-BE49-F238E27FC236}">
                <a16:creationId xmlns:a16="http://schemas.microsoft.com/office/drawing/2014/main" id="{4348340E-84C0-685B-3D7B-E3482E504664}"/>
              </a:ext>
            </a:extLst>
          </p:cNvPr>
          <p:cNvGrpSpPr/>
          <p:nvPr/>
        </p:nvGrpSpPr>
        <p:grpSpPr>
          <a:xfrm>
            <a:off x="6158800" y="5911908"/>
            <a:ext cx="3640768" cy="338554"/>
            <a:chOff x="3788325" y="4481472"/>
            <a:chExt cx="3957989" cy="368052"/>
          </a:xfrm>
          <a:effectLst/>
        </p:grpSpPr>
        <p:grpSp>
          <p:nvGrpSpPr>
            <p:cNvPr id="62" name="组合 61">
              <a:extLst>
                <a:ext uri="{FF2B5EF4-FFF2-40B4-BE49-F238E27FC236}">
                  <a16:creationId xmlns:a16="http://schemas.microsoft.com/office/drawing/2014/main" id="{958684E8-7B3F-E5BD-F84E-3216450D53BC}"/>
                </a:ext>
              </a:extLst>
            </p:cNvPr>
            <p:cNvGrpSpPr/>
            <p:nvPr/>
          </p:nvGrpSpPr>
          <p:grpSpPr>
            <a:xfrm>
              <a:off x="3788325" y="4481472"/>
              <a:ext cx="2068871" cy="368052"/>
              <a:chOff x="3788325" y="4481472"/>
              <a:chExt cx="2068871" cy="368052"/>
            </a:xfrm>
          </p:grpSpPr>
          <p:sp>
            <p:nvSpPr>
              <p:cNvPr id="69" name="圆形 10">
                <a:extLst>
                  <a:ext uri="{FF2B5EF4-FFF2-40B4-BE49-F238E27FC236}">
                    <a16:creationId xmlns:a16="http://schemas.microsoft.com/office/drawing/2014/main" id="{7A5D7535-EB10-AC63-BE1A-16B0F842416D}"/>
                  </a:ext>
                </a:extLst>
              </p:cNvPr>
              <p:cNvSpPr>
                <a:spLocks noChangeArrowheads="1"/>
              </p:cNvSpPr>
              <p:nvPr>
                <p:custDataLst>
                  <p:tags r:id="rId6"/>
                </p:custDataLst>
              </p:nvPr>
            </p:nvSpPr>
            <p:spPr bwMode="auto">
              <a:xfrm>
                <a:off x="3788325" y="4485770"/>
                <a:ext cx="358149" cy="358149"/>
              </a:xfrm>
              <a:prstGeom prst="ellipse">
                <a:avLst/>
              </a:prstGeom>
              <a:solidFill>
                <a:srgbClr val="04CADF"/>
              </a:solidFill>
              <a:ln w="19050">
                <a:solidFill>
                  <a:schemeClr val="bg1"/>
                </a:solidFill>
                <a:round/>
              </a:ln>
              <a:effectLst>
                <a:outerShdw blurRad="25400" dist="25400" dir="5400000" algn="t" rotWithShape="0">
                  <a:srgbClr val="04CADF">
                    <a:alpha val="20000"/>
                  </a:srgbClr>
                </a:outerShdw>
              </a:effectLst>
            </p:spPr>
            <p:txBody>
              <a:bodyPr wrap="none" anchor="ctr"/>
              <a:lstStyle/>
              <a:p>
                <a:pPr marL="0" marR="0" lvl="0" indent="0" algn="ctr" defTabSz="914400" rtl="0" eaLnBrk="1" fontAlgn="base" latinLnBrk="0" hangingPunct="1">
                  <a:spcBef>
                    <a:spcPct val="50000"/>
                  </a:spcBef>
                  <a:spcAft>
                    <a:spcPct val="0"/>
                  </a:spcAft>
                  <a:buClrTx/>
                  <a:buSzTx/>
                  <a:buFontTx/>
                  <a:buNone/>
                  <a:defRPr/>
                </a:pPr>
                <a:endParaRPr kumimoji="0" lang="zh-CN" altLang="en-US" sz="1600" i="0" u="none" strike="noStrike" kern="1200" cap="none" spc="0" normalizeH="0" baseline="0" noProof="0">
                  <a:ln>
                    <a:noFill/>
                  </a:ln>
                  <a:solidFill>
                    <a:schemeClr val="tx1">
                      <a:lumMod val="85000"/>
                      <a:lumOff val="15000"/>
                    </a:schemeClr>
                  </a:solidFill>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 name="图形 03">
                <a:extLst>
                  <a:ext uri="{FF2B5EF4-FFF2-40B4-BE49-F238E27FC236}">
                    <a16:creationId xmlns:a16="http://schemas.microsoft.com/office/drawing/2014/main" id="{13394CEA-651E-9AC9-CCF9-F56823218423}"/>
                  </a:ext>
                </a:extLst>
              </p:cNvPr>
              <p:cNvSpPr/>
              <p:nvPr>
                <p:custDataLst>
                  <p:tags r:id="rId7"/>
                </p:custDataLst>
              </p:nvPr>
            </p:nvSpPr>
            <p:spPr>
              <a:xfrm>
                <a:off x="3874377" y="4559444"/>
                <a:ext cx="186043" cy="186659"/>
              </a:xfrm>
              <a:custGeom>
                <a:avLst/>
                <a:gdLst/>
                <a:ahLst/>
                <a:cxnLst>
                  <a:cxn ang="0">
                    <a:pos x="wd2" y="hd2"/>
                  </a:cxn>
                  <a:cxn ang="5400000">
                    <a:pos x="wd2" y="hd2"/>
                  </a:cxn>
                  <a:cxn ang="10800000">
                    <a:pos x="wd2" y="hd2"/>
                  </a:cxn>
                  <a:cxn ang="16200000">
                    <a:pos x="wd2" y="hd2"/>
                  </a:cxn>
                </a:cxnLst>
                <a:rect l="0" t="0" r="r" b="b"/>
                <a:pathLst>
                  <a:path w="21600" h="21600" extrusionOk="0">
                    <a:moveTo>
                      <a:pt x="1856" y="16369"/>
                    </a:moveTo>
                    <a:cubicBezTo>
                      <a:pt x="844" y="16706"/>
                      <a:pt x="0" y="17887"/>
                      <a:pt x="0" y="19069"/>
                    </a:cubicBezTo>
                    <a:cubicBezTo>
                      <a:pt x="0" y="21600"/>
                      <a:pt x="0" y="21600"/>
                      <a:pt x="0" y="21600"/>
                    </a:cubicBezTo>
                    <a:cubicBezTo>
                      <a:pt x="21600" y="21600"/>
                      <a:pt x="21600" y="21600"/>
                      <a:pt x="21600" y="21600"/>
                    </a:cubicBezTo>
                    <a:cubicBezTo>
                      <a:pt x="21600" y="19069"/>
                      <a:pt x="21600" y="19069"/>
                      <a:pt x="21600" y="19069"/>
                    </a:cubicBezTo>
                    <a:cubicBezTo>
                      <a:pt x="21600" y="17887"/>
                      <a:pt x="20756" y="16706"/>
                      <a:pt x="19744" y="16369"/>
                    </a:cubicBezTo>
                    <a:cubicBezTo>
                      <a:pt x="19575" y="16369"/>
                      <a:pt x="19575" y="16369"/>
                      <a:pt x="19575" y="16369"/>
                    </a:cubicBezTo>
                    <a:cubicBezTo>
                      <a:pt x="18394" y="16031"/>
                      <a:pt x="17381" y="15694"/>
                      <a:pt x="16875" y="15525"/>
                    </a:cubicBezTo>
                    <a:cubicBezTo>
                      <a:pt x="14850" y="14681"/>
                      <a:pt x="14344" y="14175"/>
                      <a:pt x="14344" y="13837"/>
                    </a:cubicBezTo>
                    <a:cubicBezTo>
                      <a:pt x="14006" y="13500"/>
                      <a:pt x="14175" y="12994"/>
                      <a:pt x="14513" y="12319"/>
                    </a:cubicBezTo>
                    <a:cubicBezTo>
                      <a:pt x="14681" y="12150"/>
                      <a:pt x="14850" y="11812"/>
                      <a:pt x="15019" y="11644"/>
                    </a:cubicBezTo>
                    <a:cubicBezTo>
                      <a:pt x="15019" y="11475"/>
                      <a:pt x="15019" y="11475"/>
                      <a:pt x="15019" y="11475"/>
                    </a:cubicBezTo>
                    <a:cubicBezTo>
                      <a:pt x="15525" y="10800"/>
                      <a:pt x="15863" y="10125"/>
                      <a:pt x="16031" y="9281"/>
                    </a:cubicBezTo>
                    <a:cubicBezTo>
                      <a:pt x="16369" y="8269"/>
                      <a:pt x="16538" y="7256"/>
                      <a:pt x="16538" y="6244"/>
                    </a:cubicBezTo>
                    <a:cubicBezTo>
                      <a:pt x="16538" y="5400"/>
                      <a:pt x="16369" y="4556"/>
                      <a:pt x="16200" y="3713"/>
                    </a:cubicBezTo>
                    <a:cubicBezTo>
                      <a:pt x="15863" y="3038"/>
                      <a:pt x="15356" y="2363"/>
                      <a:pt x="14850" y="1688"/>
                    </a:cubicBezTo>
                    <a:cubicBezTo>
                      <a:pt x="13669" y="675"/>
                      <a:pt x="12319" y="0"/>
                      <a:pt x="10800" y="0"/>
                    </a:cubicBezTo>
                    <a:cubicBezTo>
                      <a:pt x="9281" y="0"/>
                      <a:pt x="7931" y="675"/>
                      <a:pt x="6750" y="1688"/>
                    </a:cubicBezTo>
                    <a:cubicBezTo>
                      <a:pt x="6244" y="2363"/>
                      <a:pt x="5737" y="3038"/>
                      <a:pt x="5400" y="3713"/>
                    </a:cubicBezTo>
                    <a:cubicBezTo>
                      <a:pt x="5231" y="4556"/>
                      <a:pt x="5062" y="5400"/>
                      <a:pt x="5062" y="6244"/>
                    </a:cubicBezTo>
                    <a:cubicBezTo>
                      <a:pt x="5062" y="7256"/>
                      <a:pt x="5231" y="8269"/>
                      <a:pt x="5569" y="9281"/>
                    </a:cubicBezTo>
                    <a:cubicBezTo>
                      <a:pt x="5737" y="10125"/>
                      <a:pt x="6075" y="10800"/>
                      <a:pt x="6581" y="11475"/>
                    </a:cubicBezTo>
                    <a:cubicBezTo>
                      <a:pt x="6581" y="11644"/>
                      <a:pt x="6581" y="11644"/>
                      <a:pt x="6581" y="11644"/>
                    </a:cubicBezTo>
                    <a:cubicBezTo>
                      <a:pt x="6750" y="11812"/>
                      <a:pt x="6919" y="12150"/>
                      <a:pt x="7087" y="12319"/>
                    </a:cubicBezTo>
                    <a:cubicBezTo>
                      <a:pt x="7425" y="12994"/>
                      <a:pt x="7594" y="13500"/>
                      <a:pt x="7256" y="13837"/>
                    </a:cubicBezTo>
                    <a:cubicBezTo>
                      <a:pt x="7256" y="14175"/>
                      <a:pt x="6750" y="14681"/>
                      <a:pt x="4725" y="15525"/>
                    </a:cubicBezTo>
                    <a:cubicBezTo>
                      <a:pt x="4219" y="15694"/>
                      <a:pt x="3206" y="16031"/>
                      <a:pt x="2025" y="16369"/>
                    </a:cubicBezTo>
                    <a:lnTo>
                      <a:pt x="1856" y="16369"/>
                    </a:lnTo>
                    <a:close/>
                    <a:moveTo>
                      <a:pt x="5062" y="16200"/>
                    </a:moveTo>
                    <a:cubicBezTo>
                      <a:pt x="5737" y="15862"/>
                      <a:pt x="6244" y="15694"/>
                      <a:pt x="6750" y="15356"/>
                    </a:cubicBezTo>
                    <a:cubicBezTo>
                      <a:pt x="7425" y="15019"/>
                      <a:pt x="7762" y="14681"/>
                      <a:pt x="8100" y="14344"/>
                    </a:cubicBezTo>
                    <a:cubicBezTo>
                      <a:pt x="8269" y="13669"/>
                      <a:pt x="8269" y="12825"/>
                      <a:pt x="7762" y="11812"/>
                    </a:cubicBezTo>
                    <a:cubicBezTo>
                      <a:pt x="7594" y="11644"/>
                      <a:pt x="7425" y="11475"/>
                      <a:pt x="7256" y="11306"/>
                    </a:cubicBezTo>
                    <a:cubicBezTo>
                      <a:pt x="7256" y="11306"/>
                      <a:pt x="7256" y="11306"/>
                      <a:pt x="7256" y="11306"/>
                    </a:cubicBezTo>
                    <a:cubicBezTo>
                      <a:pt x="6412" y="9787"/>
                      <a:pt x="5906" y="8100"/>
                      <a:pt x="5737" y="6244"/>
                    </a:cubicBezTo>
                    <a:cubicBezTo>
                      <a:pt x="5737" y="5400"/>
                      <a:pt x="5906" y="4725"/>
                      <a:pt x="6244" y="4050"/>
                    </a:cubicBezTo>
                    <a:cubicBezTo>
                      <a:pt x="6412" y="3375"/>
                      <a:pt x="6750" y="2869"/>
                      <a:pt x="7256" y="2363"/>
                    </a:cubicBezTo>
                    <a:cubicBezTo>
                      <a:pt x="8269" y="1350"/>
                      <a:pt x="9450" y="844"/>
                      <a:pt x="10800" y="844"/>
                    </a:cubicBezTo>
                    <a:cubicBezTo>
                      <a:pt x="10800" y="844"/>
                      <a:pt x="10800" y="844"/>
                      <a:pt x="10800" y="844"/>
                    </a:cubicBezTo>
                    <a:cubicBezTo>
                      <a:pt x="12150" y="844"/>
                      <a:pt x="13331" y="1350"/>
                      <a:pt x="14344" y="2363"/>
                    </a:cubicBezTo>
                    <a:cubicBezTo>
                      <a:pt x="14850" y="2869"/>
                      <a:pt x="15188" y="3375"/>
                      <a:pt x="15356" y="4050"/>
                    </a:cubicBezTo>
                    <a:cubicBezTo>
                      <a:pt x="15694" y="4725"/>
                      <a:pt x="15863" y="5400"/>
                      <a:pt x="15863" y="6244"/>
                    </a:cubicBezTo>
                    <a:cubicBezTo>
                      <a:pt x="15694" y="8100"/>
                      <a:pt x="15188" y="9787"/>
                      <a:pt x="14344" y="11306"/>
                    </a:cubicBezTo>
                    <a:cubicBezTo>
                      <a:pt x="14344" y="11306"/>
                      <a:pt x="14344" y="11306"/>
                      <a:pt x="14344" y="11306"/>
                    </a:cubicBezTo>
                    <a:cubicBezTo>
                      <a:pt x="14175" y="11475"/>
                      <a:pt x="14006" y="11644"/>
                      <a:pt x="14006" y="11812"/>
                    </a:cubicBezTo>
                    <a:cubicBezTo>
                      <a:pt x="13331" y="12825"/>
                      <a:pt x="13331" y="13669"/>
                      <a:pt x="13500" y="14344"/>
                    </a:cubicBezTo>
                    <a:cubicBezTo>
                      <a:pt x="13838" y="14681"/>
                      <a:pt x="14175" y="15019"/>
                      <a:pt x="14850" y="15356"/>
                    </a:cubicBezTo>
                    <a:cubicBezTo>
                      <a:pt x="15356" y="15694"/>
                      <a:pt x="15863" y="15862"/>
                      <a:pt x="16538" y="16200"/>
                    </a:cubicBezTo>
                    <a:cubicBezTo>
                      <a:pt x="17213" y="16369"/>
                      <a:pt x="18056" y="16706"/>
                      <a:pt x="19406" y="17044"/>
                    </a:cubicBezTo>
                    <a:cubicBezTo>
                      <a:pt x="20250" y="17381"/>
                      <a:pt x="20756" y="18225"/>
                      <a:pt x="20756" y="19069"/>
                    </a:cubicBezTo>
                    <a:cubicBezTo>
                      <a:pt x="20756" y="20756"/>
                      <a:pt x="20756" y="20756"/>
                      <a:pt x="20756" y="20756"/>
                    </a:cubicBezTo>
                    <a:cubicBezTo>
                      <a:pt x="844" y="20756"/>
                      <a:pt x="844" y="20756"/>
                      <a:pt x="844" y="20756"/>
                    </a:cubicBezTo>
                    <a:cubicBezTo>
                      <a:pt x="844" y="19069"/>
                      <a:pt x="844" y="19069"/>
                      <a:pt x="844" y="19069"/>
                    </a:cubicBezTo>
                    <a:cubicBezTo>
                      <a:pt x="844" y="18225"/>
                      <a:pt x="1350" y="17381"/>
                      <a:pt x="2194" y="17044"/>
                    </a:cubicBezTo>
                    <a:cubicBezTo>
                      <a:pt x="3544" y="16706"/>
                      <a:pt x="4387" y="16369"/>
                      <a:pt x="5062" y="16200"/>
                    </a:cubicBezTo>
                    <a:close/>
                  </a:path>
                </a:pathLst>
              </a:custGeom>
              <a:solidFill>
                <a:srgbClr val="FFFFFF"/>
              </a:solidFill>
              <a:ln w="6350" cap="flat">
                <a:solidFill>
                  <a:schemeClr val="bg1"/>
                </a:solidFill>
                <a:miter lim="400000"/>
              </a:ln>
              <a:effectLst/>
            </p:spPr>
            <p:txBody>
              <a:bodyPr wrap="square" lIns="91439" tIns="91439" rIns="91439" bIns="91439" numCol="1" anchor="t">
                <a:noAutofit/>
              </a:bodyPr>
              <a:lstStyle/>
              <a:p>
                <a:pPr>
                  <a:spcBef>
                    <a:spcPts val="50"/>
                  </a:spcBef>
                </a:pPr>
                <a:endParaRPr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 name="矩形 70">
                <a:extLst>
                  <a:ext uri="{FF2B5EF4-FFF2-40B4-BE49-F238E27FC236}">
                    <a16:creationId xmlns:a16="http://schemas.microsoft.com/office/drawing/2014/main" id="{0A31A5C2-ECC0-F751-197D-1B0FDD2A5400}"/>
                  </a:ext>
                </a:extLst>
              </p:cNvPr>
              <p:cNvSpPr/>
              <p:nvPr>
                <p:custDataLst>
                  <p:tags r:id="rId8"/>
                </p:custDataLst>
              </p:nvPr>
            </p:nvSpPr>
            <p:spPr>
              <a:xfrm>
                <a:off x="4121284" y="4481472"/>
                <a:ext cx="1735912" cy="368052"/>
              </a:xfrm>
              <a:prstGeom prst="rect">
                <a:avLst/>
              </a:prstGeom>
            </p:spPr>
            <p:txBody>
              <a:bodyPr wrap="none">
                <a:spAutoFit/>
              </a:bodyPr>
              <a:lstStyle/>
              <a:p>
                <a:pPr lvl="0">
                  <a:spcBef>
                    <a:spcPts val="50"/>
                  </a:spcBef>
                  <a:defRPr/>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演讲：第一</a:t>
                </a:r>
                <a:r>
                  <a:rPr lang="en-US" altLang="zh-CN"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PPT</a:t>
                </a:r>
                <a:endPar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63" name="组合 62">
              <a:extLst>
                <a:ext uri="{FF2B5EF4-FFF2-40B4-BE49-F238E27FC236}">
                  <a16:creationId xmlns:a16="http://schemas.microsoft.com/office/drawing/2014/main" id="{0D8B8D71-669C-86C7-A6B1-29BE692A6309}"/>
                </a:ext>
              </a:extLst>
            </p:cNvPr>
            <p:cNvGrpSpPr/>
            <p:nvPr/>
          </p:nvGrpSpPr>
          <p:grpSpPr>
            <a:xfrm>
              <a:off x="5764545" y="4481472"/>
              <a:ext cx="1981769" cy="368052"/>
              <a:chOff x="5764545" y="4481472"/>
              <a:chExt cx="1981769" cy="368052"/>
            </a:xfrm>
          </p:grpSpPr>
          <p:sp>
            <p:nvSpPr>
              <p:cNvPr id="64" name="圆形10">
                <a:extLst>
                  <a:ext uri="{FF2B5EF4-FFF2-40B4-BE49-F238E27FC236}">
                    <a16:creationId xmlns:a16="http://schemas.microsoft.com/office/drawing/2014/main" id="{00DB51F9-9FA6-DA90-DF36-B5824BAC06E6}"/>
                  </a:ext>
                </a:extLst>
              </p:cNvPr>
              <p:cNvSpPr>
                <a:spLocks noChangeArrowheads="1"/>
              </p:cNvSpPr>
              <p:nvPr>
                <p:custDataLst>
                  <p:tags r:id="rId2"/>
                </p:custDataLst>
              </p:nvPr>
            </p:nvSpPr>
            <p:spPr bwMode="auto">
              <a:xfrm>
                <a:off x="5764545" y="4483748"/>
                <a:ext cx="358148" cy="358149"/>
              </a:xfrm>
              <a:prstGeom prst="ellipse">
                <a:avLst/>
              </a:prstGeom>
              <a:solidFill>
                <a:srgbClr val="04CADF"/>
              </a:solidFill>
              <a:ln w="19050">
                <a:solidFill>
                  <a:schemeClr val="bg1"/>
                </a:solidFill>
                <a:round/>
              </a:ln>
              <a:effectLst>
                <a:outerShdw blurRad="25400" dist="25400" dir="5400000" algn="t" rotWithShape="0">
                  <a:srgbClr val="04CADF">
                    <a:alpha val="20000"/>
                  </a:srgbClr>
                </a:outerShdw>
              </a:effectLst>
            </p:spPr>
            <p:txBody>
              <a:bodyPr wrap="none" anchor="ctr"/>
              <a:lstStyle/>
              <a:p>
                <a:pPr marL="0" marR="0" lvl="0" indent="0" algn="ctr" defTabSz="914400" rtl="0" eaLnBrk="1" fontAlgn="base" latinLnBrk="0" hangingPunct="1">
                  <a:spcBef>
                    <a:spcPct val="50000"/>
                  </a:spcBef>
                  <a:spcAft>
                    <a:spcPct val="0"/>
                  </a:spcAft>
                  <a:buClrTx/>
                  <a:buSzTx/>
                  <a:buFontTx/>
                  <a:buNone/>
                  <a:defRPr/>
                </a:pPr>
                <a:endParaRPr kumimoji="0" lang="zh-CN" altLang="en-US" sz="1600" i="0" u="none" strike="noStrike" kern="1200" cap="none" spc="0" normalizeH="0" baseline="0" noProof="0">
                  <a:ln>
                    <a:noFill/>
                  </a:ln>
                  <a:solidFill>
                    <a:schemeClr val="tx1">
                      <a:lumMod val="85000"/>
                      <a:lumOff val="15000"/>
                    </a:schemeClr>
                  </a:solidFill>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65" name="组合 64">
                <a:extLst>
                  <a:ext uri="{FF2B5EF4-FFF2-40B4-BE49-F238E27FC236}">
                    <a16:creationId xmlns:a16="http://schemas.microsoft.com/office/drawing/2014/main" id="{C3D10A2C-C284-069B-1086-DA8FECEDB06F}"/>
                  </a:ext>
                </a:extLst>
              </p:cNvPr>
              <p:cNvGrpSpPr/>
              <p:nvPr/>
            </p:nvGrpSpPr>
            <p:grpSpPr>
              <a:xfrm>
                <a:off x="5850379" y="4559443"/>
                <a:ext cx="186478" cy="186660"/>
                <a:chOff x="14937457" y="3473368"/>
                <a:chExt cx="553449" cy="553988"/>
              </a:xfrm>
            </p:grpSpPr>
            <p:sp>
              <p:nvSpPr>
                <p:cNvPr id="67" name="图形 02">
                  <a:extLst>
                    <a:ext uri="{FF2B5EF4-FFF2-40B4-BE49-F238E27FC236}">
                      <a16:creationId xmlns:a16="http://schemas.microsoft.com/office/drawing/2014/main" id="{2014EDC4-F42B-C2AA-33D7-A1EC224CA750}"/>
                    </a:ext>
                  </a:extLst>
                </p:cNvPr>
                <p:cNvSpPr/>
                <p:nvPr>
                  <p:custDataLst>
                    <p:tags r:id="rId4"/>
                  </p:custDataLst>
                </p:nvPr>
              </p:nvSpPr>
              <p:spPr>
                <a:xfrm>
                  <a:off x="14937457" y="3473368"/>
                  <a:ext cx="553449" cy="553988"/>
                </a:xfrm>
                <a:custGeom>
                  <a:avLst/>
                  <a:gdLst/>
                  <a:ahLst/>
                  <a:cxnLst>
                    <a:cxn ang="0">
                      <a:pos x="wd2" y="hd2"/>
                    </a:cxn>
                    <a:cxn ang="5400000">
                      <a:pos x="wd2" y="hd2"/>
                    </a:cxn>
                    <a:cxn ang="10800000">
                      <a:pos x="wd2" y="hd2"/>
                    </a:cxn>
                    <a:cxn ang="16200000">
                      <a:pos x="wd2" y="hd2"/>
                    </a:cxn>
                  </a:cxnLst>
                  <a:rect l="0" t="0" r="r" b="b"/>
                  <a:pathLst>
                    <a:path w="19874" h="21600" extrusionOk="0">
                      <a:moveTo>
                        <a:pt x="19568" y="7931"/>
                      </a:moveTo>
                      <a:cubicBezTo>
                        <a:pt x="18791" y="5231"/>
                        <a:pt x="17237" y="2869"/>
                        <a:pt x="14907" y="1519"/>
                      </a:cubicBezTo>
                      <a:cubicBezTo>
                        <a:pt x="13353" y="506"/>
                        <a:pt x="11643" y="0"/>
                        <a:pt x="9934" y="0"/>
                      </a:cubicBezTo>
                      <a:cubicBezTo>
                        <a:pt x="6360" y="0"/>
                        <a:pt x="3096" y="2025"/>
                        <a:pt x="1387" y="5400"/>
                      </a:cubicBezTo>
                      <a:cubicBezTo>
                        <a:pt x="-1410" y="10631"/>
                        <a:pt x="144" y="17212"/>
                        <a:pt x="4961" y="20081"/>
                      </a:cubicBezTo>
                      <a:cubicBezTo>
                        <a:pt x="6515" y="21094"/>
                        <a:pt x="8225" y="21600"/>
                        <a:pt x="9934" y="21600"/>
                      </a:cubicBezTo>
                      <a:cubicBezTo>
                        <a:pt x="13508" y="21600"/>
                        <a:pt x="16771" y="19575"/>
                        <a:pt x="18481" y="16200"/>
                      </a:cubicBezTo>
                      <a:cubicBezTo>
                        <a:pt x="19879" y="13669"/>
                        <a:pt x="20190" y="10800"/>
                        <a:pt x="19568" y="7931"/>
                      </a:cubicBezTo>
                      <a:close/>
                      <a:moveTo>
                        <a:pt x="19102" y="11981"/>
                      </a:moveTo>
                      <a:cubicBezTo>
                        <a:pt x="18947" y="13331"/>
                        <a:pt x="18481" y="14681"/>
                        <a:pt x="17859" y="15862"/>
                      </a:cubicBezTo>
                      <a:cubicBezTo>
                        <a:pt x="17548" y="16537"/>
                        <a:pt x="16927" y="17381"/>
                        <a:pt x="16461" y="17887"/>
                      </a:cubicBezTo>
                      <a:cubicBezTo>
                        <a:pt x="15839" y="18562"/>
                        <a:pt x="15217" y="19069"/>
                        <a:pt x="14440" y="19575"/>
                      </a:cubicBezTo>
                      <a:cubicBezTo>
                        <a:pt x="13042" y="20419"/>
                        <a:pt x="11488" y="20756"/>
                        <a:pt x="9934" y="20756"/>
                      </a:cubicBezTo>
                      <a:cubicBezTo>
                        <a:pt x="9157" y="20756"/>
                        <a:pt x="8380" y="20756"/>
                        <a:pt x="7603" y="20419"/>
                      </a:cubicBezTo>
                      <a:cubicBezTo>
                        <a:pt x="6826" y="20250"/>
                        <a:pt x="6049" y="19912"/>
                        <a:pt x="5272" y="19406"/>
                      </a:cubicBezTo>
                      <a:cubicBezTo>
                        <a:pt x="4184" y="18731"/>
                        <a:pt x="3252" y="17887"/>
                        <a:pt x="2630" y="16875"/>
                      </a:cubicBezTo>
                      <a:cubicBezTo>
                        <a:pt x="1853" y="15862"/>
                        <a:pt x="1387" y="14681"/>
                        <a:pt x="1076" y="13331"/>
                      </a:cubicBezTo>
                      <a:cubicBezTo>
                        <a:pt x="766" y="12150"/>
                        <a:pt x="610" y="10800"/>
                        <a:pt x="766" y="9619"/>
                      </a:cubicBezTo>
                      <a:cubicBezTo>
                        <a:pt x="921" y="8269"/>
                        <a:pt x="1387" y="6919"/>
                        <a:pt x="2009" y="5737"/>
                      </a:cubicBezTo>
                      <a:cubicBezTo>
                        <a:pt x="2319" y="5063"/>
                        <a:pt x="2941" y="4219"/>
                        <a:pt x="3407" y="3713"/>
                      </a:cubicBezTo>
                      <a:cubicBezTo>
                        <a:pt x="4029" y="3038"/>
                        <a:pt x="4650" y="2531"/>
                        <a:pt x="5427" y="2025"/>
                      </a:cubicBezTo>
                      <a:cubicBezTo>
                        <a:pt x="7448" y="844"/>
                        <a:pt x="9934" y="506"/>
                        <a:pt x="12265" y="1181"/>
                      </a:cubicBezTo>
                      <a:cubicBezTo>
                        <a:pt x="13042" y="1350"/>
                        <a:pt x="13819" y="1688"/>
                        <a:pt x="14596" y="2194"/>
                      </a:cubicBezTo>
                      <a:cubicBezTo>
                        <a:pt x="15684" y="2869"/>
                        <a:pt x="16616" y="3713"/>
                        <a:pt x="17237" y="4725"/>
                      </a:cubicBezTo>
                      <a:cubicBezTo>
                        <a:pt x="18014" y="5737"/>
                        <a:pt x="18481" y="6919"/>
                        <a:pt x="18791" y="8269"/>
                      </a:cubicBezTo>
                      <a:cubicBezTo>
                        <a:pt x="19102" y="9450"/>
                        <a:pt x="19258" y="10800"/>
                        <a:pt x="19102" y="11981"/>
                      </a:cubicBezTo>
                      <a:close/>
                    </a:path>
                  </a:pathLst>
                </a:custGeom>
                <a:solidFill>
                  <a:srgbClr val="FFFFFF"/>
                </a:solidFill>
                <a:ln w="6350" cap="flat">
                  <a:solidFill>
                    <a:schemeClr val="bg1"/>
                  </a:solidFill>
                  <a:miter lim="400000"/>
                </a:ln>
                <a:effectLst/>
              </p:spPr>
              <p:txBody>
                <a:bodyPr wrap="square" lIns="91439" tIns="91439" rIns="91439" bIns="91439" numCol="1" anchor="t">
                  <a:noAutofit/>
                </a:bodyPr>
                <a:lstStyle/>
                <a:p>
                  <a:pPr>
                    <a:spcBef>
                      <a:spcPts val="50"/>
                    </a:spcBef>
                  </a:pPr>
                  <a:endParaRPr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 name="图形 01">
                  <a:extLst>
                    <a:ext uri="{FF2B5EF4-FFF2-40B4-BE49-F238E27FC236}">
                      <a16:creationId xmlns:a16="http://schemas.microsoft.com/office/drawing/2014/main" id="{FBAB352B-A357-EC4F-7EE4-60D463E31F1F}"/>
                    </a:ext>
                  </a:extLst>
                </p:cNvPr>
                <p:cNvSpPr/>
                <p:nvPr>
                  <p:custDataLst>
                    <p:tags r:id="rId5"/>
                  </p:custDataLst>
                </p:nvPr>
              </p:nvSpPr>
              <p:spPr>
                <a:xfrm>
                  <a:off x="15205353" y="3555643"/>
                  <a:ext cx="181007" cy="299850"/>
                </a:xfrm>
                <a:custGeom>
                  <a:avLst/>
                  <a:gdLst/>
                  <a:ahLst/>
                  <a:cxnLst>
                    <a:cxn ang="0">
                      <a:pos x="wd2" y="hd2"/>
                    </a:cxn>
                    <a:cxn ang="5400000">
                      <a:pos x="wd2" y="hd2"/>
                    </a:cxn>
                    <a:cxn ang="10800000">
                      <a:pos x="wd2" y="hd2"/>
                    </a:cxn>
                    <a:cxn ang="16200000">
                      <a:pos x="wd2" y="hd2"/>
                    </a:cxn>
                  </a:cxnLst>
                  <a:rect l="0" t="0" r="r" b="b"/>
                  <a:pathLst>
                    <a:path w="21600" h="21600" extrusionOk="0">
                      <a:moveTo>
                        <a:pt x="21086" y="20348"/>
                      </a:moveTo>
                      <a:cubicBezTo>
                        <a:pt x="2057" y="13774"/>
                        <a:pt x="2057" y="13774"/>
                        <a:pt x="2057" y="13774"/>
                      </a:cubicBezTo>
                      <a:cubicBezTo>
                        <a:pt x="2057" y="626"/>
                        <a:pt x="2057" y="626"/>
                        <a:pt x="2057" y="626"/>
                      </a:cubicBezTo>
                      <a:cubicBezTo>
                        <a:pt x="2057" y="313"/>
                        <a:pt x="1543" y="0"/>
                        <a:pt x="1029" y="0"/>
                      </a:cubicBezTo>
                      <a:cubicBezTo>
                        <a:pt x="514" y="0"/>
                        <a:pt x="0" y="313"/>
                        <a:pt x="0" y="626"/>
                      </a:cubicBezTo>
                      <a:cubicBezTo>
                        <a:pt x="0" y="14087"/>
                        <a:pt x="0" y="14087"/>
                        <a:pt x="0" y="14087"/>
                      </a:cubicBezTo>
                      <a:cubicBezTo>
                        <a:pt x="0" y="14400"/>
                        <a:pt x="0" y="14713"/>
                        <a:pt x="514" y="14713"/>
                      </a:cubicBezTo>
                      <a:cubicBezTo>
                        <a:pt x="19543" y="21600"/>
                        <a:pt x="19543" y="21600"/>
                        <a:pt x="19543" y="21600"/>
                      </a:cubicBezTo>
                      <a:cubicBezTo>
                        <a:pt x="20057" y="21600"/>
                        <a:pt x="21086" y="21600"/>
                        <a:pt x="21086" y="21287"/>
                      </a:cubicBezTo>
                      <a:cubicBezTo>
                        <a:pt x="21600" y="20974"/>
                        <a:pt x="21600" y="20974"/>
                        <a:pt x="21600" y="20661"/>
                      </a:cubicBezTo>
                      <a:cubicBezTo>
                        <a:pt x="21086" y="20348"/>
                        <a:pt x="21086" y="20348"/>
                        <a:pt x="21086" y="20348"/>
                      </a:cubicBezTo>
                      <a:close/>
                    </a:path>
                  </a:pathLst>
                </a:custGeom>
                <a:solidFill>
                  <a:srgbClr val="FFFFFF"/>
                </a:solidFill>
                <a:ln w="6350" cap="flat">
                  <a:solidFill>
                    <a:schemeClr val="bg1"/>
                  </a:solidFill>
                  <a:miter lim="400000"/>
                </a:ln>
                <a:effectLst/>
              </p:spPr>
              <p:txBody>
                <a:bodyPr wrap="square" lIns="91439" tIns="91439" rIns="91439" bIns="91439" numCol="1" anchor="t">
                  <a:noAutofit/>
                </a:bodyPr>
                <a:lstStyle/>
                <a:p>
                  <a:pPr>
                    <a:spcBef>
                      <a:spcPts val="50"/>
                    </a:spcBef>
                  </a:pPr>
                  <a:endParaRPr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6" name="矩形 65">
                <a:extLst>
                  <a:ext uri="{FF2B5EF4-FFF2-40B4-BE49-F238E27FC236}">
                    <a16:creationId xmlns:a16="http://schemas.microsoft.com/office/drawing/2014/main" id="{B2F4B0B3-7ABD-658B-E4B6-23117423871D}"/>
                  </a:ext>
                </a:extLst>
              </p:cNvPr>
              <p:cNvSpPr/>
              <p:nvPr>
                <p:custDataLst>
                  <p:tags r:id="rId3"/>
                </p:custDataLst>
              </p:nvPr>
            </p:nvSpPr>
            <p:spPr>
              <a:xfrm>
                <a:off x="6102625" y="4481472"/>
                <a:ext cx="1643689" cy="368052"/>
              </a:xfrm>
              <a:prstGeom prst="rect">
                <a:avLst/>
              </a:prstGeom>
            </p:spPr>
            <p:txBody>
              <a:bodyPr wrap="none">
                <a:spAutoFit/>
              </a:bodyPr>
              <a:lstStyle/>
              <a:p>
                <a:pPr lvl="0">
                  <a:spcBef>
                    <a:spcPts val="50"/>
                  </a:spcBef>
                  <a:defRPr/>
                </a:pP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时间：</a:t>
                </a:r>
                <a:r>
                  <a:rPr lang="en-US" altLang="zh-CN"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X</a:t>
                </a: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月</a:t>
                </a:r>
                <a:r>
                  <a:rPr lang="en-US" altLang="zh-CN"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X</a:t>
                </a: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日</a:t>
                </a:r>
                <a:endPar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pic>
        <p:nvPicPr>
          <p:cNvPr id="81" name="图片 80">
            <a:extLst>
              <a:ext uri="{FF2B5EF4-FFF2-40B4-BE49-F238E27FC236}">
                <a16:creationId xmlns:a16="http://schemas.microsoft.com/office/drawing/2014/main" id="{850A5941-EE52-4355-F7DD-6746446E53A5}"/>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23471" y="997480"/>
            <a:ext cx="4271009" cy="4271009"/>
          </a:xfrm>
          <a:prstGeom prst="rect">
            <a:avLst/>
          </a:prstGeom>
        </p:spPr>
      </p:pic>
    </p:spTree>
    <p:extLst>
      <p:ext uri="{BB962C8B-B14F-4D97-AF65-F5344CB8AC3E}">
        <p14:creationId xmlns:p14="http://schemas.microsoft.com/office/powerpoint/2010/main" val="66049800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down)">
                                      <p:cBhvr>
                                        <p:cTn id="7" dur="500"/>
                                        <p:tgtEl>
                                          <p:spTgt spid="37"/>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wipe(up)">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left)">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circle(in)">
                                      <p:cBhvr>
                                        <p:cTn id="32" dur="20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barn(inVertical)">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wipe(down)">
                                      <p:cBhvr>
                                        <p:cTn id="42" dur="5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25" grpId="0"/>
      <p:bldP spid="46" grpId="0" animBg="1"/>
      <p:bldP spid="54" grpId="0" animBg="1"/>
      <p:bldP spid="4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CAD8-1D10-6B81-C44D-D10BE0CA0CB3}"/>
            </a:ext>
          </a:extLst>
        </p:cNvPr>
        <p:cNvGrpSpPr/>
        <p:nvPr/>
      </p:nvGrpSpPr>
      <p:grpSpPr>
        <a:xfrm>
          <a:off x="0" y="0"/>
          <a:ext cx="0" cy="0"/>
          <a:chOff x="0" y="0"/>
          <a:chExt cx="0" cy="0"/>
        </a:xfrm>
      </p:grpSpPr>
      <p:sp>
        <p:nvSpPr>
          <p:cNvPr id="28" name="图形">
            <a:extLst>
              <a:ext uri="{FF2B5EF4-FFF2-40B4-BE49-F238E27FC236}">
                <a16:creationId xmlns:a16="http://schemas.microsoft.com/office/drawing/2014/main" id="{3466B4A1-71C3-F2B5-DC03-14C9BEDA5B06}"/>
              </a:ext>
            </a:extLst>
          </p:cNvPr>
          <p:cNvSpPr/>
          <p:nvPr/>
        </p:nvSpPr>
        <p:spPr>
          <a:xfrm>
            <a:off x="10986136" y="1027432"/>
            <a:ext cx="294005" cy="294005"/>
          </a:xfrm>
          <a:prstGeom prst="ellipse">
            <a:avLst/>
          </a:prstGeom>
          <a:noFill/>
          <a:ln>
            <a:gradFill>
              <a:gsLst>
                <a:gs pos="0">
                  <a:srgbClr val="FD7E5C"/>
                </a:gs>
                <a:gs pos="100000">
                  <a:srgbClr val="FF9449"/>
                </a:gs>
              </a:gsLst>
              <a:lin ang="5400000" scaled="1"/>
            </a:grad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31" name="图形">
            <a:extLst>
              <a:ext uri="{FF2B5EF4-FFF2-40B4-BE49-F238E27FC236}">
                <a16:creationId xmlns:a16="http://schemas.microsoft.com/office/drawing/2014/main" id="{53EB3EAC-C68C-AE49-2EF5-63C343E2CF44}"/>
              </a:ext>
            </a:extLst>
          </p:cNvPr>
          <p:cNvSpPr/>
          <p:nvPr/>
        </p:nvSpPr>
        <p:spPr>
          <a:xfrm>
            <a:off x="10986136" y="1027432"/>
            <a:ext cx="294005" cy="294005"/>
          </a:xfrm>
          <a:prstGeom prst="ellipse">
            <a:avLst/>
          </a:prstGeom>
          <a:noFill/>
          <a:ln>
            <a:gradFill>
              <a:gsLst>
                <a:gs pos="0">
                  <a:srgbClr val="FD7E5C"/>
                </a:gs>
                <a:gs pos="100000">
                  <a:srgbClr val="FF9449"/>
                </a:gs>
              </a:gsLst>
              <a:lin ang="5400000" scaled="1"/>
            </a:grad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grpSp>
        <p:nvGrpSpPr>
          <p:cNvPr id="110" name="组合 109">
            <a:extLst>
              <a:ext uri="{FF2B5EF4-FFF2-40B4-BE49-F238E27FC236}">
                <a16:creationId xmlns:a16="http://schemas.microsoft.com/office/drawing/2014/main" id="{E70E3371-7AEC-37EC-43D7-ED4D8DD5D86D}"/>
              </a:ext>
            </a:extLst>
          </p:cNvPr>
          <p:cNvGrpSpPr/>
          <p:nvPr/>
        </p:nvGrpSpPr>
        <p:grpSpPr>
          <a:xfrm flipV="1">
            <a:off x="0" y="0"/>
            <a:ext cx="12191999" cy="6858000"/>
            <a:chOff x="0" y="0"/>
            <a:chExt cx="12191999" cy="6858000"/>
          </a:xfrm>
        </p:grpSpPr>
        <p:sp>
          <p:nvSpPr>
            <p:cNvPr id="107" name="任意多边形: 形状 106">
              <a:extLst>
                <a:ext uri="{FF2B5EF4-FFF2-40B4-BE49-F238E27FC236}">
                  <a16:creationId xmlns:a16="http://schemas.microsoft.com/office/drawing/2014/main" id="{FE10F73B-146E-CB98-4483-6E308FBDE1D8}"/>
                </a:ext>
              </a:extLst>
            </p:cNvPr>
            <p:cNvSpPr/>
            <p:nvPr/>
          </p:nvSpPr>
          <p:spPr>
            <a:xfrm>
              <a:off x="11061380" y="0"/>
              <a:ext cx="1130619" cy="1056645"/>
            </a:xfrm>
            <a:custGeom>
              <a:avLst/>
              <a:gdLst>
                <a:gd name="connsiteX0" fmla="*/ 4409 w 1130619"/>
                <a:gd name="connsiteY0" fmla="*/ 0 h 1056645"/>
                <a:gd name="connsiteX1" fmla="*/ 1130619 w 1130619"/>
                <a:gd name="connsiteY1" fmla="*/ 0 h 1056645"/>
                <a:gd name="connsiteX2" fmla="*/ 1130619 w 1130619"/>
                <a:gd name="connsiteY2" fmla="*/ 1040386 h 1056645"/>
                <a:gd name="connsiteX3" fmla="*/ 969328 w 1130619"/>
                <a:gd name="connsiteY3" fmla="*/ 1056645 h 1056645"/>
                <a:gd name="connsiteX4" fmla="*/ 0 w 1130619"/>
                <a:gd name="connsiteY4" fmla="*/ 87317 h 10566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0619" h="1056645">
                  <a:moveTo>
                    <a:pt x="4409" y="0"/>
                  </a:moveTo>
                  <a:lnTo>
                    <a:pt x="1130619" y="0"/>
                  </a:lnTo>
                  <a:lnTo>
                    <a:pt x="1130619" y="1040386"/>
                  </a:lnTo>
                  <a:lnTo>
                    <a:pt x="969328" y="1056645"/>
                  </a:lnTo>
                  <a:cubicBezTo>
                    <a:pt x="433983" y="1056645"/>
                    <a:pt x="0" y="622662"/>
                    <a:pt x="0" y="87317"/>
                  </a:cubicBezTo>
                  <a:close/>
                </a:path>
              </a:pathLst>
            </a:custGeom>
            <a:gradFill>
              <a:gsLst>
                <a:gs pos="100000">
                  <a:srgbClr val="04CADF"/>
                </a:gs>
                <a:gs pos="0">
                  <a:srgbClr val="04CADF">
                    <a:alpha val="22000"/>
                  </a:srgbClr>
                </a:gs>
              </a:gsLst>
              <a:lin ang="7800000" scaled="0"/>
            </a:gradFill>
            <a:ln>
              <a:noFill/>
            </a:ln>
            <a:effectLst>
              <a:outerShdw blurRad="50800" dist="38100" dir="8100000" algn="tr" rotWithShape="0">
                <a:srgbClr val="E95D8E">
                  <a:alpha val="20000"/>
                </a:srgb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101" name="图形">
              <a:extLst>
                <a:ext uri="{FF2B5EF4-FFF2-40B4-BE49-F238E27FC236}">
                  <a16:creationId xmlns:a16="http://schemas.microsoft.com/office/drawing/2014/main" id="{F8313413-488D-4C36-D2FF-A7ADCDE7515D}"/>
                </a:ext>
              </a:extLst>
            </p:cNvPr>
            <p:cNvSpPr/>
            <p:nvPr/>
          </p:nvSpPr>
          <p:spPr>
            <a:xfrm flipH="1" flipV="1">
              <a:off x="0" y="1269"/>
              <a:ext cx="2984557" cy="1551083"/>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 name="connsiteX0-121" fmla="*/ 9240363 w 14698188"/>
                <a:gd name="connsiteY0-122" fmla="*/ 1367261 h 5325261"/>
                <a:gd name="connsiteX1-123" fmla="*/ 14698188 w 14698188"/>
                <a:gd name="connsiteY1-124" fmla="*/ 395711 h 5325261"/>
                <a:gd name="connsiteX2-125" fmla="*/ 14698188 w 14698188"/>
                <a:gd name="connsiteY2-126" fmla="*/ 5325261 h 5325261"/>
                <a:gd name="connsiteX3-127" fmla="*/ 12308 w 14698188"/>
                <a:gd name="connsiteY3-128" fmla="*/ 5325261 h 5325261"/>
                <a:gd name="connsiteX4-129" fmla="*/ 9240363 w 14698188"/>
                <a:gd name="connsiteY4-130" fmla="*/ 1367261 h 5325261"/>
                <a:gd name="connsiteX0-131" fmla="*/ 9240363 w 14698188"/>
                <a:gd name="connsiteY0-132" fmla="*/ 1076000 h 5034000"/>
                <a:gd name="connsiteX1-133" fmla="*/ 14698188 w 14698188"/>
                <a:gd name="connsiteY1-134" fmla="*/ 104450 h 5034000"/>
                <a:gd name="connsiteX2-135" fmla="*/ 14698188 w 14698188"/>
                <a:gd name="connsiteY2-136" fmla="*/ 5034000 h 5034000"/>
                <a:gd name="connsiteX3-137" fmla="*/ 12308 w 14698188"/>
                <a:gd name="connsiteY3-138" fmla="*/ 5034000 h 5034000"/>
                <a:gd name="connsiteX4-139" fmla="*/ 9240363 w 14698188"/>
                <a:gd name="connsiteY4-140" fmla="*/ 1076000 h 5034000"/>
                <a:gd name="connsiteX0-141" fmla="*/ 9247695 w 14705520"/>
                <a:gd name="connsiteY0-142" fmla="*/ 1076000 h 5034000"/>
                <a:gd name="connsiteX1-143" fmla="*/ 14705520 w 14705520"/>
                <a:gd name="connsiteY1-144" fmla="*/ 104450 h 5034000"/>
                <a:gd name="connsiteX2-145" fmla="*/ 14705520 w 14705520"/>
                <a:gd name="connsiteY2-146" fmla="*/ 5034000 h 5034000"/>
                <a:gd name="connsiteX3-147" fmla="*/ 19640 w 14705520"/>
                <a:gd name="connsiteY3-148" fmla="*/ 5034000 h 5034000"/>
                <a:gd name="connsiteX4-149" fmla="*/ 9247695 w 14705520"/>
                <a:gd name="connsiteY4-150" fmla="*/ 1076000 h 5034000"/>
                <a:gd name="connsiteX0-151" fmla="*/ 9251946 w 14709771"/>
                <a:gd name="connsiteY0-152" fmla="*/ 1076000 h 5034000"/>
                <a:gd name="connsiteX1-153" fmla="*/ 14709771 w 14709771"/>
                <a:gd name="connsiteY1-154" fmla="*/ 104450 h 5034000"/>
                <a:gd name="connsiteX2-155" fmla="*/ 14709771 w 14709771"/>
                <a:gd name="connsiteY2-156" fmla="*/ 5034000 h 5034000"/>
                <a:gd name="connsiteX3-157" fmla="*/ 23891 w 14709771"/>
                <a:gd name="connsiteY3-158" fmla="*/ 5034000 h 5034000"/>
                <a:gd name="connsiteX4-159" fmla="*/ 9251946 w 14709771"/>
                <a:gd name="connsiteY4-160" fmla="*/ 1076000 h 5034000"/>
                <a:gd name="connsiteX0-161" fmla="*/ 9251946 w 14709771"/>
                <a:gd name="connsiteY0-162" fmla="*/ 1273721 h 5231721"/>
                <a:gd name="connsiteX1-163" fmla="*/ 14709771 w 14709771"/>
                <a:gd name="connsiteY1-164" fmla="*/ 302171 h 5231721"/>
                <a:gd name="connsiteX2-165" fmla="*/ 14709771 w 14709771"/>
                <a:gd name="connsiteY2-166" fmla="*/ 5231721 h 5231721"/>
                <a:gd name="connsiteX3-167" fmla="*/ 23891 w 14709771"/>
                <a:gd name="connsiteY3-168" fmla="*/ 5231721 h 5231721"/>
                <a:gd name="connsiteX4-169" fmla="*/ 9251946 w 14709771"/>
                <a:gd name="connsiteY4-170" fmla="*/ 1273721 h 5231721"/>
                <a:gd name="connsiteX0-171" fmla="*/ 10013250 w 14706648"/>
                <a:gd name="connsiteY0-172" fmla="*/ 2312727 h 4929550"/>
                <a:gd name="connsiteX1-173" fmla="*/ 14706648 w 14706648"/>
                <a:gd name="connsiteY1-174" fmla="*/ 0 h 4929550"/>
                <a:gd name="connsiteX2-175" fmla="*/ 14706648 w 14706648"/>
                <a:gd name="connsiteY2-176" fmla="*/ 4929550 h 4929550"/>
                <a:gd name="connsiteX3-177" fmla="*/ 20768 w 14706648"/>
                <a:gd name="connsiteY3-178" fmla="*/ 4929550 h 4929550"/>
                <a:gd name="connsiteX4-179" fmla="*/ 10013250 w 14706648"/>
                <a:gd name="connsiteY4-180" fmla="*/ 2312727 h 4929550"/>
                <a:gd name="connsiteX0-181" fmla="*/ 10011463 w 14704861"/>
                <a:gd name="connsiteY0-182" fmla="*/ 2312727 h 4929550"/>
                <a:gd name="connsiteX1-183" fmla="*/ 14704861 w 14704861"/>
                <a:gd name="connsiteY1-184" fmla="*/ 0 h 4929550"/>
                <a:gd name="connsiteX2-185" fmla="*/ 14704861 w 14704861"/>
                <a:gd name="connsiteY2-186" fmla="*/ 4929550 h 4929550"/>
                <a:gd name="connsiteX3-187" fmla="*/ 18981 w 14704861"/>
                <a:gd name="connsiteY3-188" fmla="*/ 4929550 h 4929550"/>
                <a:gd name="connsiteX4-189" fmla="*/ 10011463 w 14704861"/>
                <a:gd name="connsiteY4-190" fmla="*/ 2312727 h 4929550"/>
                <a:gd name="connsiteX0-191" fmla="*/ 10011463 w 14704861"/>
                <a:gd name="connsiteY0-192" fmla="*/ 2312727 h 4929550"/>
                <a:gd name="connsiteX1-193" fmla="*/ 14704861 w 14704861"/>
                <a:gd name="connsiteY1-194" fmla="*/ 0 h 4929550"/>
                <a:gd name="connsiteX2-195" fmla="*/ 14704861 w 14704861"/>
                <a:gd name="connsiteY2-196" fmla="*/ 4929550 h 4929550"/>
                <a:gd name="connsiteX3-197" fmla="*/ 18981 w 14704861"/>
                <a:gd name="connsiteY3-198" fmla="*/ 4929550 h 4929550"/>
                <a:gd name="connsiteX4-199" fmla="*/ 10011463 w 14704861"/>
                <a:gd name="connsiteY4-200" fmla="*/ 2312727 h 49295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704861" h="4929550">
                  <a:moveTo>
                    <a:pt x="10011463" y="2312727"/>
                  </a:moveTo>
                  <a:cubicBezTo>
                    <a:pt x="13111336" y="451021"/>
                    <a:pt x="12818911" y="0"/>
                    <a:pt x="14704861" y="0"/>
                  </a:cubicBezTo>
                  <a:lnTo>
                    <a:pt x="14704861" y="4929550"/>
                  </a:lnTo>
                  <a:lnTo>
                    <a:pt x="18981" y="4929550"/>
                  </a:lnTo>
                  <a:cubicBezTo>
                    <a:pt x="-381069" y="2314817"/>
                    <a:pt x="5627810" y="4476055"/>
                    <a:pt x="10011463" y="2312727"/>
                  </a:cubicBezTo>
                  <a:close/>
                </a:path>
              </a:pathLst>
            </a:custGeom>
            <a:gradFill>
              <a:gsLst>
                <a:gs pos="100000">
                  <a:srgbClr val="04CADF"/>
                </a:gs>
                <a:gs pos="0">
                  <a:srgbClr val="04CADF">
                    <a:alpha val="9000"/>
                  </a:srgbClr>
                </a:gs>
              </a:gsLst>
              <a:lin ang="7800000" scaled="0"/>
            </a:gradFill>
            <a:ln>
              <a:noFill/>
            </a:ln>
            <a:effectLst>
              <a:outerShdw blurRad="50800" dist="38100" dir="21540000" algn="tr" rotWithShape="0">
                <a:srgbClr val="E95D8E">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图形">
              <a:extLst>
                <a:ext uri="{FF2B5EF4-FFF2-40B4-BE49-F238E27FC236}">
                  <a16:creationId xmlns:a16="http://schemas.microsoft.com/office/drawing/2014/main" id="{6420ACD7-12C2-4BED-CEC6-3D742D97673F}"/>
                </a:ext>
              </a:extLst>
            </p:cNvPr>
            <p:cNvSpPr/>
            <p:nvPr/>
          </p:nvSpPr>
          <p:spPr>
            <a:xfrm>
              <a:off x="11011032" y="1060033"/>
              <a:ext cx="229988" cy="229988"/>
            </a:xfrm>
            <a:prstGeom prst="ellipse">
              <a:avLst/>
            </a:prstGeom>
            <a:noFill/>
            <a:ln>
              <a:solidFill>
                <a:srgbClr val="04CA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109" name="任意多边形: 形状 108">
              <a:extLst>
                <a:ext uri="{FF2B5EF4-FFF2-40B4-BE49-F238E27FC236}">
                  <a16:creationId xmlns:a16="http://schemas.microsoft.com/office/drawing/2014/main" id="{9D6CF38B-045F-996F-62FB-F79A41196DC5}"/>
                </a:ext>
              </a:extLst>
            </p:cNvPr>
            <p:cNvSpPr/>
            <p:nvPr/>
          </p:nvSpPr>
          <p:spPr>
            <a:xfrm>
              <a:off x="0" y="5853051"/>
              <a:ext cx="1098750" cy="1004949"/>
            </a:xfrm>
            <a:custGeom>
              <a:avLst/>
              <a:gdLst>
                <a:gd name="connsiteX0" fmla="*/ 95630 w 1098750"/>
                <a:gd name="connsiteY0" fmla="*/ 0 h 1004949"/>
                <a:gd name="connsiteX1" fmla="*/ 1094383 w 1098750"/>
                <a:gd name="connsiteY1" fmla="*/ 916966 h 1004949"/>
                <a:gd name="connsiteX2" fmla="*/ 1098750 w 1098750"/>
                <a:gd name="connsiteY2" fmla="*/ 1004949 h 1004949"/>
                <a:gd name="connsiteX3" fmla="*/ 0 w 1098750"/>
                <a:gd name="connsiteY3" fmla="*/ 1004949 h 1004949"/>
                <a:gd name="connsiteX4" fmla="*/ 0 w 1098750"/>
                <a:gd name="connsiteY4" fmla="*/ 4913 h 10049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8750" h="1004949">
                  <a:moveTo>
                    <a:pt x="95630" y="0"/>
                  </a:moveTo>
                  <a:cubicBezTo>
                    <a:pt x="615435" y="0"/>
                    <a:pt x="1042971" y="401920"/>
                    <a:pt x="1094383" y="916966"/>
                  </a:cubicBezTo>
                  <a:lnTo>
                    <a:pt x="1098750" y="1004949"/>
                  </a:lnTo>
                  <a:lnTo>
                    <a:pt x="0" y="1004949"/>
                  </a:lnTo>
                  <a:lnTo>
                    <a:pt x="0" y="4913"/>
                  </a:lnTo>
                  <a:close/>
                </a:path>
              </a:pathLst>
            </a:custGeom>
            <a:gradFill>
              <a:gsLst>
                <a:gs pos="100000">
                  <a:srgbClr val="04CADF"/>
                </a:gs>
                <a:gs pos="39000">
                  <a:srgbClr val="04CADF">
                    <a:alpha val="22000"/>
                  </a:srgbClr>
                </a:gs>
              </a:gsLst>
              <a:lin ang="7800000" scaled="0"/>
            </a:gradFill>
            <a:ln>
              <a:noFill/>
            </a:ln>
            <a:effectLst>
              <a:outerShdw blurRad="50800" dist="38100" dir="21540000" algn="tr" rotWithShape="0">
                <a:srgbClr val="E95D8E">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103" name="任意多边形: 形状 102">
              <a:extLst>
                <a:ext uri="{FF2B5EF4-FFF2-40B4-BE49-F238E27FC236}">
                  <a16:creationId xmlns:a16="http://schemas.microsoft.com/office/drawing/2014/main" id="{50D06660-C1B3-3DAA-C295-93778D9EC761}"/>
                </a:ext>
              </a:extLst>
            </p:cNvPr>
            <p:cNvSpPr/>
            <p:nvPr/>
          </p:nvSpPr>
          <p:spPr>
            <a:xfrm>
              <a:off x="10548249" y="6396351"/>
              <a:ext cx="1155554" cy="461649"/>
            </a:xfrm>
            <a:custGeom>
              <a:avLst/>
              <a:gdLst>
                <a:gd name="connsiteX0" fmla="*/ 776831 w 1553662"/>
                <a:gd name="connsiteY0" fmla="*/ 0 h 620695"/>
                <a:gd name="connsiteX1" fmla="*/ 1512321 w 1553662"/>
                <a:gd name="connsiteY1" fmla="*/ 487516 h 620695"/>
                <a:gd name="connsiteX2" fmla="*/ 1553662 w 1553662"/>
                <a:gd name="connsiteY2" fmla="*/ 620695 h 620695"/>
                <a:gd name="connsiteX3" fmla="*/ 1274065 w 1553662"/>
                <a:gd name="connsiteY3" fmla="*/ 620695 h 620695"/>
                <a:gd name="connsiteX4" fmla="*/ 1265138 w 1553662"/>
                <a:gd name="connsiteY4" fmla="*/ 591937 h 620695"/>
                <a:gd name="connsiteX5" fmla="*/ 776831 w 1553662"/>
                <a:gd name="connsiteY5" fmla="*/ 268265 h 620695"/>
                <a:gd name="connsiteX6" fmla="*/ 288525 w 1553662"/>
                <a:gd name="connsiteY6" fmla="*/ 591937 h 620695"/>
                <a:gd name="connsiteX7" fmla="*/ 279597 w 1553662"/>
                <a:gd name="connsiteY7" fmla="*/ 620695 h 620695"/>
                <a:gd name="connsiteX8" fmla="*/ 0 w 1553662"/>
                <a:gd name="connsiteY8" fmla="*/ 620695 h 620695"/>
                <a:gd name="connsiteX9" fmla="*/ 41341 w 1553662"/>
                <a:gd name="connsiteY9" fmla="*/ 487516 h 620695"/>
                <a:gd name="connsiteX10" fmla="*/ 776831 w 1553662"/>
                <a:gd name="connsiteY10" fmla="*/ 0 h 6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3662" h="620695">
                  <a:moveTo>
                    <a:pt x="776831" y="0"/>
                  </a:moveTo>
                  <a:cubicBezTo>
                    <a:pt x="1107464" y="0"/>
                    <a:pt x="1391145" y="201023"/>
                    <a:pt x="1512321" y="487516"/>
                  </a:cubicBezTo>
                  <a:lnTo>
                    <a:pt x="1553662" y="620695"/>
                  </a:lnTo>
                  <a:lnTo>
                    <a:pt x="1274065" y="620695"/>
                  </a:lnTo>
                  <a:lnTo>
                    <a:pt x="1265138" y="591937"/>
                  </a:lnTo>
                  <a:cubicBezTo>
                    <a:pt x="1184687" y="401729"/>
                    <a:pt x="996345" y="268265"/>
                    <a:pt x="776831" y="268265"/>
                  </a:cubicBezTo>
                  <a:cubicBezTo>
                    <a:pt x="557318" y="268265"/>
                    <a:pt x="368976" y="401729"/>
                    <a:pt x="288525" y="591937"/>
                  </a:cubicBezTo>
                  <a:lnTo>
                    <a:pt x="279597" y="620695"/>
                  </a:lnTo>
                  <a:lnTo>
                    <a:pt x="0" y="620695"/>
                  </a:lnTo>
                  <a:lnTo>
                    <a:pt x="41341" y="487516"/>
                  </a:lnTo>
                  <a:cubicBezTo>
                    <a:pt x="162517" y="201023"/>
                    <a:pt x="446198" y="0"/>
                    <a:pt x="776831" y="0"/>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05" name="组合 204">
            <a:extLst>
              <a:ext uri="{FF2B5EF4-FFF2-40B4-BE49-F238E27FC236}">
                <a16:creationId xmlns:a16="http://schemas.microsoft.com/office/drawing/2014/main" id="{B2789603-F927-6ABB-B9AD-561255D56331}"/>
              </a:ext>
            </a:extLst>
          </p:cNvPr>
          <p:cNvGrpSpPr/>
          <p:nvPr/>
        </p:nvGrpSpPr>
        <p:grpSpPr>
          <a:xfrm>
            <a:off x="4965891" y="610878"/>
            <a:ext cx="2260219" cy="1485735"/>
            <a:chOff x="4965891" y="523564"/>
            <a:chExt cx="2260219" cy="1485735"/>
          </a:xfrm>
        </p:grpSpPr>
        <p:sp>
          <p:nvSpPr>
            <p:cNvPr id="199" name="矩形 198">
              <a:extLst>
                <a:ext uri="{FF2B5EF4-FFF2-40B4-BE49-F238E27FC236}">
                  <a16:creationId xmlns:a16="http://schemas.microsoft.com/office/drawing/2014/main" id="{57172D47-798D-5D38-7F7E-3CDFEECEB98A}"/>
                </a:ext>
              </a:extLst>
            </p:cNvPr>
            <p:cNvSpPr/>
            <p:nvPr>
              <p:custDataLst>
                <p:tags r:id="rId1"/>
              </p:custDataLst>
            </p:nvPr>
          </p:nvSpPr>
          <p:spPr>
            <a:xfrm>
              <a:off x="5248244" y="1556777"/>
              <a:ext cx="1703517" cy="328167"/>
            </a:xfrm>
            <a:prstGeom prst="rect">
              <a:avLst/>
            </a:prstGeom>
          </p:spPr>
          <p:txBody>
            <a:bodyPr wrap="square">
              <a:spAutoFit/>
              <a:scene3d>
                <a:camera prst="orthographicFront"/>
                <a:lightRig rig="threePt" dir="t"/>
              </a:scene3d>
              <a:sp3d contourW="12700"/>
            </a:bodyPr>
            <a:lstStyle/>
            <a:p>
              <a:pPr algn="dist">
                <a:lnSpc>
                  <a:spcPct val="120000"/>
                </a:lnSpc>
              </a:pPr>
              <a:r>
                <a:rPr lang="en-US" altLang="zh-CN" sz="1400" dirty="0">
                  <a:solidFill>
                    <a:schemeClr val="tx1">
                      <a:lumMod val="85000"/>
                      <a:lumOff val="15000"/>
                    </a:schemeClr>
                  </a:solidFill>
                  <a:latin typeface="思源宋体 CN Heavy" panose="02020900000000000000" pitchFamily="18" charset="-122"/>
                  <a:ea typeface="思源宋体 CN Heavy" panose="02020900000000000000" pitchFamily="18" charset="-122"/>
                  <a:sym typeface="思源黑体 CN Medium" panose="020B0600000000000000" pitchFamily="34" charset="-122"/>
                </a:rPr>
                <a:t>CONTENTS</a:t>
              </a:r>
              <a:endParaRPr lang="zh-CN" altLang="en-US" sz="1400" dirty="0">
                <a:solidFill>
                  <a:schemeClr val="tx1">
                    <a:lumMod val="85000"/>
                    <a:lumOff val="15000"/>
                  </a:schemeClr>
                </a:solidFill>
                <a:latin typeface="思源宋体 CN Heavy" panose="02020900000000000000" pitchFamily="18" charset="-122"/>
                <a:ea typeface="思源宋体 CN Heavy" panose="02020900000000000000" pitchFamily="18" charset="-122"/>
                <a:cs typeface="阿里巴巴普惠体" panose="00020600040101010101" charset="-122"/>
                <a:sym typeface="思源黑体 CN Medium" panose="020B0600000000000000" pitchFamily="34" charset="-122"/>
              </a:endParaRPr>
            </a:p>
          </p:txBody>
        </p:sp>
        <p:grpSp>
          <p:nvGrpSpPr>
            <p:cNvPr id="200" name="组合 199">
              <a:extLst>
                <a:ext uri="{FF2B5EF4-FFF2-40B4-BE49-F238E27FC236}">
                  <a16:creationId xmlns:a16="http://schemas.microsoft.com/office/drawing/2014/main" id="{F4954EFB-575A-86D7-48A9-D0C19B1EBBB4}"/>
                </a:ext>
              </a:extLst>
            </p:cNvPr>
            <p:cNvGrpSpPr/>
            <p:nvPr/>
          </p:nvGrpSpPr>
          <p:grpSpPr>
            <a:xfrm>
              <a:off x="4965891" y="523564"/>
              <a:ext cx="2260219" cy="1485735"/>
              <a:chOff x="5299530" y="1356519"/>
              <a:chExt cx="2260219" cy="1485735"/>
            </a:xfrm>
          </p:grpSpPr>
          <p:grpSp>
            <p:nvGrpSpPr>
              <p:cNvPr id="201" name="组合 200">
                <a:extLst>
                  <a:ext uri="{FF2B5EF4-FFF2-40B4-BE49-F238E27FC236}">
                    <a16:creationId xmlns:a16="http://schemas.microsoft.com/office/drawing/2014/main" id="{B454E89A-15D3-BD8B-921E-CE58579425A6}"/>
                  </a:ext>
                </a:extLst>
              </p:cNvPr>
              <p:cNvGrpSpPr/>
              <p:nvPr/>
            </p:nvGrpSpPr>
            <p:grpSpPr>
              <a:xfrm>
                <a:off x="5299530" y="1356519"/>
                <a:ext cx="2260219" cy="1150464"/>
                <a:chOff x="5299530" y="1356519"/>
                <a:chExt cx="4048674" cy="1150464"/>
              </a:xfrm>
            </p:grpSpPr>
            <p:sp>
              <p:nvSpPr>
                <p:cNvPr id="203" name="矩形 202">
                  <a:extLst>
                    <a:ext uri="{FF2B5EF4-FFF2-40B4-BE49-F238E27FC236}">
                      <a16:creationId xmlns:a16="http://schemas.microsoft.com/office/drawing/2014/main" id="{27C3F187-8538-4181-2AA6-37EF20D1138C}"/>
                    </a:ext>
                  </a:extLst>
                </p:cNvPr>
                <p:cNvSpPr/>
                <p:nvPr>
                  <p:custDataLst>
                    <p:tags r:id="rId2"/>
                  </p:custDataLst>
                </p:nvPr>
              </p:nvSpPr>
              <p:spPr>
                <a:xfrm>
                  <a:off x="5299530" y="1398987"/>
                  <a:ext cx="4048674" cy="1107996"/>
                </a:xfrm>
                <a:prstGeom prst="rect">
                  <a:avLst/>
                </a:prstGeom>
              </p:spPr>
              <p:txBody>
                <a:bodyPr wrap="square">
                  <a:spAutoFit/>
                  <a:scene3d>
                    <a:camera prst="orthographicFront"/>
                    <a:lightRig rig="threePt" dir="t"/>
                  </a:scene3d>
                  <a:sp3d contourW="12700"/>
                </a:bodyPr>
                <a:lstStyle/>
                <a:p>
                  <a:pPr algn="ctr"/>
                  <a:r>
                    <a:rPr lang="zh-CN" altLang="en-US" sz="6600" dirty="0">
                      <a:ln w="76200">
                        <a:solidFill>
                          <a:schemeClr val="bg1"/>
                        </a:solidFill>
                      </a:ln>
                      <a:noFill/>
                      <a:effectLst>
                        <a:outerShdw blurRad="25400" dist="25400" dir="2700000" algn="tl">
                          <a:srgbClr val="04CADF">
                            <a:alpha val="30000"/>
                          </a:srgbClr>
                        </a:outerShdw>
                      </a:effectLst>
                      <a:latin typeface="思源宋体 CN Heavy" panose="02020900000000000000" pitchFamily="18" charset="-122"/>
                      <a:ea typeface="思源宋体 CN Heavy" panose="02020900000000000000" pitchFamily="18" charset="-122"/>
                      <a:sym typeface="思源黑体 CN Medium" panose="020B0600000000000000" pitchFamily="34" charset="-122"/>
                    </a:rPr>
                    <a:t>目录</a:t>
                  </a:r>
                  <a:endParaRPr lang="zh-CN" altLang="en-US" sz="5400" dirty="0">
                    <a:ln w="76200">
                      <a:solidFill>
                        <a:schemeClr val="bg1"/>
                      </a:solidFill>
                    </a:ln>
                    <a:noFill/>
                    <a:effectLst>
                      <a:outerShdw blurRad="25400" dist="25400" dir="2700000" algn="tl">
                        <a:srgbClr val="04CADF">
                          <a:alpha val="30000"/>
                        </a:srgbClr>
                      </a:outerShdw>
                    </a:effectLst>
                    <a:latin typeface="思源宋体 CN Heavy" panose="02020900000000000000" pitchFamily="18" charset="-122"/>
                    <a:ea typeface="思源宋体 CN Heavy" panose="02020900000000000000" pitchFamily="18" charset="-122"/>
                    <a:cs typeface="阿里巴巴普惠体" panose="00020600040101010101" charset="-122"/>
                    <a:sym typeface="思源黑体 CN Medium" panose="020B0600000000000000" pitchFamily="34" charset="-122"/>
                  </a:endParaRPr>
                </a:p>
              </p:txBody>
            </p:sp>
            <p:sp>
              <p:nvSpPr>
                <p:cNvPr id="204" name="矩形 203">
                  <a:extLst>
                    <a:ext uri="{FF2B5EF4-FFF2-40B4-BE49-F238E27FC236}">
                      <a16:creationId xmlns:a16="http://schemas.microsoft.com/office/drawing/2014/main" id="{4B30F71B-29B7-3A14-F384-18623D6C9D46}"/>
                    </a:ext>
                  </a:extLst>
                </p:cNvPr>
                <p:cNvSpPr/>
                <p:nvPr>
                  <p:custDataLst>
                    <p:tags r:id="rId3"/>
                  </p:custDataLst>
                </p:nvPr>
              </p:nvSpPr>
              <p:spPr>
                <a:xfrm>
                  <a:off x="5299530" y="1356519"/>
                  <a:ext cx="4048674" cy="1107996"/>
                </a:xfrm>
                <a:prstGeom prst="rect">
                  <a:avLst/>
                </a:prstGeom>
              </p:spPr>
              <p:txBody>
                <a:bodyPr wrap="square">
                  <a:spAutoFit/>
                  <a:scene3d>
                    <a:camera prst="orthographicFront"/>
                    <a:lightRig rig="threePt" dir="t"/>
                  </a:scene3d>
                  <a:sp3d contourW="12700"/>
                </a:bodyPr>
                <a:lstStyle/>
                <a:p>
                  <a:pPr algn="ctr"/>
                  <a:r>
                    <a:rPr lang="zh-CN" altLang="en-US" sz="6600" dirty="0">
                      <a:solidFill>
                        <a:srgbClr val="04CADF"/>
                      </a:solidFill>
                      <a:latin typeface="思源宋体 CN Heavy" panose="02020900000000000000" pitchFamily="18" charset="-122"/>
                      <a:ea typeface="思源宋体 CN Heavy" panose="02020900000000000000" pitchFamily="18" charset="-122"/>
                      <a:sym typeface="思源黑体 CN Medium" panose="020B0600000000000000" pitchFamily="34" charset="-122"/>
                    </a:rPr>
                    <a:t>目录</a:t>
                  </a:r>
                  <a:endParaRPr lang="zh-CN" altLang="en-US" sz="5400" dirty="0">
                    <a:solidFill>
                      <a:srgbClr val="04CADF"/>
                    </a:solidFill>
                    <a:latin typeface="思源宋体 CN Heavy" panose="02020900000000000000" pitchFamily="18" charset="-122"/>
                    <a:ea typeface="思源宋体 CN Heavy" panose="02020900000000000000" pitchFamily="18" charset="-122"/>
                    <a:cs typeface="阿里巴巴普惠体" panose="00020600040101010101" charset="-122"/>
                    <a:sym typeface="思源黑体 CN Medium" panose="020B0600000000000000" pitchFamily="34" charset="-122"/>
                  </a:endParaRPr>
                </a:p>
              </p:txBody>
            </p:sp>
          </p:grpSp>
          <p:sp>
            <p:nvSpPr>
              <p:cNvPr id="202" name="图形">
                <a:extLst>
                  <a:ext uri="{FF2B5EF4-FFF2-40B4-BE49-F238E27FC236}">
                    <a16:creationId xmlns:a16="http://schemas.microsoft.com/office/drawing/2014/main" id="{81675C77-F192-B81A-E8BC-28C8839F36CB}"/>
                  </a:ext>
                </a:extLst>
              </p:cNvPr>
              <p:cNvSpPr/>
              <p:nvPr/>
            </p:nvSpPr>
            <p:spPr>
              <a:xfrm>
                <a:off x="5973076" y="2796535"/>
                <a:ext cx="963585" cy="45719"/>
              </a:xfrm>
              <a:prstGeom prst="roundRect">
                <a:avLst>
                  <a:gd name="adj" fmla="val 50000"/>
                </a:avLst>
              </a:prstGeom>
              <a:solidFill>
                <a:srgbClr val="04CA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gradFill>
                    <a:gsLst>
                      <a:gs pos="28000">
                        <a:srgbClr val="FF8C4F"/>
                      </a:gs>
                      <a:gs pos="100000">
                        <a:srgbClr val="FFB95A"/>
                      </a:gs>
                    </a:gsLst>
                    <a:lin ang="5400000" scaled="0"/>
                  </a:gradFill>
                  <a:latin typeface="思源宋体 CN Heavy" panose="02020900000000000000" pitchFamily="18" charset="-122"/>
                  <a:ea typeface="思源宋体 CN Heavy" panose="02020900000000000000" pitchFamily="18" charset="-122"/>
                  <a:cs typeface="+mn-ea"/>
                  <a:sym typeface="思源黑体 CN Medium" panose="020B0600000000000000" pitchFamily="34" charset="-122"/>
                </a:endParaRPr>
              </a:p>
            </p:txBody>
          </p:sp>
        </p:grpSp>
      </p:grpSp>
      <p:grpSp>
        <p:nvGrpSpPr>
          <p:cNvPr id="208" name="组合 207">
            <a:extLst>
              <a:ext uri="{FF2B5EF4-FFF2-40B4-BE49-F238E27FC236}">
                <a16:creationId xmlns:a16="http://schemas.microsoft.com/office/drawing/2014/main" id="{1E8AFAAC-F3E8-2041-43A3-371D6AE08A00}"/>
              </a:ext>
            </a:extLst>
          </p:cNvPr>
          <p:cNvGrpSpPr/>
          <p:nvPr/>
        </p:nvGrpSpPr>
        <p:grpSpPr>
          <a:xfrm>
            <a:off x="3122912" y="1318257"/>
            <a:ext cx="5946177" cy="262360"/>
            <a:chOff x="3314551" y="1230943"/>
            <a:chExt cx="5946177" cy="262360"/>
          </a:xfrm>
          <a:solidFill>
            <a:srgbClr val="04CADF">
              <a:alpha val="50000"/>
            </a:srgbClr>
          </a:solidFill>
        </p:grpSpPr>
        <p:sp>
          <p:nvSpPr>
            <p:cNvPr id="206" name="任意多边形: 形状 205">
              <a:extLst>
                <a:ext uri="{FF2B5EF4-FFF2-40B4-BE49-F238E27FC236}">
                  <a16:creationId xmlns:a16="http://schemas.microsoft.com/office/drawing/2014/main" id="{48F65BEB-F7FF-E5D0-D48C-A1AA8E8B1E9B}"/>
                </a:ext>
              </a:extLst>
            </p:cNvPr>
            <p:cNvSpPr/>
            <p:nvPr/>
          </p:nvSpPr>
          <p:spPr>
            <a:xfrm rot="5400000">
              <a:off x="3673514" y="871980"/>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7" name="任意多边形: 形状 206">
              <a:extLst>
                <a:ext uri="{FF2B5EF4-FFF2-40B4-BE49-F238E27FC236}">
                  <a16:creationId xmlns:a16="http://schemas.microsoft.com/office/drawing/2014/main" id="{79CB9DB6-FE54-3F88-C4DA-3B4AAFAA9514}"/>
                </a:ext>
              </a:extLst>
            </p:cNvPr>
            <p:cNvSpPr/>
            <p:nvPr/>
          </p:nvSpPr>
          <p:spPr>
            <a:xfrm rot="5400000">
              <a:off x="8639405" y="871980"/>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09" name="组合 208">
            <a:extLst>
              <a:ext uri="{FF2B5EF4-FFF2-40B4-BE49-F238E27FC236}">
                <a16:creationId xmlns:a16="http://schemas.microsoft.com/office/drawing/2014/main" id="{A7DE38FD-CBEB-563D-E02E-1A46EE1E6246}"/>
              </a:ext>
            </a:extLst>
          </p:cNvPr>
          <p:cNvGrpSpPr/>
          <p:nvPr/>
        </p:nvGrpSpPr>
        <p:grpSpPr>
          <a:xfrm>
            <a:off x="430461" y="2837927"/>
            <a:ext cx="11756928" cy="1954875"/>
            <a:chOff x="420033" y="2658672"/>
            <a:chExt cx="11606484" cy="1929858"/>
          </a:xfrm>
        </p:grpSpPr>
        <p:grpSp>
          <p:nvGrpSpPr>
            <p:cNvPr id="210" name="组合 209">
              <a:extLst>
                <a:ext uri="{FF2B5EF4-FFF2-40B4-BE49-F238E27FC236}">
                  <a16:creationId xmlns:a16="http://schemas.microsoft.com/office/drawing/2014/main" id="{309FCFDD-FC0D-47AB-080B-74D90DE1DEB4}"/>
                </a:ext>
              </a:extLst>
            </p:cNvPr>
            <p:cNvGrpSpPr/>
            <p:nvPr/>
          </p:nvGrpSpPr>
          <p:grpSpPr>
            <a:xfrm>
              <a:off x="420033" y="2658672"/>
              <a:ext cx="2321294" cy="1929858"/>
              <a:chOff x="1235712" y="2888655"/>
              <a:chExt cx="2321294" cy="1929858"/>
            </a:xfrm>
          </p:grpSpPr>
          <p:sp>
            <p:nvSpPr>
              <p:cNvPr id="235" name="图形">
                <a:extLst>
                  <a:ext uri="{FF2B5EF4-FFF2-40B4-BE49-F238E27FC236}">
                    <a16:creationId xmlns:a16="http://schemas.microsoft.com/office/drawing/2014/main" id="{5549C61F-E36F-4C5A-BA9A-3BABAC9E7135}"/>
                  </a:ext>
                </a:extLst>
              </p:cNvPr>
              <p:cNvSpPr/>
              <p:nvPr/>
            </p:nvSpPr>
            <p:spPr>
              <a:xfrm>
                <a:off x="1834594" y="2926070"/>
                <a:ext cx="543080" cy="552692"/>
              </a:xfrm>
              <a:prstGeom prst="ellipse">
                <a:avLst/>
              </a:prstGeom>
              <a:gradFill>
                <a:gsLst>
                  <a:gs pos="16000">
                    <a:srgbClr val="04CADF">
                      <a:alpha val="56000"/>
                    </a:srgbClr>
                  </a:gs>
                  <a:gs pos="89000">
                    <a:srgbClr val="04CADF">
                      <a:alpha val="0"/>
                    </a:srgb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36" name="图形">
                <a:extLst>
                  <a:ext uri="{FF2B5EF4-FFF2-40B4-BE49-F238E27FC236}">
                    <a16:creationId xmlns:a16="http://schemas.microsoft.com/office/drawing/2014/main" id="{9B420D05-BD1D-FD12-8E84-57A154549B3D}"/>
                  </a:ext>
                </a:extLst>
              </p:cNvPr>
              <p:cNvSpPr txBox="1"/>
              <p:nvPr/>
            </p:nvSpPr>
            <p:spPr>
              <a:xfrm>
                <a:off x="1235712" y="2888655"/>
                <a:ext cx="1106478" cy="1002665"/>
              </a:xfrm>
              <a:prstGeom prst="rect">
                <a:avLst/>
              </a:prstGeom>
              <a:noFill/>
            </p:spPr>
            <p:txBody>
              <a:bodyPr wrap="none" rtlCol="0">
                <a:spAutoFit/>
              </a:bodyPr>
              <a:lstStyle/>
              <a:p>
                <a:r>
                  <a:rPr lang="en-US" altLang="zh-CN" sz="6000" dirty="0">
                    <a:solidFill>
                      <a:schemeClr val="tx1">
                        <a:lumMod val="85000"/>
                        <a:lumOff val="15000"/>
                      </a:schemeClr>
                    </a:solidFill>
                    <a:latin typeface="思源宋体 Heavy" panose="02020900000000000000" pitchFamily="18" charset="-122"/>
                    <a:ea typeface="思源宋体 Heavy" panose="02020900000000000000" pitchFamily="18" charset="-122"/>
                    <a:cs typeface="字魂58号-创中黑" panose="00000500000000000000" pitchFamily="2" charset="-122"/>
                    <a:sym typeface="思源黑体 CN Medium" panose="020B0600000000000000" pitchFamily="34" charset="-122"/>
                  </a:rPr>
                  <a:t>01</a:t>
                </a:r>
              </a:p>
            </p:txBody>
          </p:sp>
          <p:sp>
            <p:nvSpPr>
              <p:cNvPr id="237" name="图形">
                <a:extLst>
                  <a:ext uri="{FF2B5EF4-FFF2-40B4-BE49-F238E27FC236}">
                    <a16:creationId xmlns:a16="http://schemas.microsoft.com/office/drawing/2014/main" id="{A85D7041-580C-D282-6593-991F51D3CE36}"/>
                  </a:ext>
                </a:extLst>
              </p:cNvPr>
              <p:cNvSpPr txBox="1"/>
              <p:nvPr/>
            </p:nvSpPr>
            <p:spPr>
              <a:xfrm>
                <a:off x="1285522" y="3924422"/>
                <a:ext cx="2271484" cy="455757"/>
              </a:xfrm>
              <a:prstGeom prst="rect">
                <a:avLst/>
              </a:prstGeom>
              <a:noFill/>
            </p:spPr>
            <p:txBody>
              <a:bodyPr wrap="square" rtlCol="0">
                <a:spAutoFit/>
              </a:bodyPr>
              <a:lstStyle/>
              <a:p>
                <a:pPr>
                  <a:spcBef>
                    <a:spcPts val="50"/>
                  </a:spcBef>
                </a:pPr>
                <a:r>
                  <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宠物行业概述</a:t>
                </a:r>
              </a:p>
            </p:txBody>
          </p:sp>
          <p:sp>
            <p:nvSpPr>
              <p:cNvPr id="238" name="图形">
                <a:extLst>
                  <a:ext uri="{FF2B5EF4-FFF2-40B4-BE49-F238E27FC236}">
                    <a16:creationId xmlns:a16="http://schemas.microsoft.com/office/drawing/2014/main" id="{E14BFE1A-923C-39A0-5F65-4324D880DF4E}"/>
                  </a:ext>
                </a:extLst>
              </p:cNvPr>
              <p:cNvSpPr txBox="1"/>
              <p:nvPr/>
            </p:nvSpPr>
            <p:spPr>
              <a:xfrm>
                <a:off x="1285522" y="4438794"/>
                <a:ext cx="1755390" cy="379719"/>
              </a:xfrm>
              <a:prstGeom prst="rect">
                <a:avLst/>
              </a:prstGeom>
              <a:noFill/>
            </p:spPr>
            <p:txBody>
              <a:bodyPr wrap="square" rtlCol="0">
                <a:spAutoFit/>
              </a:bodyPr>
              <a:lstStyle/>
              <a:p>
                <a:pPr>
                  <a:lnSpc>
                    <a:spcPct val="120000"/>
                  </a:lnSpc>
                  <a:spcBef>
                    <a:spcPts val="0"/>
                  </a:spcBef>
                  <a:spcAft>
                    <a:spcPts val="0"/>
                  </a:spcAft>
                </a:pP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r>
                  <a:rPr lang="en-US" altLang="zh-CN"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t>
                </a: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endParaRPr lang="zh-CN" altLang="en-US" sz="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grpSp>
        <p:grpSp>
          <p:nvGrpSpPr>
            <p:cNvPr id="211" name="组合 210">
              <a:extLst>
                <a:ext uri="{FF2B5EF4-FFF2-40B4-BE49-F238E27FC236}">
                  <a16:creationId xmlns:a16="http://schemas.microsoft.com/office/drawing/2014/main" id="{AB3F6372-366F-809B-43A6-EE1154A9FCDB}"/>
                </a:ext>
              </a:extLst>
            </p:cNvPr>
            <p:cNvGrpSpPr/>
            <p:nvPr/>
          </p:nvGrpSpPr>
          <p:grpSpPr>
            <a:xfrm>
              <a:off x="2741331" y="2658672"/>
              <a:ext cx="2321294" cy="1929854"/>
              <a:chOff x="1235712" y="2888655"/>
              <a:chExt cx="2321294" cy="1929854"/>
            </a:xfrm>
          </p:grpSpPr>
          <p:sp>
            <p:nvSpPr>
              <p:cNvPr id="231" name="图形">
                <a:extLst>
                  <a:ext uri="{FF2B5EF4-FFF2-40B4-BE49-F238E27FC236}">
                    <a16:creationId xmlns:a16="http://schemas.microsoft.com/office/drawing/2014/main" id="{65217FD5-1900-E0B1-B431-733E7AD633A6}"/>
                  </a:ext>
                </a:extLst>
              </p:cNvPr>
              <p:cNvSpPr/>
              <p:nvPr/>
            </p:nvSpPr>
            <p:spPr>
              <a:xfrm>
                <a:off x="1834594" y="2926070"/>
                <a:ext cx="543080" cy="552692"/>
              </a:xfrm>
              <a:prstGeom prst="ellipse">
                <a:avLst/>
              </a:prstGeom>
              <a:gradFill>
                <a:gsLst>
                  <a:gs pos="16000">
                    <a:srgbClr val="04CADF">
                      <a:alpha val="56000"/>
                    </a:srgbClr>
                  </a:gs>
                  <a:gs pos="89000">
                    <a:srgbClr val="04CADF">
                      <a:alpha val="0"/>
                    </a:srgb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32" name="图形">
                <a:extLst>
                  <a:ext uri="{FF2B5EF4-FFF2-40B4-BE49-F238E27FC236}">
                    <a16:creationId xmlns:a16="http://schemas.microsoft.com/office/drawing/2014/main" id="{8BAD022C-4D70-49D3-A3A5-373924CA0BE9}"/>
                  </a:ext>
                </a:extLst>
              </p:cNvPr>
              <p:cNvSpPr txBox="1"/>
              <p:nvPr/>
            </p:nvSpPr>
            <p:spPr>
              <a:xfrm>
                <a:off x="1235712" y="2888655"/>
                <a:ext cx="1106478" cy="1002665"/>
              </a:xfrm>
              <a:prstGeom prst="rect">
                <a:avLst/>
              </a:prstGeom>
              <a:noFill/>
            </p:spPr>
            <p:txBody>
              <a:bodyPr wrap="none" rtlCol="0">
                <a:spAutoFit/>
              </a:bodyPr>
              <a:lstStyle/>
              <a:p>
                <a:r>
                  <a:rPr lang="en-US" altLang="zh-CN" sz="6000">
                    <a:solidFill>
                      <a:schemeClr val="tx1">
                        <a:lumMod val="85000"/>
                        <a:lumOff val="15000"/>
                      </a:schemeClr>
                    </a:solidFill>
                    <a:latin typeface="思源宋体 Heavy" panose="02020900000000000000" pitchFamily="18" charset="-122"/>
                    <a:ea typeface="思源宋体 Heavy" panose="02020900000000000000" pitchFamily="18" charset="-122"/>
                    <a:cs typeface="字魂58号-创中黑" panose="00000500000000000000" pitchFamily="2" charset="-122"/>
                    <a:sym typeface="思源黑体 CN Medium" panose="020B0600000000000000" pitchFamily="34" charset="-122"/>
                  </a:rPr>
                  <a:t>02</a:t>
                </a:r>
                <a:endParaRPr lang="en-US" altLang="zh-CN" sz="6000" dirty="0">
                  <a:solidFill>
                    <a:schemeClr val="tx1">
                      <a:lumMod val="85000"/>
                      <a:lumOff val="15000"/>
                    </a:schemeClr>
                  </a:solidFill>
                  <a:latin typeface="思源宋体 Heavy" panose="02020900000000000000" pitchFamily="18" charset="-122"/>
                  <a:ea typeface="思源宋体 Heavy" panose="02020900000000000000" pitchFamily="18" charset="-122"/>
                  <a:cs typeface="字魂58号-创中黑" panose="00000500000000000000" pitchFamily="2" charset="-122"/>
                  <a:sym typeface="思源黑体 CN Medium" panose="020B0600000000000000" pitchFamily="34" charset="-122"/>
                </a:endParaRPr>
              </a:p>
            </p:txBody>
          </p:sp>
          <p:sp>
            <p:nvSpPr>
              <p:cNvPr id="233" name="图形">
                <a:extLst>
                  <a:ext uri="{FF2B5EF4-FFF2-40B4-BE49-F238E27FC236}">
                    <a16:creationId xmlns:a16="http://schemas.microsoft.com/office/drawing/2014/main" id="{92BAA271-22C7-EA82-6580-7EE30018CABB}"/>
                  </a:ext>
                </a:extLst>
              </p:cNvPr>
              <p:cNvSpPr txBox="1"/>
              <p:nvPr/>
            </p:nvSpPr>
            <p:spPr>
              <a:xfrm>
                <a:off x="1285522" y="3924422"/>
                <a:ext cx="2271484" cy="455757"/>
              </a:xfrm>
              <a:prstGeom prst="rect">
                <a:avLst/>
              </a:prstGeom>
              <a:noFill/>
            </p:spPr>
            <p:txBody>
              <a:bodyPr wrap="square" rtlCol="0">
                <a:spAutoFit/>
              </a:bodyPr>
              <a:lstStyle>
                <a:defPPr>
                  <a:defRPr lang="zh-CN"/>
                </a:defPPr>
                <a:lvl1pPr>
                  <a:spcBef>
                    <a:spcPts val="50"/>
                  </a:spcBef>
                  <a:defRPr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defRPr>
                </a:lvl1pPr>
              </a:lstStyle>
              <a:p>
                <a:r>
                  <a:rPr lang="zh-CN" altLang="en-US" dirty="0">
                    <a:sym typeface="思源黑体 CN Medium" panose="020B0600000000000000" pitchFamily="34" charset="-122"/>
                  </a:rPr>
                  <a:t>行业发展现状</a:t>
                </a:r>
              </a:p>
            </p:txBody>
          </p:sp>
          <p:sp>
            <p:nvSpPr>
              <p:cNvPr id="234" name="图形">
                <a:extLst>
                  <a:ext uri="{FF2B5EF4-FFF2-40B4-BE49-F238E27FC236}">
                    <a16:creationId xmlns:a16="http://schemas.microsoft.com/office/drawing/2014/main" id="{D4B1A7C8-DB24-A5DE-3C83-4E331B82E663}"/>
                  </a:ext>
                </a:extLst>
              </p:cNvPr>
              <p:cNvSpPr txBox="1"/>
              <p:nvPr/>
            </p:nvSpPr>
            <p:spPr>
              <a:xfrm>
                <a:off x="1285522" y="4438790"/>
                <a:ext cx="1755390" cy="379719"/>
              </a:xfrm>
              <a:prstGeom prst="rect">
                <a:avLst/>
              </a:prstGeom>
              <a:noFill/>
            </p:spPr>
            <p:txBody>
              <a:bodyPr wrap="square" rtlCol="0">
                <a:spAutoFit/>
              </a:bodyPr>
              <a:lstStyle/>
              <a:p>
                <a:pPr>
                  <a:lnSpc>
                    <a:spcPct val="120000"/>
                  </a:lnSpc>
                  <a:spcBef>
                    <a:spcPts val="0"/>
                  </a:spcBef>
                  <a:spcAft>
                    <a:spcPts val="0"/>
                  </a:spcAft>
                </a:pP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r>
                  <a:rPr lang="en-US" altLang="zh-CN"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t>
                </a: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endParaRPr lang="zh-CN" altLang="en-US" sz="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grpSp>
        <p:grpSp>
          <p:nvGrpSpPr>
            <p:cNvPr id="212" name="组合 211">
              <a:extLst>
                <a:ext uri="{FF2B5EF4-FFF2-40B4-BE49-F238E27FC236}">
                  <a16:creationId xmlns:a16="http://schemas.microsoft.com/office/drawing/2014/main" id="{58740999-F3A9-425F-6772-DAEB460F6D39}"/>
                </a:ext>
              </a:extLst>
            </p:cNvPr>
            <p:cNvGrpSpPr/>
            <p:nvPr/>
          </p:nvGrpSpPr>
          <p:grpSpPr>
            <a:xfrm>
              <a:off x="5062629" y="2658672"/>
              <a:ext cx="2321294" cy="1929854"/>
              <a:chOff x="1235712" y="2888655"/>
              <a:chExt cx="2321294" cy="1929854"/>
            </a:xfrm>
          </p:grpSpPr>
          <p:sp>
            <p:nvSpPr>
              <p:cNvPr id="227" name="图形">
                <a:extLst>
                  <a:ext uri="{FF2B5EF4-FFF2-40B4-BE49-F238E27FC236}">
                    <a16:creationId xmlns:a16="http://schemas.microsoft.com/office/drawing/2014/main" id="{DABCCCAF-9D90-A5FD-4652-2091DEACB65B}"/>
                  </a:ext>
                </a:extLst>
              </p:cNvPr>
              <p:cNvSpPr/>
              <p:nvPr/>
            </p:nvSpPr>
            <p:spPr>
              <a:xfrm>
                <a:off x="1834594" y="2926070"/>
                <a:ext cx="543080" cy="552692"/>
              </a:xfrm>
              <a:prstGeom prst="ellipse">
                <a:avLst/>
              </a:prstGeom>
              <a:gradFill>
                <a:gsLst>
                  <a:gs pos="16000">
                    <a:srgbClr val="04CADF">
                      <a:alpha val="56000"/>
                    </a:srgbClr>
                  </a:gs>
                  <a:gs pos="89000">
                    <a:srgbClr val="04CADF">
                      <a:alpha val="0"/>
                    </a:srgb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28" name="图形">
                <a:extLst>
                  <a:ext uri="{FF2B5EF4-FFF2-40B4-BE49-F238E27FC236}">
                    <a16:creationId xmlns:a16="http://schemas.microsoft.com/office/drawing/2014/main" id="{AF059CCE-BE2D-A9BE-C4F0-AC0F355503B5}"/>
                  </a:ext>
                </a:extLst>
              </p:cNvPr>
              <p:cNvSpPr txBox="1"/>
              <p:nvPr/>
            </p:nvSpPr>
            <p:spPr>
              <a:xfrm>
                <a:off x="1235712" y="2888655"/>
                <a:ext cx="1106478" cy="1002665"/>
              </a:xfrm>
              <a:prstGeom prst="rect">
                <a:avLst/>
              </a:prstGeom>
              <a:noFill/>
            </p:spPr>
            <p:txBody>
              <a:bodyPr wrap="none" rtlCol="0">
                <a:spAutoFit/>
              </a:bodyPr>
              <a:lstStyle/>
              <a:p>
                <a:r>
                  <a:rPr lang="en-US" altLang="zh-CN" sz="6000">
                    <a:solidFill>
                      <a:schemeClr val="tx1">
                        <a:lumMod val="85000"/>
                        <a:lumOff val="15000"/>
                      </a:schemeClr>
                    </a:solidFill>
                    <a:latin typeface="思源宋体 Heavy" panose="02020900000000000000" pitchFamily="18" charset="-122"/>
                    <a:ea typeface="思源宋体 Heavy" panose="02020900000000000000" pitchFamily="18" charset="-122"/>
                    <a:cs typeface="字魂58号-创中黑" panose="00000500000000000000" pitchFamily="2" charset="-122"/>
                    <a:sym typeface="思源黑体 CN Medium" panose="020B0600000000000000" pitchFamily="34" charset="-122"/>
                  </a:rPr>
                  <a:t>03</a:t>
                </a:r>
                <a:endParaRPr lang="en-US" altLang="zh-CN" sz="6000" dirty="0">
                  <a:solidFill>
                    <a:schemeClr val="tx1">
                      <a:lumMod val="85000"/>
                      <a:lumOff val="15000"/>
                    </a:schemeClr>
                  </a:solidFill>
                  <a:latin typeface="思源宋体 Heavy" panose="02020900000000000000" pitchFamily="18" charset="-122"/>
                  <a:ea typeface="思源宋体 Heavy" panose="02020900000000000000" pitchFamily="18" charset="-122"/>
                  <a:cs typeface="字魂58号-创中黑" panose="00000500000000000000" pitchFamily="2" charset="-122"/>
                  <a:sym typeface="思源黑体 CN Medium" panose="020B0600000000000000" pitchFamily="34" charset="-122"/>
                </a:endParaRPr>
              </a:p>
            </p:txBody>
          </p:sp>
          <p:sp>
            <p:nvSpPr>
              <p:cNvPr id="229" name="图形">
                <a:extLst>
                  <a:ext uri="{FF2B5EF4-FFF2-40B4-BE49-F238E27FC236}">
                    <a16:creationId xmlns:a16="http://schemas.microsoft.com/office/drawing/2014/main" id="{6CE1C07F-0626-825A-0B3C-75786A2734F1}"/>
                  </a:ext>
                </a:extLst>
              </p:cNvPr>
              <p:cNvSpPr txBox="1"/>
              <p:nvPr/>
            </p:nvSpPr>
            <p:spPr>
              <a:xfrm>
                <a:off x="1285522" y="3924422"/>
                <a:ext cx="2271484" cy="455757"/>
              </a:xfrm>
              <a:prstGeom prst="rect">
                <a:avLst/>
              </a:prstGeom>
              <a:noFill/>
            </p:spPr>
            <p:txBody>
              <a:bodyPr wrap="square" rtlCol="0">
                <a:spAutoFit/>
              </a:bodyPr>
              <a:lstStyle>
                <a:defPPr>
                  <a:defRPr lang="zh-CN"/>
                </a:defPPr>
                <a:lvl1pPr>
                  <a:spcBef>
                    <a:spcPts val="50"/>
                  </a:spcBef>
                  <a:defRPr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defRPr>
                </a:lvl1pPr>
              </a:lstStyle>
              <a:p>
                <a:r>
                  <a:rPr lang="zh-CN" altLang="en-US" dirty="0">
                    <a:sym typeface="思源黑体 CN Medium" panose="020B0600000000000000" pitchFamily="34" charset="-122"/>
                  </a:rPr>
                  <a:t>行业发展环境</a:t>
                </a:r>
              </a:p>
            </p:txBody>
          </p:sp>
          <p:sp>
            <p:nvSpPr>
              <p:cNvPr id="230" name="图形">
                <a:extLst>
                  <a:ext uri="{FF2B5EF4-FFF2-40B4-BE49-F238E27FC236}">
                    <a16:creationId xmlns:a16="http://schemas.microsoft.com/office/drawing/2014/main" id="{18A43C58-7365-8C5B-0DF6-43AAE65F387E}"/>
                  </a:ext>
                </a:extLst>
              </p:cNvPr>
              <p:cNvSpPr txBox="1"/>
              <p:nvPr/>
            </p:nvSpPr>
            <p:spPr>
              <a:xfrm>
                <a:off x="1285522" y="4438790"/>
                <a:ext cx="1755390" cy="379719"/>
              </a:xfrm>
              <a:prstGeom prst="rect">
                <a:avLst/>
              </a:prstGeom>
              <a:noFill/>
            </p:spPr>
            <p:txBody>
              <a:bodyPr wrap="square" rtlCol="0">
                <a:spAutoFit/>
              </a:bodyPr>
              <a:lstStyle/>
              <a:p>
                <a:pPr>
                  <a:lnSpc>
                    <a:spcPct val="120000"/>
                  </a:lnSpc>
                  <a:spcBef>
                    <a:spcPts val="0"/>
                  </a:spcBef>
                  <a:spcAft>
                    <a:spcPts val="0"/>
                  </a:spcAft>
                </a:pP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r>
                  <a:rPr lang="en-US" altLang="zh-CN"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t>
                </a: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endParaRPr lang="zh-CN" altLang="en-US" sz="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grpSp>
        <p:grpSp>
          <p:nvGrpSpPr>
            <p:cNvPr id="213" name="组合 212">
              <a:extLst>
                <a:ext uri="{FF2B5EF4-FFF2-40B4-BE49-F238E27FC236}">
                  <a16:creationId xmlns:a16="http://schemas.microsoft.com/office/drawing/2014/main" id="{BF665D78-9FD4-04A0-F4A0-974A49F3D4A2}"/>
                </a:ext>
              </a:extLst>
            </p:cNvPr>
            <p:cNvGrpSpPr/>
            <p:nvPr/>
          </p:nvGrpSpPr>
          <p:grpSpPr>
            <a:xfrm>
              <a:off x="7383927" y="2658672"/>
              <a:ext cx="2321294" cy="1929854"/>
              <a:chOff x="1235712" y="2888655"/>
              <a:chExt cx="2321294" cy="1929854"/>
            </a:xfrm>
          </p:grpSpPr>
          <p:sp>
            <p:nvSpPr>
              <p:cNvPr id="223" name="图形">
                <a:extLst>
                  <a:ext uri="{FF2B5EF4-FFF2-40B4-BE49-F238E27FC236}">
                    <a16:creationId xmlns:a16="http://schemas.microsoft.com/office/drawing/2014/main" id="{9622BC09-79C0-E3EF-4BF4-0350D8C82843}"/>
                  </a:ext>
                </a:extLst>
              </p:cNvPr>
              <p:cNvSpPr/>
              <p:nvPr/>
            </p:nvSpPr>
            <p:spPr>
              <a:xfrm>
                <a:off x="1834594" y="2926070"/>
                <a:ext cx="543080" cy="552692"/>
              </a:xfrm>
              <a:prstGeom prst="ellipse">
                <a:avLst/>
              </a:prstGeom>
              <a:gradFill>
                <a:gsLst>
                  <a:gs pos="16000">
                    <a:srgbClr val="04CADF">
                      <a:alpha val="56000"/>
                    </a:srgbClr>
                  </a:gs>
                  <a:gs pos="89000">
                    <a:srgbClr val="04CADF">
                      <a:alpha val="0"/>
                    </a:srgb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24" name="图形">
                <a:extLst>
                  <a:ext uri="{FF2B5EF4-FFF2-40B4-BE49-F238E27FC236}">
                    <a16:creationId xmlns:a16="http://schemas.microsoft.com/office/drawing/2014/main" id="{4B5F4F1E-6BF3-63DD-5E7E-58DC11977CFE}"/>
                  </a:ext>
                </a:extLst>
              </p:cNvPr>
              <p:cNvSpPr txBox="1"/>
              <p:nvPr/>
            </p:nvSpPr>
            <p:spPr>
              <a:xfrm>
                <a:off x="1235712" y="2888655"/>
                <a:ext cx="1106478" cy="1002665"/>
              </a:xfrm>
              <a:prstGeom prst="rect">
                <a:avLst/>
              </a:prstGeom>
              <a:noFill/>
            </p:spPr>
            <p:txBody>
              <a:bodyPr wrap="none" rtlCol="0">
                <a:spAutoFit/>
              </a:bodyPr>
              <a:lstStyle/>
              <a:p>
                <a:r>
                  <a:rPr lang="en-US" altLang="zh-CN" sz="6000">
                    <a:solidFill>
                      <a:schemeClr val="tx1">
                        <a:lumMod val="85000"/>
                        <a:lumOff val="15000"/>
                      </a:schemeClr>
                    </a:solidFill>
                    <a:latin typeface="思源宋体 Heavy" panose="02020900000000000000" pitchFamily="18" charset="-122"/>
                    <a:ea typeface="思源宋体 Heavy" panose="02020900000000000000" pitchFamily="18" charset="-122"/>
                    <a:cs typeface="字魂58号-创中黑" panose="00000500000000000000" pitchFamily="2" charset="-122"/>
                    <a:sym typeface="思源黑体 CN Medium" panose="020B0600000000000000" pitchFamily="34" charset="-122"/>
                  </a:rPr>
                  <a:t>04</a:t>
                </a:r>
                <a:endParaRPr lang="en-US" altLang="zh-CN" sz="6000" dirty="0">
                  <a:solidFill>
                    <a:schemeClr val="tx1">
                      <a:lumMod val="85000"/>
                      <a:lumOff val="15000"/>
                    </a:schemeClr>
                  </a:solidFill>
                  <a:latin typeface="思源宋体 Heavy" panose="02020900000000000000" pitchFamily="18" charset="-122"/>
                  <a:ea typeface="思源宋体 Heavy" panose="02020900000000000000" pitchFamily="18" charset="-122"/>
                  <a:cs typeface="字魂58号-创中黑" panose="00000500000000000000" pitchFamily="2" charset="-122"/>
                  <a:sym typeface="思源黑体 CN Medium" panose="020B0600000000000000" pitchFamily="34" charset="-122"/>
                </a:endParaRPr>
              </a:p>
            </p:txBody>
          </p:sp>
          <p:sp>
            <p:nvSpPr>
              <p:cNvPr id="225" name="图形">
                <a:extLst>
                  <a:ext uri="{FF2B5EF4-FFF2-40B4-BE49-F238E27FC236}">
                    <a16:creationId xmlns:a16="http://schemas.microsoft.com/office/drawing/2014/main" id="{D67EADA0-1B13-C6D8-8F96-4502E15EB6BD}"/>
                  </a:ext>
                </a:extLst>
              </p:cNvPr>
              <p:cNvSpPr txBox="1"/>
              <p:nvPr/>
            </p:nvSpPr>
            <p:spPr>
              <a:xfrm>
                <a:off x="1285522" y="3924422"/>
                <a:ext cx="2271484" cy="455757"/>
              </a:xfrm>
              <a:prstGeom prst="rect">
                <a:avLst/>
              </a:prstGeom>
              <a:noFill/>
            </p:spPr>
            <p:txBody>
              <a:bodyPr wrap="square" rtlCol="0">
                <a:spAutoFit/>
              </a:bodyPr>
              <a:lstStyle>
                <a:defPPr>
                  <a:defRPr lang="zh-CN"/>
                </a:defPPr>
                <a:lvl1pPr>
                  <a:spcBef>
                    <a:spcPts val="50"/>
                  </a:spcBef>
                  <a:defRPr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defRPr>
                </a:lvl1pPr>
              </a:lstStyle>
              <a:p>
                <a:r>
                  <a:rPr lang="zh-CN" altLang="en-US" dirty="0">
                    <a:sym typeface="思源黑体 CN Medium" panose="020B0600000000000000" pitchFamily="34" charset="-122"/>
                  </a:rPr>
                  <a:t>行业前景趋势</a:t>
                </a:r>
              </a:p>
            </p:txBody>
          </p:sp>
          <p:sp>
            <p:nvSpPr>
              <p:cNvPr id="226" name="图形">
                <a:extLst>
                  <a:ext uri="{FF2B5EF4-FFF2-40B4-BE49-F238E27FC236}">
                    <a16:creationId xmlns:a16="http://schemas.microsoft.com/office/drawing/2014/main" id="{F8E7CAF0-E5EF-75D6-5A7E-9A1198A5E555}"/>
                  </a:ext>
                </a:extLst>
              </p:cNvPr>
              <p:cNvSpPr txBox="1"/>
              <p:nvPr/>
            </p:nvSpPr>
            <p:spPr>
              <a:xfrm>
                <a:off x="1285522" y="4438790"/>
                <a:ext cx="1755390" cy="379719"/>
              </a:xfrm>
              <a:prstGeom prst="rect">
                <a:avLst/>
              </a:prstGeom>
              <a:noFill/>
            </p:spPr>
            <p:txBody>
              <a:bodyPr wrap="square" rtlCol="0">
                <a:spAutoFit/>
              </a:bodyPr>
              <a:lstStyle/>
              <a:p>
                <a:pPr>
                  <a:lnSpc>
                    <a:spcPct val="120000"/>
                  </a:lnSpc>
                  <a:spcBef>
                    <a:spcPts val="0"/>
                  </a:spcBef>
                  <a:spcAft>
                    <a:spcPts val="0"/>
                  </a:spcAft>
                </a:pP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r>
                  <a:rPr lang="en-US" altLang="zh-CN"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t>
                </a: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endParaRPr lang="zh-CN" altLang="en-US" sz="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grpSp>
        <p:grpSp>
          <p:nvGrpSpPr>
            <p:cNvPr id="214" name="组合 213">
              <a:extLst>
                <a:ext uri="{FF2B5EF4-FFF2-40B4-BE49-F238E27FC236}">
                  <a16:creationId xmlns:a16="http://schemas.microsoft.com/office/drawing/2014/main" id="{3A478B87-5D9B-5F09-82CF-C1D99124FC95}"/>
                </a:ext>
              </a:extLst>
            </p:cNvPr>
            <p:cNvGrpSpPr/>
            <p:nvPr/>
          </p:nvGrpSpPr>
          <p:grpSpPr>
            <a:xfrm>
              <a:off x="9705223" y="2658672"/>
              <a:ext cx="2321294" cy="1929854"/>
              <a:chOff x="1235712" y="2888655"/>
              <a:chExt cx="2321294" cy="1929854"/>
            </a:xfrm>
          </p:grpSpPr>
          <p:sp>
            <p:nvSpPr>
              <p:cNvPr id="219" name="图形">
                <a:extLst>
                  <a:ext uri="{FF2B5EF4-FFF2-40B4-BE49-F238E27FC236}">
                    <a16:creationId xmlns:a16="http://schemas.microsoft.com/office/drawing/2014/main" id="{5046FFA0-759C-35B4-C7CE-1C591DADC950}"/>
                  </a:ext>
                </a:extLst>
              </p:cNvPr>
              <p:cNvSpPr/>
              <p:nvPr/>
            </p:nvSpPr>
            <p:spPr>
              <a:xfrm>
                <a:off x="1834594" y="2926070"/>
                <a:ext cx="543080" cy="552692"/>
              </a:xfrm>
              <a:prstGeom prst="ellipse">
                <a:avLst/>
              </a:prstGeom>
              <a:gradFill>
                <a:gsLst>
                  <a:gs pos="16000">
                    <a:srgbClr val="04CADF">
                      <a:alpha val="56000"/>
                    </a:srgbClr>
                  </a:gs>
                  <a:gs pos="89000">
                    <a:srgbClr val="04CADF">
                      <a:alpha val="0"/>
                    </a:srgbClr>
                  </a:gs>
                </a:gsLst>
                <a:lin ang="81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20" name="图形">
                <a:extLst>
                  <a:ext uri="{FF2B5EF4-FFF2-40B4-BE49-F238E27FC236}">
                    <a16:creationId xmlns:a16="http://schemas.microsoft.com/office/drawing/2014/main" id="{508AF2BE-9574-18DC-0F2C-93EBAE2A7A0B}"/>
                  </a:ext>
                </a:extLst>
              </p:cNvPr>
              <p:cNvSpPr txBox="1"/>
              <p:nvPr/>
            </p:nvSpPr>
            <p:spPr>
              <a:xfrm>
                <a:off x="1235712" y="2888655"/>
                <a:ext cx="1106478" cy="1002665"/>
              </a:xfrm>
              <a:prstGeom prst="rect">
                <a:avLst/>
              </a:prstGeom>
              <a:noFill/>
            </p:spPr>
            <p:txBody>
              <a:bodyPr wrap="none" rtlCol="0">
                <a:spAutoFit/>
              </a:bodyPr>
              <a:lstStyle/>
              <a:p>
                <a:r>
                  <a:rPr lang="en-US" altLang="zh-CN" sz="6000">
                    <a:solidFill>
                      <a:schemeClr val="tx1">
                        <a:lumMod val="85000"/>
                        <a:lumOff val="15000"/>
                      </a:schemeClr>
                    </a:solidFill>
                    <a:latin typeface="思源宋体 Heavy" panose="02020900000000000000" pitchFamily="18" charset="-122"/>
                    <a:ea typeface="思源宋体 Heavy" panose="02020900000000000000" pitchFamily="18" charset="-122"/>
                    <a:cs typeface="字魂58号-创中黑" panose="00000500000000000000" pitchFamily="2" charset="-122"/>
                    <a:sym typeface="思源黑体 CN Medium" panose="020B0600000000000000" pitchFamily="34" charset="-122"/>
                  </a:rPr>
                  <a:t>05</a:t>
                </a:r>
                <a:endParaRPr lang="en-US" altLang="zh-CN" sz="6000" dirty="0">
                  <a:solidFill>
                    <a:schemeClr val="tx1">
                      <a:lumMod val="85000"/>
                      <a:lumOff val="15000"/>
                    </a:schemeClr>
                  </a:solidFill>
                  <a:latin typeface="思源宋体 Heavy" panose="02020900000000000000" pitchFamily="18" charset="-122"/>
                  <a:ea typeface="思源宋体 Heavy" panose="02020900000000000000" pitchFamily="18" charset="-122"/>
                  <a:cs typeface="字魂58号-创中黑" panose="00000500000000000000" pitchFamily="2" charset="-122"/>
                  <a:sym typeface="思源黑体 CN Medium" panose="020B0600000000000000" pitchFamily="34" charset="-122"/>
                </a:endParaRPr>
              </a:p>
            </p:txBody>
          </p:sp>
          <p:sp>
            <p:nvSpPr>
              <p:cNvPr id="221" name="图形">
                <a:extLst>
                  <a:ext uri="{FF2B5EF4-FFF2-40B4-BE49-F238E27FC236}">
                    <a16:creationId xmlns:a16="http://schemas.microsoft.com/office/drawing/2014/main" id="{A767473E-7602-5DA4-CF2E-CDD584BCE98E}"/>
                  </a:ext>
                </a:extLst>
              </p:cNvPr>
              <p:cNvSpPr txBox="1"/>
              <p:nvPr/>
            </p:nvSpPr>
            <p:spPr>
              <a:xfrm>
                <a:off x="1285522" y="3924422"/>
                <a:ext cx="2271484" cy="455757"/>
              </a:xfrm>
              <a:prstGeom prst="rect">
                <a:avLst/>
              </a:prstGeom>
              <a:noFill/>
            </p:spPr>
            <p:txBody>
              <a:bodyPr wrap="square" rtlCol="0">
                <a:spAutoFit/>
              </a:bodyPr>
              <a:lstStyle>
                <a:defPPr>
                  <a:defRPr lang="zh-CN"/>
                </a:defPPr>
                <a:lvl1pPr>
                  <a:spcBef>
                    <a:spcPts val="50"/>
                  </a:spcBef>
                  <a:defRPr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defRPr>
                </a:lvl1pPr>
              </a:lstStyle>
              <a:p>
                <a:r>
                  <a:rPr lang="zh-CN" altLang="en-US" dirty="0">
                    <a:sym typeface="思源黑体 CN Medium" panose="020B0600000000000000" pitchFamily="34" charset="-122"/>
                  </a:rPr>
                  <a:t>行业竞争格局</a:t>
                </a:r>
              </a:p>
            </p:txBody>
          </p:sp>
          <p:sp>
            <p:nvSpPr>
              <p:cNvPr id="222" name="图形">
                <a:extLst>
                  <a:ext uri="{FF2B5EF4-FFF2-40B4-BE49-F238E27FC236}">
                    <a16:creationId xmlns:a16="http://schemas.microsoft.com/office/drawing/2014/main" id="{86C2890A-2B94-2BB7-7BED-C893F8CB1547}"/>
                  </a:ext>
                </a:extLst>
              </p:cNvPr>
              <p:cNvSpPr txBox="1"/>
              <p:nvPr/>
            </p:nvSpPr>
            <p:spPr>
              <a:xfrm>
                <a:off x="1285522" y="4438790"/>
                <a:ext cx="1755390" cy="379719"/>
              </a:xfrm>
              <a:prstGeom prst="rect">
                <a:avLst/>
              </a:prstGeom>
              <a:noFill/>
            </p:spPr>
            <p:txBody>
              <a:bodyPr wrap="square" rtlCol="0">
                <a:spAutoFit/>
              </a:bodyPr>
              <a:lstStyle/>
              <a:p>
                <a:pPr>
                  <a:lnSpc>
                    <a:spcPct val="120000"/>
                  </a:lnSpc>
                  <a:spcBef>
                    <a:spcPts val="0"/>
                  </a:spcBef>
                  <a:spcAft>
                    <a:spcPts val="0"/>
                  </a:spcAft>
                </a:pP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r>
                  <a:rPr lang="en-US" altLang="zh-CN"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t>
                </a:r>
                <a:r>
                  <a:rPr lang="zh-CN" altLang="en-US" sz="80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rPr>
                  <a:t>Add your text content here</a:t>
                </a:r>
                <a:endParaRPr lang="zh-CN" altLang="en-US" sz="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grpSp>
        <p:cxnSp>
          <p:nvCxnSpPr>
            <p:cNvPr id="215" name="图形">
              <a:extLst>
                <a:ext uri="{FF2B5EF4-FFF2-40B4-BE49-F238E27FC236}">
                  <a16:creationId xmlns:a16="http://schemas.microsoft.com/office/drawing/2014/main" id="{B3A23627-99B8-1A4F-6CE6-B932959B7067}"/>
                </a:ext>
              </a:extLst>
            </p:cNvPr>
            <p:cNvCxnSpPr>
              <a:cxnSpLocks/>
            </p:cNvCxnSpPr>
            <p:nvPr/>
          </p:nvCxnSpPr>
          <p:spPr>
            <a:xfrm>
              <a:off x="2531129" y="2716349"/>
              <a:ext cx="0" cy="1774825"/>
            </a:xfrm>
            <a:prstGeom prst="line">
              <a:avLst/>
            </a:prstGeom>
            <a:ln w="12700">
              <a:solidFill>
                <a:srgbClr val="F1B1C0">
                  <a:alpha val="70000"/>
                </a:srgbClr>
              </a:solidFill>
            </a:ln>
          </p:spPr>
          <p:style>
            <a:lnRef idx="1">
              <a:schemeClr val="accent1"/>
            </a:lnRef>
            <a:fillRef idx="0">
              <a:schemeClr val="accent1"/>
            </a:fillRef>
            <a:effectRef idx="0">
              <a:schemeClr val="accent1"/>
            </a:effectRef>
            <a:fontRef idx="minor">
              <a:schemeClr val="tx1"/>
            </a:fontRef>
          </p:style>
        </p:cxnSp>
        <p:cxnSp>
          <p:nvCxnSpPr>
            <p:cNvPr id="216" name="图形">
              <a:extLst>
                <a:ext uri="{FF2B5EF4-FFF2-40B4-BE49-F238E27FC236}">
                  <a16:creationId xmlns:a16="http://schemas.microsoft.com/office/drawing/2014/main" id="{35419B5C-5A8A-50C8-41C7-42072206CFC9}"/>
                </a:ext>
              </a:extLst>
            </p:cNvPr>
            <p:cNvCxnSpPr>
              <a:cxnSpLocks/>
            </p:cNvCxnSpPr>
            <p:nvPr/>
          </p:nvCxnSpPr>
          <p:spPr>
            <a:xfrm>
              <a:off x="4852427" y="2716349"/>
              <a:ext cx="0" cy="1774825"/>
            </a:xfrm>
            <a:prstGeom prst="line">
              <a:avLst/>
            </a:prstGeom>
            <a:ln w="12700">
              <a:solidFill>
                <a:srgbClr val="F1B1C0">
                  <a:alpha val="70000"/>
                </a:srgbClr>
              </a:solidFill>
            </a:ln>
          </p:spPr>
          <p:style>
            <a:lnRef idx="1">
              <a:schemeClr val="accent1"/>
            </a:lnRef>
            <a:fillRef idx="0">
              <a:schemeClr val="accent1"/>
            </a:fillRef>
            <a:effectRef idx="0">
              <a:schemeClr val="accent1"/>
            </a:effectRef>
            <a:fontRef idx="minor">
              <a:schemeClr val="tx1"/>
            </a:fontRef>
          </p:style>
        </p:cxnSp>
        <p:cxnSp>
          <p:nvCxnSpPr>
            <p:cNvPr id="217" name="图形">
              <a:extLst>
                <a:ext uri="{FF2B5EF4-FFF2-40B4-BE49-F238E27FC236}">
                  <a16:creationId xmlns:a16="http://schemas.microsoft.com/office/drawing/2014/main" id="{091374D4-64E2-4373-C7F4-E57C535272DD}"/>
                </a:ext>
              </a:extLst>
            </p:cNvPr>
            <p:cNvCxnSpPr>
              <a:cxnSpLocks/>
            </p:cNvCxnSpPr>
            <p:nvPr/>
          </p:nvCxnSpPr>
          <p:spPr>
            <a:xfrm>
              <a:off x="7173725" y="2716349"/>
              <a:ext cx="0" cy="1774825"/>
            </a:xfrm>
            <a:prstGeom prst="line">
              <a:avLst/>
            </a:prstGeom>
            <a:ln w="12700">
              <a:solidFill>
                <a:srgbClr val="F1B1C0">
                  <a:alpha val="70000"/>
                </a:srgbClr>
              </a:solidFill>
            </a:ln>
          </p:spPr>
          <p:style>
            <a:lnRef idx="1">
              <a:schemeClr val="accent1"/>
            </a:lnRef>
            <a:fillRef idx="0">
              <a:schemeClr val="accent1"/>
            </a:fillRef>
            <a:effectRef idx="0">
              <a:schemeClr val="accent1"/>
            </a:effectRef>
            <a:fontRef idx="minor">
              <a:schemeClr val="tx1"/>
            </a:fontRef>
          </p:style>
        </p:cxnSp>
        <p:cxnSp>
          <p:nvCxnSpPr>
            <p:cNvPr id="218" name="图形">
              <a:extLst>
                <a:ext uri="{FF2B5EF4-FFF2-40B4-BE49-F238E27FC236}">
                  <a16:creationId xmlns:a16="http://schemas.microsoft.com/office/drawing/2014/main" id="{85A4018A-C0ED-C1BB-B87D-6F0A4238FBBB}"/>
                </a:ext>
              </a:extLst>
            </p:cNvPr>
            <p:cNvCxnSpPr>
              <a:cxnSpLocks/>
            </p:cNvCxnSpPr>
            <p:nvPr/>
          </p:nvCxnSpPr>
          <p:spPr>
            <a:xfrm>
              <a:off x="9495023" y="2716349"/>
              <a:ext cx="0" cy="1774825"/>
            </a:xfrm>
            <a:prstGeom prst="line">
              <a:avLst/>
            </a:prstGeom>
            <a:ln w="12700">
              <a:solidFill>
                <a:srgbClr val="F1B1C0">
                  <a:alpha val="70000"/>
                </a:srgbClr>
              </a:solidFill>
            </a:ln>
          </p:spPr>
          <p:style>
            <a:lnRef idx="1">
              <a:schemeClr val="accent1"/>
            </a:lnRef>
            <a:fillRef idx="0">
              <a:schemeClr val="accent1"/>
            </a:fillRef>
            <a:effectRef idx="0">
              <a:schemeClr val="accent1"/>
            </a:effectRef>
            <a:fontRef idx="minor">
              <a:schemeClr val="tx1"/>
            </a:fontRef>
          </p:style>
        </p:cxnSp>
      </p:grpSp>
      <p:sp>
        <p:nvSpPr>
          <p:cNvPr id="2" name="TextBox 4">
            <a:extLst>
              <a:ext uri="{FF2B5EF4-FFF2-40B4-BE49-F238E27FC236}">
                <a16:creationId xmlns:a16="http://schemas.microsoft.com/office/drawing/2014/main" id="{50D547D9-CC62-2BA6-E63C-1E92F37C0231}"/>
              </a:ext>
            </a:extLst>
          </p:cNvPr>
          <p:cNvSpPr txBox="1"/>
          <p:nvPr/>
        </p:nvSpPr>
        <p:spPr>
          <a:xfrm>
            <a:off x="-23189" y="0"/>
            <a:ext cx="453650" cy="118430"/>
          </a:xfrm>
          <a:prstGeom prst="rect">
            <a:avLst/>
          </a:prstGeom>
          <a:noFill/>
        </p:spPr>
        <p:txBody>
          <a:bodyPr wrap="square" rtlCol="0">
            <a:spAutoFit/>
          </a:bodyPr>
          <a:lstStyle/>
          <a:p>
            <a:pPr>
              <a:lnSpc>
                <a:spcPct val="200000"/>
              </a:lnSpc>
            </a:pPr>
            <a:r>
              <a:rPr lang="zh-CN" altLang="en-US" sz="100" dirty="0">
                <a:noFill/>
                <a:latin typeface="微软雅黑" panose="020B0503020204020204" pitchFamily="34" charset="-122"/>
                <a:ea typeface="微软雅黑" panose="020B0503020204020204" pitchFamily="34" charset="-122"/>
              </a:rPr>
              <a:t>行业</a:t>
            </a:r>
            <a:r>
              <a:rPr lang="en-US" altLang="zh-CN" sz="100" dirty="0">
                <a:noFill/>
                <a:latin typeface="微软雅黑" panose="020B0503020204020204" pitchFamily="34" charset="-122"/>
                <a:ea typeface="微软雅黑" panose="020B0503020204020204" pitchFamily="34" charset="-122"/>
              </a:rPr>
              <a:t>PPT</a:t>
            </a:r>
            <a:r>
              <a:rPr lang="zh-CN" altLang="en-US" sz="100" dirty="0">
                <a:noFill/>
                <a:latin typeface="微软雅黑" panose="020B0503020204020204" pitchFamily="34" charset="-122"/>
                <a:ea typeface="微软雅黑" panose="020B0503020204020204" pitchFamily="34" charset="-122"/>
              </a:rPr>
              <a:t>模板</a:t>
            </a:r>
            <a:r>
              <a:rPr lang="en-US" altLang="zh-CN" sz="100" dirty="0">
                <a:noFill/>
                <a:latin typeface="微软雅黑" panose="020B0503020204020204" pitchFamily="34" charset="-122"/>
                <a:ea typeface="微软雅黑" panose="020B0503020204020204" pitchFamily="34" charset="-122"/>
              </a:rPr>
              <a:t>http://www.1ppt.com/hangye/</a:t>
            </a:r>
          </a:p>
        </p:txBody>
      </p:sp>
    </p:spTree>
    <p:extLst>
      <p:ext uri="{BB962C8B-B14F-4D97-AF65-F5344CB8AC3E}">
        <p14:creationId xmlns:p14="http://schemas.microsoft.com/office/powerpoint/2010/main" val="81525713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circle(in)">
                                      <p:cBhvr>
                                        <p:cTn id="7" dur="20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
                                        </p:tgtEl>
                                        <p:attrNameLst>
                                          <p:attrName>style.visibility</p:attrName>
                                        </p:attrNameLst>
                                      </p:cBhvr>
                                      <p:to>
                                        <p:strVal val="visible"/>
                                      </p:to>
                                    </p:set>
                                    <p:animEffect transition="in" filter="fade">
                                      <p:cBhvr>
                                        <p:cTn id="12" dur="500"/>
                                        <p:tgtEl>
                                          <p:spTgt spid="205"/>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208"/>
                                        </p:tgtEl>
                                        <p:attrNameLst>
                                          <p:attrName>style.visibility</p:attrName>
                                        </p:attrNameLst>
                                      </p:cBhvr>
                                      <p:to>
                                        <p:strVal val="visible"/>
                                      </p:to>
                                    </p:set>
                                    <p:animEffect transition="in" filter="barn(inVertical)">
                                      <p:cBhvr>
                                        <p:cTn id="17" dur="500"/>
                                        <p:tgtEl>
                                          <p:spTgt spid="2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09"/>
                                        </p:tgtEl>
                                        <p:attrNameLst>
                                          <p:attrName>style.visibility</p:attrName>
                                        </p:attrNameLst>
                                      </p:cBhvr>
                                      <p:to>
                                        <p:strVal val="visible"/>
                                      </p:to>
                                    </p:set>
                                    <p:animEffect transition="in" filter="wipe(down)">
                                      <p:cBhvr>
                                        <p:cTn id="22" dur="500"/>
                                        <p:tgtEl>
                                          <p:spTgt spid="2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32F59B-FBFA-E112-9DE3-F9663F43F7AC}"/>
            </a:ext>
          </a:extLst>
        </p:cNvPr>
        <p:cNvGrpSpPr/>
        <p:nvPr/>
      </p:nvGrpSpPr>
      <p:grpSpPr>
        <a:xfrm>
          <a:off x="0" y="0"/>
          <a:ext cx="0" cy="0"/>
          <a:chOff x="0" y="0"/>
          <a:chExt cx="0" cy="0"/>
        </a:xfrm>
      </p:grpSpPr>
      <p:sp>
        <p:nvSpPr>
          <p:cNvPr id="21" name="任意多边形: 形状 20">
            <a:extLst>
              <a:ext uri="{FF2B5EF4-FFF2-40B4-BE49-F238E27FC236}">
                <a16:creationId xmlns:a16="http://schemas.microsoft.com/office/drawing/2014/main" id="{8943B5B2-6F3C-215E-0356-766AE6570389}"/>
              </a:ext>
            </a:extLst>
          </p:cNvPr>
          <p:cNvSpPr/>
          <p:nvPr/>
        </p:nvSpPr>
        <p:spPr>
          <a:xfrm>
            <a:off x="1" y="1233594"/>
            <a:ext cx="8407401" cy="4390812"/>
          </a:xfrm>
          <a:custGeom>
            <a:avLst/>
            <a:gdLst>
              <a:gd name="connsiteX0" fmla="*/ 0 w 8407401"/>
              <a:gd name="connsiteY0" fmla="*/ 0 h 4390812"/>
              <a:gd name="connsiteX1" fmla="*/ 6211995 w 8407401"/>
              <a:gd name="connsiteY1" fmla="*/ 0 h 4390812"/>
              <a:gd name="connsiteX2" fmla="*/ 8407401 w 8407401"/>
              <a:gd name="connsiteY2" fmla="*/ 2195406 h 4390812"/>
              <a:gd name="connsiteX3" fmla="*/ 8407400 w 8407401"/>
              <a:gd name="connsiteY3" fmla="*/ 2195406 h 4390812"/>
              <a:gd name="connsiteX4" fmla="*/ 6211994 w 8407401"/>
              <a:gd name="connsiteY4" fmla="*/ 4390812 h 4390812"/>
              <a:gd name="connsiteX5" fmla="*/ 0 w 8407401"/>
              <a:gd name="connsiteY5" fmla="*/ 4390811 h 4390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07401" h="4390812">
                <a:moveTo>
                  <a:pt x="0" y="0"/>
                </a:moveTo>
                <a:lnTo>
                  <a:pt x="6211995" y="0"/>
                </a:lnTo>
                <a:cubicBezTo>
                  <a:pt x="7424484" y="0"/>
                  <a:pt x="8407401" y="982917"/>
                  <a:pt x="8407401" y="2195406"/>
                </a:cubicBezTo>
                <a:lnTo>
                  <a:pt x="8407400" y="2195406"/>
                </a:lnTo>
                <a:cubicBezTo>
                  <a:pt x="8407400" y="3407895"/>
                  <a:pt x="7424483" y="4390812"/>
                  <a:pt x="6211994" y="4390812"/>
                </a:cubicBezTo>
                <a:lnTo>
                  <a:pt x="0" y="4390811"/>
                </a:lnTo>
                <a:close/>
              </a:path>
            </a:pathLst>
          </a:custGeom>
          <a:gradFill>
            <a:gsLst>
              <a:gs pos="54000">
                <a:srgbClr val="04CADF"/>
              </a:gs>
              <a:gs pos="0">
                <a:srgbClr val="04CADF">
                  <a:alpha val="12000"/>
                </a:srgbClr>
              </a:gs>
            </a:gsLst>
            <a:lin ang="10800000" scaled="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图形">
            <a:extLst>
              <a:ext uri="{FF2B5EF4-FFF2-40B4-BE49-F238E27FC236}">
                <a16:creationId xmlns:a16="http://schemas.microsoft.com/office/drawing/2014/main" id="{F32C9AFA-BB06-472F-3B84-4F0101EE2663}"/>
              </a:ext>
            </a:extLst>
          </p:cNvPr>
          <p:cNvSpPr/>
          <p:nvPr/>
        </p:nvSpPr>
        <p:spPr>
          <a:xfrm>
            <a:off x="5842000" y="-151765"/>
            <a:ext cx="6148705" cy="6148705"/>
          </a:xfrm>
          <a:prstGeom prst="ellipse">
            <a:avLst/>
          </a:prstGeom>
          <a:noFill/>
          <a:ln>
            <a:gradFill>
              <a:gsLst>
                <a:gs pos="0">
                  <a:srgbClr val="FD7E5C"/>
                </a:gs>
                <a:gs pos="100000">
                  <a:srgbClr val="FF9449"/>
                </a:gs>
              </a:gsLst>
              <a:lin ang="5400000" scaled="1"/>
            </a:grad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3" name="图形">
            <a:extLst>
              <a:ext uri="{FF2B5EF4-FFF2-40B4-BE49-F238E27FC236}">
                <a16:creationId xmlns:a16="http://schemas.microsoft.com/office/drawing/2014/main" id="{CD4AABB9-1870-3C73-9E4A-272AEC19B4F5}"/>
              </a:ext>
            </a:extLst>
          </p:cNvPr>
          <p:cNvSpPr/>
          <p:nvPr/>
        </p:nvSpPr>
        <p:spPr>
          <a:xfrm flipV="1">
            <a:off x="7619365" y="0"/>
            <a:ext cx="4572635" cy="3686175"/>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53373" h="5325261">
                <a:moveTo>
                  <a:pt x="4595548" y="1367261"/>
                </a:moveTo>
                <a:cubicBezTo>
                  <a:pt x="4985179" y="-967801"/>
                  <a:pt x="8167423" y="395711"/>
                  <a:pt x="10053373" y="395711"/>
                </a:cubicBezTo>
                <a:lnTo>
                  <a:pt x="10053373" y="5325261"/>
                </a:lnTo>
                <a:lnTo>
                  <a:pt x="23548" y="5325261"/>
                </a:lnTo>
                <a:cubicBezTo>
                  <a:pt x="-376502" y="2710528"/>
                  <a:pt x="4450989" y="4358963"/>
                  <a:pt x="4595548" y="1367261"/>
                </a:cubicBezTo>
                <a:close/>
              </a:path>
            </a:pathLst>
          </a:custGeom>
          <a:gradFill>
            <a:gsLst>
              <a:gs pos="100000">
                <a:srgbClr val="04CADF"/>
              </a:gs>
              <a:gs pos="0">
                <a:srgbClr val="04CADF">
                  <a:alpha val="22000"/>
                </a:srgbClr>
              </a:gs>
            </a:gsLst>
            <a:lin ang="7800000" scaled="0"/>
          </a:gradFill>
          <a:ln>
            <a:noFill/>
          </a:ln>
          <a:effectLst>
            <a:outerShdw blurRad="50800" dist="38100" dir="8100000" algn="tr" rotWithShape="0">
              <a:srgbClr val="E95D8E">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任意多边形: 形状 59">
            <a:extLst>
              <a:ext uri="{FF2B5EF4-FFF2-40B4-BE49-F238E27FC236}">
                <a16:creationId xmlns:a16="http://schemas.microsoft.com/office/drawing/2014/main" id="{95E0F72B-19DE-DA0B-C313-A015C2B49CCA}"/>
              </a:ext>
            </a:extLst>
          </p:cNvPr>
          <p:cNvSpPr/>
          <p:nvPr/>
        </p:nvSpPr>
        <p:spPr>
          <a:xfrm flipH="1">
            <a:off x="11609704" y="6224196"/>
            <a:ext cx="582296" cy="636241"/>
          </a:xfrm>
          <a:custGeom>
            <a:avLst/>
            <a:gdLst>
              <a:gd name="connsiteX0" fmla="*/ 0 w 582296"/>
              <a:gd name="connsiteY0" fmla="*/ 0 h 636241"/>
              <a:gd name="connsiteX1" fmla="*/ 0 w 582296"/>
              <a:gd name="connsiteY1" fmla="*/ 636241 h 636241"/>
              <a:gd name="connsiteX2" fmla="*/ 579527 w 582296"/>
              <a:gd name="connsiteY2" fmla="*/ 636241 h 636241"/>
              <a:gd name="connsiteX3" fmla="*/ 582296 w 582296"/>
              <a:gd name="connsiteY3" fmla="*/ 608254 h 636241"/>
              <a:gd name="connsiteX4" fmla="*/ 104424 w 582296"/>
              <a:gd name="connsiteY4" fmla="*/ 10728 h 636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96" h="636241">
                <a:moveTo>
                  <a:pt x="0" y="0"/>
                </a:moveTo>
                <a:lnTo>
                  <a:pt x="0" y="636241"/>
                </a:lnTo>
                <a:lnTo>
                  <a:pt x="579527" y="636241"/>
                </a:lnTo>
                <a:lnTo>
                  <a:pt x="582296" y="608254"/>
                </a:lnTo>
                <a:cubicBezTo>
                  <a:pt x="582296" y="313512"/>
                  <a:pt x="377145" y="67600"/>
                  <a:pt x="104424" y="10728"/>
                </a:cubicBez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64" name="任意多边形: 形状 63">
            <a:extLst>
              <a:ext uri="{FF2B5EF4-FFF2-40B4-BE49-F238E27FC236}">
                <a16:creationId xmlns:a16="http://schemas.microsoft.com/office/drawing/2014/main" id="{AF9AE797-B82F-8734-49B1-27A5085BCAEB}"/>
              </a:ext>
            </a:extLst>
          </p:cNvPr>
          <p:cNvSpPr/>
          <p:nvPr/>
        </p:nvSpPr>
        <p:spPr>
          <a:xfrm flipH="1">
            <a:off x="1807" y="258626"/>
            <a:ext cx="287319" cy="452120"/>
          </a:xfrm>
          <a:custGeom>
            <a:avLst/>
            <a:gdLst>
              <a:gd name="connsiteX0" fmla="*/ 221615 w 287319"/>
              <a:gd name="connsiteY0" fmla="*/ 0 h 452120"/>
              <a:gd name="connsiteX1" fmla="*/ 0 w 287319"/>
              <a:gd name="connsiteY1" fmla="*/ 226060 h 452120"/>
              <a:gd name="connsiteX2" fmla="*/ 221615 w 287319"/>
              <a:gd name="connsiteY2" fmla="*/ 452120 h 452120"/>
              <a:gd name="connsiteX3" fmla="*/ 287319 w 287319"/>
              <a:gd name="connsiteY3" fmla="*/ 438589 h 452120"/>
              <a:gd name="connsiteX4" fmla="*/ 287319 w 287319"/>
              <a:gd name="connsiteY4" fmla="*/ 13531 h 452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319" h="452120">
                <a:moveTo>
                  <a:pt x="221615" y="0"/>
                </a:moveTo>
                <a:cubicBezTo>
                  <a:pt x="99220" y="0"/>
                  <a:pt x="0" y="101211"/>
                  <a:pt x="0" y="226060"/>
                </a:cubicBezTo>
                <a:cubicBezTo>
                  <a:pt x="0" y="350909"/>
                  <a:pt x="99220" y="452120"/>
                  <a:pt x="221615" y="452120"/>
                </a:cubicBezTo>
                <a:lnTo>
                  <a:pt x="287319" y="438589"/>
                </a:lnTo>
                <a:lnTo>
                  <a:pt x="287319" y="13531"/>
                </a:ln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38" name="图形">
            <a:extLst>
              <a:ext uri="{FF2B5EF4-FFF2-40B4-BE49-F238E27FC236}">
                <a16:creationId xmlns:a16="http://schemas.microsoft.com/office/drawing/2014/main" id="{3581D085-2842-130A-029F-7ED34B197E14}"/>
              </a:ext>
            </a:extLst>
          </p:cNvPr>
          <p:cNvSpPr/>
          <p:nvPr/>
        </p:nvSpPr>
        <p:spPr>
          <a:xfrm flipV="1">
            <a:off x="11121390" y="5718175"/>
            <a:ext cx="300990" cy="300990"/>
          </a:xfrm>
          <a:prstGeom prst="ellipse">
            <a:avLst/>
          </a:prstGeom>
          <a:gradFill>
            <a:gsLst>
              <a:gs pos="100000">
                <a:srgbClr val="04CADF"/>
              </a:gs>
              <a:gs pos="0">
                <a:srgbClr val="04CADF">
                  <a:alpha val="22000"/>
                </a:srgbClr>
              </a:gs>
            </a:gsLst>
            <a:lin ang="7800000" scaled="0"/>
          </a:gradFill>
          <a:ln>
            <a:noFill/>
          </a:ln>
          <a:effectLst>
            <a:outerShdw blurRad="609600" dist="152400" dir="13500000" algn="br" rotWithShape="0">
              <a:srgbClr val="FF8C4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9" name="组合 48">
            <a:extLst>
              <a:ext uri="{FF2B5EF4-FFF2-40B4-BE49-F238E27FC236}">
                <a16:creationId xmlns:a16="http://schemas.microsoft.com/office/drawing/2014/main" id="{4B13335D-4287-F552-017E-A50679DBCAD6}"/>
              </a:ext>
            </a:extLst>
          </p:cNvPr>
          <p:cNvGrpSpPr/>
          <p:nvPr/>
        </p:nvGrpSpPr>
        <p:grpSpPr>
          <a:xfrm>
            <a:off x="6594463" y="1110193"/>
            <a:ext cx="4666991" cy="4666992"/>
            <a:chOff x="6550025" y="1108105"/>
            <a:chExt cx="5435600" cy="5435600"/>
          </a:xfrm>
        </p:grpSpPr>
        <p:sp>
          <p:nvSpPr>
            <p:cNvPr id="51" name="椭圆 50">
              <a:extLst>
                <a:ext uri="{FF2B5EF4-FFF2-40B4-BE49-F238E27FC236}">
                  <a16:creationId xmlns:a16="http://schemas.microsoft.com/office/drawing/2014/main" id="{E9A1CC53-472F-99FE-0DCA-941BEAAE9486}"/>
                </a:ext>
              </a:extLst>
            </p:cNvPr>
            <p:cNvSpPr/>
            <p:nvPr/>
          </p:nvSpPr>
          <p:spPr>
            <a:xfrm flipH="1">
              <a:off x="6550025" y="1108105"/>
              <a:ext cx="5435600" cy="5435600"/>
            </a:xfrm>
            <a:prstGeom prst="ellipse">
              <a:avLst/>
            </a:prstGeom>
            <a:solidFill>
              <a:schemeClr val="bg1"/>
            </a:solidFill>
            <a:ln>
              <a:noFill/>
            </a:ln>
            <a:effectLst>
              <a:outerShdw blurRad="584200" dist="203200" dir="5400000" sx="92000" sy="92000" algn="ctr" rotWithShape="0">
                <a:srgbClr val="04CADF">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 name="椭圆 51">
              <a:extLst>
                <a:ext uri="{FF2B5EF4-FFF2-40B4-BE49-F238E27FC236}">
                  <a16:creationId xmlns:a16="http://schemas.microsoft.com/office/drawing/2014/main" id="{8713790D-705D-DBFA-8983-4807008A817D}"/>
                </a:ext>
              </a:extLst>
            </p:cNvPr>
            <p:cNvSpPr/>
            <p:nvPr/>
          </p:nvSpPr>
          <p:spPr>
            <a:xfrm flipH="1">
              <a:off x="7048486" y="1606566"/>
              <a:ext cx="4438679" cy="4438678"/>
            </a:xfrm>
            <a:prstGeom prst="ellipse">
              <a:avLst/>
            </a:prstGeom>
            <a:blipFill dpi="0" rotWithShape="1">
              <a:blip r:embed="rId4" cstate="email">
                <a:alphaModFix amt="99000"/>
                <a:extLst>
                  <a:ext uri="{28A0092B-C50C-407E-A947-70E740481C1C}">
                    <a14:useLocalDpi xmlns:a14="http://schemas.microsoft.com/office/drawing/2010/main"/>
                  </a:ext>
                </a:extLst>
              </a:blip>
              <a:srcRect/>
              <a:tile tx="0" ty="0" sx="27000" sy="27000" flip="none" algn="ctr"/>
            </a:bli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6" name="任意多边形: 形状 55">
            <a:extLst>
              <a:ext uri="{FF2B5EF4-FFF2-40B4-BE49-F238E27FC236}">
                <a16:creationId xmlns:a16="http://schemas.microsoft.com/office/drawing/2014/main" id="{327A4F28-C6CF-6549-E575-87BB312439D2}"/>
              </a:ext>
            </a:extLst>
          </p:cNvPr>
          <p:cNvSpPr/>
          <p:nvPr/>
        </p:nvSpPr>
        <p:spPr>
          <a:xfrm>
            <a:off x="7395787" y="6237305"/>
            <a:ext cx="1553662" cy="620695"/>
          </a:xfrm>
          <a:custGeom>
            <a:avLst/>
            <a:gdLst>
              <a:gd name="connsiteX0" fmla="*/ 776831 w 1553662"/>
              <a:gd name="connsiteY0" fmla="*/ 0 h 620695"/>
              <a:gd name="connsiteX1" fmla="*/ 1512321 w 1553662"/>
              <a:gd name="connsiteY1" fmla="*/ 487516 h 620695"/>
              <a:gd name="connsiteX2" fmla="*/ 1553662 w 1553662"/>
              <a:gd name="connsiteY2" fmla="*/ 620695 h 620695"/>
              <a:gd name="connsiteX3" fmla="*/ 1274065 w 1553662"/>
              <a:gd name="connsiteY3" fmla="*/ 620695 h 620695"/>
              <a:gd name="connsiteX4" fmla="*/ 1265138 w 1553662"/>
              <a:gd name="connsiteY4" fmla="*/ 591937 h 620695"/>
              <a:gd name="connsiteX5" fmla="*/ 776831 w 1553662"/>
              <a:gd name="connsiteY5" fmla="*/ 268265 h 620695"/>
              <a:gd name="connsiteX6" fmla="*/ 288525 w 1553662"/>
              <a:gd name="connsiteY6" fmla="*/ 591937 h 620695"/>
              <a:gd name="connsiteX7" fmla="*/ 279597 w 1553662"/>
              <a:gd name="connsiteY7" fmla="*/ 620695 h 620695"/>
              <a:gd name="connsiteX8" fmla="*/ 0 w 1553662"/>
              <a:gd name="connsiteY8" fmla="*/ 620695 h 620695"/>
              <a:gd name="connsiteX9" fmla="*/ 41341 w 1553662"/>
              <a:gd name="connsiteY9" fmla="*/ 487516 h 620695"/>
              <a:gd name="connsiteX10" fmla="*/ 776831 w 1553662"/>
              <a:gd name="connsiteY10" fmla="*/ 0 h 6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3662" h="620695">
                <a:moveTo>
                  <a:pt x="776831" y="0"/>
                </a:moveTo>
                <a:cubicBezTo>
                  <a:pt x="1107464" y="0"/>
                  <a:pt x="1391145" y="201023"/>
                  <a:pt x="1512321" y="487516"/>
                </a:cubicBezTo>
                <a:lnTo>
                  <a:pt x="1553662" y="620695"/>
                </a:lnTo>
                <a:lnTo>
                  <a:pt x="1274065" y="620695"/>
                </a:lnTo>
                <a:lnTo>
                  <a:pt x="1265138" y="591937"/>
                </a:lnTo>
                <a:cubicBezTo>
                  <a:pt x="1184687" y="401729"/>
                  <a:pt x="996345" y="268265"/>
                  <a:pt x="776831" y="268265"/>
                </a:cubicBezTo>
                <a:cubicBezTo>
                  <a:pt x="557318" y="268265"/>
                  <a:pt x="368976" y="401729"/>
                  <a:pt x="288525" y="591937"/>
                </a:cubicBezTo>
                <a:lnTo>
                  <a:pt x="279597" y="620695"/>
                </a:lnTo>
                <a:lnTo>
                  <a:pt x="0" y="620695"/>
                </a:lnTo>
                <a:lnTo>
                  <a:pt x="41341" y="487516"/>
                </a:lnTo>
                <a:cubicBezTo>
                  <a:pt x="162517" y="201023"/>
                  <a:pt x="446198" y="0"/>
                  <a:pt x="776831" y="0"/>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矩形 45">
            <a:extLst>
              <a:ext uri="{FF2B5EF4-FFF2-40B4-BE49-F238E27FC236}">
                <a16:creationId xmlns:a16="http://schemas.microsoft.com/office/drawing/2014/main" id="{C892BF28-08A2-61E1-AF04-E3DB928E8E98}"/>
              </a:ext>
            </a:extLst>
          </p:cNvPr>
          <p:cNvSpPr/>
          <p:nvPr>
            <p:custDataLst>
              <p:tags r:id="rId1"/>
            </p:custDataLst>
          </p:nvPr>
        </p:nvSpPr>
        <p:spPr>
          <a:xfrm>
            <a:off x="717102" y="315502"/>
            <a:ext cx="4290833" cy="307777"/>
          </a:xfrm>
          <a:prstGeom prst="rect">
            <a:avLst/>
          </a:prstGeom>
        </p:spPr>
        <p:txBody>
          <a:bodyPr wrap="square">
            <a:spAutoFit/>
            <a:scene3d>
              <a:camera prst="orthographicFront"/>
              <a:lightRig rig="threePt" dir="t"/>
            </a:scene3d>
            <a:sp3d contourW="12700"/>
          </a:bodyPr>
          <a:lstStyle/>
          <a:p>
            <a:pPr algn="dist"/>
            <a:r>
              <a:rPr lang="en-US" altLang="zh-CN" sz="140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PET ECONOMY DEPARTMENT REPORT//</a:t>
            </a:r>
            <a:endPar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7" name="组合 46">
            <a:extLst>
              <a:ext uri="{FF2B5EF4-FFF2-40B4-BE49-F238E27FC236}">
                <a16:creationId xmlns:a16="http://schemas.microsoft.com/office/drawing/2014/main" id="{8A942407-7274-6FCB-21F5-46BBC6C1F979}"/>
              </a:ext>
            </a:extLst>
          </p:cNvPr>
          <p:cNvGrpSpPr/>
          <p:nvPr/>
        </p:nvGrpSpPr>
        <p:grpSpPr>
          <a:xfrm>
            <a:off x="595256" y="1934913"/>
            <a:ext cx="5999207" cy="2988175"/>
            <a:chOff x="595256" y="1766274"/>
            <a:chExt cx="5999207" cy="2988175"/>
          </a:xfrm>
        </p:grpSpPr>
        <p:grpSp>
          <p:nvGrpSpPr>
            <p:cNvPr id="48" name="组合 47">
              <a:extLst>
                <a:ext uri="{FF2B5EF4-FFF2-40B4-BE49-F238E27FC236}">
                  <a16:creationId xmlns:a16="http://schemas.microsoft.com/office/drawing/2014/main" id="{6E8C2316-3F44-C5F7-59A2-0CB8C3DC544E}"/>
                </a:ext>
              </a:extLst>
            </p:cNvPr>
            <p:cNvGrpSpPr/>
            <p:nvPr/>
          </p:nvGrpSpPr>
          <p:grpSpPr>
            <a:xfrm>
              <a:off x="667663" y="1766274"/>
              <a:ext cx="5821931" cy="1107996"/>
              <a:chOff x="667663" y="1766274"/>
              <a:chExt cx="5821931" cy="1107996"/>
            </a:xfrm>
          </p:grpSpPr>
          <p:sp>
            <p:nvSpPr>
              <p:cNvPr id="54" name="文本框 53">
                <a:extLst>
                  <a:ext uri="{FF2B5EF4-FFF2-40B4-BE49-F238E27FC236}">
                    <a16:creationId xmlns:a16="http://schemas.microsoft.com/office/drawing/2014/main" id="{9AACFE85-D321-E26A-9715-55786627DC30}"/>
                  </a:ext>
                </a:extLst>
              </p:cNvPr>
              <p:cNvSpPr txBox="1"/>
              <p:nvPr/>
            </p:nvSpPr>
            <p:spPr>
              <a:xfrm>
                <a:off x="667663" y="1766274"/>
                <a:ext cx="4097650" cy="1107996"/>
              </a:xfrm>
              <a:prstGeom prst="rect">
                <a:avLst/>
              </a:prstGeom>
              <a:noFill/>
              <a:ln>
                <a:noFill/>
              </a:ln>
            </p:spPr>
            <p:txBody>
              <a:bodyPr wrap="square" rtlCol="0">
                <a:spAutoFit/>
              </a:bodyPr>
              <a:lstStyle/>
              <a:p>
                <a:r>
                  <a:rPr lang="en-US" altLang="zh-CN" sz="6600">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P</a:t>
                </a:r>
                <a:r>
                  <a:rPr lang="en-US" altLang="zh-CN" sz="660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ART 01</a:t>
                </a:r>
                <a:endParaRPr lang="zh-CN" altLang="en-US" sz="6600" dirty="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endParaRPr>
              </a:p>
            </p:txBody>
          </p:sp>
          <p:grpSp>
            <p:nvGrpSpPr>
              <p:cNvPr id="55" name="组合 54">
                <a:extLst>
                  <a:ext uri="{FF2B5EF4-FFF2-40B4-BE49-F238E27FC236}">
                    <a16:creationId xmlns:a16="http://schemas.microsoft.com/office/drawing/2014/main" id="{7DB39973-47AF-25CC-F053-E5CCF1E2A8F9}"/>
                  </a:ext>
                </a:extLst>
              </p:cNvPr>
              <p:cNvGrpSpPr/>
              <p:nvPr/>
            </p:nvGrpSpPr>
            <p:grpSpPr>
              <a:xfrm>
                <a:off x="4419448" y="1929674"/>
                <a:ext cx="2070146" cy="756818"/>
                <a:chOff x="9157835" y="1805408"/>
                <a:chExt cx="2070146" cy="756818"/>
              </a:xfrm>
            </p:grpSpPr>
            <p:cxnSp>
              <p:nvCxnSpPr>
                <p:cNvPr id="57" name="直接连接符 56">
                  <a:extLst>
                    <a:ext uri="{FF2B5EF4-FFF2-40B4-BE49-F238E27FC236}">
                      <a16:creationId xmlns:a16="http://schemas.microsoft.com/office/drawing/2014/main" id="{45A08614-99FD-2BA3-A26E-ADEA10235969}"/>
                    </a:ext>
                  </a:extLst>
                </p:cNvPr>
                <p:cNvCxnSpPr/>
                <p:nvPr/>
              </p:nvCxnSpPr>
              <p:spPr>
                <a:xfrm>
                  <a:off x="9157835" y="2183817"/>
                  <a:ext cx="1551782" cy="0"/>
                </a:xfrm>
                <a:prstGeom prst="line">
                  <a:avLst/>
                </a:prstGeom>
                <a:solidFill>
                  <a:schemeClr val="accent1">
                    <a:lumMod val="20000"/>
                    <a:lumOff val="80000"/>
                  </a:schemeClr>
                </a:solidFill>
                <a:ln w="15875">
                  <a:noFill/>
                </a:ln>
              </p:spPr>
              <p:style>
                <a:lnRef idx="1">
                  <a:schemeClr val="accent1"/>
                </a:lnRef>
                <a:fillRef idx="0">
                  <a:schemeClr val="accent1"/>
                </a:fillRef>
                <a:effectRef idx="0">
                  <a:schemeClr val="accent1"/>
                </a:effectRef>
                <a:fontRef idx="minor">
                  <a:schemeClr val="tx1"/>
                </a:fontRef>
              </p:style>
            </p:cxnSp>
            <p:sp>
              <p:nvSpPr>
                <p:cNvPr id="58" name="弧形 57">
                  <a:extLst>
                    <a:ext uri="{FF2B5EF4-FFF2-40B4-BE49-F238E27FC236}">
                      <a16:creationId xmlns:a16="http://schemas.microsoft.com/office/drawing/2014/main" id="{7F5B1117-C8D2-7796-F97D-185F7E39D525}"/>
                    </a:ext>
                  </a:extLst>
                </p:cNvPr>
                <p:cNvSpPr/>
                <p:nvPr/>
              </p:nvSpPr>
              <p:spPr>
                <a:xfrm flipH="1" flipV="1">
                  <a:off x="10389590" y="1805408"/>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59" name="弧形 58">
                  <a:extLst>
                    <a:ext uri="{FF2B5EF4-FFF2-40B4-BE49-F238E27FC236}">
                      <a16:creationId xmlns:a16="http://schemas.microsoft.com/office/drawing/2014/main" id="{32196341-3019-723B-7E56-5BCB993EA434}"/>
                    </a:ext>
                  </a:extLst>
                </p:cNvPr>
                <p:cNvSpPr/>
                <p:nvPr/>
              </p:nvSpPr>
              <p:spPr>
                <a:xfrm flipH="1">
                  <a:off x="10389590" y="2183817"/>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grpSp>
        </p:grpSp>
        <p:sp>
          <p:nvSpPr>
            <p:cNvPr id="50" name="文本框 49">
              <a:extLst>
                <a:ext uri="{FF2B5EF4-FFF2-40B4-BE49-F238E27FC236}">
                  <a16:creationId xmlns:a16="http://schemas.microsoft.com/office/drawing/2014/main" id="{E0A5D791-AE6D-1186-F35C-33F4AAA390F1}"/>
                </a:ext>
              </a:extLst>
            </p:cNvPr>
            <p:cNvSpPr txBox="1"/>
            <p:nvPr/>
          </p:nvSpPr>
          <p:spPr>
            <a:xfrm>
              <a:off x="595256" y="2951046"/>
              <a:ext cx="5999207" cy="1200329"/>
            </a:xfrm>
            <a:prstGeom prst="rect">
              <a:avLst/>
            </a:prstGeom>
            <a:noFill/>
            <a:ln>
              <a:noFill/>
            </a:ln>
          </p:spPr>
          <p:txBody>
            <a:bodyPr wrap="square" rtlCol="0">
              <a:spAutoFit/>
            </a:bodyPr>
            <a:lstStyle/>
            <a:p>
              <a:pPr>
                <a:spcBef>
                  <a:spcPts val="50"/>
                </a:spcBef>
              </a:pPr>
              <a:r>
                <a:rPr lang="zh-CN" altLang="en-US" sz="7200" dirty="0">
                  <a:solidFill>
                    <a:schemeClr val="bg1"/>
                  </a:solidFill>
                  <a:latin typeface="猫啃网风雅宋" panose="02020700000000000000" pitchFamily="18" charset="-122"/>
                  <a:ea typeface="猫啃网风雅宋" panose="02020700000000000000" pitchFamily="18" charset="-122"/>
                  <a:cs typeface="+mn-ea"/>
                  <a:sym typeface="思源黑体 CN Medium" panose="020B0600000000000000" pitchFamily="34" charset="-122"/>
                </a:rPr>
                <a:t>宠物行业概述</a:t>
              </a:r>
            </a:p>
          </p:txBody>
        </p:sp>
        <p:sp>
          <p:nvSpPr>
            <p:cNvPr id="53" name="文本框 52">
              <a:extLst>
                <a:ext uri="{FF2B5EF4-FFF2-40B4-BE49-F238E27FC236}">
                  <a16:creationId xmlns:a16="http://schemas.microsoft.com/office/drawing/2014/main" id="{C8C95489-094F-1408-E53A-572C0DBE4319}"/>
                </a:ext>
              </a:extLst>
            </p:cNvPr>
            <p:cNvSpPr txBox="1"/>
            <p:nvPr/>
          </p:nvSpPr>
          <p:spPr>
            <a:xfrm>
              <a:off x="679041" y="4415895"/>
              <a:ext cx="5292190" cy="338554"/>
            </a:xfrm>
            <a:prstGeom prst="rect">
              <a:avLst/>
            </a:prstGeom>
            <a:noFill/>
            <a:ln>
              <a:noFill/>
            </a:ln>
          </p:spPr>
          <p:txBody>
            <a:bodyPr wrap="square">
              <a:spAutoFit/>
            </a:bodyPr>
            <a:lstStyle/>
            <a:p>
              <a:pPr algn="dist"/>
              <a:r>
                <a:rPr lang="zh-CN" altLang="en-US" sz="1600">
                  <a:solidFill>
                    <a:schemeClr val="bg1"/>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“宠物经济”行业前景分析报告</a:t>
              </a:r>
              <a:endParaRPr lang="zh-CN" altLang="en-US" sz="16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sp>
        <p:nvSpPr>
          <p:cNvPr id="61" name="任意多边形: 形状 60">
            <a:extLst>
              <a:ext uri="{FF2B5EF4-FFF2-40B4-BE49-F238E27FC236}">
                <a16:creationId xmlns:a16="http://schemas.microsoft.com/office/drawing/2014/main" id="{D62883F3-71D4-ED83-E9DC-95B256844750}"/>
              </a:ext>
            </a:extLst>
          </p:cNvPr>
          <p:cNvSpPr/>
          <p:nvPr/>
        </p:nvSpPr>
        <p:spPr>
          <a:xfrm rot="5400000">
            <a:off x="5999945" y="168486"/>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3" name="任意多边形: 形状 62">
            <a:extLst>
              <a:ext uri="{FF2B5EF4-FFF2-40B4-BE49-F238E27FC236}">
                <a16:creationId xmlns:a16="http://schemas.microsoft.com/office/drawing/2014/main" id="{8162ECFA-642E-E6DF-5914-601BF16A8866}"/>
              </a:ext>
            </a:extLst>
          </p:cNvPr>
          <p:cNvSpPr/>
          <p:nvPr/>
        </p:nvSpPr>
        <p:spPr>
          <a:xfrm rot="5400000">
            <a:off x="991206" y="5693064"/>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extLst>
      <p:ext uri="{BB962C8B-B14F-4D97-AF65-F5344CB8AC3E}">
        <p14:creationId xmlns:p14="http://schemas.microsoft.com/office/powerpoint/2010/main" val="256499101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right)">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p:cTn id="15" dur="500" fill="hold"/>
                                        <p:tgtEl>
                                          <p:spTgt spid="49"/>
                                        </p:tgtEl>
                                        <p:attrNameLst>
                                          <p:attrName>ppt_w</p:attrName>
                                        </p:attrNameLst>
                                      </p:cBhvr>
                                      <p:tavLst>
                                        <p:tav tm="0">
                                          <p:val>
                                            <p:fltVal val="0"/>
                                          </p:val>
                                        </p:tav>
                                        <p:tav tm="100000">
                                          <p:val>
                                            <p:strVal val="#ppt_w"/>
                                          </p:val>
                                        </p:tav>
                                      </p:tavLst>
                                    </p:anim>
                                    <p:anim calcmode="lin" valueType="num">
                                      <p:cBhvr>
                                        <p:cTn id="16" dur="500" fill="hold"/>
                                        <p:tgtEl>
                                          <p:spTgt spid="49"/>
                                        </p:tgtEl>
                                        <p:attrNameLst>
                                          <p:attrName>ppt_h</p:attrName>
                                        </p:attrNameLst>
                                      </p:cBhvr>
                                      <p:tavLst>
                                        <p:tav tm="0">
                                          <p:val>
                                            <p:fltVal val="0"/>
                                          </p:val>
                                        </p:tav>
                                        <p:tav tm="100000">
                                          <p:val>
                                            <p:strVal val="#ppt_h"/>
                                          </p:val>
                                        </p:tav>
                                      </p:tavLst>
                                    </p:anim>
                                    <p:animEffect transition="in" filter="fade">
                                      <p:cBhvr>
                                        <p:cTn id="17" dur="500"/>
                                        <p:tgtEl>
                                          <p:spTgt spid="49"/>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down)">
                                      <p:cBhvr>
                                        <p:cTn id="20" dur="500"/>
                                        <p:tgtEl>
                                          <p:spTgt spid="60"/>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down)">
                                      <p:cBhvr>
                                        <p:cTn id="23" dur="500"/>
                                        <p:tgtEl>
                                          <p:spTgt spid="38"/>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wipe(down)">
                                      <p:cBhvr>
                                        <p:cTn id="26" dur="500"/>
                                        <p:tgtEl>
                                          <p:spTgt spid="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down)">
                                      <p:cBhvr>
                                        <p:cTn id="41" dur="5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60" grpId="0" animBg="1"/>
      <p:bldP spid="64" grpId="0" animBg="1"/>
      <p:bldP spid="38" grpId="0" animBg="1"/>
      <p:bldP spid="56" grpId="0" animBg="1"/>
      <p:bldP spid="46" grpId="0"/>
      <p:bldP spid="61" grpId="0" animBg="1"/>
      <p:bldP spid="6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F683-C13C-DC57-B867-328250732626}"/>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47084A56-02CE-D512-1D5E-23526C4FC358}"/>
              </a:ext>
            </a:extLst>
          </p:cNvPr>
          <p:cNvGrpSpPr/>
          <p:nvPr/>
        </p:nvGrpSpPr>
        <p:grpSpPr>
          <a:xfrm>
            <a:off x="-1546" y="0"/>
            <a:ext cx="3201946" cy="829430"/>
            <a:chOff x="-1546" y="0"/>
            <a:chExt cx="3201946" cy="829430"/>
          </a:xfrm>
        </p:grpSpPr>
        <p:sp>
          <p:nvSpPr>
            <p:cNvPr id="10" name="矩形: 圆角 9">
              <a:extLst>
                <a:ext uri="{FF2B5EF4-FFF2-40B4-BE49-F238E27FC236}">
                  <a16:creationId xmlns:a16="http://schemas.microsoft.com/office/drawing/2014/main" id="{1927CCC2-F7C6-A0C8-8388-A61383C9081B}"/>
                </a:ext>
              </a:extLst>
            </p:cNvPr>
            <p:cNvSpPr/>
            <p:nvPr/>
          </p:nvSpPr>
          <p:spPr>
            <a:xfrm>
              <a:off x="198878" y="132617"/>
              <a:ext cx="3001522"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5918BF40-108B-CC5F-7818-BEDF0C6998E1}"/>
                </a:ext>
              </a:extLst>
            </p:cNvPr>
            <p:cNvSpPr txBox="1"/>
            <p:nvPr/>
          </p:nvSpPr>
          <p:spPr>
            <a:xfrm>
              <a:off x="619983" y="132617"/>
              <a:ext cx="2327753"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宠物经济定义</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10DD11F2-30F8-B5AE-BFBE-C77D6CDE5063}"/>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9C0F4657-C4C6-734D-01E0-59B169838A2C}"/>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01</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23" name="组合 22">
            <a:extLst>
              <a:ext uri="{FF2B5EF4-FFF2-40B4-BE49-F238E27FC236}">
                <a16:creationId xmlns:a16="http://schemas.microsoft.com/office/drawing/2014/main" id="{F3CED5F2-095B-C103-4FCD-5453A4EBBE52}"/>
              </a:ext>
            </a:extLst>
          </p:cNvPr>
          <p:cNvGrpSpPr/>
          <p:nvPr/>
        </p:nvGrpSpPr>
        <p:grpSpPr>
          <a:xfrm>
            <a:off x="383526" y="1727913"/>
            <a:ext cx="11424949" cy="3943698"/>
            <a:chOff x="91401" y="2065280"/>
            <a:chExt cx="11074993" cy="3822899"/>
          </a:xfrm>
        </p:grpSpPr>
        <p:grpSp>
          <p:nvGrpSpPr>
            <p:cNvPr id="17" name="组合 16">
              <a:extLst>
                <a:ext uri="{FF2B5EF4-FFF2-40B4-BE49-F238E27FC236}">
                  <a16:creationId xmlns:a16="http://schemas.microsoft.com/office/drawing/2014/main" id="{081DCB9E-2A0D-5132-603B-04C6F772E43C}"/>
                </a:ext>
              </a:extLst>
            </p:cNvPr>
            <p:cNvGrpSpPr/>
            <p:nvPr/>
          </p:nvGrpSpPr>
          <p:grpSpPr>
            <a:xfrm>
              <a:off x="91401" y="2065280"/>
              <a:ext cx="11074993" cy="3822899"/>
              <a:chOff x="1054263" y="2065280"/>
              <a:chExt cx="11074993" cy="3822899"/>
            </a:xfrm>
          </p:grpSpPr>
          <p:grpSp>
            <p:nvGrpSpPr>
              <p:cNvPr id="12" name="组合 11">
                <a:extLst>
                  <a:ext uri="{FF2B5EF4-FFF2-40B4-BE49-F238E27FC236}">
                    <a16:creationId xmlns:a16="http://schemas.microsoft.com/office/drawing/2014/main" id="{4F9D6271-80CA-3EF9-CEC2-748C584C9AFD}"/>
                  </a:ext>
                </a:extLst>
              </p:cNvPr>
              <p:cNvGrpSpPr/>
              <p:nvPr/>
            </p:nvGrpSpPr>
            <p:grpSpPr>
              <a:xfrm>
                <a:off x="1054263" y="2065280"/>
                <a:ext cx="11074993" cy="3822899"/>
                <a:chOff x="6610350" y="3191594"/>
                <a:chExt cx="11074993" cy="3822899"/>
              </a:xfrm>
            </p:grpSpPr>
            <p:sp>
              <p:nvSpPr>
                <p:cNvPr id="9" name="半闭框 8">
                  <a:extLst>
                    <a:ext uri="{FF2B5EF4-FFF2-40B4-BE49-F238E27FC236}">
                      <a16:creationId xmlns:a16="http://schemas.microsoft.com/office/drawing/2014/main" id="{2C2C322D-B28A-9D56-AAD6-FBFF3E4CCBAE}"/>
                    </a:ext>
                  </a:extLst>
                </p:cNvPr>
                <p:cNvSpPr/>
                <p:nvPr/>
              </p:nvSpPr>
              <p:spPr>
                <a:xfrm>
                  <a:off x="6610350" y="3191594"/>
                  <a:ext cx="609600" cy="584986"/>
                </a:xfrm>
                <a:prstGeom prst="halfFrame">
                  <a:avLst/>
                </a:prstGeom>
                <a:solidFill>
                  <a:srgbClr val="04CADF"/>
                </a:solidFill>
                <a:ln w="9525" cap="flat">
                  <a:noFill/>
                  <a:prstDash val="solid"/>
                  <a:miter/>
                </a:ln>
              </p:spPr>
              <p:txBody>
                <a:bodyPr rtlCol="0" anchor="ctr"/>
                <a:lstStyle/>
                <a:p>
                  <a:pPr algn="l"/>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半闭框 10">
                  <a:extLst>
                    <a:ext uri="{FF2B5EF4-FFF2-40B4-BE49-F238E27FC236}">
                      <a16:creationId xmlns:a16="http://schemas.microsoft.com/office/drawing/2014/main" id="{53364351-5516-1F5D-D665-70C7BC02DBFD}"/>
                    </a:ext>
                  </a:extLst>
                </p:cNvPr>
                <p:cNvSpPr/>
                <p:nvPr/>
              </p:nvSpPr>
              <p:spPr>
                <a:xfrm flipH="1" flipV="1">
                  <a:off x="17075743" y="6429507"/>
                  <a:ext cx="609600" cy="584986"/>
                </a:xfrm>
                <a:prstGeom prst="halfFrame">
                  <a:avLst/>
                </a:prstGeom>
                <a:solidFill>
                  <a:srgbClr val="04CADF"/>
                </a:solidFill>
                <a:ln w="9525" cap="flat">
                  <a:noFill/>
                  <a:prstDash val="solid"/>
                  <a:miter/>
                </a:ln>
              </p:spPr>
              <p:txBody>
                <a:bodyPr rtlCol="0" anchor="ctr"/>
                <a:lstStyle/>
                <a:p>
                  <a:pPr algn="l"/>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15" name="Rectangle 3">
                <a:extLst>
                  <a:ext uri="{FF2B5EF4-FFF2-40B4-BE49-F238E27FC236}">
                    <a16:creationId xmlns:a16="http://schemas.microsoft.com/office/drawing/2014/main" id="{6012DB31-992D-D348-FF23-CE746A7BB38D}"/>
                  </a:ext>
                </a:extLst>
              </p:cNvPr>
              <p:cNvSpPr txBox="1">
                <a:spLocks/>
              </p:cNvSpPr>
              <p:nvPr/>
            </p:nvSpPr>
            <p:spPr>
              <a:xfrm>
                <a:off x="1473595" y="2389916"/>
                <a:ext cx="2676596" cy="475008"/>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宠物经济定义：</a:t>
                </a:r>
                <a:endPar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19" name="组合 18">
                <a:extLst>
                  <a:ext uri="{FF2B5EF4-FFF2-40B4-BE49-F238E27FC236}">
                    <a16:creationId xmlns:a16="http://schemas.microsoft.com/office/drawing/2014/main" id="{6788715F-58CB-2225-0CFD-5376191AFF8B}"/>
                  </a:ext>
                </a:extLst>
              </p:cNvPr>
              <p:cNvGrpSpPr/>
              <p:nvPr/>
            </p:nvGrpSpPr>
            <p:grpSpPr>
              <a:xfrm>
                <a:off x="1467013" y="3086100"/>
                <a:ext cx="4416429" cy="2509586"/>
                <a:chOff x="1230919" y="2767264"/>
                <a:chExt cx="4416429" cy="2509586"/>
              </a:xfrm>
            </p:grpSpPr>
            <p:sp>
              <p:nvSpPr>
                <p:cNvPr id="20" name="矩形: 圆角 19">
                  <a:extLst>
                    <a:ext uri="{FF2B5EF4-FFF2-40B4-BE49-F238E27FC236}">
                      <a16:creationId xmlns:a16="http://schemas.microsoft.com/office/drawing/2014/main" id="{2C73279C-8F68-D24B-594C-D5F8BADDF08D}"/>
                    </a:ext>
                  </a:extLst>
                </p:cNvPr>
                <p:cNvSpPr/>
                <p:nvPr/>
              </p:nvSpPr>
              <p:spPr>
                <a:xfrm>
                  <a:off x="1230919" y="2767264"/>
                  <a:ext cx="4416429" cy="2509586"/>
                </a:xfrm>
                <a:prstGeom prst="roundRect">
                  <a:avLst>
                    <a:gd name="adj" fmla="val 7558"/>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Rectangle 3">
                  <a:extLst>
                    <a:ext uri="{FF2B5EF4-FFF2-40B4-BE49-F238E27FC236}">
                      <a16:creationId xmlns:a16="http://schemas.microsoft.com/office/drawing/2014/main" id="{010BBA9F-4194-C632-5EDD-14CE205F63B0}"/>
                    </a:ext>
                  </a:extLst>
                </p:cNvPr>
                <p:cNvSpPr txBox="1">
                  <a:spLocks/>
                </p:cNvSpPr>
                <p:nvPr/>
              </p:nvSpPr>
              <p:spPr>
                <a:xfrm>
                  <a:off x="1451834" y="3060404"/>
                  <a:ext cx="3971392" cy="1923306"/>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宠物指供玩堂、伴侣之目的而饲养或管领的动物目前中国宠物经济市场较为分散，宠物类别繁多，其中猫狗比重大且市场已初具规模，但其他宠物类别的市场暂未形成规模。</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pic>
          <p:nvPicPr>
            <p:cNvPr id="22" name="图片 21">
              <a:extLst>
                <a:ext uri="{FF2B5EF4-FFF2-40B4-BE49-F238E27FC236}">
                  <a16:creationId xmlns:a16="http://schemas.microsoft.com/office/drawing/2014/main" id="{5BEB0A0F-D94D-7108-0F88-B0B3BAB2D764}"/>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141495" y="2389916"/>
              <a:ext cx="5720099" cy="3205769"/>
            </a:xfrm>
            <a:prstGeom prst="roundRect">
              <a:avLst>
                <a:gd name="adj" fmla="val 4657"/>
              </a:avLst>
            </a:prstGeom>
          </p:spPr>
        </p:pic>
      </p:grpSp>
    </p:spTree>
    <p:extLst>
      <p:ext uri="{BB962C8B-B14F-4D97-AF65-F5344CB8AC3E}">
        <p14:creationId xmlns:p14="http://schemas.microsoft.com/office/powerpoint/2010/main" val="185758739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down)">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7F187-F06D-1D75-E122-A4261DC57715}"/>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E930F85C-687C-FAAE-599B-C496E63E6FED}"/>
              </a:ext>
            </a:extLst>
          </p:cNvPr>
          <p:cNvGrpSpPr/>
          <p:nvPr/>
        </p:nvGrpSpPr>
        <p:grpSpPr>
          <a:xfrm>
            <a:off x="-1546" y="0"/>
            <a:ext cx="3201946" cy="829430"/>
            <a:chOff x="-1546" y="0"/>
            <a:chExt cx="3201946" cy="829430"/>
          </a:xfrm>
        </p:grpSpPr>
        <p:sp>
          <p:nvSpPr>
            <p:cNvPr id="10" name="矩形: 圆角 9">
              <a:extLst>
                <a:ext uri="{FF2B5EF4-FFF2-40B4-BE49-F238E27FC236}">
                  <a16:creationId xmlns:a16="http://schemas.microsoft.com/office/drawing/2014/main" id="{0E3C671F-6B76-CD9B-94AA-9825673FD7D6}"/>
                </a:ext>
              </a:extLst>
            </p:cNvPr>
            <p:cNvSpPr/>
            <p:nvPr/>
          </p:nvSpPr>
          <p:spPr>
            <a:xfrm>
              <a:off x="198878" y="132617"/>
              <a:ext cx="3001522"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70C52C0E-9B12-4585-5EEB-C51E4C5EC735}"/>
                </a:ext>
              </a:extLst>
            </p:cNvPr>
            <p:cNvSpPr txBox="1"/>
            <p:nvPr/>
          </p:nvSpPr>
          <p:spPr>
            <a:xfrm>
              <a:off x="619983" y="132617"/>
              <a:ext cx="2327753"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产业链上游：</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2F2927F9-9089-962C-A6CB-C76A62816170}"/>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5D30B80D-8953-DBCA-40C4-1849EBE58451}"/>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01</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sp>
        <p:nvSpPr>
          <p:cNvPr id="17" name="文本框 16">
            <a:extLst>
              <a:ext uri="{FF2B5EF4-FFF2-40B4-BE49-F238E27FC236}">
                <a16:creationId xmlns:a16="http://schemas.microsoft.com/office/drawing/2014/main" id="{853EB03F-2F08-8302-D382-009EDA331C7B}"/>
              </a:ext>
            </a:extLst>
          </p:cNvPr>
          <p:cNvSpPr txBox="1"/>
          <p:nvPr/>
        </p:nvSpPr>
        <p:spPr>
          <a:xfrm>
            <a:off x="1161380" y="1653568"/>
            <a:ext cx="9869240" cy="523220"/>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ctr">
              <a:lnSpc>
                <a:spcPct val="100000"/>
              </a:lnSpc>
              <a:spcBef>
                <a:spcPts val="50"/>
              </a:spcBef>
            </a:pPr>
            <a:r>
              <a:rPr lang="zh-CN" altLang="en-US" sz="2800"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除下图展示的主要4种宠物获取途径外，其余占比为:</a:t>
            </a:r>
          </a:p>
        </p:txBody>
      </p:sp>
      <p:grpSp>
        <p:nvGrpSpPr>
          <p:cNvPr id="8" name="组合 7">
            <a:extLst>
              <a:ext uri="{FF2B5EF4-FFF2-40B4-BE49-F238E27FC236}">
                <a16:creationId xmlns:a16="http://schemas.microsoft.com/office/drawing/2014/main" id="{ADBC42E3-7063-744E-C573-C29D1ABB1735}"/>
              </a:ext>
            </a:extLst>
          </p:cNvPr>
          <p:cNvGrpSpPr/>
          <p:nvPr/>
        </p:nvGrpSpPr>
        <p:grpSpPr>
          <a:xfrm>
            <a:off x="456374" y="2511562"/>
            <a:ext cx="11279252" cy="3432035"/>
            <a:chOff x="728264" y="2544675"/>
            <a:chExt cx="10735472" cy="3266574"/>
          </a:xfrm>
        </p:grpSpPr>
        <p:sp>
          <p:nvSpPr>
            <p:cNvPr id="4" name="矩形: 圆角 3">
              <a:extLst>
                <a:ext uri="{FF2B5EF4-FFF2-40B4-BE49-F238E27FC236}">
                  <a16:creationId xmlns:a16="http://schemas.microsoft.com/office/drawing/2014/main" id="{9AC19D5B-7FA3-03DC-BBB3-2B87CDB6CB2C}"/>
                </a:ext>
              </a:extLst>
            </p:cNvPr>
            <p:cNvSpPr/>
            <p:nvPr/>
          </p:nvSpPr>
          <p:spPr>
            <a:xfrm>
              <a:off x="728264" y="2544675"/>
              <a:ext cx="10735472" cy="3266574"/>
            </a:xfrm>
            <a:prstGeom prst="roundRect">
              <a:avLst>
                <a:gd name="adj" fmla="val 4881"/>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5" name="文本框 14">
              <a:extLst>
                <a:ext uri="{FF2B5EF4-FFF2-40B4-BE49-F238E27FC236}">
                  <a16:creationId xmlns:a16="http://schemas.microsoft.com/office/drawing/2014/main" id="{8F79C606-AF60-2775-585E-0C52291F4CF2}"/>
                </a:ext>
              </a:extLst>
            </p:cNvPr>
            <p:cNvSpPr txBox="1"/>
            <p:nvPr/>
          </p:nvSpPr>
          <p:spPr>
            <a:xfrm>
              <a:off x="977941" y="2860253"/>
              <a:ext cx="4840367" cy="2330936"/>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marL="285750" indent="-285750">
                <a:spcBef>
                  <a:spcPts val="50"/>
                </a:spcBef>
                <a:buFont typeface="Arial" panose="020B0604020202020204" pitchFamily="34" charset="0"/>
                <a:buChar char="•"/>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繁育与交易环节绑定关系极强，但国内尚无规模化的养殖机构，市场现状</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鱼龙混杂。</a:t>
              </a: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spcBef>
                  <a:spcPts val="50"/>
                </a:spcBef>
                <a:buFont typeface="Arial" panose="020B0604020202020204" pitchFamily="34" charset="0"/>
                <a:buChar char="•"/>
              </a:pP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spcBef>
                  <a:spcPts val="50"/>
                </a:spcBef>
                <a:buFont typeface="Arial" panose="020B0604020202020204" pitchFamily="34" charset="0"/>
                <a:buChar char="•"/>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繁育端主要由犬舍/猫舍控制，但缺乏监管和标准化流程;</a:t>
              </a: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spcBef>
                  <a:spcPts val="50"/>
                </a:spcBef>
                <a:buFont typeface="Arial" panose="020B0604020202020204" pitchFamily="34" charset="0"/>
                <a:buChar char="•"/>
              </a:pP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spcBef>
                  <a:spcPts val="50"/>
                </a:spcBef>
                <a:buFont typeface="Arial" panose="020B0604020202020204" pitchFamily="34" charset="0"/>
                <a:buChar char="•"/>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交易行为主要发生在线下传统宠物店。</a:t>
              </a:r>
            </a:p>
          </p:txBody>
        </p:sp>
        <p:grpSp>
          <p:nvGrpSpPr>
            <p:cNvPr id="3" name="组合 2">
              <a:extLst>
                <a:ext uri="{FF2B5EF4-FFF2-40B4-BE49-F238E27FC236}">
                  <a16:creationId xmlns:a16="http://schemas.microsoft.com/office/drawing/2014/main" id="{4881B8D0-59FB-F287-DC9F-43FA5114765E}"/>
                </a:ext>
              </a:extLst>
            </p:cNvPr>
            <p:cNvGrpSpPr/>
            <p:nvPr/>
          </p:nvGrpSpPr>
          <p:grpSpPr>
            <a:xfrm>
              <a:off x="6566197" y="2915372"/>
              <a:ext cx="4560675" cy="2369948"/>
              <a:chOff x="6489849" y="3015857"/>
              <a:chExt cx="4486991" cy="2369948"/>
            </a:xfrm>
          </p:grpSpPr>
          <p:sp>
            <p:nvSpPr>
              <p:cNvPr id="19" name="文本框 18">
                <a:extLst>
                  <a:ext uri="{FF2B5EF4-FFF2-40B4-BE49-F238E27FC236}">
                    <a16:creationId xmlns:a16="http://schemas.microsoft.com/office/drawing/2014/main" id="{54A15686-9A65-7B3C-26E0-C7ECF2500F20}"/>
                  </a:ext>
                </a:extLst>
              </p:cNvPr>
              <p:cNvSpPr txBox="1"/>
              <p:nvPr/>
            </p:nvSpPr>
            <p:spPr>
              <a:xfrm>
                <a:off x="6489849" y="3015857"/>
                <a:ext cx="1749425" cy="383872"/>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spcBef>
                    <a:spcPts val="50"/>
                  </a:spcBef>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动物救助站</a:t>
                </a:r>
              </a:p>
            </p:txBody>
          </p:sp>
          <p:sp>
            <p:nvSpPr>
              <p:cNvPr id="21" name="文本框 20">
                <a:extLst>
                  <a:ext uri="{FF2B5EF4-FFF2-40B4-BE49-F238E27FC236}">
                    <a16:creationId xmlns:a16="http://schemas.microsoft.com/office/drawing/2014/main" id="{C05C3201-60B4-4698-778A-893AB74E19CF}"/>
                  </a:ext>
                </a:extLst>
              </p:cNvPr>
              <p:cNvSpPr txBox="1"/>
              <p:nvPr/>
            </p:nvSpPr>
            <p:spPr>
              <a:xfrm>
                <a:off x="6489849" y="3677882"/>
                <a:ext cx="2003425" cy="383872"/>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spcBef>
                    <a:spcPts val="50"/>
                  </a:spcBef>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线上私人买家</a:t>
                </a:r>
              </a:p>
            </p:txBody>
          </p:sp>
          <p:sp>
            <p:nvSpPr>
              <p:cNvPr id="23" name="文本框 22">
                <a:extLst>
                  <a:ext uri="{FF2B5EF4-FFF2-40B4-BE49-F238E27FC236}">
                    <a16:creationId xmlns:a16="http://schemas.microsoft.com/office/drawing/2014/main" id="{12C88E99-C70B-ED29-B502-F17C582F9FE1}"/>
                  </a:ext>
                </a:extLst>
              </p:cNvPr>
              <p:cNvSpPr txBox="1"/>
              <p:nvPr/>
            </p:nvSpPr>
            <p:spPr>
              <a:xfrm>
                <a:off x="6489849" y="4339907"/>
                <a:ext cx="2003425" cy="383872"/>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spcBef>
                    <a:spcPts val="50"/>
                  </a:spcBef>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线下私人买家</a:t>
                </a:r>
              </a:p>
            </p:txBody>
          </p:sp>
          <p:sp>
            <p:nvSpPr>
              <p:cNvPr id="25" name="文本框 24">
                <a:extLst>
                  <a:ext uri="{FF2B5EF4-FFF2-40B4-BE49-F238E27FC236}">
                    <a16:creationId xmlns:a16="http://schemas.microsoft.com/office/drawing/2014/main" id="{62DF1180-8C5D-06BC-8D20-41BD010147D3}"/>
                  </a:ext>
                </a:extLst>
              </p:cNvPr>
              <p:cNvSpPr txBox="1"/>
              <p:nvPr/>
            </p:nvSpPr>
            <p:spPr>
              <a:xfrm>
                <a:off x="6489849" y="5001933"/>
                <a:ext cx="2168525" cy="383872"/>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spcBef>
                    <a:spcPts val="50"/>
                  </a:spcBef>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动物保护组织</a:t>
                </a:r>
              </a:p>
            </p:txBody>
          </p:sp>
          <p:sp>
            <p:nvSpPr>
              <p:cNvPr id="34" name="矩形: 圆角 33">
                <a:extLst>
                  <a:ext uri="{FF2B5EF4-FFF2-40B4-BE49-F238E27FC236}">
                    <a16:creationId xmlns:a16="http://schemas.microsoft.com/office/drawing/2014/main" id="{A49AE5E2-1C39-477C-29DB-A2D30BC3D754}"/>
                  </a:ext>
                </a:extLst>
              </p:cNvPr>
              <p:cNvSpPr/>
              <p:nvPr/>
            </p:nvSpPr>
            <p:spPr>
              <a:xfrm>
                <a:off x="8654791" y="3073609"/>
                <a:ext cx="2164943" cy="310461"/>
              </a:xfrm>
              <a:prstGeom prst="rect">
                <a:avLst/>
              </a:prstGeom>
              <a:solidFill>
                <a:srgbClr val="E5F9FC">
                  <a:alpha val="5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 name="矩形: 圆角 34">
                <a:extLst>
                  <a:ext uri="{FF2B5EF4-FFF2-40B4-BE49-F238E27FC236}">
                    <a16:creationId xmlns:a16="http://schemas.microsoft.com/office/drawing/2014/main" id="{A8585E6E-7A51-C3A3-CF3C-47EA8FA84F8F}"/>
                  </a:ext>
                </a:extLst>
              </p:cNvPr>
              <p:cNvSpPr/>
              <p:nvPr/>
            </p:nvSpPr>
            <p:spPr>
              <a:xfrm>
                <a:off x="8239274" y="3073609"/>
                <a:ext cx="1101258" cy="338960"/>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文本框 36">
                <a:extLst>
                  <a:ext uri="{FF2B5EF4-FFF2-40B4-BE49-F238E27FC236}">
                    <a16:creationId xmlns:a16="http://schemas.microsoft.com/office/drawing/2014/main" id="{99CF2A35-C6CD-98D6-922A-DABAD689F5C9}"/>
                  </a:ext>
                </a:extLst>
              </p:cNvPr>
              <p:cNvSpPr txBox="1"/>
              <p:nvPr/>
            </p:nvSpPr>
            <p:spPr>
              <a:xfrm>
                <a:off x="10218244" y="3044173"/>
                <a:ext cx="758596" cy="383872"/>
              </a:xfrm>
              <a:prstGeom prst="rect">
                <a:avLst/>
              </a:prstGeom>
              <a:noFill/>
            </p:spPr>
            <p:txBody>
              <a:bodyPr wrap="square">
                <a:spAutoFit/>
              </a:bodyPr>
              <a:lstStyle/>
              <a:p>
                <a:pPr>
                  <a:lnSpc>
                    <a:spcPct val="120000"/>
                  </a:lnSpc>
                  <a:spcBef>
                    <a:spcPts val="50"/>
                  </a:spcBef>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a:t>
                </a:r>
              </a:p>
            </p:txBody>
          </p:sp>
          <p:sp>
            <p:nvSpPr>
              <p:cNvPr id="38" name="矩形: 圆角 37">
                <a:extLst>
                  <a:ext uri="{FF2B5EF4-FFF2-40B4-BE49-F238E27FC236}">
                    <a16:creationId xmlns:a16="http://schemas.microsoft.com/office/drawing/2014/main" id="{6C2778D4-C488-FBB1-8C80-F3BE60B5F1C3}"/>
                  </a:ext>
                </a:extLst>
              </p:cNvPr>
              <p:cNvSpPr/>
              <p:nvPr/>
            </p:nvSpPr>
            <p:spPr>
              <a:xfrm>
                <a:off x="8654791" y="3741687"/>
                <a:ext cx="2164943" cy="310461"/>
              </a:xfrm>
              <a:prstGeom prst="rect">
                <a:avLst/>
              </a:prstGeom>
              <a:solidFill>
                <a:srgbClr val="E5F9FC">
                  <a:alpha val="5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 name="矩形: 圆角 38">
                <a:extLst>
                  <a:ext uri="{FF2B5EF4-FFF2-40B4-BE49-F238E27FC236}">
                    <a16:creationId xmlns:a16="http://schemas.microsoft.com/office/drawing/2014/main" id="{0522237A-68EA-C7A4-4609-756621F0BD80}"/>
                  </a:ext>
                </a:extLst>
              </p:cNvPr>
              <p:cNvSpPr/>
              <p:nvPr/>
            </p:nvSpPr>
            <p:spPr>
              <a:xfrm>
                <a:off x="8239274" y="3741687"/>
                <a:ext cx="776907" cy="338960"/>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 name="文本框 39">
                <a:extLst>
                  <a:ext uri="{FF2B5EF4-FFF2-40B4-BE49-F238E27FC236}">
                    <a16:creationId xmlns:a16="http://schemas.microsoft.com/office/drawing/2014/main" id="{91C67F8D-7003-6631-0572-C454519863CE}"/>
                  </a:ext>
                </a:extLst>
              </p:cNvPr>
              <p:cNvSpPr txBox="1"/>
              <p:nvPr/>
            </p:nvSpPr>
            <p:spPr>
              <a:xfrm>
                <a:off x="10218244" y="3712251"/>
                <a:ext cx="758596" cy="383872"/>
              </a:xfrm>
              <a:prstGeom prst="rect">
                <a:avLst/>
              </a:prstGeom>
              <a:noFill/>
            </p:spPr>
            <p:txBody>
              <a:bodyPr wrap="square">
                <a:spAutoFit/>
              </a:bodyPr>
              <a:lstStyle/>
              <a:p>
                <a:pPr>
                  <a:lnSpc>
                    <a:spcPct val="120000"/>
                  </a:lnSpc>
                  <a:spcBef>
                    <a:spcPts val="50"/>
                  </a:spcBef>
                </a:pPr>
                <a:r>
                  <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a:t>
                </a: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p>
            </p:txBody>
          </p:sp>
          <p:sp>
            <p:nvSpPr>
              <p:cNvPr id="41" name="矩形: 圆角 40">
                <a:extLst>
                  <a:ext uri="{FF2B5EF4-FFF2-40B4-BE49-F238E27FC236}">
                    <a16:creationId xmlns:a16="http://schemas.microsoft.com/office/drawing/2014/main" id="{10F45B35-6C58-687A-0FEB-CD5DD34C7D50}"/>
                  </a:ext>
                </a:extLst>
              </p:cNvPr>
              <p:cNvSpPr/>
              <p:nvPr/>
            </p:nvSpPr>
            <p:spPr>
              <a:xfrm>
                <a:off x="8654791" y="4362354"/>
                <a:ext cx="2164943" cy="310461"/>
              </a:xfrm>
              <a:prstGeom prst="rect">
                <a:avLst/>
              </a:prstGeom>
              <a:solidFill>
                <a:srgbClr val="E5F9FC">
                  <a:alpha val="5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矩形: 圆角 41">
                <a:extLst>
                  <a:ext uri="{FF2B5EF4-FFF2-40B4-BE49-F238E27FC236}">
                    <a16:creationId xmlns:a16="http://schemas.microsoft.com/office/drawing/2014/main" id="{C0ADBE5C-ED6D-21D7-284F-6589D798D840}"/>
                  </a:ext>
                </a:extLst>
              </p:cNvPr>
              <p:cNvSpPr/>
              <p:nvPr/>
            </p:nvSpPr>
            <p:spPr>
              <a:xfrm>
                <a:off x="8239274" y="4362354"/>
                <a:ext cx="1530819" cy="338960"/>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3" name="文本框 42">
                <a:extLst>
                  <a:ext uri="{FF2B5EF4-FFF2-40B4-BE49-F238E27FC236}">
                    <a16:creationId xmlns:a16="http://schemas.microsoft.com/office/drawing/2014/main" id="{127D5996-9B61-4062-C589-E16C373CEDE5}"/>
                  </a:ext>
                </a:extLst>
              </p:cNvPr>
              <p:cNvSpPr txBox="1"/>
              <p:nvPr/>
            </p:nvSpPr>
            <p:spPr>
              <a:xfrm>
                <a:off x="10218244" y="4332918"/>
                <a:ext cx="758596" cy="383872"/>
              </a:xfrm>
              <a:prstGeom prst="rect">
                <a:avLst/>
              </a:prstGeom>
              <a:noFill/>
            </p:spPr>
            <p:txBody>
              <a:bodyPr wrap="square">
                <a:spAutoFit/>
              </a:bodyPr>
              <a:lstStyle/>
              <a:p>
                <a:pPr>
                  <a:lnSpc>
                    <a:spcPct val="120000"/>
                  </a:lnSpc>
                  <a:spcBef>
                    <a:spcPts val="50"/>
                  </a:spcBef>
                </a:pPr>
                <a:r>
                  <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a:t>
                </a: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p>
            </p:txBody>
          </p:sp>
          <p:sp>
            <p:nvSpPr>
              <p:cNvPr id="44" name="矩形: 圆角 43">
                <a:extLst>
                  <a:ext uri="{FF2B5EF4-FFF2-40B4-BE49-F238E27FC236}">
                    <a16:creationId xmlns:a16="http://schemas.microsoft.com/office/drawing/2014/main" id="{F828E149-CE66-A5A0-8A07-BCA5501C65EB}"/>
                  </a:ext>
                </a:extLst>
              </p:cNvPr>
              <p:cNvSpPr/>
              <p:nvPr/>
            </p:nvSpPr>
            <p:spPr>
              <a:xfrm>
                <a:off x="8654791" y="5030432"/>
                <a:ext cx="2164943" cy="310461"/>
              </a:xfrm>
              <a:prstGeom prst="rect">
                <a:avLst/>
              </a:prstGeom>
              <a:solidFill>
                <a:srgbClr val="E5F9FC">
                  <a:alpha val="59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 name="矩形: 圆角 44">
                <a:extLst>
                  <a:ext uri="{FF2B5EF4-FFF2-40B4-BE49-F238E27FC236}">
                    <a16:creationId xmlns:a16="http://schemas.microsoft.com/office/drawing/2014/main" id="{BEB8AC7B-D4C1-799D-E3AC-B43A51E4EC56}"/>
                  </a:ext>
                </a:extLst>
              </p:cNvPr>
              <p:cNvSpPr/>
              <p:nvPr/>
            </p:nvSpPr>
            <p:spPr>
              <a:xfrm>
                <a:off x="8239274" y="5030432"/>
                <a:ext cx="393414" cy="338960"/>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6" name="文本框 45">
                <a:extLst>
                  <a:ext uri="{FF2B5EF4-FFF2-40B4-BE49-F238E27FC236}">
                    <a16:creationId xmlns:a16="http://schemas.microsoft.com/office/drawing/2014/main" id="{9F0C45A5-B093-9037-7C57-7D5A5407765F}"/>
                  </a:ext>
                </a:extLst>
              </p:cNvPr>
              <p:cNvSpPr txBox="1"/>
              <p:nvPr/>
            </p:nvSpPr>
            <p:spPr>
              <a:xfrm>
                <a:off x="10218244" y="5000996"/>
                <a:ext cx="758596" cy="383872"/>
              </a:xfrm>
              <a:prstGeom prst="rect">
                <a:avLst/>
              </a:prstGeom>
              <a:noFill/>
            </p:spPr>
            <p:txBody>
              <a:bodyPr wrap="square">
                <a:spAutoFit/>
              </a:bodyPr>
              <a:lstStyle/>
              <a:p>
                <a:pPr>
                  <a:lnSpc>
                    <a:spcPct val="120000"/>
                  </a:lnSpc>
                  <a:spcBef>
                    <a:spcPts val="50"/>
                  </a:spcBef>
                </a:pPr>
                <a:r>
                  <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0.5</a:t>
                </a: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p>
            </p:txBody>
          </p:sp>
        </p:grpSp>
      </p:grpSp>
    </p:spTree>
    <p:extLst>
      <p:ext uri="{BB962C8B-B14F-4D97-AF65-F5344CB8AC3E}">
        <p14:creationId xmlns:p14="http://schemas.microsoft.com/office/powerpoint/2010/main" val="312327187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barn(inVertical)">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DEB35-733D-847F-0F29-FD39D9F557A5}"/>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6727EFDE-A047-0214-9A54-5DF8F3DF220B}"/>
              </a:ext>
            </a:extLst>
          </p:cNvPr>
          <p:cNvGrpSpPr/>
          <p:nvPr/>
        </p:nvGrpSpPr>
        <p:grpSpPr>
          <a:xfrm>
            <a:off x="-1546" y="0"/>
            <a:ext cx="3201946" cy="829430"/>
            <a:chOff x="-1546" y="0"/>
            <a:chExt cx="3201946" cy="829430"/>
          </a:xfrm>
        </p:grpSpPr>
        <p:sp>
          <p:nvSpPr>
            <p:cNvPr id="10" name="矩形: 圆角 9">
              <a:extLst>
                <a:ext uri="{FF2B5EF4-FFF2-40B4-BE49-F238E27FC236}">
                  <a16:creationId xmlns:a16="http://schemas.microsoft.com/office/drawing/2014/main" id="{96163C12-8EE7-0F51-3DB9-ECF8CFF05B1A}"/>
                </a:ext>
              </a:extLst>
            </p:cNvPr>
            <p:cNvSpPr/>
            <p:nvPr/>
          </p:nvSpPr>
          <p:spPr>
            <a:xfrm>
              <a:off x="198878" y="132617"/>
              <a:ext cx="3001522"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D506F7C0-CA99-5945-1ED9-2517CB866D7D}"/>
                </a:ext>
              </a:extLst>
            </p:cNvPr>
            <p:cNvSpPr txBox="1"/>
            <p:nvPr/>
          </p:nvSpPr>
          <p:spPr>
            <a:xfrm>
              <a:off x="619983" y="132617"/>
              <a:ext cx="2327753"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产业链中游</a:t>
              </a:r>
              <a:r>
                <a:rPr lang="en-US" altLang="zh-CN"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D291CD39-8692-68D0-A53E-6D81D2F035B0}"/>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00323958-7297-5D61-8F28-20D998DF06EC}"/>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01</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18" name="组合 17">
            <a:extLst>
              <a:ext uri="{FF2B5EF4-FFF2-40B4-BE49-F238E27FC236}">
                <a16:creationId xmlns:a16="http://schemas.microsoft.com/office/drawing/2014/main" id="{C814B196-BFA1-591D-6643-CDC872D5AF24}"/>
              </a:ext>
            </a:extLst>
          </p:cNvPr>
          <p:cNvGrpSpPr/>
          <p:nvPr/>
        </p:nvGrpSpPr>
        <p:grpSpPr>
          <a:xfrm>
            <a:off x="349914" y="1864894"/>
            <a:ext cx="11492172" cy="3583834"/>
            <a:chOff x="400144" y="1997242"/>
            <a:chExt cx="10952034" cy="3415392"/>
          </a:xfrm>
        </p:grpSpPr>
        <p:grpSp>
          <p:nvGrpSpPr>
            <p:cNvPr id="17" name="组合 16">
              <a:extLst>
                <a:ext uri="{FF2B5EF4-FFF2-40B4-BE49-F238E27FC236}">
                  <a16:creationId xmlns:a16="http://schemas.microsoft.com/office/drawing/2014/main" id="{F90E2CBF-4691-75BD-0C6E-74425A34B743}"/>
                </a:ext>
              </a:extLst>
            </p:cNvPr>
            <p:cNvGrpSpPr/>
            <p:nvPr/>
          </p:nvGrpSpPr>
          <p:grpSpPr>
            <a:xfrm>
              <a:off x="3815535" y="1997242"/>
              <a:ext cx="7536643" cy="3415392"/>
              <a:chOff x="1077021" y="2797342"/>
              <a:chExt cx="4697071" cy="2509586"/>
            </a:xfrm>
          </p:grpSpPr>
          <p:sp>
            <p:nvSpPr>
              <p:cNvPr id="15" name="矩形: 圆角 14">
                <a:extLst>
                  <a:ext uri="{FF2B5EF4-FFF2-40B4-BE49-F238E27FC236}">
                    <a16:creationId xmlns:a16="http://schemas.microsoft.com/office/drawing/2014/main" id="{09D87A71-6797-BD2F-55CF-808A56A485F6}"/>
                  </a:ext>
                </a:extLst>
              </p:cNvPr>
              <p:cNvSpPr/>
              <p:nvPr/>
            </p:nvSpPr>
            <p:spPr>
              <a:xfrm>
                <a:off x="1077021" y="2797342"/>
                <a:ext cx="4697071" cy="2509586"/>
              </a:xfrm>
              <a:prstGeom prst="roundRect">
                <a:avLst>
                  <a:gd name="adj" fmla="val 391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Rectangle 3">
                <a:extLst>
                  <a:ext uri="{FF2B5EF4-FFF2-40B4-BE49-F238E27FC236}">
                    <a16:creationId xmlns:a16="http://schemas.microsoft.com/office/drawing/2014/main" id="{50D803A7-D0BE-D68F-500B-EA11DDCBC4FC}"/>
                  </a:ext>
                </a:extLst>
              </p:cNvPr>
              <p:cNvSpPr txBox="1">
                <a:spLocks/>
              </p:cNvSpPr>
              <p:nvPr/>
            </p:nvSpPr>
            <p:spPr>
              <a:xfrm>
                <a:off x="1363038" y="3028597"/>
                <a:ext cx="4221207" cy="1978907"/>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宠物食品：</a:t>
                </a:r>
              </a:p>
              <a:p>
                <a:pPr marL="0" indent="0">
                  <a:lnSpc>
                    <a:spcPct val="130000"/>
                  </a:lnSpc>
                  <a:spcBef>
                    <a:spcPts val="50"/>
                  </a:spcBef>
                  <a:buNone/>
                </a:pPr>
                <a:r>
                  <a:rPr lang="zh-CN" altLang="en-US" sz="1800"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是宠物行业第一刚需市场，包含三大领域，多种细分品类。</a:t>
                </a:r>
                <a:endParaRPr lang="en-US" altLang="zh-CN" sz="1800"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宠物食品特指为宠物群体所专门研发并生产的食品，包含主粮、零食和营养品三大领域。宠物食品企业可以分为多品牌与单品牌两种类型。宠物食品行业是宠物经济中消费占比最大的行业。</a:t>
                </a:r>
                <a:endPar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单品牌型企业的出现加剧市场竞争，伴随消费者的需求增加，食品生产工艺的发展和升级正在被快速驱动。</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 name="组合 1">
              <a:extLst>
                <a:ext uri="{FF2B5EF4-FFF2-40B4-BE49-F238E27FC236}">
                  <a16:creationId xmlns:a16="http://schemas.microsoft.com/office/drawing/2014/main" id="{AA40EB69-1A92-331D-2966-F2E8DDEB9EE1}"/>
                </a:ext>
              </a:extLst>
            </p:cNvPr>
            <p:cNvGrpSpPr/>
            <p:nvPr/>
          </p:nvGrpSpPr>
          <p:grpSpPr>
            <a:xfrm>
              <a:off x="400144" y="1997242"/>
              <a:ext cx="3691169" cy="3415392"/>
              <a:chOff x="952500" y="3162300"/>
              <a:chExt cx="3314700" cy="3067050"/>
            </a:xfrm>
          </p:grpSpPr>
          <p:pic>
            <p:nvPicPr>
              <p:cNvPr id="9" name="图片 8">
                <a:extLst>
                  <a:ext uri="{FF2B5EF4-FFF2-40B4-BE49-F238E27FC236}">
                    <a16:creationId xmlns:a16="http://schemas.microsoft.com/office/drawing/2014/main" id="{B1587BEC-D401-0689-20BB-7B0E1056B783}"/>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952500" y="3162300"/>
                <a:ext cx="2914650" cy="3067050"/>
              </a:xfrm>
              <a:prstGeom prst="roundRect">
                <a:avLst>
                  <a:gd name="adj" fmla="val 2889"/>
                </a:avLst>
              </a:prstGeom>
            </p:spPr>
          </p:pic>
          <p:grpSp>
            <p:nvGrpSpPr>
              <p:cNvPr id="3" name="组合 2">
                <a:extLst>
                  <a:ext uri="{FF2B5EF4-FFF2-40B4-BE49-F238E27FC236}">
                    <a16:creationId xmlns:a16="http://schemas.microsoft.com/office/drawing/2014/main" id="{C61B4169-72EA-436A-90AE-4505B7BBA626}"/>
                  </a:ext>
                </a:extLst>
              </p:cNvPr>
              <p:cNvGrpSpPr/>
              <p:nvPr/>
            </p:nvGrpSpPr>
            <p:grpSpPr>
              <a:xfrm>
                <a:off x="3524250" y="4305300"/>
                <a:ext cx="742950" cy="742950"/>
                <a:chOff x="4362450" y="3143250"/>
                <a:chExt cx="742950" cy="742950"/>
              </a:xfrm>
            </p:grpSpPr>
            <p:sp>
              <p:nvSpPr>
                <p:cNvPr id="11" name="椭圆 10">
                  <a:extLst>
                    <a:ext uri="{FF2B5EF4-FFF2-40B4-BE49-F238E27FC236}">
                      <a16:creationId xmlns:a16="http://schemas.microsoft.com/office/drawing/2014/main" id="{C555CC78-D6C4-D1B1-21C0-E1EF031FFFB4}"/>
                    </a:ext>
                  </a:extLst>
                </p:cNvPr>
                <p:cNvSpPr/>
                <p:nvPr/>
              </p:nvSpPr>
              <p:spPr>
                <a:xfrm>
                  <a:off x="4362450" y="3143250"/>
                  <a:ext cx="742950" cy="742950"/>
                </a:xfrm>
                <a:prstGeom prst="ellipse">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箭头: V 形 11">
                  <a:extLst>
                    <a:ext uri="{FF2B5EF4-FFF2-40B4-BE49-F238E27FC236}">
                      <a16:creationId xmlns:a16="http://schemas.microsoft.com/office/drawing/2014/main" id="{740FE2A7-0AA4-E9C0-0ED3-7A77914CF893}"/>
                    </a:ext>
                  </a:extLst>
                </p:cNvPr>
                <p:cNvSpPr/>
                <p:nvPr/>
              </p:nvSpPr>
              <p:spPr>
                <a:xfrm>
                  <a:off x="4610100" y="3390900"/>
                  <a:ext cx="247650" cy="247650"/>
                </a:xfrm>
                <a:prstGeom prst="chevron">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grpSp>
    </p:spTree>
    <p:extLst>
      <p:ext uri="{BB962C8B-B14F-4D97-AF65-F5344CB8AC3E}">
        <p14:creationId xmlns:p14="http://schemas.microsoft.com/office/powerpoint/2010/main" val="303936976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barn(inVertical)">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CEC38-5509-AD18-B030-D51DFCDB4777}"/>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C769C74A-B293-4013-8DEE-3238DAF02D71}"/>
              </a:ext>
            </a:extLst>
          </p:cNvPr>
          <p:cNvGrpSpPr/>
          <p:nvPr/>
        </p:nvGrpSpPr>
        <p:grpSpPr>
          <a:xfrm>
            <a:off x="-1546" y="0"/>
            <a:ext cx="3201946" cy="829430"/>
            <a:chOff x="-1546" y="0"/>
            <a:chExt cx="3201946" cy="829430"/>
          </a:xfrm>
        </p:grpSpPr>
        <p:sp>
          <p:nvSpPr>
            <p:cNvPr id="10" name="矩形: 圆角 9">
              <a:extLst>
                <a:ext uri="{FF2B5EF4-FFF2-40B4-BE49-F238E27FC236}">
                  <a16:creationId xmlns:a16="http://schemas.microsoft.com/office/drawing/2014/main" id="{E7B6073F-DCF2-F424-05CF-A9F8315AF08D}"/>
                </a:ext>
              </a:extLst>
            </p:cNvPr>
            <p:cNvSpPr/>
            <p:nvPr/>
          </p:nvSpPr>
          <p:spPr>
            <a:xfrm>
              <a:off x="198878" y="132617"/>
              <a:ext cx="3001522"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F3465D23-B9A8-606A-9223-E94639C5507A}"/>
                </a:ext>
              </a:extLst>
            </p:cNvPr>
            <p:cNvSpPr txBox="1"/>
            <p:nvPr/>
          </p:nvSpPr>
          <p:spPr>
            <a:xfrm>
              <a:off x="619983" y="132617"/>
              <a:ext cx="2327753"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产业链下游</a:t>
              </a:r>
              <a:r>
                <a:rPr lang="en-US" altLang="zh-CN"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19CD5041-F198-8A93-15E6-667446417CCB}"/>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6233E090-63FC-7305-2CCF-78850AB162C1}"/>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01</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24" name="组合 23">
            <a:extLst>
              <a:ext uri="{FF2B5EF4-FFF2-40B4-BE49-F238E27FC236}">
                <a16:creationId xmlns:a16="http://schemas.microsoft.com/office/drawing/2014/main" id="{C38D1D91-593A-B2CD-05DE-9B0BC9DAFAB0}"/>
              </a:ext>
            </a:extLst>
          </p:cNvPr>
          <p:cNvGrpSpPr/>
          <p:nvPr/>
        </p:nvGrpSpPr>
        <p:grpSpPr>
          <a:xfrm>
            <a:off x="564451" y="1639639"/>
            <a:ext cx="11063098" cy="4388180"/>
            <a:chOff x="789950" y="1111207"/>
            <a:chExt cx="11571724" cy="4589927"/>
          </a:xfrm>
        </p:grpSpPr>
        <p:grpSp>
          <p:nvGrpSpPr>
            <p:cNvPr id="16" name="组合 15">
              <a:extLst>
                <a:ext uri="{FF2B5EF4-FFF2-40B4-BE49-F238E27FC236}">
                  <a16:creationId xmlns:a16="http://schemas.microsoft.com/office/drawing/2014/main" id="{046D6E37-42B9-A4CD-4102-B4B419CBD8BF}"/>
                </a:ext>
              </a:extLst>
            </p:cNvPr>
            <p:cNvGrpSpPr/>
            <p:nvPr/>
          </p:nvGrpSpPr>
          <p:grpSpPr>
            <a:xfrm>
              <a:off x="789950" y="1111207"/>
              <a:ext cx="5490534" cy="4589927"/>
              <a:chOff x="789950" y="1111207"/>
              <a:chExt cx="5490534" cy="4589927"/>
            </a:xfrm>
          </p:grpSpPr>
          <p:grpSp>
            <p:nvGrpSpPr>
              <p:cNvPr id="42" name="组合 41">
                <a:extLst>
                  <a:ext uri="{FF2B5EF4-FFF2-40B4-BE49-F238E27FC236}">
                    <a16:creationId xmlns:a16="http://schemas.microsoft.com/office/drawing/2014/main" id="{48EB8612-B356-AABE-0D74-6BCB6929542A}"/>
                  </a:ext>
                </a:extLst>
              </p:cNvPr>
              <p:cNvGrpSpPr/>
              <p:nvPr/>
            </p:nvGrpSpPr>
            <p:grpSpPr>
              <a:xfrm>
                <a:off x="789950" y="1111207"/>
                <a:ext cx="5490534" cy="2317794"/>
                <a:chOff x="666115" y="3189472"/>
                <a:chExt cx="2512060" cy="1060450"/>
              </a:xfrm>
            </p:grpSpPr>
            <p:pic>
              <p:nvPicPr>
                <p:cNvPr id="30" name="图片 29">
                  <a:extLst>
                    <a:ext uri="{FF2B5EF4-FFF2-40B4-BE49-F238E27FC236}">
                      <a16:creationId xmlns:a16="http://schemas.microsoft.com/office/drawing/2014/main" id="{28195927-F7EC-C626-1EB6-14D8708C8ABF}"/>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666115" y="3189472"/>
                  <a:ext cx="2512060" cy="1060450"/>
                </a:xfrm>
                <a:prstGeom prst="roundRect">
                  <a:avLst>
                    <a:gd name="adj" fmla="val 5265"/>
                  </a:avLst>
                </a:prstGeom>
              </p:spPr>
            </p:pic>
            <p:sp>
              <p:nvSpPr>
                <p:cNvPr id="5" name="圆角矩形 9">
                  <a:extLst>
                    <a:ext uri="{FF2B5EF4-FFF2-40B4-BE49-F238E27FC236}">
                      <a16:creationId xmlns:a16="http://schemas.microsoft.com/office/drawing/2014/main" id="{D51BA212-B7D3-987F-23BA-D71A5296EF02}"/>
                    </a:ext>
                  </a:extLst>
                </p:cNvPr>
                <p:cNvSpPr/>
                <p:nvPr/>
              </p:nvSpPr>
              <p:spPr>
                <a:xfrm>
                  <a:off x="666115" y="3189472"/>
                  <a:ext cx="2512060" cy="1060450"/>
                </a:xfrm>
                <a:prstGeom prst="roundRect">
                  <a:avLst>
                    <a:gd name="adj" fmla="val 4179"/>
                  </a:avLst>
                </a:prstGeom>
                <a:solidFill>
                  <a:srgbClr val="04CAD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宠物经济行业下游</a:t>
                  </a:r>
                  <a:endParaRPr lang="zh-CN" altLang="en-US" sz="2800" b="1" dirty="0">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5" name="组合 14">
                <a:extLst>
                  <a:ext uri="{FF2B5EF4-FFF2-40B4-BE49-F238E27FC236}">
                    <a16:creationId xmlns:a16="http://schemas.microsoft.com/office/drawing/2014/main" id="{16D49368-2C55-73AF-49F0-F2EEDFFC907B}"/>
                  </a:ext>
                </a:extLst>
              </p:cNvPr>
              <p:cNvGrpSpPr/>
              <p:nvPr/>
            </p:nvGrpSpPr>
            <p:grpSpPr>
              <a:xfrm>
                <a:off x="789950" y="3543095"/>
                <a:ext cx="5490534" cy="2158039"/>
                <a:chOff x="3865666" y="1900989"/>
                <a:chExt cx="7706352" cy="2158039"/>
              </a:xfrm>
            </p:grpSpPr>
            <p:sp>
              <p:nvSpPr>
                <p:cNvPr id="11" name="矩形: 圆角 10">
                  <a:extLst>
                    <a:ext uri="{FF2B5EF4-FFF2-40B4-BE49-F238E27FC236}">
                      <a16:creationId xmlns:a16="http://schemas.microsoft.com/office/drawing/2014/main" id="{0C320399-3629-406C-1DD1-62EE4AAE043B}"/>
                    </a:ext>
                  </a:extLst>
                </p:cNvPr>
                <p:cNvSpPr/>
                <p:nvPr/>
              </p:nvSpPr>
              <p:spPr>
                <a:xfrm>
                  <a:off x="3865666" y="1900989"/>
                  <a:ext cx="7706352" cy="2158039"/>
                </a:xfrm>
                <a:prstGeom prst="roundRect">
                  <a:avLst>
                    <a:gd name="adj" fmla="val 5587"/>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2" name="Rectangle 3">
                  <a:extLst>
                    <a:ext uri="{FF2B5EF4-FFF2-40B4-BE49-F238E27FC236}">
                      <a16:creationId xmlns:a16="http://schemas.microsoft.com/office/drawing/2014/main" id="{A8AB9019-C898-471C-F604-63BAB8C4AC6C}"/>
                    </a:ext>
                  </a:extLst>
                </p:cNvPr>
                <p:cNvSpPr txBox="1">
                  <a:spLocks/>
                </p:cNvSpPr>
                <p:nvPr/>
              </p:nvSpPr>
              <p:spPr>
                <a:xfrm>
                  <a:off x="4494299" y="2055799"/>
                  <a:ext cx="6773100" cy="1576791"/>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企业市场空间广阔、销售范围广、用户分散、单批数量少、销售单价高等特点。</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17" name="组合 16">
              <a:extLst>
                <a:ext uri="{FF2B5EF4-FFF2-40B4-BE49-F238E27FC236}">
                  <a16:creationId xmlns:a16="http://schemas.microsoft.com/office/drawing/2014/main" id="{0F2EE8FF-E7DA-92D2-7AC9-2188843829DF}"/>
                </a:ext>
              </a:extLst>
            </p:cNvPr>
            <p:cNvGrpSpPr/>
            <p:nvPr/>
          </p:nvGrpSpPr>
          <p:grpSpPr>
            <a:xfrm>
              <a:off x="6871140" y="1111207"/>
              <a:ext cx="5490534" cy="4589927"/>
              <a:chOff x="1149757" y="1111207"/>
              <a:chExt cx="5490534" cy="4589927"/>
            </a:xfrm>
          </p:grpSpPr>
          <p:grpSp>
            <p:nvGrpSpPr>
              <p:cNvPr id="18" name="组合 17">
                <a:extLst>
                  <a:ext uri="{FF2B5EF4-FFF2-40B4-BE49-F238E27FC236}">
                    <a16:creationId xmlns:a16="http://schemas.microsoft.com/office/drawing/2014/main" id="{79D04FC6-774D-6D3F-2736-226D35AA5B85}"/>
                  </a:ext>
                </a:extLst>
              </p:cNvPr>
              <p:cNvGrpSpPr/>
              <p:nvPr/>
            </p:nvGrpSpPr>
            <p:grpSpPr>
              <a:xfrm>
                <a:off x="1149757" y="1111207"/>
                <a:ext cx="5490534" cy="2317794"/>
                <a:chOff x="830736" y="3189472"/>
                <a:chExt cx="2512060" cy="1060450"/>
              </a:xfrm>
            </p:grpSpPr>
            <p:pic>
              <p:nvPicPr>
                <p:cNvPr id="22" name="图片 21">
                  <a:extLst>
                    <a:ext uri="{FF2B5EF4-FFF2-40B4-BE49-F238E27FC236}">
                      <a16:creationId xmlns:a16="http://schemas.microsoft.com/office/drawing/2014/main" id="{C7ABA991-C05F-695C-A009-08CADEA11701}"/>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830736" y="3189472"/>
                  <a:ext cx="2512060" cy="1060450"/>
                </a:xfrm>
                <a:prstGeom prst="roundRect">
                  <a:avLst>
                    <a:gd name="adj" fmla="val 5265"/>
                  </a:avLst>
                </a:prstGeom>
              </p:spPr>
            </p:pic>
            <p:sp>
              <p:nvSpPr>
                <p:cNvPr id="23" name="圆角矩形 9">
                  <a:extLst>
                    <a:ext uri="{FF2B5EF4-FFF2-40B4-BE49-F238E27FC236}">
                      <a16:creationId xmlns:a16="http://schemas.microsoft.com/office/drawing/2014/main" id="{0BE66AE2-EC17-8209-D874-2D59C36CAC84}"/>
                    </a:ext>
                  </a:extLst>
                </p:cNvPr>
                <p:cNvSpPr/>
                <p:nvPr/>
              </p:nvSpPr>
              <p:spPr>
                <a:xfrm>
                  <a:off x="830736" y="3189472"/>
                  <a:ext cx="2512060" cy="1060450"/>
                </a:xfrm>
                <a:prstGeom prst="roundRect">
                  <a:avLst>
                    <a:gd name="adj" fmla="val 5265"/>
                  </a:avLst>
                </a:prstGeom>
                <a:solidFill>
                  <a:srgbClr val="04CAD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宠物经济行业下游</a:t>
                  </a:r>
                  <a:endParaRPr lang="zh-CN" altLang="en-US" sz="2800" b="1" dirty="0">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9" name="组合 18">
                <a:extLst>
                  <a:ext uri="{FF2B5EF4-FFF2-40B4-BE49-F238E27FC236}">
                    <a16:creationId xmlns:a16="http://schemas.microsoft.com/office/drawing/2014/main" id="{BA1B6B19-AFF4-7027-FD19-516562733162}"/>
                  </a:ext>
                </a:extLst>
              </p:cNvPr>
              <p:cNvGrpSpPr/>
              <p:nvPr/>
            </p:nvGrpSpPr>
            <p:grpSpPr>
              <a:xfrm>
                <a:off x="1149757" y="3543095"/>
                <a:ext cx="5490534" cy="2158039"/>
                <a:chOff x="4370680" y="1900989"/>
                <a:chExt cx="7706352" cy="2158039"/>
              </a:xfrm>
            </p:grpSpPr>
            <p:sp>
              <p:nvSpPr>
                <p:cNvPr id="20" name="矩形: 圆角 19">
                  <a:extLst>
                    <a:ext uri="{FF2B5EF4-FFF2-40B4-BE49-F238E27FC236}">
                      <a16:creationId xmlns:a16="http://schemas.microsoft.com/office/drawing/2014/main" id="{7C09DD02-C0F8-F420-D2C8-8AA2877BF100}"/>
                    </a:ext>
                  </a:extLst>
                </p:cNvPr>
                <p:cNvSpPr/>
                <p:nvPr/>
              </p:nvSpPr>
              <p:spPr>
                <a:xfrm>
                  <a:off x="4370680" y="1900989"/>
                  <a:ext cx="7706352" cy="2158039"/>
                </a:xfrm>
                <a:prstGeom prst="roundRect">
                  <a:avLst>
                    <a:gd name="adj" fmla="val 5004"/>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1" name="Rectangle 3">
                  <a:extLst>
                    <a:ext uri="{FF2B5EF4-FFF2-40B4-BE49-F238E27FC236}">
                      <a16:creationId xmlns:a16="http://schemas.microsoft.com/office/drawing/2014/main" id="{FA7376C6-CBF9-1CC7-407C-87A4C9E4C909}"/>
                    </a:ext>
                  </a:extLst>
                </p:cNvPr>
                <p:cNvSpPr txBox="1">
                  <a:spLocks/>
                </p:cNvSpPr>
                <p:nvPr/>
              </p:nvSpPr>
              <p:spPr>
                <a:xfrm>
                  <a:off x="4684995" y="2055799"/>
                  <a:ext cx="7077719" cy="1576791"/>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随着全球范围内生物医药行业研究的深入及产业化程度的提升，中国行业产品种类进一步丰富，应用领域持续增加，个性化、高端化的产品将逐渐获得更广阔的应用空间。</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spTree>
    <p:extLst>
      <p:ext uri="{BB962C8B-B14F-4D97-AF65-F5344CB8AC3E}">
        <p14:creationId xmlns:p14="http://schemas.microsoft.com/office/powerpoint/2010/main" val="120651570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FC7B-479B-3E83-E085-56A2CCF89BFE}"/>
            </a:ext>
          </a:extLst>
        </p:cNvPr>
        <p:cNvGrpSpPr/>
        <p:nvPr/>
      </p:nvGrpSpPr>
      <p:grpSpPr>
        <a:xfrm>
          <a:off x="0" y="0"/>
          <a:ext cx="0" cy="0"/>
          <a:chOff x="0" y="0"/>
          <a:chExt cx="0" cy="0"/>
        </a:xfrm>
      </p:grpSpPr>
      <p:sp>
        <p:nvSpPr>
          <p:cNvPr id="21" name="任意多边形: 形状 20">
            <a:extLst>
              <a:ext uri="{FF2B5EF4-FFF2-40B4-BE49-F238E27FC236}">
                <a16:creationId xmlns:a16="http://schemas.microsoft.com/office/drawing/2014/main" id="{44B7E6CC-65E0-F38F-02D4-866232ACE5C4}"/>
              </a:ext>
            </a:extLst>
          </p:cNvPr>
          <p:cNvSpPr/>
          <p:nvPr/>
        </p:nvSpPr>
        <p:spPr>
          <a:xfrm>
            <a:off x="1" y="1233594"/>
            <a:ext cx="8407401" cy="4390812"/>
          </a:xfrm>
          <a:custGeom>
            <a:avLst/>
            <a:gdLst>
              <a:gd name="connsiteX0" fmla="*/ 0 w 8407401"/>
              <a:gd name="connsiteY0" fmla="*/ 0 h 4390812"/>
              <a:gd name="connsiteX1" fmla="*/ 6211995 w 8407401"/>
              <a:gd name="connsiteY1" fmla="*/ 0 h 4390812"/>
              <a:gd name="connsiteX2" fmla="*/ 8407401 w 8407401"/>
              <a:gd name="connsiteY2" fmla="*/ 2195406 h 4390812"/>
              <a:gd name="connsiteX3" fmla="*/ 8407400 w 8407401"/>
              <a:gd name="connsiteY3" fmla="*/ 2195406 h 4390812"/>
              <a:gd name="connsiteX4" fmla="*/ 6211994 w 8407401"/>
              <a:gd name="connsiteY4" fmla="*/ 4390812 h 4390812"/>
              <a:gd name="connsiteX5" fmla="*/ 0 w 8407401"/>
              <a:gd name="connsiteY5" fmla="*/ 4390811 h 4390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07401" h="4390812">
                <a:moveTo>
                  <a:pt x="0" y="0"/>
                </a:moveTo>
                <a:lnTo>
                  <a:pt x="6211995" y="0"/>
                </a:lnTo>
                <a:cubicBezTo>
                  <a:pt x="7424484" y="0"/>
                  <a:pt x="8407401" y="982917"/>
                  <a:pt x="8407401" y="2195406"/>
                </a:cubicBezTo>
                <a:lnTo>
                  <a:pt x="8407400" y="2195406"/>
                </a:lnTo>
                <a:cubicBezTo>
                  <a:pt x="8407400" y="3407895"/>
                  <a:pt x="7424483" y="4390812"/>
                  <a:pt x="6211994" y="4390812"/>
                </a:cubicBezTo>
                <a:lnTo>
                  <a:pt x="0" y="4390811"/>
                </a:lnTo>
                <a:close/>
              </a:path>
            </a:pathLst>
          </a:custGeom>
          <a:gradFill>
            <a:gsLst>
              <a:gs pos="54000">
                <a:srgbClr val="04CADF"/>
              </a:gs>
              <a:gs pos="0">
                <a:srgbClr val="04CADF">
                  <a:alpha val="12000"/>
                </a:srgbClr>
              </a:gs>
            </a:gsLst>
            <a:lin ang="10800000" scaled="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图形">
            <a:extLst>
              <a:ext uri="{FF2B5EF4-FFF2-40B4-BE49-F238E27FC236}">
                <a16:creationId xmlns:a16="http://schemas.microsoft.com/office/drawing/2014/main" id="{F9676E70-4C45-6E6A-F252-E206BD02CD74}"/>
              </a:ext>
            </a:extLst>
          </p:cNvPr>
          <p:cNvSpPr/>
          <p:nvPr/>
        </p:nvSpPr>
        <p:spPr>
          <a:xfrm>
            <a:off x="5842000" y="-151765"/>
            <a:ext cx="6148705" cy="6148705"/>
          </a:xfrm>
          <a:prstGeom prst="ellipse">
            <a:avLst/>
          </a:prstGeom>
          <a:noFill/>
          <a:ln>
            <a:gradFill>
              <a:gsLst>
                <a:gs pos="0">
                  <a:srgbClr val="FD7E5C"/>
                </a:gs>
                <a:gs pos="100000">
                  <a:srgbClr val="FF9449"/>
                </a:gs>
              </a:gsLst>
              <a:lin ang="5400000" scaled="1"/>
            </a:grad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3" name="图形">
            <a:extLst>
              <a:ext uri="{FF2B5EF4-FFF2-40B4-BE49-F238E27FC236}">
                <a16:creationId xmlns:a16="http://schemas.microsoft.com/office/drawing/2014/main" id="{F4927A64-62D7-B8B2-384F-E1C0D3C58839}"/>
              </a:ext>
            </a:extLst>
          </p:cNvPr>
          <p:cNvSpPr/>
          <p:nvPr/>
        </p:nvSpPr>
        <p:spPr>
          <a:xfrm flipV="1">
            <a:off x="7619365" y="0"/>
            <a:ext cx="4572635" cy="3686175"/>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53373" h="5325261">
                <a:moveTo>
                  <a:pt x="4595548" y="1367261"/>
                </a:moveTo>
                <a:cubicBezTo>
                  <a:pt x="4985179" y="-967801"/>
                  <a:pt x="8167423" y="395711"/>
                  <a:pt x="10053373" y="395711"/>
                </a:cubicBezTo>
                <a:lnTo>
                  <a:pt x="10053373" y="5325261"/>
                </a:lnTo>
                <a:lnTo>
                  <a:pt x="23548" y="5325261"/>
                </a:lnTo>
                <a:cubicBezTo>
                  <a:pt x="-376502" y="2710528"/>
                  <a:pt x="4450989" y="4358963"/>
                  <a:pt x="4595548" y="1367261"/>
                </a:cubicBezTo>
                <a:close/>
              </a:path>
            </a:pathLst>
          </a:custGeom>
          <a:gradFill>
            <a:gsLst>
              <a:gs pos="100000">
                <a:srgbClr val="04CADF"/>
              </a:gs>
              <a:gs pos="0">
                <a:srgbClr val="04CADF">
                  <a:alpha val="22000"/>
                </a:srgbClr>
              </a:gs>
            </a:gsLst>
            <a:lin ang="7800000" scaled="0"/>
          </a:gradFill>
          <a:ln>
            <a:noFill/>
          </a:ln>
          <a:effectLst>
            <a:outerShdw blurRad="50800" dist="38100" dir="8100000" algn="tr" rotWithShape="0">
              <a:srgbClr val="E95D8E">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任意多边形: 形状 59">
            <a:extLst>
              <a:ext uri="{FF2B5EF4-FFF2-40B4-BE49-F238E27FC236}">
                <a16:creationId xmlns:a16="http://schemas.microsoft.com/office/drawing/2014/main" id="{D5544C10-B821-125F-0D12-13A5A473709B}"/>
              </a:ext>
            </a:extLst>
          </p:cNvPr>
          <p:cNvSpPr/>
          <p:nvPr/>
        </p:nvSpPr>
        <p:spPr>
          <a:xfrm flipH="1">
            <a:off x="11609704" y="6224196"/>
            <a:ext cx="582296" cy="636241"/>
          </a:xfrm>
          <a:custGeom>
            <a:avLst/>
            <a:gdLst>
              <a:gd name="connsiteX0" fmla="*/ 0 w 582296"/>
              <a:gd name="connsiteY0" fmla="*/ 0 h 636241"/>
              <a:gd name="connsiteX1" fmla="*/ 0 w 582296"/>
              <a:gd name="connsiteY1" fmla="*/ 636241 h 636241"/>
              <a:gd name="connsiteX2" fmla="*/ 579527 w 582296"/>
              <a:gd name="connsiteY2" fmla="*/ 636241 h 636241"/>
              <a:gd name="connsiteX3" fmla="*/ 582296 w 582296"/>
              <a:gd name="connsiteY3" fmla="*/ 608254 h 636241"/>
              <a:gd name="connsiteX4" fmla="*/ 104424 w 582296"/>
              <a:gd name="connsiteY4" fmla="*/ 10728 h 636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96" h="636241">
                <a:moveTo>
                  <a:pt x="0" y="0"/>
                </a:moveTo>
                <a:lnTo>
                  <a:pt x="0" y="636241"/>
                </a:lnTo>
                <a:lnTo>
                  <a:pt x="579527" y="636241"/>
                </a:lnTo>
                <a:lnTo>
                  <a:pt x="582296" y="608254"/>
                </a:lnTo>
                <a:cubicBezTo>
                  <a:pt x="582296" y="313512"/>
                  <a:pt x="377145" y="67600"/>
                  <a:pt x="104424" y="10728"/>
                </a:cubicBez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64" name="任意多边形: 形状 63">
            <a:extLst>
              <a:ext uri="{FF2B5EF4-FFF2-40B4-BE49-F238E27FC236}">
                <a16:creationId xmlns:a16="http://schemas.microsoft.com/office/drawing/2014/main" id="{A35D31C4-117C-5DCE-A610-70BCB2752336}"/>
              </a:ext>
            </a:extLst>
          </p:cNvPr>
          <p:cNvSpPr/>
          <p:nvPr/>
        </p:nvSpPr>
        <p:spPr>
          <a:xfrm flipH="1">
            <a:off x="1807" y="258626"/>
            <a:ext cx="287319" cy="452120"/>
          </a:xfrm>
          <a:custGeom>
            <a:avLst/>
            <a:gdLst>
              <a:gd name="connsiteX0" fmla="*/ 221615 w 287319"/>
              <a:gd name="connsiteY0" fmla="*/ 0 h 452120"/>
              <a:gd name="connsiteX1" fmla="*/ 0 w 287319"/>
              <a:gd name="connsiteY1" fmla="*/ 226060 h 452120"/>
              <a:gd name="connsiteX2" fmla="*/ 221615 w 287319"/>
              <a:gd name="connsiteY2" fmla="*/ 452120 h 452120"/>
              <a:gd name="connsiteX3" fmla="*/ 287319 w 287319"/>
              <a:gd name="connsiteY3" fmla="*/ 438589 h 452120"/>
              <a:gd name="connsiteX4" fmla="*/ 287319 w 287319"/>
              <a:gd name="connsiteY4" fmla="*/ 13531 h 452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319" h="452120">
                <a:moveTo>
                  <a:pt x="221615" y="0"/>
                </a:moveTo>
                <a:cubicBezTo>
                  <a:pt x="99220" y="0"/>
                  <a:pt x="0" y="101211"/>
                  <a:pt x="0" y="226060"/>
                </a:cubicBezTo>
                <a:cubicBezTo>
                  <a:pt x="0" y="350909"/>
                  <a:pt x="99220" y="452120"/>
                  <a:pt x="221615" y="452120"/>
                </a:cubicBezTo>
                <a:lnTo>
                  <a:pt x="287319" y="438589"/>
                </a:lnTo>
                <a:lnTo>
                  <a:pt x="287319" y="13531"/>
                </a:ln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38" name="图形">
            <a:extLst>
              <a:ext uri="{FF2B5EF4-FFF2-40B4-BE49-F238E27FC236}">
                <a16:creationId xmlns:a16="http://schemas.microsoft.com/office/drawing/2014/main" id="{65CB647B-E344-399D-9807-E282708B4E0E}"/>
              </a:ext>
            </a:extLst>
          </p:cNvPr>
          <p:cNvSpPr/>
          <p:nvPr/>
        </p:nvSpPr>
        <p:spPr>
          <a:xfrm flipV="1">
            <a:off x="11121390" y="5718175"/>
            <a:ext cx="300990" cy="300990"/>
          </a:xfrm>
          <a:prstGeom prst="ellipse">
            <a:avLst/>
          </a:prstGeom>
          <a:gradFill>
            <a:gsLst>
              <a:gs pos="100000">
                <a:srgbClr val="04CADF"/>
              </a:gs>
              <a:gs pos="0">
                <a:srgbClr val="04CADF">
                  <a:alpha val="22000"/>
                </a:srgbClr>
              </a:gs>
            </a:gsLst>
            <a:lin ang="7800000" scaled="0"/>
          </a:gradFill>
          <a:ln>
            <a:noFill/>
          </a:ln>
          <a:effectLst>
            <a:outerShdw blurRad="609600" dist="152400" dir="13500000" algn="br" rotWithShape="0">
              <a:srgbClr val="FF8C4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9" name="组合 48">
            <a:extLst>
              <a:ext uri="{FF2B5EF4-FFF2-40B4-BE49-F238E27FC236}">
                <a16:creationId xmlns:a16="http://schemas.microsoft.com/office/drawing/2014/main" id="{4FD9F60C-9571-AFFB-CF20-061F13B88590}"/>
              </a:ext>
            </a:extLst>
          </p:cNvPr>
          <p:cNvGrpSpPr/>
          <p:nvPr/>
        </p:nvGrpSpPr>
        <p:grpSpPr>
          <a:xfrm>
            <a:off x="6594463" y="1110193"/>
            <a:ext cx="4666991" cy="4666992"/>
            <a:chOff x="6550025" y="1108105"/>
            <a:chExt cx="5435600" cy="5435600"/>
          </a:xfrm>
        </p:grpSpPr>
        <p:sp>
          <p:nvSpPr>
            <p:cNvPr id="51" name="椭圆 50">
              <a:extLst>
                <a:ext uri="{FF2B5EF4-FFF2-40B4-BE49-F238E27FC236}">
                  <a16:creationId xmlns:a16="http://schemas.microsoft.com/office/drawing/2014/main" id="{FE4E657F-6FAF-DEAE-5947-9C5CD8460980}"/>
                </a:ext>
              </a:extLst>
            </p:cNvPr>
            <p:cNvSpPr/>
            <p:nvPr/>
          </p:nvSpPr>
          <p:spPr>
            <a:xfrm flipH="1">
              <a:off x="6550025" y="1108105"/>
              <a:ext cx="5435600" cy="5435600"/>
            </a:xfrm>
            <a:prstGeom prst="ellipse">
              <a:avLst/>
            </a:prstGeom>
            <a:solidFill>
              <a:schemeClr val="bg1"/>
            </a:solidFill>
            <a:ln>
              <a:noFill/>
            </a:ln>
            <a:effectLst>
              <a:outerShdw blurRad="584200" dist="203200" dir="5400000" sx="92000" sy="92000" algn="ctr" rotWithShape="0">
                <a:srgbClr val="04CADF">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 name="椭圆 51">
              <a:extLst>
                <a:ext uri="{FF2B5EF4-FFF2-40B4-BE49-F238E27FC236}">
                  <a16:creationId xmlns:a16="http://schemas.microsoft.com/office/drawing/2014/main" id="{4911EB71-E723-C6DB-7F10-9C7C07CA9908}"/>
                </a:ext>
              </a:extLst>
            </p:cNvPr>
            <p:cNvSpPr/>
            <p:nvPr/>
          </p:nvSpPr>
          <p:spPr>
            <a:xfrm flipH="1">
              <a:off x="7048486" y="1606566"/>
              <a:ext cx="4438679" cy="4438678"/>
            </a:xfrm>
            <a:prstGeom prst="ellipse">
              <a:avLst/>
            </a:prstGeom>
            <a:blipFill dpi="0" rotWithShape="1">
              <a:blip r:embed="rId3" cstate="email">
                <a:alphaModFix amt="99000"/>
                <a:extLst>
                  <a:ext uri="{28A0092B-C50C-407E-A947-70E740481C1C}">
                    <a14:useLocalDpi xmlns:a14="http://schemas.microsoft.com/office/drawing/2010/main"/>
                  </a:ext>
                </a:extLst>
              </a:blip>
              <a:srcRect/>
              <a:tile tx="0" ty="0" sx="27000" sy="27000" flip="none" algn="ctr"/>
            </a:bli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6" name="任意多边形: 形状 55">
            <a:extLst>
              <a:ext uri="{FF2B5EF4-FFF2-40B4-BE49-F238E27FC236}">
                <a16:creationId xmlns:a16="http://schemas.microsoft.com/office/drawing/2014/main" id="{307B805C-F6D4-3447-583F-A6035D470C29}"/>
              </a:ext>
            </a:extLst>
          </p:cNvPr>
          <p:cNvSpPr/>
          <p:nvPr/>
        </p:nvSpPr>
        <p:spPr>
          <a:xfrm>
            <a:off x="7395787" y="6237305"/>
            <a:ext cx="1553662" cy="620695"/>
          </a:xfrm>
          <a:custGeom>
            <a:avLst/>
            <a:gdLst>
              <a:gd name="connsiteX0" fmla="*/ 776831 w 1553662"/>
              <a:gd name="connsiteY0" fmla="*/ 0 h 620695"/>
              <a:gd name="connsiteX1" fmla="*/ 1512321 w 1553662"/>
              <a:gd name="connsiteY1" fmla="*/ 487516 h 620695"/>
              <a:gd name="connsiteX2" fmla="*/ 1553662 w 1553662"/>
              <a:gd name="connsiteY2" fmla="*/ 620695 h 620695"/>
              <a:gd name="connsiteX3" fmla="*/ 1274065 w 1553662"/>
              <a:gd name="connsiteY3" fmla="*/ 620695 h 620695"/>
              <a:gd name="connsiteX4" fmla="*/ 1265138 w 1553662"/>
              <a:gd name="connsiteY4" fmla="*/ 591937 h 620695"/>
              <a:gd name="connsiteX5" fmla="*/ 776831 w 1553662"/>
              <a:gd name="connsiteY5" fmla="*/ 268265 h 620695"/>
              <a:gd name="connsiteX6" fmla="*/ 288525 w 1553662"/>
              <a:gd name="connsiteY6" fmla="*/ 591937 h 620695"/>
              <a:gd name="connsiteX7" fmla="*/ 279597 w 1553662"/>
              <a:gd name="connsiteY7" fmla="*/ 620695 h 620695"/>
              <a:gd name="connsiteX8" fmla="*/ 0 w 1553662"/>
              <a:gd name="connsiteY8" fmla="*/ 620695 h 620695"/>
              <a:gd name="connsiteX9" fmla="*/ 41341 w 1553662"/>
              <a:gd name="connsiteY9" fmla="*/ 487516 h 620695"/>
              <a:gd name="connsiteX10" fmla="*/ 776831 w 1553662"/>
              <a:gd name="connsiteY10" fmla="*/ 0 h 6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3662" h="620695">
                <a:moveTo>
                  <a:pt x="776831" y="0"/>
                </a:moveTo>
                <a:cubicBezTo>
                  <a:pt x="1107464" y="0"/>
                  <a:pt x="1391145" y="201023"/>
                  <a:pt x="1512321" y="487516"/>
                </a:cubicBezTo>
                <a:lnTo>
                  <a:pt x="1553662" y="620695"/>
                </a:lnTo>
                <a:lnTo>
                  <a:pt x="1274065" y="620695"/>
                </a:lnTo>
                <a:lnTo>
                  <a:pt x="1265138" y="591937"/>
                </a:lnTo>
                <a:cubicBezTo>
                  <a:pt x="1184687" y="401729"/>
                  <a:pt x="996345" y="268265"/>
                  <a:pt x="776831" y="268265"/>
                </a:cubicBezTo>
                <a:cubicBezTo>
                  <a:pt x="557318" y="268265"/>
                  <a:pt x="368976" y="401729"/>
                  <a:pt x="288525" y="591937"/>
                </a:cubicBezTo>
                <a:lnTo>
                  <a:pt x="279597" y="620695"/>
                </a:lnTo>
                <a:lnTo>
                  <a:pt x="0" y="620695"/>
                </a:lnTo>
                <a:lnTo>
                  <a:pt x="41341" y="487516"/>
                </a:lnTo>
                <a:cubicBezTo>
                  <a:pt x="162517" y="201023"/>
                  <a:pt x="446198" y="0"/>
                  <a:pt x="776831" y="0"/>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矩形 45">
            <a:extLst>
              <a:ext uri="{FF2B5EF4-FFF2-40B4-BE49-F238E27FC236}">
                <a16:creationId xmlns:a16="http://schemas.microsoft.com/office/drawing/2014/main" id="{9E4CBC28-92B2-8245-84C3-D783A7EB0953}"/>
              </a:ext>
            </a:extLst>
          </p:cNvPr>
          <p:cNvSpPr/>
          <p:nvPr>
            <p:custDataLst>
              <p:tags r:id="rId1"/>
            </p:custDataLst>
          </p:nvPr>
        </p:nvSpPr>
        <p:spPr>
          <a:xfrm>
            <a:off x="717102" y="315502"/>
            <a:ext cx="4290833" cy="307777"/>
          </a:xfrm>
          <a:prstGeom prst="rect">
            <a:avLst/>
          </a:prstGeom>
        </p:spPr>
        <p:txBody>
          <a:bodyPr wrap="square">
            <a:spAutoFit/>
            <a:scene3d>
              <a:camera prst="orthographicFront"/>
              <a:lightRig rig="threePt" dir="t"/>
            </a:scene3d>
            <a:sp3d contourW="12700"/>
          </a:bodyPr>
          <a:lstStyle/>
          <a:p>
            <a:pPr algn="dist"/>
            <a:r>
              <a:rPr lang="en-US" altLang="zh-CN" sz="140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PET ECONOMY DEPARTMENT REPORT//</a:t>
            </a:r>
            <a:endPar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7" name="组合 46">
            <a:extLst>
              <a:ext uri="{FF2B5EF4-FFF2-40B4-BE49-F238E27FC236}">
                <a16:creationId xmlns:a16="http://schemas.microsoft.com/office/drawing/2014/main" id="{1839E423-204A-1F45-5B06-5C8FDAD9B9CB}"/>
              </a:ext>
            </a:extLst>
          </p:cNvPr>
          <p:cNvGrpSpPr/>
          <p:nvPr/>
        </p:nvGrpSpPr>
        <p:grpSpPr>
          <a:xfrm>
            <a:off x="595256" y="1934913"/>
            <a:ext cx="5999207" cy="2988175"/>
            <a:chOff x="595256" y="1766274"/>
            <a:chExt cx="5999207" cy="2988175"/>
          </a:xfrm>
        </p:grpSpPr>
        <p:grpSp>
          <p:nvGrpSpPr>
            <p:cNvPr id="48" name="组合 47">
              <a:extLst>
                <a:ext uri="{FF2B5EF4-FFF2-40B4-BE49-F238E27FC236}">
                  <a16:creationId xmlns:a16="http://schemas.microsoft.com/office/drawing/2014/main" id="{7CFE5515-C3C7-5458-21B1-91D88B96DCD3}"/>
                </a:ext>
              </a:extLst>
            </p:cNvPr>
            <p:cNvGrpSpPr/>
            <p:nvPr/>
          </p:nvGrpSpPr>
          <p:grpSpPr>
            <a:xfrm>
              <a:off x="667663" y="1766274"/>
              <a:ext cx="5821931" cy="1107996"/>
              <a:chOff x="667663" y="1766274"/>
              <a:chExt cx="5821931" cy="1107996"/>
            </a:xfrm>
          </p:grpSpPr>
          <p:sp>
            <p:nvSpPr>
              <p:cNvPr id="54" name="文本框 53">
                <a:extLst>
                  <a:ext uri="{FF2B5EF4-FFF2-40B4-BE49-F238E27FC236}">
                    <a16:creationId xmlns:a16="http://schemas.microsoft.com/office/drawing/2014/main" id="{BFBCB27C-5F9A-70AE-E391-D3564CC9CD00}"/>
                  </a:ext>
                </a:extLst>
              </p:cNvPr>
              <p:cNvSpPr txBox="1"/>
              <p:nvPr/>
            </p:nvSpPr>
            <p:spPr>
              <a:xfrm>
                <a:off x="667663" y="1766274"/>
                <a:ext cx="4097650" cy="1107996"/>
              </a:xfrm>
              <a:prstGeom prst="rect">
                <a:avLst/>
              </a:prstGeom>
              <a:noFill/>
              <a:ln>
                <a:noFill/>
              </a:ln>
            </p:spPr>
            <p:txBody>
              <a:bodyPr wrap="square" rtlCol="0">
                <a:spAutoFit/>
              </a:bodyPr>
              <a:lstStyle/>
              <a:p>
                <a:r>
                  <a:rPr lang="en-US" altLang="zh-CN" sz="6600">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P</a:t>
                </a:r>
                <a:r>
                  <a:rPr lang="en-US" altLang="zh-CN" sz="660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ART 02</a:t>
                </a:r>
                <a:endParaRPr lang="zh-CN" altLang="en-US" sz="6600" dirty="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endParaRPr>
              </a:p>
            </p:txBody>
          </p:sp>
          <p:grpSp>
            <p:nvGrpSpPr>
              <p:cNvPr id="55" name="组合 54">
                <a:extLst>
                  <a:ext uri="{FF2B5EF4-FFF2-40B4-BE49-F238E27FC236}">
                    <a16:creationId xmlns:a16="http://schemas.microsoft.com/office/drawing/2014/main" id="{01DF8238-5DCC-63F8-4A92-0B4B4A13BB69}"/>
                  </a:ext>
                </a:extLst>
              </p:cNvPr>
              <p:cNvGrpSpPr/>
              <p:nvPr/>
            </p:nvGrpSpPr>
            <p:grpSpPr>
              <a:xfrm>
                <a:off x="4419448" y="1929674"/>
                <a:ext cx="2070146" cy="756818"/>
                <a:chOff x="9157835" y="1805408"/>
                <a:chExt cx="2070146" cy="756818"/>
              </a:xfrm>
            </p:grpSpPr>
            <p:cxnSp>
              <p:nvCxnSpPr>
                <p:cNvPr id="57" name="直接连接符 56">
                  <a:extLst>
                    <a:ext uri="{FF2B5EF4-FFF2-40B4-BE49-F238E27FC236}">
                      <a16:creationId xmlns:a16="http://schemas.microsoft.com/office/drawing/2014/main" id="{12EF54E5-F07F-4071-FAC0-C9AF85D1BE9B}"/>
                    </a:ext>
                  </a:extLst>
                </p:cNvPr>
                <p:cNvCxnSpPr/>
                <p:nvPr/>
              </p:nvCxnSpPr>
              <p:spPr>
                <a:xfrm>
                  <a:off x="9157835" y="2183817"/>
                  <a:ext cx="1551782" cy="0"/>
                </a:xfrm>
                <a:prstGeom prst="line">
                  <a:avLst/>
                </a:prstGeom>
                <a:solidFill>
                  <a:schemeClr val="accent1">
                    <a:lumMod val="20000"/>
                    <a:lumOff val="80000"/>
                  </a:schemeClr>
                </a:solidFill>
                <a:ln w="15875">
                  <a:noFill/>
                </a:ln>
              </p:spPr>
              <p:style>
                <a:lnRef idx="1">
                  <a:schemeClr val="accent1"/>
                </a:lnRef>
                <a:fillRef idx="0">
                  <a:schemeClr val="accent1"/>
                </a:fillRef>
                <a:effectRef idx="0">
                  <a:schemeClr val="accent1"/>
                </a:effectRef>
                <a:fontRef idx="minor">
                  <a:schemeClr val="tx1"/>
                </a:fontRef>
              </p:style>
            </p:cxnSp>
            <p:sp>
              <p:nvSpPr>
                <p:cNvPr id="58" name="弧形 57">
                  <a:extLst>
                    <a:ext uri="{FF2B5EF4-FFF2-40B4-BE49-F238E27FC236}">
                      <a16:creationId xmlns:a16="http://schemas.microsoft.com/office/drawing/2014/main" id="{F3E0BB9F-0675-55E2-32BD-1B33916D2A38}"/>
                    </a:ext>
                  </a:extLst>
                </p:cNvPr>
                <p:cNvSpPr/>
                <p:nvPr/>
              </p:nvSpPr>
              <p:spPr>
                <a:xfrm flipH="1" flipV="1">
                  <a:off x="10389590" y="1805408"/>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59" name="弧形 58">
                  <a:extLst>
                    <a:ext uri="{FF2B5EF4-FFF2-40B4-BE49-F238E27FC236}">
                      <a16:creationId xmlns:a16="http://schemas.microsoft.com/office/drawing/2014/main" id="{AC844D17-308B-DCF2-979E-FF98E244E5E4}"/>
                    </a:ext>
                  </a:extLst>
                </p:cNvPr>
                <p:cNvSpPr/>
                <p:nvPr/>
              </p:nvSpPr>
              <p:spPr>
                <a:xfrm flipH="1">
                  <a:off x="10389590" y="2183817"/>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grpSp>
        </p:grpSp>
        <p:sp>
          <p:nvSpPr>
            <p:cNvPr id="50" name="文本框 49">
              <a:extLst>
                <a:ext uri="{FF2B5EF4-FFF2-40B4-BE49-F238E27FC236}">
                  <a16:creationId xmlns:a16="http://schemas.microsoft.com/office/drawing/2014/main" id="{063FFE48-8C73-4540-E453-315224C58655}"/>
                </a:ext>
              </a:extLst>
            </p:cNvPr>
            <p:cNvSpPr txBox="1"/>
            <p:nvPr/>
          </p:nvSpPr>
          <p:spPr>
            <a:xfrm>
              <a:off x="595256" y="2951046"/>
              <a:ext cx="5999207" cy="1200329"/>
            </a:xfrm>
            <a:prstGeom prst="rect">
              <a:avLst/>
            </a:prstGeom>
            <a:noFill/>
            <a:ln>
              <a:noFill/>
            </a:ln>
          </p:spPr>
          <p:txBody>
            <a:bodyPr wrap="square" rtlCol="0">
              <a:spAutoFit/>
            </a:bodyPr>
            <a:lstStyle/>
            <a:p>
              <a:pPr>
                <a:spcBef>
                  <a:spcPts val="50"/>
                </a:spcBef>
              </a:pPr>
              <a:r>
                <a:rPr lang="zh-CN" altLang="en-US" sz="7200" dirty="0">
                  <a:solidFill>
                    <a:schemeClr val="bg1"/>
                  </a:solidFill>
                  <a:latin typeface="猫啃网风雅宋" panose="02020700000000000000" pitchFamily="18" charset="-122"/>
                  <a:ea typeface="猫啃网风雅宋" panose="02020700000000000000" pitchFamily="18" charset="-122"/>
                  <a:cs typeface="+mn-ea"/>
                  <a:sym typeface="思源黑体 CN Medium" panose="020B0600000000000000" pitchFamily="34" charset="-122"/>
                </a:rPr>
                <a:t>行业发展现状</a:t>
              </a:r>
            </a:p>
          </p:txBody>
        </p:sp>
        <p:sp>
          <p:nvSpPr>
            <p:cNvPr id="53" name="文本框 52">
              <a:extLst>
                <a:ext uri="{FF2B5EF4-FFF2-40B4-BE49-F238E27FC236}">
                  <a16:creationId xmlns:a16="http://schemas.microsoft.com/office/drawing/2014/main" id="{09DA6859-5925-FE15-F452-FD12CF227D19}"/>
                </a:ext>
              </a:extLst>
            </p:cNvPr>
            <p:cNvSpPr txBox="1"/>
            <p:nvPr/>
          </p:nvSpPr>
          <p:spPr>
            <a:xfrm>
              <a:off x="679041" y="4415895"/>
              <a:ext cx="5292190" cy="338554"/>
            </a:xfrm>
            <a:prstGeom prst="rect">
              <a:avLst/>
            </a:prstGeom>
            <a:noFill/>
            <a:ln>
              <a:noFill/>
            </a:ln>
          </p:spPr>
          <p:txBody>
            <a:bodyPr wrap="square">
              <a:spAutoFit/>
            </a:bodyPr>
            <a:lstStyle/>
            <a:p>
              <a:pPr algn="dist"/>
              <a:r>
                <a:rPr lang="zh-CN" altLang="en-US" sz="1600">
                  <a:solidFill>
                    <a:schemeClr val="bg1"/>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“宠物经济”行业前景分析报告</a:t>
              </a:r>
              <a:endParaRPr lang="zh-CN" altLang="en-US" sz="16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sp>
        <p:nvSpPr>
          <p:cNvPr id="61" name="任意多边形: 形状 60">
            <a:extLst>
              <a:ext uri="{FF2B5EF4-FFF2-40B4-BE49-F238E27FC236}">
                <a16:creationId xmlns:a16="http://schemas.microsoft.com/office/drawing/2014/main" id="{15FF8C8F-A6F3-FECD-DB34-4AE26177BFFC}"/>
              </a:ext>
            </a:extLst>
          </p:cNvPr>
          <p:cNvSpPr/>
          <p:nvPr/>
        </p:nvSpPr>
        <p:spPr>
          <a:xfrm rot="5400000">
            <a:off x="5999945" y="168486"/>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3" name="任意多边形: 形状 62">
            <a:extLst>
              <a:ext uri="{FF2B5EF4-FFF2-40B4-BE49-F238E27FC236}">
                <a16:creationId xmlns:a16="http://schemas.microsoft.com/office/drawing/2014/main" id="{7214EC5F-AE3C-0F9F-E1A7-F9C1CE635DF1}"/>
              </a:ext>
            </a:extLst>
          </p:cNvPr>
          <p:cNvSpPr/>
          <p:nvPr/>
        </p:nvSpPr>
        <p:spPr>
          <a:xfrm rot="5400000">
            <a:off x="991206" y="5693064"/>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extLst>
      <p:ext uri="{BB962C8B-B14F-4D97-AF65-F5344CB8AC3E}">
        <p14:creationId xmlns:p14="http://schemas.microsoft.com/office/powerpoint/2010/main" val="261748145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right)">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p:cTn id="15" dur="500" fill="hold"/>
                                        <p:tgtEl>
                                          <p:spTgt spid="49"/>
                                        </p:tgtEl>
                                        <p:attrNameLst>
                                          <p:attrName>ppt_w</p:attrName>
                                        </p:attrNameLst>
                                      </p:cBhvr>
                                      <p:tavLst>
                                        <p:tav tm="0">
                                          <p:val>
                                            <p:fltVal val="0"/>
                                          </p:val>
                                        </p:tav>
                                        <p:tav tm="100000">
                                          <p:val>
                                            <p:strVal val="#ppt_w"/>
                                          </p:val>
                                        </p:tav>
                                      </p:tavLst>
                                    </p:anim>
                                    <p:anim calcmode="lin" valueType="num">
                                      <p:cBhvr>
                                        <p:cTn id="16" dur="500" fill="hold"/>
                                        <p:tgtEl>
                                          <p:spTgt spid="49"/>
                                        </p:tgtEl>
                                        <p:attrNameLst>
                                          <p:attrName>ppt_h</p:attrName>
                                        </p:attrNameLst>
                                      </p:cBhvr>
                                      <p:tavLst>
                                        <p:tav tm="0">
                                          <p:val>
                                            <p:fltVal val="0"/>
                                          </p:val>
                                        </p:tav>
                                        <p:tav tm="100000">
                                          <p:val>
                                            <p:strVal val="#ppt_h"/>
                                          </p:val>
                                        </p:tav>
                                      </p:tavLst>
                                    </p:anim>
                                    <p:animEffect transition="in" filter="fade">
                                      <p:cBhvr>
                                        <p:cTn id="17" dur="500"/>
                                        <p:tgtEl>
                                          <p:spTgt spid="49"/>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down)">
                                      <p:cBhvr>
                                        <p:cTn id="20" dur="500"/>
                                        <p:tgtEl>
                                          <p:spTgt spid="60"/>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down)">
                                      <p:cBhvr>
                                        <p:cTn id="23" dur="500"/>
                                        <p:tgtEl>
                                          <p:spTgt spid="38"/>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wipe(down)">
                                      <p:cBhvr>
                                        <p:cTn id="26" dur="500"/>
                                        <p:tgtEl>
                                          <p:spTgt spid="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down)">
                                      <p:cBhvr>
                                        <p:cTn id="41" dur="5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60" grpId="0" animBg="1"/>
      <p:bldP spid="64" grpId="0" animBg="1"/>
      <p:bldP spid="38" grpId="0" animBg="1"/>
      <p:bldP spid="56" grpId="0" animBg="1"/>
      <p:bldP spid="46" grpId="0"/>
      <p:bldP spid="61" grpId="0" animBg="1"/>
      <p:bldP spid="6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323A2-6585-E5F5-71E4-24CC74A432EB}"/>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7E350143-2846-C256-5F52-5471C6D9158C}"/>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3E3E5691-322F-4B58-35FA-5724B5395C3F}"/>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C7E76975-5C7F-D90A-52FA-449681386F18}"/>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宠物经济行业现状分析</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234B4CAA-53AB-CF3F-40AA-6CF14AF2FB25}"/>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4739BF6A-B1A5-D753-7D30-0A481FFEB376}"/>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02</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4" name="组合 3">
            <a:extLst>
              <a:ext uri="{FF2B5EF4-FFF2-40B4-BE49-F238E27FC236}">
                <a16:creationId xmlns:a16="http://schemas.microsoft.com/office/drawing/2014/main" id="{7B17BCD0-68F8-93B0-0BE6-4871B3D6C2D8}"/>
              </a:ext>
            </a:extLst>
          </p:cNvPr>
          <p:cNvGrpSpPr/>
          <p:nvPr/>
        </p:nvGrpSpPr>
        <p:grpSpPr>
          <a:xfrm>
            <a:off x="716378" y="1864894"/>
            <a:ext cx="10759244" cy="3583834"/>
            <a:chOff x="1082843" y="1864894"/>
            <a:chExt cx="10759244" cy="3583834"/>
          </a:xfrm>
        </p:grpSpPr>
        <p:sp>
          <p:nvSpPr>
            <p:cNvPr id="2" name="矩形: 圆角 1">
              <a:extLst>
                <a:ext uri="{FF2B5EF4-FFF2-40B4-BE49-F238E27FC236}">
                  <a16:creationId xmlns:a16="http://schemas.microsoft.com/office/drawing/2014/main" id="{E7C93F6E-7B67-F50D-98F3-9F3D4620CC55}"/>
                </a:ext>
              </a:extLst>
            </p:cNvPr>
            <p:cNvSpPr/>
            <p:nvPr/>
          </p:nvSpPr>
          <p:spPr>
            <a:xfrm>
              <a:off x="1082843" y="1864894"/>
              <a:ext cx="10759244" cy="3583834"/>
            </a:xfrm>
            <a:prstGeom prst="roundRect">
              <a:avLst>
                <a:gd name="adj" fmla="val 2567"/>
              </a:avLst>
            </a:prstGeom>
            <a:solidFill>
              <a:srgbClr val="04CADF"/>
            </a:solidFill>
            <a:ln>
              <a:no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900" b="1">
                <a:solidFill>
                  <a:schemeClr val="bg1"/>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 name="Rectangle 3">
              <a:extLst>
                <a:ext uri="{FF2B5EF4-FFF2-40B4-BE49-F238E27FC236}">
                  <a16:creationId xmlns:a16="http://schemas.microsoft.com/office/drawing/2014/main" id="{C7A20233-D64C-46FE-C6B5-A789B86C8C4D}"/>
                </a:ext>
              </a:extLst>
            </p:cNvPr>
            <p:cNvSpPr txBox="1">
              <a:spLocks/>
            </p:cNvSpPr>
            <p:nvPr/>
          </p:nvSpPr>
          <p:spPr>
            <a:xfrm>
              <a:off x="1419727" y="2195140"/>
              <a:ext cx="10102720" cy="2825994"/>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50"/>
                </a:spcBef>
              </a:pPr>
              <a:r>
                <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年轻单身人群是消费主力，养宠渗透率持续增加。</a:t>
              </a:r>
            </a:p>
            <a:p>
              <a:pPr>
                <a:lnSpc>
                  <a:spcPct val="130000"/>
                </a:lnSpc>
                <a:spcBef>
                  <a:spcPts val="50"/>
                </a:spcBef>
              </a:pPr>
              <a:r>
                <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宠物经济伴随着晚婚或不婚趋势而发展。</a:t>
              </a:r>
            </a:p>
            <a:p>
              <a:pPr>
                <a:lnSpc>
                  <a:spcPct val="130000"/>
                </a:lnSpc>
                <a:spcBef>
                  <a:spcPts val="50"/>
                </a:spcBef>
              </a:pPr>
              <a:r>
                <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中国</a:t>
              </a:r>
              <a:r>
                <a:rPr lang="en-US" altLang="zh-CN"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41%</a:t>
              </a:r>
              <a:r>
                <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的养宠群体属于单身人群。</a:t>
              </a:r>
            </a:p>
            <a:p>
              <a:pPr>
                <a:lnSpc>
                  <a:spcPct val="130000"/>
                </a:lnSpc>
                <a:spcBef>
                  <a:spcPts val="50"/>
                </a:spcBef>
              </a:pPr>
              <a:r>
                <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同时，我国迎来第五次单身潮，这将对宠物经济起到较大推动作用。</a:t>
              </a:r>
            </a:p>
            <a:p>
              <a:pPr>
                <a:lnSpc>
                  <a:spcPct val="130000"/>
                </a:lnSpc>
                <a:spcBef>
                  <a:spcPts val="50"/>
                </a:spcBef>
              </a:pPr>
              <a:r>
                <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根据养宠人群年龄分布图，消费人群年轻化趋势凸显，</a:t>
              </a:r>
              <a:r>
                <a:rPr lang="en-US" altLang="zh-CN"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95</a:t>
              </a:r>
              <a:r>
                <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后消费群体是行业增长关键动力</a:t>
              </a:r>
            </a:p>
            <a:p>
              <a:pPr>
                <a:lnSpc>
                  <a:spcPct val="130000"/>
                </a:lnSpc>
                <a:spcBef>
                  <a:spcPts val="50"/>
                </a:spcBef>
              </a:pPr>
              <a:r>
                <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通过研究发现，当老龄化发展到一定程度时，市场将会饱和，导致养宠渗透率下降。</a:t>
              </a:r>
            </a:p>
            <a:p>
              <a:pPr>
                <a:lnSpc>
                  <a:spcPct val="130000"/>
                </a:lnSpc>
                <a:spcBef>
                  <a:spcPts val="50"/>
                </a:spcBef>
              </a:pPr>
              <a:r>
                <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由于我国的老龄化还没有达到让市场饱和的状态，因此养宠渗透率还将持续增加。</a:t>
              </a:r>
            </a:p>
            <a:p>
              <a:pPr>
                <a:lnSpc>
                  <a:spcPct val="130000"/>
                </a:lnSpc>
                <a:spcBef>
                  <a:spcPts val="50"/>
                </a:spcBef>
              </a:pPr>
              <a:endPar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nSpc>
                  <a:spcPct val="130000"/>
                </a:lnSpc>
                <a:spcBef>
                  <a:spcPts val="50"/>
                </a:spcBef>
              </a:pPr>
              <a:endParaRPr lang="zh-CN" altLang="en-US" sz="1900" b="1">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pic>
        <p:nvPicPr>
          <p:cNvPr id="8" name="图片 7">
            <a:extLst>
              <a:ext uri="{FF2B5EF4-FFF2-40B4-BE49-F238E27FC236}">
                <a16:creationId xmlns:a16="http://schemas.microsoft.com/office/drawing/2014/main" id="{E7ADFE7E-625D-8A06-17C5-6B4279A2C07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363052" y="829430"/>
            <a:ext cx="2952750" cy="2952750"/>
          </a:xfrm>
          <a:prstGeom prst="rect">
            <a:avLst/>
          </a:prstGeom>
        </p:spPr>
      </p:pic>
    </p:spTree>
    <p:extLst>
      <p:ext uri="{BB962C8B-B14F-4D97-AF65-F5344CB8AC3E}">
        <p14:creationId xmlns:p14="http://schemas.microsoft.com/office/powerpoint/2010/main" val="105432015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07169-BADB-BF38-01B2-236E1D11FD38}"/>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B8820584-0FBA-4D6D-23FA-1C7CD6256428}"/>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8FB695CB-FCC3-0B73-8F60-E2F675771C2E}"/>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D82EDA31-F99B-FA7B-6321-26CF28F9F731}"/>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宠物经济行业现状分析</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5A9A131F-78DA-5562-666C-608B59B092AB}"/>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DF9CAD01-D669-1BEC-5C0A-29F5D43DB205}"/>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02</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8" name="组合 7">
            <a:extLst>
              <a:ext uri="{FF2B5EF4-FFF2-40B4-BE49-F238E27FC236}">
                <a16:creationId xmlns:a16="http://schemas.microsoft.com/office/drawing/2014/main" id="{0627486F-EF6C-BC12-F188-BD37364A80E3}"/>
              </a:ext>
            </a:extLst>
          </p:cNvPr>
          <p:cNvGrpSpPr/>
          <p:nvPr/>
        </p:nvGrpSpPr>
        <p:grpSpPr>
          <a:xfrm>
            <a:off x="529111" y="1896917"/>
            <a:ext cx="11133778" cy="3180409"/>
            <a:chOff x="705296" y="1996274"/>
            <a:chExt cx="10785955" cy="3081052"/>
          </a:xfrm>
        </p:grpSpPr>
        <p:sp>
          <p:nvSpPr>
            <p:cNvPr id="29" name="矩形: 圆角 28">
              <a:extLst>
                <a:ext uri="{FF2B5EF4-FFF2-40B4-BE49-F238E27FC236}">
                  <a16:creationId xmlns:a16="http://schemas.microsoft.com/office/drawing/2014/main" id="{4EC95A86-FAA6-FE30-EABC-8D86B53F8561}"/>
                </a:ext>
              </a:extLst>
            </p:cNvPr>
            <p:cNvSpPr/>
            <p:nvPr/>
          </p:nvSpPr>
          <p:spPr>
            <a:xfrm>
              <a:off x="705296" y="2244364"/>
              <a:ext cx="3364397" cy="2832962"/>
            </a:xfrm>
            <a:prstGeom prst="roundRect">
              <a:avLst>
                <a:gd name="adj" fmla="val 1926"/>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 name="矩形: 圆角 35">
              <a:extLst>
                <a:ext uri="{FF2B5EF4-FFF2-40B4-BE49-F238E27FC236}">
                  <a16:creationId xmlns:a16="http://schemas.microsoft.com/office/drawing/2014/main" id="{7FB0FB22-14FF-8ED3-EE23-98C0D7EA09B9}"/>
                </a:ext>
              </a:extLst>
            </p:cNvPr>
            <p:cNvSpPr/>
            <p:nvPr/>
          </p:nvSpPr>
          <p:spPr>
            <a:xfrm>
              <a:off x="4416075" y="2244364"/>
              <a:ext cx="3364397" cy="2832962"/>
            </a:xfrm>
            <a:prstGeom prst="roundRect">
              <a:avLst>
                <a:gd name="adj" fmla="val 2775"/>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0" name="矩形: 圆角 39">
              <a:extLst>
                <a:ext uri="{FF2B5EF4-FFF2-40B4-BE49-F238E27FC236}">
                  <a16:creationId xmlns:a16="http://schemas.microsoft.com/office/drawing/2014/main" id="{F64EFEEA-2D8E-FD7D-6A5C-196A01484B81}"/>
                </a:ext>
              </a:extLst>
            </p:cNvPr>
            <p:cNvSpPr/>
            <p:nvPr/>
          </p:nvSpPr>
          <p:spPr>
            <a:xfrm>
              <a:off x="8126854" y="2244364"/>
              <a:ext cx="3364397" cy="2832962"/>
            </a:xfrm>
            <a:prstGeom prst="roundRect">
              <a:avLst>
                <a:gd name="adj" fmla="val 3625"/>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文本框 4">
              <a:extLst>
                <a:ext uri="{FF2B5EF4-FFF2-40B4-BE49-F238E27FC236}">
                  <a16:creationId xmlns:a16="http://schemas.microsoft.com/office/drawing/2014/main" id="{BDC22A35-13D0-7B62-E774-332B366941FF}"/>
                </a:ext>
              </a:extLst>
            </p:cNvPr>
            <p:cNvSpPr txBox="1"/>
            <p:nvPr/>
          </p:nvSpPr>
          <p:spPr>
            <a:xfrm>
              <a:off x="922340" y="2697703"/>
              <a:ext cx="2925761" cy="1736245"/>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spcBef>
                  <a:spcPts val="50"/>
                </a:spcBef>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通过对网络销售数据的抓取，以及线下走访和企业访谈，对202</a:t>
              </a:r>
              <a:r>
                <a:rPr lang="en-US" altLang="zh-CN"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a:t>
              </a: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年中国宠物经济(食品、用品、服务、医疗)的市场规模进行了测算。</a:t>
              </a:r>
              <a:endParaRPr lang="en-US" altLang="zh-CN"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矩形: 圆角 31">
              <a:extLst>
                <a:ext uri="{FF2B5EF4-FFF2-40B4-BE49-F238E27FC236}">
                  <a16:creationId xmlns:a16="http://schemas.microsoft.com/office/drawing/2014/main" id="{87254239-9C71-A95E-AFD5-487A60C14B77}"/>
                </a:ext>
              </a:extLst>
            </p:cNvPr>
            <p:cNvSpPr/>
            <p:nvPr/>
          </p:nvSpPr>
          <p:spPr>
            <a:xfrm>
              <a:off x="922340" y="2026650"/>
              <a:ext cx="2824160" cy="450923"/>
            </a:xfrm>
            <a:prstGeom prst="roundRect">
              <a:avLst>
                <a:gd name="adj" fmla="val 50000"/>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 name="文本框 33">
              <a:extLst>
                <a:ext uri="{FF2B5EF4-FFF2-40B4-BE49-F238E27FC236}">
                  <a16:creationId xmlns:a16="http://schemas.microsoft.com/office/drawing/2014/main" id="{2A054A6B-FBD1-0802-2796-B19E99F7ECD9}"/>
                </a:ext>
              </a:extLst>
            </p:cNvPr>
            <p:cNvSpPr txBox="1"/>
            <p:nvPr/>
          </p:nvSpPr>
          <p:spPr>
            <a:xfrm>
              <a:off x="1186140" y="1996274"/>
              <a:ext cx="2248431" cy="492443"/>
            </a:xfrm>
            <a:prstGeom prst="rect">
              <a:avLst/>
            </a:prstGeom>
            <a:noFill/>
          </p:spPr>
          <p:txBody>
            <a:bodyPr wrap="square">
              <a:spAutoFit/>
            </a:bodyPr>
            <a:lstStyle/>
            <a:p>
              <a:pPr algn="ctr">
                <a:spcBef>
                  <a:spcPts val="50"/>
                </a:spcBef>
              </a:pPr>
              <a:r>
                <a:rPr lang="zh-CN" altLang="en-US" sz="26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进行测算</a:t>
              </a:r>
            </a:p>
          </p:txBody>
        </p:sp>
        <p:sp>
          <p:nvSpPr>
            <p:cNvPr id="35" name="文本框 34">
              <a:extLst>
                <a:ext uri="{FF2B5EF4-FFF2-40B4-BE49-F238E27FC236}">
                  <a16:creationId xmlns:a16="http://schemas.microsoft.com/office/drawing/2014/main" id="{97E1FEC4-F254-9AF4-2BBD-D5DF22F45EE3}"/>
                </a:ext>
              </a:extLst>
            </p:cNvPr>
            <p:cNvSpPr txBox="1"/>
            <p:nvPr/>
          </p:nvSpPr>
          <p:spPr>
            <a:xfrm>
              <a:off x="4633119" y="2697703"/>
              <a:ext cx="2936081" cy="2068643"/>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spcBef>
                  <a:spcPts val="50"/>
                </a:spcBef>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从零售电商出发，推算出宠物经济线上全年销售额，再乘以线上线下消费比重，以及宠物经济各细分行业的消费占比，测算出中国宠物经济市场规模。</a:t>
              </a:r>
              <a:endParaRPr lang="en-US" altLang="zh-CN"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7" name="矩形: 圆角 36">
              <a:extLst>
                <a:ext uri="{FF2B5EF4-FFF2-40B4-BE49-F238E27FC236}">
                  <a16:creationId xmlns:a16="http://schemas.microsoft.com/office/drawing/2014/main" id="{39D2EC9E-4BC3-BAB1-D5F8-E9A3D3D367FC}"/>
                </a:ext>
              </a:extLst>
            </p:cNvPr>
            <p:cNvSpPr/>
            <p:nvPr/>
          </p:nvSpPr>
          <p:spPr>
            <a:xfrm>
              <a:off x="4633119" y="2026650"/>
              <a:ext cx="2824160" cy="450923"/>
            </a:xfrm>
            <a:prstGeom prst="roundRect">
              <a:avLst>
                <a:gd name="adj" fmla="val 50000"/>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 name="文本框 37">
              <a:extLst>
                <a:ext uri="{FF2B5EF4-FFF2-40B4-BE49-F238E27FC236}">
                  <a16:creationId xmlns:a16="http://schemas.microsoft.com/office/drawing/2014/main" id="{2818EA33-15DD-697C-507E-CF92B233F132}"/>
                </a:ext>
              </a:extLst>
            </p:cNvPr>
            <p:cNvSpPr txBox="1"/>
            <p:nvPr/>
          </p:nvSpPr>
          <p:spPr>
            <a:xfrm>
              <a:off x="5154048" y="2010764"/>
              <a:ext cx="1728009" cy="492443"/>
            </a:xfrm>
            <a:prstGeom prst="rect">
              <a:avLst/>
            </a:prstGeom>
            <a:noFill/>
          </p:spPr>
          <p:txBody>
            <a:bodyPr wrap="square">
              <a:spAutoFit/>
            </a:bodyPr>
            <a:lstStyle/>
            <a:p>
              <a:pPr algn="ctr">
                <a:spcBef>
                  <a:spcPts val="50"/>
                </a:spcBef>
              </a:pPr>
              <a:r>
                <a:rPr lang="zh-CN" altLang="en-US" sz="26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测算逻辑</a:t>
              </a:r>
            </a:p>
          </p:txBody>
        </p:sp>
        <p:sp>
          <p:nvSpPr>
            <p:cNvPr id="39" name="文本框 38">
              <a:extLst>
                <a:ext uri="{FF2B5EF4-FFF2-40B4-BE49-F238E27FC236}">
                  <a16:creationId xmlns:a16="http://schemas.microsoft.com/office/drawing/2014/main" id="{CC8338AD-F18F-F1AE-27B9-48064A2C6B8E}"/>
                </a:ext>
              </a:extLst>
            </p:cNvPr>
            <p:cNvSpPr txBox="1"/>
            <p:nvPr/>
          </p:nvSpPr>
          <p:spPr>
            <a:xfrm>
              <a:off x="8343898" y="2697703"/>
              <a:ext cx="2925761" cy="1736245"/>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spcBef>
                  <a:spcPts val="50"/>
                </a:spcBef>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根据上述逻辑，经测算，2020年中国宠物经济(食品、用品、服务、医疗)消费市场规模的可变区间为1900~2100亿。</a:t>
              </a:r>
            </a:p>
          </p:txBody>
        </p:sp>
        <p:sp>
          <p:nvSpPr>
            <p:cNvPr id="41" name="矩形: 圆角 40">
              <a:extLst>
                <a:ext uri="{FF2B5EF4-FFF2-40B4-BE49-F238E27FC236}">
                  <a16:creationId xmlns:a16="http://schemas.microsoft.com/office/drawing/2014/main" id="{3DFBC293-C24A-0810-2A07-4FF2A8F996AF}"/>
                </a:ext>
              </a:extLst>
            </p:cNvPr>
            <p:cNvSpPr/>
            <p:nvPr/>
          </p:nvSpPr>
          <p:spPr>
            <a:xfrm>
              <a:off x="8343898" y="2026650"/>
              <a:ext cx="2824160" cy="450923"/>
            </a:xfrm>
            <a:prstGeom prst="roundRect">
              <a:avLst>
                <a:gd name="adj" fmla="val 50000"/>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文本框 41">
              <a:extLst>
                <a:ext uri="{FF2B5EF4-FFF2-40B4-BE49-F238E27FC236}">
                  <a16:creationId xmlns:a16="http://schemas.microsoft.com/office/drawing/2014/main" id="{AA9DA640-BE0A-C0F9-0FF3-0B4E7161FE4F}"/>
                </a:ext>
              </a:extLst>
            </p:cNvPr>
            <p:cNvSpPr txBox="1"/>
            <p:nvPr/>
          </p:nvSpPr>
          <p:spPr>
            <a:xfrm>
              <a:off x="8973114" y="2010764"/>
              <a:ext cx="1614673" cy="492443"/>
            </a:xfrm>
            <a:prstGeom prst="rect">
              <a:avLst/>
            </a:prstGeom>
            <a:noFill/>
          </p:spPr>
          <p:txBody>
            <a:bodyPr wrap="square">
              <a:spAutoFit/>
            </a:bodyPr>
            <a:lstStyle/>
            <a:p>
              <a:pPr algn="ctr">
                <a:spcBef>
                  <a:spcPts val="50"/>
                </a:spcBef>
              </a:pPr>
              <a:r>
                <a:rPr lang="zh-CN" altLang="en-US" sz="26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测算结果</a:t>
              </a:r>
            </a:p>
          </p:txBody>
        </p:sp>
      </p:grpSp>
    </p:spTree>
    <p:extLst>
      <p:ext uri="{BB962C8B-B14F-4D97-AF65-F5344CB8AC3E}">
        <p14:creationId xmlns:p14="http://schemas.microsoft.com/office/powerpoint/2010/main" val="363733228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A60E3-1BBD-0E83-7D11-5FFBE885DEBE}"/>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49998073-EF7A-76E1-941D-4994F8CBA083}"/>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AAC37D4E-4BFE-898C-4088-681CDA647D35}"/>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BAF6E31C-3537-892C-26F5-06B89ADF6B77}"/>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宠物经济行业现状分析</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1BF5CC95-966D-13C8-90B2-C111E8B927F1}"/>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7EE7D344-9780-37A0-E1ED-65DEA3B14783}"/>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02</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sp>
        <p:nvSpPr>
          <p:cNvPr id="2" name="文本框 1">
            <a:extLst>
              <a:ext uri="{FF2B5EF4-FFF2-40B4-BE49-F238E27FC236}">
                <a16:creationId xmlns:a16="http://schemas.microsoft.com/office/drawing/2014/main" id="{6420B6B4-8253-70BE-868A-0C637F43A14B}"/>
              </a:ext>
            </a:extLst>
          </p:cNvPr>
          <p:cNvSpPr txBox="1"/>
          <p:nvPr/>
        </p:nvSpPr>
        <p:spPr>
          <a:xfrm>
            <a:off x="456373" y="1822007"/>
            <a:ext cx="11279251" cy="830997"/>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ctr">
              <a:lnSpc>
                <a:spcPct val="100000"/>
              </a:lnSpc>
              <a:spcBef>
                <a:spcPts val="50"/>
              </a:spcBef>
            </a:pPr>
            <a:r>
              <a:rPr lang="en-US" altLang="zh-CN" sz="2400" b="1">
                <a:solidFill>
                  <a:srgbClr val="04CAD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01</a:t>
            </a:r>
            <a:r>
              <a:rPr lang="zh-CN" altLang="en-US" sz="2400" b="1">
                <a:solidFill>
                  <a:srgbClr val="04CAD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lang="zh-CN" altLang="en-US" sz="2400"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由于中国宠物经济的发展仍处于探索期，现阶段行业内上市公司少，且均在宠物零食领域营收最高。</a:t>
            </a:r>
            <a:endParaRPr lang="zh-CN" altLang="en-US" sz="2400"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3" name="组合 42">
            <a:extLst>
              <a:ext uri="{FF2B5EF4-FFF2-40B4-BE49-F238E27FC236}">
                <a16:creationId xmlns:a16="http://schemas.microsoft.com/office/drawing/2014/main" id="{EB6D7291-A4E6-4308-A80F-E676EF88CD88}"/>
              </a:ext>
            </a:extLst>
          </p:cNvPr>
          <p:cNvGrpSpPr/>
          <p:nvPr/>
        </p:nvGrpSpPr>
        <p:grpSpPr>
          <a:xfrm>
            <a:off x="456374" y="2995862"/>
            <a:ext cx="11279252" cy="2923675"/>
            <a:chOff x="456374" y="2731167"/>
            <a:chExt cx="11279252" cy="2923675"/>
          </a:xfrm>
        </p:grpSpPr>
        <p:sp>
          <p:nvSpPr>
            <p:cNvPr id="4" name="矩形: 圆角 3">
              <a:extLst>
                <a:ext uri="{FF2B5EF4-FFF2-40B4-BE49-F238E27FC236}">
                  <a16:creationId xmlns:a16="http://schemas.microsoft.com/office/drawing/2014/main" id="{602168CA-22F0-7ABA-6960-7EA545A25381}"/>
                </a:ext>
              </a:extLst>
            </p:cNvPr>
            <p:cNvSpPr/>
            <p:nvPr/>
          </p:nvSpPr>
          <p:spPr>
            <a:xfrm>
              <a:off x="456374" y="2731167"/>
              <a:ext cx="11279252" cy="2923675"/>
            </a:xfrm>
            <a:prstGeom prst="roundRect">
              <a:avLst>
                <a:gd name="adj" fmla="val 4881"/>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2" name="组合 41">
              <a:extLst>
                <a:ext uri="{FF2B5EF4-FFF2-40B4-BE49-F238E27FC236}">
                  <a16:creationId xmlns:a16="http://schemas.microsoft.com/office/drawing/2014/main" id="{31F542AD-20D6-C45A-9703-AA082A3D9E2E}"/>
                </a:ext>
              </a:extLst>
            </p:cNvPr>
            <p:cNvGrpSpPr/>
            <p:nvPr/>
          </p:nvGrpSpPr>
          <p:grpSpPr>
            <a:xfrm>
              <a:off x="892574" y="3014989"/>
              <a:ext cx="10355630" cy="2285699"/>
              <a:chOff x="639911" y="1850501"/>
              <a:chExt cx="10355630" cy="2285699"/>
            </a:xfrm>
          </p:grpSpPr>
          <p:sp>
            <p:nvSpPr>
              <p:cNvPr id="28" name="文本框 27"/>
              <p:cNvSpPr txBox="1"/>
              <p:nvPr/>
            </p:nvSpPr>
            <p:spPr>
              <a:xfrm>
                <a:off x="6108505" y="2041909"/>
                <a:ext cx="4887036" cy="2094291"/>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marL="285750" indent="-285750" algn="l">
                  <a:spcBef>
                    <a:spcPts val="50"/>
                  </a:spcBef>
                  <a:buFont typeface="Arial" panose="020B0604020202020204" pitchFamily="34" charset="0"/>
                  <a:buChar char="•"/>
                </a:pPr>
                <a:r>
                  <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佩蒂股份营收增长达到48.74%;</a:t>
                </a:r>
                <a:endParaRPr lang="en-US" altLang="zh-CN"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而中宠股份由于“其他收益”部分较上年同期下降了78.77%，</a:t>
                </a:r>
                <a:endParaRPr lang="en-US" altLang="zh-CN"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因此整体营收出现了03%的下降。中宠股份与佩蒂股份均将业务重心致力于宠物食品的研发和销售。</a:t>
                </a:r>
              </a:p>
            </p:txBody>
          </p:sp>
          <p:sp>
            <p:nvSpPr>
              <p:cNvPr id="31" name="文本框 30">
                <a:extLst>
                  <a:ext uri="{FF2B5EF4-FFF2-40B4-BE49-F238E27FC236}">
                    <a16:creationId xmlns:a16="http://schemas.microsoft.com/office/drawing/2014/main" id="{32B585C7-A4A8-A814-2FBC-DC7BC1EF082C}"/>
                  </a:ext>
                </a:extLst>
              </p:cNvPr>
              <p:cNvSpPr txBox="1"/>
              <p:nvPr/>
            </p:nvSpPr>
            <p:spPr>
              <a:xfrm>
                <a:off x="691133" y="2699512"/>
                <a:ext cx="654049" cy="406650"/>
              </a:xfrm>
              <a:prstGeom prst="rect">
                <a:avLst/>
              </a:prstGeom>
              <a:noFill/>
            </p:spPr>
            <p:txBody>
              <a:bodyPr wrap="square">
                <a:spAutoFit/>
              </a:bodyPr>
              <a:lstStyle/>
              <a:p>
                <a:pPr>
                  <a:lnSpc>
                    <a:spcPct val="120000"/>
                  </a:lnSpc>
                  <a:spcBef>
                    <a:spcPts val="50"/>
                  </a:spcBef>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中宠 </a:t>
                </a:r>
              </a:p>
            </p:txBody>
          </p:sp>
          <p:sp>
            <p:nvSpPr>
              <p:cNvPr id="33" name="文本框 32">
                <a:extLst>
                  <a:ext uri="{FF2B5EF4-FFF2-40B4-BE49-F238E27FC236}">
                    <a16:creationId xmlns:a16="http://schemas.microsoft.com/office/drawing/2014/main" id="{D52FEDF5-DB3E-C87A-7306-E7FA2D00FAAD}"/>
                  </a:ext>
                </a:extLst>
              </p:cNvPr>
              <p:cNvSpPr txBox="1"/>
              <p:nvPr/>
            </p:nvSpPr>
            <p:spPr>
              <a:xfrm>
                <a:off x="691133" y="3407841"/>
                <a:ext cx="654049" cy="406650"/>
              </a:xfrm>
              <a:prstGeom prst="rect">
                <a:avLst/>
              </a:prstGeom>
              <a:noFill/>
            </p:spPr>
            <p:txBody>
              <a:bodyPr wrap="square">
                <a:spAutoFit/>
              </a:bodyPr>
              <a:lstStyle/>
              <a:p>
                <a:pPr>
                  <a:lnSpc>
                    <a:spcPct val="120000"/>
                  </a:lnSpc>
                  <a:spcBef>
                    <a:spcPts val="50"/>
                  </a:spcBef>
                </a:pP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佩蒂</a:t>
                </a:r>
              </a:p>
            </p:txBody>
          </p:sp>
          <p:sp>
            <p:nvSpPr>
              <p:cNvPr id="34" name="矩形: 圆角 33">
                <a:extLst>
                  <a:ext uri="{FF2B5EF4-FFF2-40B4-BE49-F238E27FC236}">
                    <a16:creationId xmlns:a16="http://schemas.microsoft.com/office/drawing/2014/main" id="{443A8820-CA2C-7963-C496-7BBF6C8633B9}"/>
                  </a:ext>
                </a:extLst>
              </p:cNvPr>
              <p:cNvSpPr/>
              <p:nvPr/>
            </p:nvSpPr>
            <p:spPr>
              <a:xfrm>
                <a:off x="2026558" y="2769532"/>
                <a:ext cx="3450877" cy="310461"/>
              </a:xfrm>
              <a:prstGeom prst="rect">
                <a:avLst/>
              </a:prstGeom>
              <a:solidFill>
                <a:srgbClr val="B9F0F6">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5" name="矩形: 圆角 34">
                <a:extLst>
                  <a:ext uri="{FF2B5EF4-FFF2-40B4-BE49-F238E27FC236}">
                    <a16:creationId xmlns:a16="http://schemas.microsoft.com/office/drawing/2014/main" id="{151BA661-892D-6B9E-DFEC-AF4ACA77A2F0}"/>
                  </a:ext>
                </a:extLst>
              </p:cNvPr>
              <p:cNvSpPr/>
              <p:nvPr/>
            </p:nvSpPr>
            <p:spPr>
              <a:xfrm>
                <a:off x="1395488" y="2809995"/>
                <a:ext cx="1977779" cy="335408"/>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6" name="文本框 35">
                <a:extLst>
                  <a:ext uri="{FF2B5EF4-FFF2-40B4-BE49-F238E27FC236}">
                    <a16:creationId xmlns:a16="http://schemas.microsoft.com/office/drawing/2014/main" id="{8FAF8B5A-F3C7-F464-1809-8645864843FF}"/>
                  </a:ext>
                </a:extLst>
              </p:cNvPr>
              <p:cNvSpPr txBox="1"/>
              <p:nvPr/>
            </p:nvSpPr>
            <p:spPr>
              <a:xfrm>
                <a:off x="4495446" y="2728064"/>
                <a:ext cx="1125637" cy="406650"/>
              </a:xfrm>
              <a:prstGeom prst="rect">
                <a:avLst/>
              </a:prstGeom>
              <a:noFill/>
            </p:spPr>
            <p:txBody>
              <a:bodyPr wrap="square">
                <a:spAutoFit/>
              </a:bodyPr>
              <a:lstStyle/>
              <a:p>
                <a:pPr>
                  <a:lnSpc>
                    <a:spcPct val="120000"/>
                  </a:lnSpc>
                  <a:spcBef>
                    <a:spcPts val="50"/>
                  </a:spcBef>
                </a:pPr>
                <a:r>
                  <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48.74</a:t>
                </a: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p>
            </p:txBody>
          </p:sp>
          <p:sp>
            <p:nvSpPr>
              <p:cNvPr id="37" name="矩形: 圆角 36">
                <a:extLst>
                  <a:ext uri="{FF2B5EF4-FFF2-40B4-BE49-F238E27FC236}">
                    <a16:creationId xmlns:a16="http://schemas.microsoft.com/office/drawing/2014/main" id="{170E3D8A-CAA8-2232-06DC-51F83F0557FC}"/>
                  </a:ext>
                </a:extLst>
              </p:cNvPr>
              <p:cNvSpPr/>
              <p:nvPr/>
            </p:nvSpPr>
            <p:spPr>
              <a:xfrm>
                <a:off x="2026558" y="3438620"/>
                <a:ext cx="3450877" cy="310461"/>
              </a:xfrm>
              <a:prstGeom prst="rect">
                <a:avLst/>
              </a:prstGeom>
              <a:solidFill>
                <a:srgbClr val="B9F0F6">
                  <a:alpha val="2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 name="矩形: 圆角 37">
                <a:extLst>
                  <a:ext uri="{FF2B5EF4-FFF2-40B4-BE49-F238E27FC236}">
                    <a16:creationId xmlns:a16="http://schemas.microsoft.com/office/drawing/2014/main" id="{20E417BF-DAD4-F0C6-6B62-60110EB70600}"/>
                  </a:ext>
                </a:extLst>
              </p:cNvPr>
              <p:cNvSpPr/>
              <p:nvPr/>
            </p:nvSpPr>
            <p:spPr>
              <a:xfrm>
                <a:off x="1395488" y="3504029"/>
                <a:ext cx="2986742" cy="310462"/>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9" name="文本框 38">
                <a:extLst>
                  <a:ext uri="{FF2B5EF4-FFF2-40B4-BE49-F238E27FC236}">
                    <a16:creationId xmlns:a16="http://schemas.microsoft.com/office/drawing/2014/main" id="{963366FA-C589-2678-4895-0A25E6EE6B79}"/>
                  </a:ext>
                </a:extLst>
              </p:cNvPr>
              <p:cNvSpPr txBox="1"/>
              <p:nvPr/>
            </p:nvSpPr>
            <p:spPr>
              <a:xfrm>
                <a:off x="4495446" y="3397152"/>
                <a:ext cx="1125637" cy="406650"/>
              </a:xfrm>
              <a:prstGeom prst="rect">
                <a:avLst/>
              </a:prstGeom>
              <a:noFill/>
            </p:spPr>
            <p:txBody>
              <a:bodyPr wrap="square">
                <a:spAutoFit/>
              </a:bodyPr>
              <a:lstStyle/>
              <a:p>
                <a:pPr>
                  <a:lnSpc>
                    <a:spcPct val="120000"/>
                  </a:lnSpc>
                  <a:spcBef>
                    <a:spcPts val="50"/>
                  </a:spcBef>
                </a:pPr>
                <a:r>
                  <a:rPr lang="en-US" altLang="zh-CN"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78.77</a:t>
                </a:r>
                <a:r>
                  <a:rPr lang="zh-CN" altLang="en-US"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p>
            </p:txBody>
          </p:sp>
          <p:sp>
            <p:nvSpPr>
              <p:cNvPr id="40" name="文本框 39">
                <a:extLst>
                  <a:ext uri="{FF2B5EF4-FFF2-40B4-BE49-F238E27FC236}">
                    <a16:creationId xmlns:a16="http://schemas.microsoft.com/office/drawing/2014/main" id="{B08291D1-1781-9F40-BE43-5B044583A593}"/>
                  </a:ext>
                </a:extLst>
              </p:cNvPr>
              <p:cNvSpPr txBox="1"/>
              <p:nvPr/>
            </p:nvSpPr>
            <p:spPr>
              <a:xfrm>
                <a:off x="639911" y="1850501"/>
                <a:ext cx="5075090" cy="511422"/>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spcBef>
                    <a:spcPts val="50"/>
                  </a:spcBef>
                </a:pPr>
                <a:r>
                  <a:rPr lang="zh-CN" altLang="en-US" sz="2400"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2020年与2019年Q1对比营收</a:t>
                </a:r>
              </a:p>
            </p:txBody>
          </p:sp>
        </p:grpSp>
      </p:grpSp>
    </p:spTree>
    <p:extLst>
      <p:ext uri="{BB962C8B-B14F-4D97-AF65-F5344CB8AC3E}">
        <p14:creationId xmlns:p14="http://schemas.microsoft.com/office/powerpoint/2010/main" val="8231184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wipe(down)">
                                      <p:cBhvr>
                                        <p:cTn id="1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C8FB0-C82F-E161-C9CA-324EF54972A0}"/>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EE109E98-92EE-B8C2-5D42-5C7358F3C968}"/>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59642E62-C16C-7EEE-C791-FAD2AE48ED18}"/>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876D9822-056A-F003-E5FD-975A2498BD07}"/>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宠物经济行业现状分析</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85BC17C1-7A31-6A5B-1B37-02E08932DA7F}"/>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68C51F17-19F9-F552-2A4B-E7A9AC747504}"/>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02</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sp>
        <p:nvSpPr>
          <p:cNvPr id="2" name="文本框 1">
            <a:extLst>
              <a:ext uri="{FF2B5EF4-FFF2-40B4-BE49-F238E27FC236}">
                <a16:creationId xmlns:a16="http://schemas.microsoft.com/office/drawing/2014/main" id="{F6D445D1-17BC-8314-3BB7-60E5B951844C}"/>
              </a:ext>
            </a:extLst>
          </p:cNvPr>
          <p:cNvSpPr txBox="1"/>
          <p:nvPr/>
        </p:nvSpPr>
        <p:spPr>
          <a:xfrm>
            <a:off x="456373" y="1822007"/>
            <a:ext cx="11279251" cy="523220"/>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ctr">
              <a:lnSpc>
                <a:spcPct val="100000"/>
              </a:lnSpc>
              <a:spcBef>
                <a:spcPts val="50"/>
              </a:spcBef>
            </a:pPr>
            <a:r>
              <a:rPr lang="en-US" altLang="zh-CN" sz="2800" b="1">
                <a:solidFill>
                  <a:srgbClr val="04CAD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02</a:t>
            </a:r>
            <a:r>
              <a:rPr lang="zh-CN" altLang="en-US" sz="2800" b="1">
                <a:solidFill>
                  <a:srgbClr val="04CAD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lang="zh-CN" altLang="en-US" sz="2800"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宠物食品、用品和服务展现出更强融合性</a:t>
            </a:r>
            <a:endParaRPr lang="zh-CN" altLang="en-US" sz="2800"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3" name="组合 2">
            <a:extLst>
              <a:ext uri="{FF2B5EF4-FFF2-40B4-BE49-F238E27FC236}">
                <a16:creationId xmlns:a16="http://schemas.microsoft.com/office/drawing/2014/main" id="{80DD6427-AD7C-91EF-D607-571343D3E54A}"/>
              </a:ext>
            </a:extLst>
          </p:cNvPr>
          <p:cNvGrpSpPr/>
          <p:nvPr/>
        </p:nvGrpSpPr>
        <p:grpSpPr>
          <a:xfrm>
            <a:off x="456374" y="2995862"/>
            <a:ext cx="11279252" cy="2923675"/>
            <a:chOff x="456374" y="2995862"/>
            <a:chExt cx="11279252" cy="2923675"/>
          </a:xfrm>
        </p:grpSpPr>
        <p:grpSp>
          <p:nvGrpSpPr>
            <p:cNvPr id="43" name="组合 42">
              <a:extLst>
                <a:ext uri="{FF2B5EF4-FFF2-40B4-BE49-F238E27FC236}">
                  <a16:creationId xmlns:a16="http://schemas.microsoft.com/office/drawing/2014/main" id="{8B07D7BD-E6D0-3EBB-6153-670720D174B4}"/>
                </a:ext>
              </a:extLst>
            </p:cNvPr>
            <p:cNvGrpSpPr/>
            <p:nvPr/>
          </p:nvGrpSpPr>
          <p:grpSpPr>
            <a:xfrm>
              <a:off x="456374" y="2995862"/>
              <a:ext cx="11279252" cy="2923675"/>
              <a:chOff x="456374" y="2731167"/>
              <a:chExt cx="11279252" cy="2923675"/>
            </a:xfrm>
          </p:grpSpPr>
          <p:sp>
            <p:nvSpPr>
              <p:cNvPr id="4" name="矩形: 圆角 3">
                <a:extLst>
                  <a:ext uri="{FF2B5EF4-FFF2-40B4-BE49-F238E27FC236}">
                    <a16:creationId xmlns:a16="http://schemas.microsoft.com/office/drawing/2014/main" id="{319DDB08-7653-A4B6-60D7-58CDE639CA45}"/>
                  </a:ext>
                </a:extLst>
              </p:cNvPr>
              <p:cNvSpPr/>
              <p:nvPr/>
            </p:nvSpPr>
            <p:spPr>
              <a:xfrm>
                <a:off x="456374" y="2731167"/>
                <a:ext cx="11279252" cy="2923675"/>
              </a:xfrm>
              <a:prstGeom prst="roundRect">
                <a:avLst>
                  <a:gd name="adj" fmla="val 4881"/>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文本框 27">
                <a:extLst>
                  <a:ext uri="{FF2B5EF4-FFF2-40B4-BE49-F238E27FC236}">
                    <a16:creationId xmlns:a16="http://schemas.microsoft.com/office/drawing/2014/main" id="{596BE3B0-0B96-0C58-B8A1-D9DBF43A84DF}"/>
                  </a:ext>
                </a:extLst>
              </p:cNvPr>
              <p:cNvSpPr txBox="1"/>
              <p:nvPr/>
            </p:nvSpPr>
            <p:spPr>
              <a:xfrm>
                <a:off x="6361168" y="3206397"/>
                <a:ext cx="4887036" cy="2094291"/>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marL="285750" indent="-285750" algn="l">
                  <a:spcBef>
                    <a:spcPts val="50"/>
                  </a:spcBef>
                  <a:buFont typeface="Arial" panose="020B0604020202020204" pitchFamily="34" charset="0"/>
                  <a:buChar char="•"/>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据统计，</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2019</a:t>
                </a: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年全年及</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2020</a:t>
                </a: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年</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a:t>
                </a: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至</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7</a:t>
                </a: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月，宠物行业分别发生</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27</a:t>
                </a: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笔和</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11</a:t>
                </a: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笔融资事件，融资总金额约为</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23</a:t>
                </a: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亿元人民币。</a:t>
                </a:r>
                <a:endPar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可以看出，宠物食品、宠物用品、宠物服务三个细分领域的融合性更强，与之相对的是较为独立的宠物医疗和活体零售。</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aphicFrame>
          <p:nvGraphicFramePr>
            <p:cNvPr id="27" name="图表 26">
              <a:extLst>
                <a:ext uri="{FF2B5EF4-FFF2-40B4-BE49-F238E27FC236}">
                  <a16:creationId xmlns:a16="http://schemas.microsoft.com/office/drawing/2014/main" id="{AC174F4C-9620-A055-962C-EC2643B2D836}"/>
                </a:ext>
              </a:extLst>
            </p:cNvPr>
            <p:cNvGraphicFramePr/>
            <p:nvPr/>
          </p:nvGraphicFramePr>
          <p:xfrm>
            <a:off x="619983" y="3388494"/>
            <a:ext cx="5462671" cy="2259486"/>
          </p:xfrm>
          <a:graphic>
            <a:graphicData uri="http://schemas.openxmlformats.org/drawingml/2006/chart">
              <c:chart xmlns:c="http://schemas.openxmlformats.org/drawingml/2006/chart" xmlns:r="http://schemas.openxmlformats.org/officeDocument/2006/relationships" r:id="rId2"/>
            </a:graphicData>
          </a:graphic>
        </p:graphicFrame>
      </p:grpSp>
    </p:spTree>
    <p:extLst>
      <p:ext uri="{BB962C8B-B14F-4D97-AF65-F5344CB8AC3E}">
        <p14:creationId xmlns:p14="http://schemas.microsoft.com/office/powerpoint/2010/main" val="41465790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arn(inVertical)">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A5D3F2-AF24-057C-6963-6DD7C84DBDAE}"/>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9C7A91A5-BA59-2C51-78F2-ADAE37E56593}"/>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617ED8F4-3F74-7076-4EB2-1F7646427361}"/>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382C9D2E-F8F0-F2EB-A493-475828CC32BA}"/>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宠物经济行业热点</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5A75FCF5-CD3F-815B-E235-6241EFB9C469}"/>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C2874DBD-6D72-7B4A-F735-D17C77C234C6}"/>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02</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39" name="组合 38">
            <a:extLst>
              <a:ext uri="{FF2B5EF4-FFF2-40B4-BE49-F238E27FC236}">
                <a16:creationId xmlns:a16="http://schemas.microsoft.com/office/drawing/2014/main" id="{46C49F17-C7A6-10EB-CB8C-8C00A86F350E}"/>
              </a:ext>
            </a:extLst>
          </p:cNvPr>
          <p:cNvGrpSpPr/>
          <p:nvPr/>
        </p:nvGrpSpPr>
        <p:grpSpPr>
          <a:xfrm>
            <a:off x="434625" y="1471196"/>
            <a:ext cx="11322749" cy="4589327"/>
            <a:chOff x="434625" y="1471196"/>
            <a:chExt cx="11322749" cy="4589327"/>
          </a:xfrm>
        </p:grpSpPr>
        <p:grpSp>
          <p:nvGrpSpPr>
            <p:cNvPr id="3" name="组合 2">
              <a:extLst>
                <a:ext uri="{FF2B5EF4-FFF2-40B4-BE49-F238E27FC236}">
                  <a16:creationId xmlns:a16="http://schemas.microsoft.com/office/drawing/2014/main" id="{C6D637DC-1594-FD39-CB4B-E1AABCFB5301}"/>
                </a:ext>
              </a:extLst>
            </p:cNvPr>
            <p:cNvGrpSpPr/>
            <p:nvPr/>
          </p:nvGrpSpPr>
          <p:grpSpPr>
            <a:xfrm>
              <a:off x="434625" y="1471196"/>
              <a:ext cx="11322749" cy="1115594"/>
              <a:chOff x="789950" y="1111207"/>
              <a:chExt cx="13799472" cy="1434298"/>
            </a:xfrm>
          </p:grpSpPr>
          <p:grpSp>
            <p:nvGrpSpPr>
              <p:cNvPr id="17" name="组合 16">
                <a:extLst>
                  <a:ext uri="{FF2B5EF4-FFF2-40B4-BE49-F238E27FC236}">
                    <a16:creationId xmlns:a16="http://schemas.microsoft.com/office/drawing/2014/main" id="{3BF57D13-0D4A-BC9E-89B4-CAE024A4076B}"/>
                  </a:ext>
                </a:extLst>
              </p:cNvPr>
              <p:cNvGrpSpPr/>
              <p:nvPr/>
            </p:nvGrpSpPr>
            <p:grpSpPr>
              <a:xfrm>
                <a:off x="789950" y="1111207"/>
                <a:ext cx="4323063" cy="1434298"/>
                <a:chOff x="666115" y="3189472"/>
                <a:chExt cx="1977912" cy="656228"/>
              </a:xfrm>
            </p:grpSpPr>
            <p:pic>
              <p:nvPicPr>
                <p:cNvPr id="21" name="图片 20">
                  <a:extLst>
                    <a:ext uri="{FF2B5EF4-FFF2-40B4-BE49-F238E27FC236}">
                      <a16:creationId xmlns:a16="http://schemas.microsoft.com/office/drawing/2014/main" id="{9E202C83-CE98-E935-FBED-30E027D01F3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666115" y="3189473"/>
                  <a:ext cx="1977912" cy="656227"/>
                </a:xfrm>
                <a:prstGeom prst="roundRect">
                  <a:avLst>
                    <a:gd name="adj" fmla="val 5265"/>
                  </a:avLst>
                </a:prstGeom>
              </p:spPr>
            </p:pic>
            <p:sp>
              <p:nvSpPr>
                <p:cNvPr id="22" name="圆角矩形 9">
                  <a:extLst>
                    <a:ext uri="{FF2B5EF4-FFF2-40B4-BE49-F238E27FC236}">
                      <a16:creationId xmlns:a16="http://schemas.microsoft.com/office/drawing/2014/main" id="{748B53E1-E0AE-C9B6-B86E-1DAB113C8A86}"/>
                    </a:ext>
                  </a:extLst>
                </p:cNvPr>
                <p:cNvSpPr/>
                <p:nvPr/>
              </p:nvSpPr>
              <p:spPr>
                <a:xfrm>
                  <a:off x="666115" y="3189472"/>
                  <a:ext cx="1977912" cy="656228"/>
                </a:xfrm>
                <a:prstGeom prst="roundRect">
                  <a:avLst>
                    <a:gd name="adj" fmla="val 4179"/>
                  </a:avLst>
                </a:prstGeom>
                <a:solidFill>
                  <a:srgbClr val="04CA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热点一</a:t>
                  </a:r>
                  <a:r>
                    <a:rPr lang="en-US" altLang="zh-CN" sz="24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p>
                <a:p>
                  <a:pPr algn="ctr"/>
                  <a:r>
                    <a:rPr lang="zh-CN" altLang="en-US" sz="24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宠物经济应用领域广泛</a:t>
                  </a:r>
                  <a:endParaRPr lang="zh-CN" altLang="en-US" sz="2400" b="1" dirty="0">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18" name="组合 17">
                <a:extLst>
                  <a:ext uri="{FF2B5EF4-FFF2-40B4-BE49-F238E27FC236}">
                    <a16:creationId xmlns:a16="http://schemas.microsoft.com/office/drawing/2014/main" id="{1BD05F56-C936-A4CD-447B-9B03D32EB1CC}"/>
                  </a:ext>
                </a:extLst>
              </p:cNvPr>
              <p:cNvGrpSpPr/>
              <p:nvPr/>
            </p:nvGrpSpPr>
            <p:grpSpPr>
              <a:xfrm>
                <a:off x="5308159" y="1111207"/>
                <a:ext cx="9281263" cy="1434296"/>
                <a:chOff x="10207290" y="-530899"/>
                <a:chExt cx="13026908" cy="1434296"/>
              </a:xfrm>
            </p:grpSpPr>
            <p:sp>
              <p:nvSpPr>
                <p:cNvPr id="19" name="矩形: 圆角 18">
                  <a:extLst>
                    <a:ext uri="{FF2B5EF4-FFF2-40B4-BE49-F238E27FC236}">
                      <a16:creationId xmlns:a16="http://schemas.microsoft.com/office/drawing/2014/main" id="{E635CB61-69B2-3A23-BE29-DF7876DB011B}"/>
                    </a:ext>
                  </a:extLst>
                </p:cNvPr>
                <p:cNvSpPr/>
                <p:nvPr/>
              </p:nvSpPr>
              <p:spPr>
                <a:xfrm>
                  <a:off x="10207290" y="-530899"/>
                  <a:ext cx="13026908" cy="1434296"/>
                </a:xfrm>
                <a:prstGeom prst="roundRect">
                  <a:avLst>
                    <a:gd name="adj" fmla="val 5587"/>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Rectangle 3">
                  <a:extLst>
                    <a:ext uri="{FF2B5EF4-FFF2-40B4-BE49-F238E27FC236}">
                      <a16:creationId xmlns:a16="http://schemas.microsoft.com/office/drawing/2014/main" id="{8D361ECB-E8CE-3A38-FD4A-B15C2E8B1E89}"/>
                    </a:ext>
                  </a:extLst>
                </p:cNvPr>
                <p:cNvSpPr txBox="1">
                  <a:spLocks/>
                </p:cNvSpPr>
                <p:nvPr/>
              </p:nvSpPr>
              <p:spPr>
                <a:xfrm>
                  <a:off x="10641523" y="-376089"/>
                  <a:ext cx="12310426" cy="954642"/>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宠物经济行业具有市场空间广阔、销售范围广、用户分散、单批数量少、销售单价高等特点。</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23" name="组合 22">
              <a:extLst>
                <a:ext uri="{FF2B5EF4-FFF2-40B4-BE49-F238E27FC236}">
                  <a16:creationId xmlns:a16="http://schemas.microsoft.com/office/drawing/2014/main" id="{F9EFCB2F-E908-37F7-754C-C5C1E561B968}"/>
                </a:ext>
              </a:extLst>
            </p:cNvPr>
            <p:cNvGrpSpPr/>
            <p:nvPr/>
          </p:nvGrpSpPr>
          <p:grpSpPr>
            <a:xfrm>
              <a:off x="434625" y="2831834"/>
              <a:ext cx="11322749" cy="1491823"/>
              <a:chOff x="789950" y="1111202"/>
              <a:chExt cx="13799472" cy="1918009"/>
            </a:xfrm>
          </p:grpSpPr>
          <p:grpSp>
            <p:nvGrpSpPr>
              <p:cNvPr id="24" name="组合 23">
                <a:extLst>
                  <a:ext uri="{FF2B5EF4-FFF2-40B4-BE49-F238E27FC236}">
                    <a16:creationId xmlns:a16="http://schemas.microsoft.com/office/drawing/2014/main" id="{C4670202-A590-6F40-CA8A-48E5F22652D5}"/>
                  </a:ext>
                </a:extLst>
              </p:cNvPr>
              <p:cNvGrpSpPr/>
              <p:nvPr/>
            </p:nvGrpSpPr>
            <p:grpSpPr>
              <a:xfrm>
                <a:off x="789950" y="1111202"/>
                <a:ext cx="4323063" cy="1918008"/>
                <a:chOff x="666115" y="3189471"/>
                <a:chExt cx="1977912" cy="877538"/>
              </a:xfrm>
            </p:grpSpPr>
            <p:pic>
              <p:nvPicPr>
                <p:cNvPr id="30" name="图片 29">
                  <a:extLst>
                    <a:ext uri="{FF2B5EF4-FFF2-40B4-BE49-F238E27FC236}">
                      <a16:creationId xmlns:a16="http://schemas.microsoft.com/office/drawing/2014/main" id="{F5FF5DE7-8BD4-87D9-E7F8-C14522D23090}"/>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66115" y="3189473"/>
                  <a:ext cx="1977912" cy="877536"/>
                </a:xfrm>
                <a:prstGeom prst="roundRect">
                  <a:avLst>
                    <a:gd name="adj" fmla="val 5265"/>
                  </a:avLst>
                </a:prstGeom>
              </p:spPr>
            </p:pic>
            <p:sp>
              <p:nvSpPr>
                <p:cNvPr id="31" name="圆角矩形 9">
                  <a:extLst>
                    <a:ext uri="{FF2B5EF4-FFF2-40B4-BE49-F238E27FC236}">
                      <a16:creationId xmlns:a16="http://schemas.microsoft.com/office/drawing/2014/main" id="{E96AB2AC-ABEF-4B9A-82EF-6829E18ACE90}"/>
                    </a:ext>
                  </a:extLst>
                </p:cNvPr>
                <p:cNvSpPr/>
                <p:nvPr/>
              </p:nvSpPr>
              <p:spPr>
                <a:xfrm>
                  <a:off x="666115" y="3189471"/>
                  <a:ext cx="1977912" cy="877536"/>
                </a:xfrm>
                <a:prstGeom prst="roundRect">
                  <a:avLst>
                    <a:gd name="adj" fmla="val 4179"/>
                  </a:avLst>
                </a:prstGeom>
                <a:solidFill>
                  <a:srgbClr val="04CA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热点二：</a:t>
                  </a:r>
                  <a:endParaRPr lang="en-US" altLang="zh-CN" sz="24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a:p>
                  <a:pPr algn="ctr"/>
                  <a:r>
                    <a:rPr lang="zh-CN" altLang="en-US" sz="24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科研服务市场持续增长</a:t>
                  </a:r>
                  <a:endParaRPr lang="zh-CN" altLang="en-US" sz="2400" b="1" dirty="0">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26" name="组合 25">
                <a:extLst>
                  <a:ext uri="{FF2B5EF4-FFF2-40B4-BE49-F238E27FC236}">
                    <a16:creationId xmlns:a16="http://schemas.microsoft.com/office/drawing/2014/main" id="{9E8C232E-112D-F61B-B32A-B23C3D761E51}"/>
                  </a:ext>
                </a:extLst>
              </p:cNvPr>
              <p:cNvGrpSpPr/>
              <p:nvPr/>
            </p:nvGrpSpPr>
            <p:grpSpPr>
              <a:xfrm>
                <a:off x="5308159" y="1111207"/>
                <a:ext cx="9281263" cy="1918004"/>
                <a:chOff x="10207290" y="-530899"/>
                <a:chExt cx="13026908" cy="1918004"/>
              </a:xfrm>
            </p:grpSpPr>
            <p:sp>
              <p:nvSpPr>
                <p:cNvPr id="27" name="矩形: 圆角 26">
                  <a:extLst>
                    <a:ext uri="{FF2B5EF4-FFF2-40B4-BE49-F238E27FC236}">
                      <a16:creationId xmlns:a16="http://schemas.microsoft.com/office/drawing/2014/main" id="{B58B382A-3342-7F67-46C4-6D279BA9BA4E}"/>
                    </a:ext>
                  </a:extLst>
                </p:cNvPr>
                <p:cNvSpPr/>
                <p:nvPr/>
              </p:nvSpPr>
              <p:spPr>
                <a:xfrm>
                  <a:off x="10207290" y="-530899"/>
                  <a:ext cx="13026908" cy="1918004"/>
                </a:xfrm>
                <a:prstGeom prst="roundRect">
                  <a:avLst>
                    <a:gd name="adj" fmla="val 5587"/>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Rectangle 3">
                  <a:extLst>
                    <a:ext uri="{FF2B5EF4-FFF2-40B4-BE49-F238E27FC236}">
                      <a16:creationId xmlns:a16="http://schemas.microsoft.com/office/drawing/2014/main" id="{92FAD1F1-C1C4-D500-D26C-BDDAEEE83CBD}"/>
                    </a:ext>
                  </a:extLst>
                </p:cNvPr>
                <p:cNvSpPr txBox="1">
                  <a:spLocks/>
                </p:cNvSpPr>
                <p:nvPr/>
              </p:nvSpPr>
              <p:spPr>
                <a:xfrm>
                  <a:off x="10641522" y="-314212"/>
                  <a:ext cx="12310426" cy="954642"/>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宠物经济行业技术提升，多元化科研服务平台持续扩张，促进高价值服务企业品牌形成。行业产品化发展，集研发、生产、销售于一体的综合性科研服务企业逐渐增多。</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32" name="组合 31">
              <a:extLst>
                <a:ext uri="{FF2B5EF4-FFF2-40B4-BE49-F238E27FC236}">
                  <a16:creationId xmlns:a16="http://schemas.microsoft.com/office/drawing/2014/main" id="{6E86F256-EF50-E24E-4CAC-C4DC3043A52D}"/>
                </a:ext>
              </a:extLst>
            </p:cNvPr>
            <p:cNvGrpSpPr/>
            <p:nvPr/>
          </p:nvGrpSpPr>
          <p:grpSpPr>
            <a:xfrm>
              <a:off x="434625" y="4568700"/>
              <a:ext cx="11322749" cy="1491823"/>
              <a:chOff x="789950" y="1111202"/>
              <a:chExt cx="13799472" cy="1918009"/>
            </a:xfrm>
          </p:grpSpPr>
          <p:grpSp>
            <p:nvGrpSpPr>
              <p:cNvPr id="33" name="组合 32">
                <a:extLst>
                  <a:ext uri="{FF2B5EF4-FFF2-40B4-BE49-F238E27FC236}">
                    <a16:creationId xmlns:a16="http://schemas.microsoft.com/office/drawing/2014/main" id="{C9F59721-0560-2E1E-D4A3-F59027A0593E}"/>
                  </a:ext>
                </a:extLst>
              </p:cNvPr>
              <p:cNvGrpSpPr/>
              <p:nvPr/>
            </p:nvGrpSpPr>
            <p:grpSpPr>
              <a:xfrm>
                <a:off x="789950" y="1111202"/>
                <a:ext cx="4323063" cy="1918008"/>
                <a:chOff x="666115" y="3189471"/>
                <a:chExt cx="1977912" cy="877538"/>
              </a:xfrm>
            </p:grpSpPr>
            <p:pic>
              <p:nvPicPr>
                <p:cNvPr id="37" name="图片 36">
                  <a:extLst>
                    <a:ext uri="{FF2B5EF4-FFF2-40B4-BE49-F238E27FC236}">
                      <a16:creationId xmlns:a16="http://schemas.microsoft.com/office/drawing/2014/main" id="{D1102637-ED92-6E99-A137-FC9BBD6322FF}"/>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666115" y="3189473"/>
                  <a:ext cx="1977912" cy="877536"/>
                </a:xfrm>
                <a:prstGeom prst="roundRect">
                  <a:avLst>
                    <a:gd name="adj" fmla="val 5265"/>
                  </a:avLst>
                </a:prstGeom>
              </p:spPr>
            </p:pic>
            <p:sp>
              <p:nvSpPr>
                <p:cNvPr id="38" name="圆角矩形 9">
                  <a:extLst>
                    <a:ext uri="{FF2B5EF4-FFF2-40B4-BE49-F238E27FC236}">
                      <a16:creationId xmlns:a16="http://schemas.microsoft.com/office/drawing/2014/main" id="{9EE42485-F0AD-E0E1-6912-E0A88041CE4C}"/>
                    </a:ext>
                  </a:extLst>
                </p:cNvPr>
                <p:cNvSpPr/>
                <p:nvPr/>
              </p:nvSpPr>
              <p:spPr>
                <a:xfrm>
                  <a:off x="666115" y="3189471"/>
                  <a:ext cx="1977912" cy="877536"/>
                </a:xfrm>
                <a:prstGeom prst="roundRect">
                  <a:avLst>
                    <a:gd name="adj" fmla="val 4179"/>
                  </a:avLst>
                </a:prstGeom>
                <a:solidFill>
                  <a:srgbClr val="04CA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热点三</a:t>
                  </a:r>
                  <a:r>
                    <a:rPr lang="en-US" altLang="zh-CN" sz="24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a:t>
                  </a:r>
                </a:p>
                <a:p>
                  <a:pPr algn="ctr"/>
                  <a:r>
                    <a:rPr lang="zh-CN" altLang="en-US" sz="2400" b="1">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行业产品质量整体提高</a:t>
                  </a:r>
                  <a:endParaRPr lang="zh-CN" altLang="en-US" sz="2400" b="1" dirty="0">
                    <a:solidFill>
                      <a:srgbClr val="FFFFFF"/>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34" name="组合 33">
                <a:extLst>
                  <a:ext uri="{FF2B5EF4-FFF2-40B4-BE49-F238E27FC236}">
                    <a16:creationId xmlns:a16="http://schemas.microsoft.com/office/drawing/2014/main" id="{30681BF2-E663-5D58-6B3C-26703D75D2EF}"/>
                  </a:ext>
                </a:extLst>
              </p:cNvPr>
              <p:cNvGrpSpPr/>
              <p:nvPr/>
            </p:nvGrpSpPr>
            <p:grpSpPr>
              <a:xfrm>
                <a:off x="5308159" y="1111207"/>
                <a:ext cx="9281263" cy="1918004"/>
                <a:chOff x="10207290" y="-530899"/>
                <a:chExt cx="13026908" cy="1918004"/>
              </a:xfrm>
            </p:grpSpPr>
            <p:sp>
              <p:nvSpPr>
                <p:cNvPr id="35" name="矩形: 圆角 34">
                  <a:extLst>
                    <a:ext uri="{FF2B5EF4-FFF2-40B4-BE49-F238E27FC236}">
                      <a16:creationId xmlns:a16="http://schemas.microsoft.com/office/drawing/2014/main" id="{D1A14BD6-5533-DF01-58E8-1A0493BA6A53}"/>
                    </a:ext>
                  </a:extLst>
                </p:cNvPr>
                <p:cNvSpPr/>
                <p:nvPr/>
              </p:nvSpPr>
              <p:spPr>
                <a:xfrm>
                  <a:off x="10207290" y="-530899"/>
                  <a:ext cx="13026908" cy="1918004"/>
                </a:xfrm>
                <a:prstGeom prst="roundRect">
                  <a:avLst>
                    <a:gd name="adj" fmla="val 5587"/>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6" name="Rectangle 3">
                  <a:extLst>
                    <a:ext uri="{FF2B5EF4-FFF2-40B4-BE49-F238E27FC236}">
                      <a16:creationId xmlns:a16="http://schemas.microsoft.com/office/drawing/2014/main" id="{89C62652-ECAC-CBB0-902C-F71087AEB94F}"/>
                    </a:ext>
                  </a:extLst>
                </p:cNvPr>
                <p:cNvSpPr txBox="1">
                  <a:spLocks/>
                </p:cNvSpPr>
                <p:nvPr/>
              </p:nvSpPr>
              <p:spPr>
                <a:xfrm>
                  <a:off x="10641522" y="-314212"/>
                  <a:ext cx="12310426" cy="954642"/>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15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经济行业产品质量有待提升制约宠物经济行业发展。行业内产品质量参差不齐，导致研究结果可靠性难以保证，产品丧失市场竞争力。宠物经济行业难形成统一的监督管理规范产品质量主要靠企业自主检测保障，监管难度大。中国宠物经济行业产品主要集中在中低端领域，高端领域被外资企业垄断，产品品质有待进一步提升。</a:t>
                  </a:r>
                  <a:endParaRPr lang="zh-CN" altLang="en-US" sz="15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spTree>
    <p:extLst>
      <p:ext uri="{BB962C8B-B14F-4D97-AF65-F5344CB8AC3E}">
        <p14:creationId xmlns:p14="http://schemas.microsoft.com/office/powerpoint/2010/main" val="166801635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down)">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3B652-73E8-70F6-83B9-DF720370830D}"/>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A151ABE2-D1A6-5A01-A8AC-7B833E4FAB95}"/>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0343C101-53DC-B148-9EDB-1999A0DAF993}"/>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AB444DA7-4D49-E9B6-1A2D-A084637334B8}"/>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宠物经济行业驱动因素</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B8D5110F-6767-B77A-CBB4-F02738E9A8EB}"/>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301CAAFD-268F-4AB7-EF82-27B61FDDAC7A}"/>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02</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47" name="组合 46">
            <a:extLst>
              <a:ext uri="{FF2B5EF4-FFF2-40B4-BE49-F238E27FC236}">
                <a16:creationId xmlns:a16="http://schemas.microsoft.com/office/drawing/2014/main" id="{747A090E-D787-0BB6-5188-5E297E17F35F}"/>
              </a:ext>
            </a:extLst>
          </p:cNvPr>
          <p:cNvGrpSpPr/>
          <p:nvPr/>
        </p:nvGrpSpPr>
        <p:grpSpPr>
          <a:xfrm>
            <a:off x="500932" y="1246098"/>
            <a:ext cx="11198281" cy="4564491"/>
            <a:chOff x="1139185" y="1137590"/>
            <a:chExt cx="10077155" cy="4107511"/>
          </a:xfrm>
        </p:grpSpPr>
        <p:sp>
          <p:nvSpPr>
            <p:cNvPr id="43" name="矩形: 圆角 42">
              <a:extLst>
                <a:ext uri="{FF2B5EF4-FFF2-40B4-BE49-F238E27FC236}">
                  <a16:creationId xmlns:a16="http://schemas.microsoft.com/office/drawing/2014/main" id="{C317A814-3E60-DCEF-FFDA-682427C2D32F}"/>
                </a:ext>
              </a:extLst>
            </p:cNvPr>
            <p:cNvSpPr/>
            <p:nvPr/>
          </p:nvSpPr>
          <p:spPr>
            <a:xfrm>
              <a:off x="1139185" y="1854263"/>
              <a:ext cx="1992310" cy="3390838"/>
            </a:xfrm>
            <a:prstGeom prst="roundRect">
              <a:avLst>
                <a:gd name="adj" fmla="val 3034"/>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矩形: 圆角 4">
              <a:extLst>
                <a:ext uri="{FF2B5EF4-FFF2-40B4-BE49-F238E27FC236}">
                  <a16:creationId xmlns:a16="http://schemas.microsoft.com/office/drawing/2014/main" id="{809BC41F-7743-6073-C193-15C1B2C7D74E}"/>
                </a:ext>
              </a:extLst>
            </p:cNvPr>
            <p:cNvSpPr/>
            <p:nvPr/>
          </p:nvSpPr>
          <p:spPr>
            <a:xfrm>
              <a:off x="3157185" y="1854263"/>
              <a:ext cx="1992310" cy="3390838"/>
            </a:xfrm>
            <a:prstGeom prst="roundRect">
              <a:avLst>
                <a:gd name="adj" fmla="val 3034"/>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矩形: 圆角 8">
              <a:extLst>
                <a:ext uri="{FF2B5EF4-FFF2-40B4-BE49-F238E27FC236}">
                  <a16:creationId xmlns:a16="http://schemas.microsoft.com/office/drawing/2014/main" id="{EC4E690D-2F0A-3E8E-D612-3B14A7305DD7}"/>
                </a:ext>
              </a:extLst>
            </p:cNvPr>
            <p:cNvSpPr/>
            <p:nvPr/>
          </p:nvSpPr>
          <p:spPr>
            <a:xfrm>
              <a:off x="5174981" y="1854263"/>
              <a:ext cx="1992310" cy="3390838"/>
            </a:xfrm>
            <a:prstGeom prst="roundRect">
              <a:avLst>
                <a:gd name="adj" fmla="val 3034"/>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矩形: 圆角 10">
              <a:extLst>
                <a:ext uri="{FF2B5EF4-FFF2-40B4-BE49-F238E27FC236}">
                  <a16:creationId xmlns:a16="http://schemas.microsoft.com/office/drawing/2014/main" id="{BA7BB08D-D250-25A7-4284-7144E11DB21B}"/>
                </a:ext>
              </a:extLst>
            </p:cNvPr>
            <p:cNvSpPr/>
            <p:nvPr/>
          </p:nvSpPr>
          <p:spPr>
            <a:xfrm>
              <a:off x="7192981" y="1854263"/>
              <a:ext cx="1992310" cy="3390838"/>
            </a:xfrm>
            <a:prstGeom prst="roundRect">
              <a:avLst>
                <a:gd name="adj" fmla="val 3034"/>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矩形: 圆角 11">
              <a:extLst>
                <a:ext uri="{FF2B5EF4-FFF2-40B4-BE49-F238E27FC236}">
                  <a16:creationId xmlns:a16="http://schemas.microsoft.com/office/drawing/2014/main" id="{05953F37-EED2-17DD-49C1-E3216BC90D4F}"/>
                </a:ext>
              </a:extLst>
            </p:cNvPr>
            <p:cNvSpPr/>
            <p:nvPr/>
          </p:nvSpPr>
          <p:spPr>
            <a:xfrm>
              <a:off x="9210981" y="1854263"/>
              <a:ext cx="1992310" cy="3390838"/>
            </a:xfrm>
            <a:prstGeom prst="roundRect">
              <a:avLst>
                <a:gd name="adj" fmla="val 3034"/>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 name="矩形 1">
              <a:extLst>
                <a:ext uri="{FF2B5EF4-FFF2-40B4-BE49-F238E27FC236}">
                  <a16:creationId xmlns:a16="http://schemas.microsoft.com/office/drawing/2014/main" id="{51B2FD60-DB1F-4535-2673-8613C0303628}"/>
                </a:ext>
              </a:extLst>
            </p:cNvPr>
            <p:cNvSpPr/>
            <p:nvPr/>
          </p:nvSpPr>
          <p:spPr>
            <a:xfrm>
              <a:off x="9224030" y="2218407"/>
              <a:ext cx="1992310" cy="859759"/>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 name="矩形 3">
              <a:extLst>
                <a:ext uri="{FF2B5EF4-FFF2-40B4-BE49-F238E27FC236}">
                  <a16:creationId xmlns:a16="http://schemas.microsoft.com/office/drawing/2014/main" id="{AE82CBAE-EB37-C5B1-E28C-117E2A379C35}"/>
                </a:ext>
              </a:extLst>
            </p:cNvPr>
            <p:cNvSpPr/>
            <p:nvPr/>
          </p:nvSpPr>
          <p:spPr>
            <a:xfrm>
              <a:off x="1139185" y="2218407"/>
              <a:ext cx="1992310" cy="859759"/>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矩形 7">
              <a:extLst>
                <a:ext uri="{FF2B5EF4-FFF2-40B4-BE49-F238E27FC236}">
                  <a16:creationId xmlns:a16="http://schemas.microsoft.com/office/drawing/2014/main" id="{707FD68B-F748-D628-542A-DAC967944041}"/>
                </a:ext>
              </a:extLst>
            </p:cNvPr>
            <p:cNvSpPr/>
            <p:nvPr/>
          </p:nvSpPr>
          <p:spPr>
            <a:xfrm>
              <a:off x="3157185" y="2218407"/>
              <a:ext cx="1992310" cy="859759"/>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5" name="矩形 24">
              <a:extLst>
                <a:ext uri="{FF2B5EF4-FFF2-40B4-BE49-F238E27FC236}">
                  <a16:creationId xmlns:a16="http://schemas.microsoft.com/office/drawing/2014/main" id="{8BC28479-1FCD-D55E-07AB-F5437C2B91A4}"/>
                </a:ext>
              </a:extLst>
            </p:cNvPr>
            <p:cNvSpPr/>
            <p:nvPr/>
          </p:nvSpPr>
          <p:spPr>
            <a:xfrm>
              <a:off x="5174981" y="2218407"/>
              <a:ext cx="1992310" cy="859759"/>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 name="文本框 14">
              <a:extLst>
                <a:ext uri="{FF2B5EF4-FFF2-40B4-BE49-F238E27FC236}">
                  <a16:creationId xmlns:a16="http://schemas.microsoft.com/office/drawing/2014/main" id="{259A13D6-6831-A6E5-1139-B9A35D350E15}"/>
                </a:ext>
              </a:extLst>
            </p:cNvPr>
            <p:cNvSpPr txBox="1"/>
            <p:nvPr/>
          </p:nvSpPr>
          <p:spPr>
            <a:xfrm>
              <a:off x="3034084" y="1137590"/>
              <a:ext cx="6280028" cy="470837"/>
            </a:xfrm>
            <a:prstGeom prst="rect">
              <a:avLst/>
            </a:prstGeom>
            <a:noFill/>
          </p:spPr>
          <p:txBody>
            <a:bodyPr wrap="square">
              <a:spAutoFit/>
            </a:bodyPr>
            <a:lstStyle/>
            <a:p>
              <a:pPr algn="ctr">
                <a:spcBef>
                  <a:spcPts val="50"/>
                </a:spcBef>
              </a:pPr>
              <a:r>
                <a:rPr lang="zh-CN" altLang="en-US" sz="2800"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从禁养到规范，中国宠物管理不断优化</a:t>
              </a:r>
            </a:p>
          </p:txBody>
        </p:sp>
        <p:sp>
          <p:nvSpPr>
            <p:cNvPr id="16" name="文本框 15">
              <a:extLst>
                <a:ext uri="{FF2B5EF4-FFF2-40B4-BE49-F238E27FC236}">
                  <a16:creationId xmlns:a16="http://schemas.microsoft.com/office/drawing/2014/main" id="{DDDD9B9B-E725-5CBB-2A61-A9B8D033766C}"/>
                </a:ext>
              </a:extLst>
            </p:cNvPr>
            <p:cNvSpPr txBox="1"/>
            <p:nvPr/>
          </p:nvSpPr>
          <p:spPr>
            <a:xfrm>
              <a:off x="9314112" y="2265647"/>
              <a:ext cx="1812145" cy="768400"/>
            </a:xfrm>
            <a:prstGeom prst="rect">
              <a:avLst/>
            </a:prstGeom>
            <a:noFill/>
          </p:spPr>
          <p:txBody>
            <a:bodyPr wrap="square">
              <a:spAutoFit/>
            </a:bodyPr>
            <a:lstStyle/>
            <a:p>
              <a:pPr>
                <a:lnSpc>
                  <a:spcPct val="120000"/>
                </a:lnSpc>
                <a:spcBef>
                  <a:spcPts val="50"/>
                </a:spcBef>
              </a:pPr>
              <a:r>
                <a:rPr lang="zh-CN" altLang="en-US" sz="14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《卫生部关于控制和消灭狂犬病的通知》《家犬管理条例》</a:t>
              </a:r>
            </a:p>
          </p:txBody>
        </p:sp>
        <p:sp>
          <p:nvSpPr>
            <p:cNvPr id="29" name="文本框 28">
              <a:extLst>
                <a:ext uri="{FF2B5EF4-FFF2-40B4-BE49-F238E27FC236}">
                  <a16:creationId xmlns:a16="http://schemas.microsoft.com/office/drawing/2014/main" id="{6F13D9DF-F9C8-8217-B687-BB8B1493E4B1}"/>
                </a:ext>
              </a:extLst>
            </p:cNvPr>
            <p:cNvSpPr txBox="1"/>
            <p:nvPr/>
          </p:nvSpPr>
          <p:spPr>
            <a:xfrm>
              <a:off x="9346594" y="3269636"/>
              <a:ext cx="1686065" cy="866260"/>
            </a:xfrm>
            <a:prstGeom prst="rect">
              <a:avLst/>
            </a:prstGeom>
            <a:noFill/>
          </p:spPr>
          <p:txBody>
            <a:bodyPr wrap="square">
              <a:spAutoFit/>
            </a:bodyPr>
            <a:lstStyle>
              <a:defPPr>
                <a:defRPr lang="zh-CN"/>
              </a:defPPr>
              <a:lvl1pPr>
                <a:defRPr sz="1500">
                  <a:solidFill>
                    <a:schemeClr val="bg1"/>
                  </a:solidFill>
                </a:defRPr>
              </a:lvl1pPr>
            </a:lstStyle>
            <a:p>
              <a:pPr>
                <a:lnSpc>
                  <a:spcPct val="120000"/>
                </a:lnSpc>
                <a:spcBef>
                  <a:spcPts val="50"/>
                </a:spcBef>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县级以上城市、近郊区、新兴工业区禁止养犬。</a:t>
              </a:r>
            </a:p>
          </p:txBody>
        </p:sp>
        <p:sp>
          <p:nvSpPr>
            <p:cNvPr id="39" name="文本框 38">
              <a:extLst>
                <a:ext uri="{FF2B5EF4-FFF2-40B4-BE49-F238E27FC236}">
                  <a16:creationId xmlns:a16="http://schemas.microsoft.com/office/drawing/2014/main" id="{105E1D45-EFF6-9E4F-46B2-4D64173CD216}"/>
                </a:ext>
              </a:extLst>
            </p:cNvPr>
            <p:cNvSpPr txBox="1"/>
            <p:nvPr/>
          </p:nvSpPr>
          <p:spPr>
            <a:xfrm>
              <a:off x="1281812" y="3269633"/>
              <a:ext cx="1672545" cy="1931645"/>
            </a:xfrm>
            <a:prstGeom prst="rect">
              <a:avLst/>
            </a:prstGeom>
            <a:noFill/>
          </p:spPr>
          <p:txBody>
            <a:bodyPr wrap="square">
              <a:spAutoFit/>
            </a:bodyPr>
            <a:lstStyle>
              <a:defPPr>
                <a:defRPr lang="zh-CN"/>
              </a:defPPr>
              <a:lvl1pPr>
                <a:defRPr sz="1500">
                  <a:solidFill>
                    <a:schemeClr val="tx1">
                      <a:lumMod val="75000"/>
                      <a:lumOff val="25000"/>
                    </a:schemeClr>
                  </a:solidFill>
                </a:defRPr>
              </a:lvl1pPr>
            </a:lstStyle>
            <a:p>
              <a:pPr>
                <a:lnSpc>
                  <a:spcPct val="120000"/>
                </a:lnSpc>
                <a:spcBef>
                  <a:spcPts val="50"/>
                </a:spcBef>
              </a:pPr>
              <a:r>
                <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设立宠物医疗机构必须取得当地动物卫生监督机构颁发的许可证，要求配置有注册的执业兽医和兽医助理各3名以上，室内面积需要大于120平方米。</a:t>
              </a:r>
            </a:p>
          </p:txBody>
        </p:sp>
        <p:sp>
          <p:nvSpPr>
            <p:cNvPr id="40" name="文本框 39">
              <a:extLst>
                <a:ext uri="{FF2B5EF4-FFF2-40B4-BE49-F238E27FC236}">
                  <a16:creationId xmlns:a16="http://schemas.microsoft.com/office/drawing/2014/main" id="{90BDB675-81AB-A277-ACA6-0FCE6E1E4E51}"/>
                </a:ext>
              </a:extLst>
            </p:cNvPr>
            <p:cNvSpPr txBox="1"/>
            <p:nvPr/>
          </p:nvSpPr>
          <p:spPr>
            <a:xfrm>
              <a:off x="3096948" y="2474177"/>
              <a:ext cx="2043486" cy="303101"/>
            </a:xfrm>
            <a:prstGeom prst="rect">
              <a:avLst/>
            </a:prstGeom>
            <a:noFill/>
          </p:spPr>
          <p:txBody>
            <a:bodyPr wrap="square">
              <a:spAutoFit/>
            </a:bodyPr>
            <a:lstStyle>
              <a:defPPr>
                <a:defRPr lang="zh-CN"/>
              </a:defPPr>
              <a:lvl1pPr>
                <a:defRPr sz="1500">
                  <a:solidFill>
                    <a:schemeClr val="bg1"/>
                  </a:solidFill>
                </a:defRPr>
              </a:lvl1pPr>
            </a:lstStyle>
            <a:p>
              <a:pPr>
                <a:lnSpc>
                  <a:spcPct val="120000"/>
                </a:lnSpc>
                <a:spcBef>
                  <a:spcPts val="50"/>
                </a:spcBef>
              </a:pPr>
              <a:r>
                <a:rPr lang="zh-CN" alt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《北京市养犬管理规定》</a:t>
              </a:r>
            </a:p>
          </p:txBody>
        </p:sp>
        <p:sp>
          <p:nvSpPr>
            <p:cNvPr id="41" name="文本框 40">
              <a:extLst>
                <a:ext uri="{FF2B5EF4-FFF2-40B4-BE49-F238E27FC236}">
                  <a16:creationId xmlns:a16="http://schemas.microsoft.com/office/drawing/2014/main" id="{073759BF-99F3-DB6D-69C3-2B9E3FDD72E4}"/>
                </a:ext>
              </a:extLst>
            </p:cNvPr>
            <p:cNvSpPr txBox="1"/>
            <p:nvPr/>
          </p:nvSpPr>
          <p:spPr>
            <a:xfrm>
              <a:off x="3339062" y="3269636"/>
              <a:ext cx="1545345" cy="600375"/>
            </a:xfrm>
            <a:prstGeom prst="rect">
              <a:avLst/>
            </a:prstGeom>
            <a:noFill/>
          </p:spPr>
          <p:txBody>
            <a:bodyPr wrap="square">
              <a:spAutoFit/>
            </a:bodyPr>
            <a:lstStyle>
              <a:defPPr>
                <a:defRPr lang="zh-CN"/>
              </a:defPPr>
              <a:lvl1pPr>
                <a:defRPr sz="1500">
                  <a:solidFill>
                    <a:schemeClr val="tx1">
                      <a:lumMod val="75000"/>
                      <a:lumOff val="25000"/>
                    </a:schemeClr>
                  </a:solidFill>
                </a:defRPr>
              </a:lvl1pPr>
            </a:lstStyle>
            <a:p>
              <a:pPr>
                <a:lnSpc>
                  <a:spcPct val="120000"/>
                </a:lnSpc>
                <a:spcBef>
                  <a:spcPts val="50"/>
                </a:spcBef>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养犬需要遵循登记、年检制度。</a:t>
              </a:r>
            </a:p>
          </p:txBody>
        </p:sp>
        <p:sp>
          <p:nvSpPr>
            <p:cNvPr id="42" name="文本框 41">
              <a:extLst>
                <a:ext uri="{FF2B5EF4-FFF2-40B4-BE49-F238E27FC236}">
                  <a16:creationId xmlns:a16="http://schemas.microsoft.com/office/drawing/2014/main" id="{504B8AA5-B552-5856-0B64-B14962AFFE8D}"/>
                </a:ext>
              </a:extLst>
            </p:cNvPr>
            <p:cNvSpPr txBox="1"/>
            <p:nvPr/>
          </p:nvSpPr>
          <p:spPr>
            <a:xfrm>
              <a:off x="1203938" y="2386677"/>
              <a:ext cx="1867524" cy="535751"/>
            </a:xfrm>
            <a:prstGeom prst="rect">
              <a:avLst/>
            </a:prstGeom>
            <a:noFill/>
          </p:spPr>
          <p:txBody>
            <a:bodyPr wrap="square">
              <a:spAutoFit/>
            </a:bodyPr>
            <a:lstStyle>
              <a:defPPr>
                <a:defRPr lang="zh-CN"/>
              </a:defPPr>
              <a:lvl1pPr>
                <a:defRPr sz="1500">
                  <a:solidFill>
                    <a:schemeClr val="bg1"/>
                  </a:solidFill>
                </a:defRPr>
              </a:lvl1pPr>
            </a:lstStyle>
            <a:p>
              <a:pPr algn="ctr">
                <a:lnSpc>
                  <a:spcPct val="120000"/>
                </a:lnSpc>
                <a:spcBef>
                  <a:spcPts val="50"/>
                </a:spcBef>
              </a:pPr>
              <a:r>
                <a:rPr lang="zh-CN" alt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《中华人民共和国动物防疫法》</a:t>
              </a:r>
            </a:p>
          </p:txBody>
        </p:sp>
        <p:sp>
          <p:nvSpPr>
            <p:cNvPr id="46" name="文本框 45">
              <a:extLst>
                <a:ext uri="{FF2B5EF4-FFF2-40B4-BE49-F238E27FC236}">
                  <a16:creationId xmlns:a16="http://schemas.microsoft.com/office/drawing/2014/main" id="{A3FB09F9-13D4-AE1E-F4BC-F4B1D30187DC}"/>
                </a:ext>
              </a:extLst>
            </p:cNvPr>
            <p:cNvSpPr txBox="1"/>
            <p:nvPr/>
          </p:nvSpPr>
          <p:spPr>
            <a:xfrm>
              <a:off x="7378036" y="3269636"/>
              <a:ext cx="1629464" cy="1132144"/>
            </a:xfrm>
            <a:prstGeom prst="rect">
              <a:avLst/>
            </a:prstGeom>
            <a:noFill/>
          </p:spPr>
          <p:txBody>
            <a:bodyPr wrap="square">
              <a:spAutoFit/>
            </a:bodyPr>
            <a:lstStyle>
              <a:defPPr>
                <a:defRPr lang="zh-CN"/>
              </a:defPPr>
              <a:lvl1pPr>
                <a:defRPr sz="1500">
                  <a:solidFill>
                    <a:schemeClr val="tx1">
                      <a:lumMod val="75000"/>
                      <a:lumOff val="25000"/>
                    </a:schemeClr>
                  </a:solidFill>
                </a:defRPr>
              </a:lvl1pPr>
            </a:lstStyle>
            <a:p>
              <a:pPr>
                <a:lnSpc>
                  <a:spcPct val="120000"/>
                </a:lnSpc>
                <a:spcBef>
                  <a:spcPts val="50"/>
                </a:spcBef>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等6个规范性文件发布，规范饲料生产许可管理和进出口登记制度。</a:t>
              </a:r>
            </a:p>
          </p:txBody>
        </p:sp>
        <p:sp>
          <p:nvSpPr>
            <p:cNvPr id="51" name="文本框 50">
              <a:extLst>
                <a:ext uri="{FF2B5EF4-FFF2-40B4-BE49-F238E27FC236}">
                  <a16:creationId xmlns:a16="http://schemas.microsoft.com/office/drawing/2014/main" id="{538003A6-88CD-344D-E6DA-FBEFD2711201}"/>
                </a:ext>
              </a:extLst>
            </p:cNvPr>
            <p:cNvSpPr txBox="1"/>
            <p:nvPr/>
          </p:nvSpPr>
          <p:spPr>
            <a:xfrm>
              <a:off x="5263425" y="2278954"/>
              <a:ext cx="1815422" cy="768400"/>
            </a:xfrm>
            <a:prstGeom prst="rect">
              <a:avLst/>
            </a:prstGeom>
            <a:noFill/>
          </p:spPr>
          <p:txBody>
            <a:bodyPr wrap="square">
              <a:spAutoFit/>
            </a:bodyPr>
            <a:lstStyle>
              <a:defPPr>
                <a:defRPr lang="zh-CN"/>
              </a:defPPr>
              <a:lvl1pPr>
                <a:defRPr sz="1500">
                  <a:solidFill>
                    <a:schemeClr val="bg1"/>
                  </a:solidFill>
                </a:defRPr>
              </a:lvl1pPr>
            </a:lstStyle>
            <a:p>
              <a:pPr>
                <a:lnSpc>
                  <a:spcPct val="120000"/>
                </a:lnSpc>
                <a:spcBef>
                  <a:spcPts val="50"/>
                </a:spcBef>
              </a:pPr>
              <a:r>
                <a:rPr lang="zh-CN" alt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《宠物(犬、猫)挤压膨化饲料生产质量控制与评价技术规范》</a:t>
              </a:r>
            </a:p>
          </p:txBody>
        </p:sp>
        <p:sp>
          <p:nvSpPr>
            <p:cNvPr id="52" name="文本框 51">
              <a:extLst>
                <a:ext uri="{FF2B5EF4-FFF2-40B4-BE49-F238E27FC236}">
                  <a16:creationId xmlns:a16="http://schemas.microsoft.com/office/drawing/2014/main" id="{687B0BD7-2327-51F6-AC48-0696DCB3CDF0}"/>
                </a:ext>
              </a:extLst>
            </p:cNvPr>
            <p:cNvSpPr txBox="1"/>
            <p:nvPr/>
          </p:nvSpPr>
          <p:spPr>
            <a:xfrm>
              <a:off x="5360242" y="3269636"/>
              <a:ext cx="1604222" cy="600375"/>
            </a:xfrm>
            <a:prstGeom prst="rect">
              <a:avLst/>
            </a:prstGeom>
            <a:noFill/>
          </p:spPr>
          <p:txBody>
            <a:bodyPr wrap="square">
              <a:spAutoFit/>
            </a:bodyPr>
            <a:lstStyle>
              <a:defPPr>
                <a:defRPr lang="zh-CN"/>
              </a:defPPr>
              <a:lvl1pPr>
                <a:defRPr sz="1500">
                  <a:solidFill>
                    <a:schemeClr val="tx1">
                      <a:lumMod val="75000"/>
                      <a:lumOff val="25000"/>
                    </a:schemeClr>
                  </a:solidFill>
                </a:defRPr>
              </a:lvl1pPr>
            </a:lstStyle>
            <a:p>
              <a:pPr>
                <a:lnSpc>
                  <a:spcPct val="120000"/>
                </a:lnSpc>
                <a:spcBef>
                  <a:spcPts val="50"/>
                </a:spcBef>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农业行业标准项目获得正式立项。</a:t>
              </a:r>
            </a:p>
          </p:txBody>
        </p:sp>
        <p:sp>
          <p:nvSpPr>
            <p:cNvPr id="44" name="矩形 43">
              <a:extLst>
                <a:ext uri="{FF2B5EF4-FFF2-40B4-BE49-F238E27FC236}">
                  <a16:creationId xmlns:a16="http://schemas.microsoft.com/office/drawing/2014/main" id="{E9B3E7AA-3E22-5BD2-9A4B-D476A1B8EA3B}"/>
                </a:ext>
              </a:extLst>
            </p:cNvPr>
            <p:cNvSpPr/>
            <p:nvPr/>
          </p:nvSpPr>
          <p:spPr>
            <a:xfrm>
              <a:off x="7192777" y="2218407"/>
              <a:ext cx="1992310" cy="859759"/>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5" name="文本框 44">
              <a:extLst>
                <a:ext uri="{FF2B5EF4-FFF2-40B4-BE49-F238E27FC236}">
                  <a16:creationId xmlns:a16="http://schemas.microsoft.com/office/drawing/2014/main" id="{0E9A4861-47C5-DAFC-0EE9-4B6D3DC6DE88}"/>
                </a:ext>
              </a:extLst>
            </p:cNvPr>
            <p:cNvSpPr txBox="1"/>
            <p:nvPr/>
          </p:nvSpPr>
          <p:spPr>
            <a:xfrm>
              <a:off x="7205622" y="2258733"/>
              <a:ext cx="1992310" cy="768400"/>
            </a:xfrm>
            <a:prstGeom prst="rect">
              <a:avLst/>
            </a:prstGeom>
            <a:noFill/>
          </p:spPr>
          <p:txBody>
            <a:bodyPr wrap="square">
              <a:spAutoFit/>
            </a:bodyPr>
            <a:lstStyle>
              <a:defPPr>
                <a:defRPr lang="zh-CN"/>
              </a:defPPr>
              <a:lvl1pPr>
                <a:defRPr sz="1500">
                  <a:solidFill>
                    <a:schemeClr val="bg1"/>
                  </a:solidFill>
                </a:defRPr>
              </a:lvl1pPr>
            </a:lstStyle>
            <a:p>
              <a:pPr>
                <a:lnSpc>
                  <a:spcPct val="120000"/>
                </a:lnSpc>
                <a:spcBef>
                  <a:spcPts val="50"/>
                </a:spcBef>
              </a:pPr>
              <a:r>
                <a:rPr lang="zh-CN" altLang="en-US" sz="14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《宠物饲料管理办法》《宠物饲料卫生规定》、《宠物饲料标签规定》</a:t>
              </a:r>
            </a:p>
          </p:txBody>
        </p:sp>
      </p:grpSp>
    </p:spTree>
    <p:extLst>
      <p:ext uri="{BB962C8B-B14F-4D97-AF65-F5344CB8AC3E}">
        <p14:creationId xmlns:p14="http://schemas.microsoft.com/office/powerpoint/2010/main" val="3651852182"/>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wipe(down)">
                                      <p:cBhvr>
                                        <p:cTn id="1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9AE32-D7F5-BF33-F6C8-A4575A8112B5}"/>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6B2D7C65-3D35-BC0F-4639-0E0A2BB18211}"/>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3EAD7B3B-224B-FF0C-262A-888FF570E76B}"/>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EB001670-12C3-7E3C-AC93-77FF8D40D08B}"/>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宠物经济行业驱动因素</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06EDB067-DD9D-64C8-D47D-A931EC2DF285}"/>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7E2D71C4-830C-A9EA-66EC-B130EE6AEFD2}"/>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02</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17" name="组合 16">
            <a:extLst>
              <a:ext uri="{FF2B5EF4-FFF2-40B4-BE49-F238E27FC236}">
                <a16:creationId xmlns:a16="http://schemas.microsoft.com/office/drawing/2014/main" id="{69A52E99-476E-C76F-3818-BC337F81D8C1}"/>
              </a:ext>
            </a:extLst>
          </p:cNvPr>
          <p:cNvGrpSpPr/>
          <p:nvPr/>
        </p:nvGrpSpPr>
        <p:grpSpPr>
          <a:xfrm>
            <a:off x="500932" y="1471308"/>
            <a:ext cx="6673516" cy="4422745"/>
            <a:chOff x="5995737" y="1111782"/>
            <a:chExt cx="5607295" cy="4422745"/>
          </a:xfrm>
        </p:grpSpPr>
        <p:grpSp>
          <p:nvGrpSpPr>
            <p:cNvPr id="9" name="组合 8">
              <a:extLst>
                <a:ext uri="{FF2B5EF4-FFF2-40B4-BE49-F238E27FC236}">
                  <a16:creationId xmlns:a16="http://schemas.microsoft.com/office/drawing/2014/main" id="{E3998EA8-4F77-C5D6-130A-4CF6F90A7F69}"/>
                </a:ext>
              </a:extLst>
            </p:cNvPr>
            <p:cNvGrpSpPr/>
            <p:nvPr/>
          </p:nvGrpSpPr>
          <p:grpSpPr>
            <a:xfrm>
              <a:off x="5995737" y="1111782"/>
              <a:ext cx="5607295" cy="1775796"/>
              <a:chOff x="3933747" y="2188711"/>
              <a:chExt cx="7908339" cy="2825995"/>
            </a:xfrm>
          </p:grpSpPr>
          <p:sp>
            <p:nvSpPr>
              <p:cNvPr id="4" name="矩形: 圆角 3">
                <a:extLst>
                  <a:ext uri="{FF2B5EF4-FFF2-40B4-BE49-F238E27FC236}">
                    <a16:creationId xmlns:a16="http://schemas.microsoft.com/office/drawing/2014/main" id="{3969FA6A-68A7-6516-6D8B-0094C27D88AA}"/>
                  </a:ext>
                </a:extLst>
              </p:cNvPr>
              <p:cNvSpPr/>
              <p:nvPr/>
            </p:nvSpPr>
            <p:spPr>
              <a:xfrm>
                <a:off x="3933747" y="2188711"/>
                <a:ext cx="7908339" cy="2825995"/>
              </a:xfrm>
              <a:prstGeom prst="roundRect">
                <a:avLst>
                  <a:gd name="adj" fmla="val 391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8" name="Rectangle 3">
                <a:extLst>
                  <a:ext uri="{FF2B5EF4-FFF2-40B4-BE49-F238E27FC236}">
                    <a16:creationId xmlns:a16="http://schemas.microsoft.com/office/drawing/2014/main" id="{8F5C9728-B1E5-DB05-7623-40FA704F60CE}"/>
                  </a:ext>
                </a:extLst>
              </p:cNvPr>
              <p:cNvSpPr txBox="1">
                <a:spLocks/>
              </p:cNvSpPr>
              <p:nvPr/>
            </p:nvSpPr>
            <p:spPr>
              <a:xfrm>
                <a:off x="4321179" y="2427601"/>
                <a:ext cx="7426779" cy="2107140"/>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2600" b="1">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商业应用领域不断拓展：</a:t>
                </a:r>
              </a:p>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从应用领域来看，宠物经济行业产品广泛的运用于医学、药学、检验学、卫生免疫学、食品安全、农业科学等民营领域</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1" name="组合 10">
              <a:extLst>
                <a:ext uri="{FF2B5EF4-FFF2-40B4-BE49-F238E27FC236}">
                  <a16:creationId xmlns:a16="http://schemas.microsoft.com/office/drawing/2014/main" id="{EAEB2D4B-F74F-30EC-E521-85D4F21377C8}"/>
                </a:ext>
              </a:extLst>
            </p:cNvPr>
            <p:cNvGrpSpPr/>
            <p:nvPr/>
          </p:nvGrpSpPr>
          <p:grpSpPr>
            <a:xfrm>
              <a:off x="5995737" y="3160309"/>
              <a:ext cx="5607295" cy="2374218"/>
              <a:chOff x="3933747" y="1437300"/>
              <a:chExt cx="7908339" cy="3778322"/>
            </a:xfrm>
          </p:grpSpPr>
          <p:sp>
            <p:nvSpPr>
              <p:cNvPr id="12" name="矩形: 圆角 11">
                <a:extLst>
                  <a:ext uri="{FF2B5EF4-FFF2-40B4-BE49-F238E27FC236}">
                    <a16:creationId xmlns:a16="http://schemas.microsoft.com/office/drawing/2014/main" id="{7C5F9064-FEBD-07B6-808D-F33234278EDB}"/>
                  </a:ext>
                </a:extLst>
              </p:cNvPr>
              <p:cNvSpPr/>
              <p:nvPr/>
            </p:nvSpPr>
            <p:spPr>
              <a:xfrm>
                <a:off x="3933747" y="1437300"/>
                <a:ext cx="7908339" cy="3778322"/>
              </a:xfrm>
              <a:prstGeom prst="roundRect">
                <a:avLst>
                  <a:gd name="adj" fmla="val 391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6" name="Rectangle 3">
                <a:extLst>
                  <a:ext uri="{FF2B5EF4-FFF2-40B4-BE49-F238E27FC236}">
                    <a16:creationId xmlns:a16="http://schemas.microsoft.com/office/drawing/2014/main" id="{E74B9264-ECD8-6C39-9A7F-0237335EB4E1}"/>
                  </a:ext>
                </a:extLst>
              </p:cNvPr>
              <p:cNvSpPr txBox="1">
                <a:spLocks/>
              </p:cNvSpPr>
              <p:nvPr/>
            </p:nvSpPr>
            <p:spPr>
              <a:xfrm>
                <a:off x="4321180" y="1716466"/>
                <a:ext cx="7426779" cy="2825994"/>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2600" b="1">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行业竞争促进行业正向发展：</a:t>
                </a:r>
              </a:p>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在市场发展中，行业企业为争取竞争优势，尤其是大中型企业，越来越重视自主研发实力，在企业科研方面投入逐年增长，企业科研服务市场逐步打开，未来科研用检测试剂的服务主体趋于多元化</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pic>
        <p:nvPicPr>
          <p:cNvPr id="3" name="图片 2">
            <a:extLst>
              <a:ext uri="{FF2B5EF4-FFF2-40B4-BE49-F238E27FC236}">
                <a16:creationId xmlns:a16="http://schemas.microsoft.com/office/drawing/2014/main" id="{C7B05E0F-CF5F-C215-F79D-D0DFBA6B76FF}"/>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421956" y="1471308"/>
            <a:ext cx="4641614" cy="4641614"/>
          </a:xfrm>
          <a:prstGeom prst="rect">
            <a:avLst/>
          </a:prstGeom>
        </p:spPr>
      </p:pic>
    </p:spTree>
    <p:extLst>
      <p:ext uri="{BB962C8B-B14F-4D97-AF65-F5344CB8AC3E}">
        <p14:creationId xmlns:p14="http://schemas.microsoft.com/office/powerpoint/2010/main" val="3406105420"/>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down)">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772E7-8278-41B0-F5F9-25A1A7CD3C5B}"/>
            </a:ext>
          </a:extLst>
        </p:cNvPr>
        <p:cNvGrpSpPr/>
        <p:nvPr/>
      </p:nvGrpSpPr>
      <p:grpSpPr>
        <a:xfrm>
          <a:off x="0" y="0"/>
          <a:ext cx="0" cy="0"/>
          <a:chOff x="0" y="0"/>
          <a:chExt cx="0" cy="0"/>
        </a:xfrm>
      </p:grpSpPr>
      <p:sp>
        <p:nvSpPr>
          <p:cNvPr id="21" name="任意多边形: 形状 20">
            <a:extLst>
              <a:ext uri="{FF2B5EF4-FFF2-40B4-BE49-F238E27FC236}">
                <a16:creationId xmlns:a16="http://schemas.microsoft.com/office/drawing/2014/main" id="{92D11FF8-2894-9493-9D2E-026AE9C35FA8}"/>
              </a:ext>
            </a:extLst>
          </p:cNvPr>
          <p:cNvSpPr/>
          <p:nvPr/>
        </p:nvSpPr>
        <p:spPr>
          <a:xfrm>
            <a:off x="1" y="1233594"/>
            <a:ext cx="8407401" cy="4390812"/>
          </a:xfrm>
          <a:custGeom>
            <a:avLst/>
            <a:gdLst>
              <a:gd name="connsiteX0" fmla="*/ 0 w 8407401"/>
              <a:gd name="connsiteY0" fmla="*/ 0 h 4390812"/>
              <a:gd name="connsiteX1" fmla="*/ 6211995 w 8407401"/>
              <a:gd name="connsiteY1" fmla="*/ 0 h 4390812"/>
              <a:gd name="connsiteX2" fmla="*/ 8407401 w 8407401"/>
              <a:gd name="connsiteY2" fmla="*/ 2195406 h 4390812"/>
              <a:gd name="connsiteX3" fmla="*/ 8407400 w 8407401"/>
              <a:gd name="connsiteY3" fmla="*/ 2195406 h 4390812"/>
              <a:gd name="connsiteX4" fmla="*/ 6211994 w 8407401"/>
              <a:gd name="connsiteY4" fmla="*/ 4390812 h 4390812"/>
              <a:gd name="connsiteX5" fmla="*/ 0 w 8407401"/>
              <a:gd name="connsiteY5" fmla="*/ 4390811 h 4390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07401" h="4390812">
                <a:moveTo>
                  <a:pt x="0" y="0"/>
                </a:moveTo>
                <a:lnTo>
                  <a:pt x="6211995" y="0"/>
                </a:lnTo>
                <a:cubicBezTo>
                  <a:pt x="7424484" y="0"/>
                  <a:pt x="8407401" y="982917"/>
                  <a:pt x="8407401" y="2195406"/>
                </a:cubicBezTo>
                <a:lnTo>
                  <a:pt x="8407400" y="2195406"/>
                </a:lnTo>
                <a:cubicBezTo>
                  <a:pt x="8407400" y="3407895"/>
                  <a:pt x="7424483" y="4390812"/>
                  <a:pt x="6211994" y="4390812"/>
                </a:cubicBezTo>
                <a:lnTo>
                  <a:pt x="0" y="4390811"/>
                </a:lnTo>
                <a:close/>
              </a:path>
            </a:pathLst>
          </a:custGeom>
          <a:gradFill>
            <a:gsLst>
              <a:gs pos="54000">
                <a:srgbClr val="04CADF"/>
              </a:gs>
              <a:gs pos="0">
                <a:srgbClr val="04CADF">
                  <a:alpha val="12000"/>
                </a:srgbClr>
              </a:gs>
            </a:gsLst>
            <a:lin ang="10800000" scaled="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图形">
            <a:extLst>
              <a:ext uri="{FF2B5EF4-FFF2-40B4-BE49-F238E27FC236}">
                <a16:creationId xmlns:a16="http://schemas.microsoft.com/office/drawing/2014/main" id="{91647424-C820-D3F7-C512-B2466828586A}"/>
              </a:ext>
            </a:extLst>
          </p:cNvPr>
          <p:cNvSpPr/>
          <p:nvPr/>
        </p:nvSpPr>
        <p:spPr>
          <a:xfrm>
            <a:off x="5842000" y="-151765"/>
            <a:ext cx="6148705" cy="6148705"/>
          </a:xfrm>
          <a:prstGeom prst="ellipse">
            <a:avLst/>
          </a:prstGeom>
          <a:noFill/>
          <a:ln>
            <a:gradFill>
              <a:gsLst>
                <a:gs pos="0">
                  <a:srgbClr val="FD7E5C"/>
                </a:gs>
                <a:gs pos="100000">
                  <a:srgbClr val="FF9449"/>
                </a:gs>
              </a:gsLst>
              <a:lin ang="5400000" scaled="1"/>
            </a:grad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3" name="图形">
            <a:extLst>
              <a:ext uri="{FF2B5EF4-FFF2-40B4-BE49-F238E27FC236}">
                <a16:creationId xmlns:a16="http://schemas.microsoft.com/office/drawing/2014/main" id="{42955E84-DD4B-276D-B442-E1377C24F934}"/>
              </a:ext>
            </a:extLst>
          </p:cNvPr>
          <p:cNvSpPr/>
          <p:nvPr/>
        </p:nvSpPr>
        <p:spPr>
          <a:xfrm flipV="1">
            <a:off x="7619365" y="0"/>
            <a:ext cx="4572635" cy="3686175"/>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53373" h="5325261">
                <a:moveTo>
                  <a:pt x="4595548" y="1367261"/>
                </a:moveTo>
                <a:cubicBezTo>
                  <a:pt x="4985179" y="-967801"/>
                  <a:pt x="8167423" y="395711"/>
                  <a:pt x="10053373" y="395711"/>
                </a:cubicBezTo>
                <a:lnTo>
                  <a:pt x="10053373" y="5325261"/>
                </a:lnTo>
                <a:lnTo>
                  <a:pt x="23548" y="5325261"/>
                </a:lnTo>
                <a:cubicBezTo>
                  <a:pt x="-376502" y="2710528"/>
                  <a:pt x="4450989" y="4358963"/>
                  <a:pt x="4595548" y="1367261"/>
                </a:cubicBezTo>
                <a:close/>
              </a:path>
            </a:pathLst>
          </a:custGeom>
          <a:gradFill>
            <a:gsLst>
              <a:gs pos="100000">
                <a:srgbClr val="04CADF"/>
              </a:gs>
              <a:gs pos="0">
                <a:srgbClr val="04CADF">
                  <a:alpha val="22000"/>
                </a:srgbClr>
              </a:gs>
            </a:gsLst>
            <a:lin ang="7800000" scaled="0"/>
          </a:gradFill>
          <a:ln>
            <a:noFill/>
          </a:ln>
          <a:effectLst>
            <a:outerShdw blurRad="50800" dist="38100" dir="8100000" algn="tr" rotWithShape="0">
              <a:srgbClr val="E95D8E">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任意多边形: 形状 59">
            <a:extLst>
              <a:ext uri="{FF2B5EF4-FFF2-40B4-BE49-F238E27FC236}">
                <a16:creationId xmlns:a16="http://schemas.microsoft.com/office/drawing/2014/main" id="{96F60875-14D8-C0B1-465F-42F5CD75BCCE}"/>
              </a:ext>
            </a:extLst>
          </p:cNvPr>
          <p:cNvSpPr/>
          <p:nvPr/>
        </p:nvSpPr>
        <p:spPr>
          <a:xfrm flipH="1">
            <a:off x="11609704" y="6224196"/>
            <a:ext cx="582296" cy="636241"/>
          </a:xfrm>
          <a:custGeom>
            <a:avLst/>
            <a:gdLst>
              <a:gd name="connsiteX0" fmla="*/ 0 w 582296"/>
              <a:gd name="connsiteY0" fmla="*/ 0 h 636241"/>
              <a:gd name="connsiteX1" fmla="*/ 0 w 582296"/>
              <a:gd name="connsiteY1" fmla="*/ 636241 h 636241"/>
              <a:gd name="connsiteX2" fmla="*/ 579527 w 582296"/>
              <a:gd name="connsiteY2" fmla="*/ 636241 h 636241"/>
              <a:gd name="connsiteX3" fmla="*/ 582296 w 582296"/>
              <a:gd name="connsiteY3" fmla="*/ 608254 h 636241"/>
              <a:gd name="connsiteX4" fmla="*/ 104424 w 582296"/>
              <a:gd name="connsiteY4" fmla="*/ 10728 h 636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96" h="636241">
                <a:moveTo>
                  <a:pt x="0" y="0"/>
                </a:moveTo>
                <a:lnTo>
                  <a:pt x="0" y="636241"/>
                </a:lnTo>
                <a:lnTo>
                  <a:pt x="579527" y="636241"/>
                </a:lnTo>
                <a:lnTo>
                  <a:pt x="582296" y="608254"/>
                </a:lnTo>
                <a:cubicBezTo>
                  <a:pt x="582296" y="313512"/>
                  <a:pt x="377145" y="67600"/>
                  <a:pt x="104424" y="10728"/>
                </a:cubicBez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64" name="任意多边形: 形状 63">
            <a:extLst>
              <a:ext uri="{FF2B5EF4-FFF2-40B4-BE49-F238E27FC236}">
                <a16:creationId xmlns:a16="http://schemas.microsoft.com/office/drawing/2014/main" id="{2986CC7C-CE10-CCD2-EECC-19436F4D668F}"/>
              </a:ext>
            </a:extLst>
          </p:cNvPr>
          <p:cNvSpPr/>
          <p:nvPr/>
        </p:nvSpPr>
        <p:spPr>
          <a:xfrm flipH="1">
            <a:off x="1807" y="258626"/>
            <a:ext cx="287319" cy="452120"/>
          </a:xfrm>
          <a:custGeom>
            <a:avLst/>
            <a:gdLst>
              <a:gd name="connsiteX0" fmla="*/ 221615 w 287319"/>
              <a:gd name="connsiteY0" fmla="*/ 0 h 452120"/>
              <a:gd name="connsiteX1" fmla="*/ 0 w 287319"/>
              <a:gd name="connsiteY1" fmla="*/ 226060 h 452120"/>
              <a:gd name="connsiteX2" fmla="*/ 221615 w 287319"/>
              <a:gd name="connsiteY2" fmla="*/ 452120 h 452120"/>
              <a:gd name="connsiteX3" fmla="*/ 287319 w 287319"/>
              <a:gd name="connsiteY3" fmla="*/ 438589 h 452120"/>
              <a:gd name="connsiteX4" fmla="*/ 287319 w 287319"/>
              <a:gd name="connsiteY4" fmla="*/ 13531 h 452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319" h="452120">
                <a:moveTo>
                  <a:pt x="221615" y="0"/>
                </a:moveTo>
                <a:cubicBezTo>
                  <a:pt x="99220" y="0"/>
                  <a:pt x="0" y="101211"/>
                  <a:pt x="0" y="226060"/>
                </a:cubicBezTo>
                <a:cubicBezTo>
                  <a:pt x="0" y="350909"/>
                  <a:pt x="99220" y="452120"/>
                  <a:pt x="221615" y="452120"/>
                </a:cubicBezTo>
                <a:lnTo>
                  <a:pt x="287319" y="438589"/>
                </a:lnTo>
                <a:lnTo>
                  <a:pt x="287319" y="13531"/>
                </a:ln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38" name="图形">
            <a:extLst>
              <a:ext uri="{FF2B5EF4-FFF2-40B4-BE49-F238E27FC236}">
                <a16:creationId xmlns:a16="http://schemas.microsoft.com/office/drawing/2014/main" id="{C1C1C967-51AF-DEDF-A542-BED0077B83FC}"/>
              </a:ext>
            </a:extLst>
          </p:cNvPr>
          <p:cNvSpPr/>
          <p:nvPr/>
        </p:nvSpPr>
        <p:spPr>
          <a:xfrm flipV="1">
            <a:off x="11121390" y="5718175"/>
            <a:ext cx="300990" cy="300990"/>
          </a:xfrm>
          <a:prstGeom prst="ellipse">
            <a:avLst/>
          </a:prstGeom>
          <a:gradFill>
            <a:gsLst>
              <a:gs pos="100000">
                <a:srgbClr val="04CADF"/>
              </a:gs>
              <a:gs pos="0">
                <a:srgbClr val="04CADF">
                  <a:alpha val="22000"/>
                </a:srgbClr>
              </a:gs>
            </a:gsLst>
            <a:lin ang="7800000" scaled="0"/>
          </a:gradFill>
          <a:ln>
            <a:noFill/>
          </a:ln>
          <a:effectLst>
            <a:outerShdw blurRad="609600" dist="152400" dir="13500000" algn="br" rotWithShape="0">
              <a:srgbClr val="FF8C4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9" name="组合 48">
            <a:extLst>
              <a:ext uri="{FF2B5EF4-FFF2-40B4-BE49-F238E27FC236}">
                <a16:creationId xmlns:a16="http://schemas.microsoft.com/office/drawing/2014/main" id="{016A0E2D-7E17-E7B9-C6D5-7BFC3FD4A948}"/>
              </a:ext>
            </a:extLst>
          </p:cNvPr>
          <p:cNvGrpSpPr/>
          <p:nvPr/>
        </p:nvGrpSpPr>
        <p:grpSpPr>
          <a:xfrm>
            <a:off x="6594463" y="1110193"/>
            <a:ext cx="4666991" cy="4666992"/>
            <a:chOff x="6550025" y="1108105"/>
            <a:chExt cx="5435600" cy="5435600"/>
          </a:xfrm>
        </p:grpSpPr>
        <p:sp>
          <p:nvSpPr>
            <p:cNvPr id="51" name="椭圆 50">
              <a:extLst>
                <a:ext uri="{FF2B5EF4-FFF2-40B4-BE49-F238E27FC236}">
                  <a16:creationId xmlns:a16="http://schemas.microsoft.com/office/drawing/2014/main" id="{596E273B-BA84-10B7-1D38-8E743CE538DE}"/>
                </a:ext>
              </a:extLst>
            </p:cNvPr>
            <p:cNvSpPr/>
            <p:nvPr/>
          </p:nvSpPr>
          <p:spPr>
            <a:xfrm flipH="1">
              <a:off x="6550025" y="1108105"/>
              <a:ext cx="5435600" cy="5435600"/>
            </a:xfrm>
            <a:prstGeom prst="ellipse">
              <a:avLst/>
            </a:prstGeom>
            <a:solidFill>
              <a:schemeClr val="bg1"/>
            </a:solidFill>
            <a:ln>
              <a:noFill/>
            </a:ln>
            <a:effectLst>
              <a:outerShdw blurRad="584200" dist="203200" dir="5400000" sx="92000" sy="92000" algn="ctr" rotWithShape="0">
                <a:srgbClr val="04CADF">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 name="椭圆 51">
              <a:extLst>
                <a:ext uri="{FF2B5EF4-FFF2-40B4-BE49-F238E27FC236}">
                  <a16:creationId xmlns:a16="http://schemas.microsoft.com/office/drawing/2014/main" id="{EC742C32-5676-BB00-CAF4-2E0AF1DB6405}"/>
                </a:ext>
              </a:extLst>
            </p:cNvPr>
            <p:cNvSpPr/>
            <p:nvPr/>
          </p:nvSpPr>
          <p:spPr>
            <a:xfrm flipH="1">
              <a:off x="7048486" y="1606566"/>
              <a:ext cx="4438679" cy="4438678"/>
            </a:xfrm>
            <a:prstGeom prst="ellipse">
              <a:avLst/>
            </a:prstGeom>
            <a:blipFill dpi="0" rotWithShape="1">
              <a:blip r:embed="rId3" cstate="email">
                <a:alphaModFix amt="99000"/>
                <a:extLst>
                  <a:ext uri="{28A0092B-C50C-407E-A947-70E740481C1C}">
                    <a14:useLocalDpi xmlns:a14="http://schemas.microsoft.com/office/drawing/2010/main"/>
                  </a:ext>
                </a:extLst>
              </a:blip>
              <a:srcRect/>
              <a:tile tx="0" ty="0" sx="27000" sy="27000" flip="none" algn="ctr"/>
            </a:bli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6" name="任意多边形: 形状 55">
            <a:extLst>
              <a:ext uri="{FF2B5EF4-FFF2-40B4-BE49-F238E27FC236}">
                <a16:creationId xmlns:a16="http://schemas.microsoft.com/office/drawing/2014/main" id="{4A846C1F-9C6D-FBE9-0E2D-3260E3F4A2E8}"/>
              </a:ext>
            </a:extLst>
          </p:cNvPr>
          <p:cNvSpPr/>
          <p:nvPr/>
        </p:nvSpPr>
        <p:spPr>
          <a:xfrm>
            <a:off x="7395787" y="6237305"/>
            <a:ext cx="1553662" cy="620695"/>
          </a:xfrm>
          <a:custGeom>
            <a:avLst/>
            <a:gdLst>
              <a:gd name="connsiteX0" fmla="*/ 776831 w 1553662"/>
              <a:gd name="connsiteY0" fmla="*/ 0 h 620695"/>
              <a:gd name="connsiteX1" fmla="*/ 1512321 w 1553662"/>
              <a:gd name="connsiteY1" fmla="*/ 487516 h 620695"/>
              <a:gd name="connsiteX2" fmla="*/ 1553662 w 1553662"/>
              <a:gd name="connsiteY2" fmla="*/ 620695 h 620695"/>
              <a:gd name="connsiteX3" fmla="*/ 1274065 w 1553662"/>
              <a:gd name="connsiteY3" fmla="*/ 620695 h 620695"/>
              <a:gd name="connsiteX4" fmla="*/ 1265138 w 1553662"/>
              <a:gd name="connsiteY4" fmla="*/ 591937 h 620695"/>
              <a:gd name="connsiteX5" fmla="*/ 776831 w 1553662"/>
              <a:gd name="connsiteY5" fmla="*/ 268265 h 620695"/>
              <a:gd name="connsiteX6" fmla="*/ 288525 w 1553662"/>
              <a:gd name="connsiteY6" fmla="*/ 591937 h 620695"/>
              <a:gd name="connsiteX7" fmla="*/ 279597 w 1553662"/>
              <a:gd name="connsiteY7" fmla="*/ 620695 h 620695"/>
              <a:gd name="connsiteX8" fmla="*/ 0 w 1553662"/>
              <a:gd name="connsiteY8" fmla="*/ 620695 h 620695"/>
              <a:gd name="connsiteX9" fmla="*/ 41341 w 1553662"/>
              <a:gd name="connsiteY9" fmla="*/ 487516 h 620695"/>
              <a:gd name="connsiteX10" fmla="*/ 776831 w 1553662"/>
              <a:gd name="connsiteY10" fmla="*/ 0 h 6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3662" h="620695">
                <a:moveTo>
                  <a:pt x="776831" y="0"/>
                </a:moveTo>
                <a:cubicBezTo>
                  <a:pt x="1107464" y="0"/>
                  <a:pt x="1391145" y="201023"/>
                  <a:pt x="1512321" y="487516"/>
                </a:cubicBezTo>
                <a:lnTo>
                  <a:pt x="1553662" y="620695"/>
                </a:lnTo>
                <a:lnTo>
                  <a:pt x="1274065" y="620695"/>
                </a:lnTo>
                <a:lnTo>
                  <a:pt x="1265138" y="591937"/>
                </a:lnTo>
                <a:cubicBezTo>
                  <a:pt x="1184687" y="401729"/>
                  <a:pt x="996345" y="268265"/>
                  <a:pt x="776831" y="268265"/>
                </a:cubicBezTo>
                <a:cubicBezTo>
                  <a:pt x="557318" y="268265"/>
                  <a:pt x="368976" y="401729"/>
                  <a:pt x="288525" y="591937"/>
                </a:cubicBezTo>
                <a:lnTo>
                  <a:pt x="279597" y="620695"/>
                </a:lnTo>
                <a:lnTo>
                  <a:pt x="0" y="620695"/>
                </a:lnTo>
                <a:lnTo>
                  <a:pt x="41341" y="487516"/>
                </a:lnTo>
                <a:cubicBezTo>
                  <a:pt x="162517" y="201023"/>
                  <a:pt x="446198" y="0"/>
                  <a:pt x="776831" y="0"/>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矩形 45">
            <a:extLst>
              <a:ext uri="{FF2B5EF4-FFF2-40B4-BE49-F238E27FC236}">
                <a16:creationId xmlns:a16="http://schemas.microsoft.com/office/drawing/2014/main" id="{6CB9FF89-E68F-7E11-0062-2303F705C398}"/>
              </a:ext>
            </a:extLst>
          </p:cNvPr>
          <p:cNvSpPr/>
          <p:nvPr>
            <p:custDataLst>
              <p:tags r:id="rId1"/>
            </p:custDataLst>
          </p:nvPr>
        </p:nvSpPr>
        <p:spPr>
          <a:xfrm>
            <a:off x="717102" y="315502"/>
            <a:ext cx="4290833" cy="307777"/>
          </a:xfrm>
          <a:prstGeom prst="rect">
            <a:avLst/>
          </a:prstGeom>
        </p:spPr>
        <p:txBody>
          <a:bodyPr wrap="square">
            <a:spAutoFit/>
            <a:scene3d>
              <a:camera prst="orthographicFront"/>
              <a:lightRig rig="threePt" dir="t"/>
            </a:scene3d>
            <a:sp3d contourW="12700"/>
          </a:bodyPr>
          <a:lstStyle/>
          <a:p>
            <a:pPr algn="dist"/>
            <a:r>
              <a:rPr lang="en-US" altLang="zh-CN" sz="140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PET ECONOMY DEPARTMENT REPORT//</a:t>
            </a:r>
            <a:endPar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7" name="组合 46">
            <a:extLst>
              <a:ext uri="{FF2B5EF4-FFF2-40B4-BE49-F238E27FC236}">
                <a16:creationId xmlns:a16="http://schemas.microsoft.com/office/drawing/2014/main" id="{90542241-C5FE-D3F6-BCED-7A1C0B085F2A}"/>
              </a:ext>
            </a:extLst>
          </p:cNvPr>
          <p:cNvGrpSpPr/>
          <p:nvPr/>
        </p:nvGrpSpPr>
        <p:grpSpPr>
          <a:xfrm>
            <a:off x="595256" y="1934913"/>
            <a:ext cx="5999207" cy="2988175"/>
            <a:chOff x="595256" y="1766274"/>
            <a:chExt cx="5999207" cy="2988175"/>
          </a:xfrm>
        </p:grpSpPr>
        <p:grpSp>
          <p:nvGrpSpPr>
            <p:cNvPr id="48" name="组合 47">
              <a:extLst>
                <a:ext uri="{FF2B5EF4-FFF2-40B4-BE49-F238E27FC236}">
                  <a16:creationId xmlns:a16="http://schemas.microsoft.com/office/drawing/2014/main" id="{37ADAF88-A08B-2D45-1488-F5E353AF59E9}"/>
                </a:ext>
              </a:extLst>
            </p:cNvPr>
            <p:cNvGrpSpPr/>
            <p:nvPr/>
          </p:nvGrpSpPr>
          <p:grpSpPr>
            <a:xfrm>
              <a:off x="667663" y="1766274"/>
              <a:ext cx="5821931" cy="1107996"/>
              <a:chOff x="667663" y="1766274"/>
              <a:chExt cx="5821931" cy="1107996"/>
            </a:xfrm>
          </p:grpSpPr>
          <p:sp>
            <p:nvSpPr>
              <p:cNvPr id="54" name="文本框 53">
                <a:extLst>
                  <a:ext uri="{FF2B5EF4-FFF2-40B4-BE49-F238E27FC236}">
                    <a16:creationId xmlns:a16="http://schemas.microsoft.com/office/drawing/2014/main" id="{0AEF07F3-C807-E8E9-086D-D246D5C8EC7B}"/>
                  </a:ext>
                </a:extLst>
              </p:cNvPr>
              <p:cNvSpPr txBox="1"/>
              <p:nvPr/>
            </p:nvSpPr>
            <p:spPr>
              <a:xfrm>
                <a:off x="667663" y="1766274"/>
                <a:ext cx="4097650" cy="1107996"/>
              </a:xfrm>
              <a:prstGeom prst="rect">
                <a:avLst/>
              </a:prstGeom>
              <a:noFill/>
              <a:ln>
                <a:noFill/>
              </a:ln>
            </p:spPr>
            <p:txBody>
              <a:bodyPr wrap="square" rtlCol="0">
                <a:spAutoFit/>
              </a:bodyPr>
              <a:lstStyle/>
              <a:p>
                <a:r>
                  <a:rPr lang="en-US" altLang="zh-CN" sz="6600">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P</a:t>
                </a:r>
                <a:r>
                  <a:rPr lang="en-US" altLang="zh-CN" sz="660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ART 03</a:t>
                </a:r>
                <a:endParaRPr lang="zh-CN" altLang="en-US" sz="6600" dirty="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endParaRPr>
              </a:p>
            </p:txBody>
          </p:sp>
          <p:grpSp>
            <p:nvGrpSpPr>
              <p:cNvPr id="55" name="组合 54">
                <a:extLst>
                  <a:ext uri="{FF2B5EF4-FFF2-40B4-BE49-F238E27FC236}">
                    <a16:creationId xmlns:a16="http://schemas.microsoft.com/office/drawing/2014/main" id="{04451162-ADDC-4D82-0BF8-2799F074C7A3}"/>
                  </a:ext>
                </a:extLst>
              </p:cNvPr>
              <p:cNvGrpSpPr/>
              <p:nvPr/>
            </p:nvGrpSpPr>
            <p:grpSpPr>
              <a:xfrm>
                <a:off x="4419448" y="1929674"/>
                <a:ext cx="2070146" cy="756818"/>
                <a:chOff x="9157835" y="1805408"/>
                <a:chExt cx="2070146" cy="756818"/>
              </a:xfrm>
            </p:grpSpPr>
            <p:cxnSp>
              <p:nvCxnSpPr>
                <p:cNvPr id="57" name="直接连接符 56">
                  <a:extLst>
                    <a:ext uri="{FF2B5EF4-FFF2-40B4-BE49-F238E27FC236}">
                      <a16:creationId xmlns:a16="http://schemas.microsoft.com/office/drawing/2014/main" id="{B8B19825-66D1-45A6-A82F-B29BCB275003}"/>
                    </a:ext>
                  </a:extLst>
                </p:cNvPr>
                <p:cNvCxnSpPr/>
                <p:nvPr/>
              </p:nvCxnSpPr>
              <p:spPr>
                <a:xfrm>
                  <a:off x="9157835" y="2183817"/>
                  <a:ext cx="1551782" cy="0"/>
                </a:xfrm>
                <a:prstGeom prst="line">
                  <a:avLst/>
                </a:prstGeom>
                <a:solidFill>
                  <a:schemeClr val="accent1">
                    <a:lumMod val="20000"/>
                    <a:lumOff val="80000"/>
                  </a:schemeClr>
                </a:solidFill>
                <a:ln w="15875">
                  <a:noFill/>
                </a:ln>
              </p:spPr>
              <p:style>
                <a:lnRef idx="1">
                  <a:schemeClr val="accent1"/>
                </a:lnRef>
                <a:fillRef idx="0">
                  <a:schemeClr val="accent1"/>
                </a:fillRef>
                <a:effectRef idx="0">
                  <a:schemeClr val="accent1"/>
                </a:effectRef>
                <a:fontRef idx="minor">
                  <a:schemeClr val="tx1"/>
                </a:fontRef>
              </p:style>
            </p:cxnSp>
            <p:sp>
              <p:nvSpPr>
                <p:cNvPr id="58" name="弧形 57">
                  <a:extLst>
                    <a:ext uri="{FF2B5EF4-FFF2-40B4-BE49-F238E27FC236}">
                      <a16:creationId xmlns:a16="http://schemas.microsoft.com/office/drawing/2014/main" id="{122C64F3-E498-CA5F-04F2-37E971171601}"/>
                    </a:ext>
                  </a:extLst>
                </p:cNvPr>
                <p:cNvSpPr/>
                <p:nvPr/>
              </p:nvSpPr>
              <p:spPr>
                <a:xfrm flipH="1" flipV="1">
                  <a:off x="10389590" y="1805408"/>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59" name="弧形 58">
                  <a:extLst>
                    <a:ext uri="{FF2B5EF4-FFF2-40B4-BE49-F238E27FC236}">
                      <a16:creationId xmlns:a16="http://schemas.microsoft.com/office/drawing/2014/main" id="{1F6EA947-C46B-0700-ABCA-0D57D5B755AD}"/>
                    </a:ext>
                  </a:extLst>
                </p:cNvPr>
                <p:cNvSpPr/>
                <p:nvPr/>
              </p:nvSpPr>
              <p:spPr>
                <a:xfrm flipH="1">
                  <a:off x="10389590" y="2183817"/>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grpSp>
        </p:grpSp>
        <p:sp>
          <p:nvSpPr>
            <p:cNvPr id="50" name="文本框 49">
              <a:extLst>
                <a:ext uri="{FF2B5EF4-FFF2-40B4-BE49-F238E27FC236}">
                  <a16:creationId xmlns:a16="http://schemas.microsoft.com/office/drawing/2014/main" id="{4B814788-A3CD-430A-DD96-FF3FB175B2DF}"/>
                </a:ext>
              </a:extLst>
            </p:cNvPr>
            <p:cNvSpPr txBox="1"/>
            <p:nvPr/>
          </p:nvSpPr>
          <p:spPr>
            <a:xfrm>
              <a:off x="595256" y="2951046"/>
              <a:ext cx="5999207" cy="1200329"/>
            </a:xfrm>
            <a:prstGeom prst="rect">
              <a:avLst/>
            </a:prstGeom>
            <a:noFill/>
            <a:ln>
              <a:noFill/>
            </a:ln>
          </p:spPr>
          <p:txBody>
            <a:bodyPr wrap="square" rtlCol="0">
              <a:spAutoFit/>
            </a:bodyPr>
            <a:lstStyle/>
            <a:p>
              <a:pPr>
                <a:spcBef>
                  <a:spcPts val="50"/>
                </a:spcBef>
              </a:pPr>
              <a:r>
                <a:rPr lang="zh-CN" altLang="en-US" sz="7200" dirty="0">
                  <a:solidFill>
                    <a:schemeClr val="bg1"/>
                  </a:solidFill>
                  <a:latin typeface="猫啃网风雅宋" panose="02020700000000000000" pitchFamily="18" charset="-122"/>
                  <a:ea typeface="猫啃网风雅宋" panose="02020700000000000000" pitchFamily="18" charset="-122"/>
                  <a:cs typeface="+mn-ea"/>
                  <a:sym typeface="思源黑体 CN Medium" panose="020B0600000000000000" pitchFamily="34" charset="-122"/>
                </a:rPr>
                <a:t>行业发展环境</a:t>
              </a:r>
            </a:p>
          </p:txBody>
        </p:sp>
        <p:sp>
          <p:nvSpPr>
            <p:cNvPr id="53" name="文本框 52">
              <a:extLst>
                <a:ext uri="{FF2B5EF4-FFF2-40B4-BE49-F238E27FC236}">
                  <a16:creationId xmlns:a16="http://schemas.microsoft.com/office/drawing/2014/main" id="{DEA9C855-4FC7-9E11-7B74-F6B4BD1CCDB7}"/>
                </a:ext>
              </a:extLst>
            </p:cNvPr>
            <p:cNvSpPr txBox="1"/>
            <p:nvPr/>
          </p:nvSpPr>
          <p:spPr>
            <a:xfrm>
              <a:off x="679041" y="4415895"/>
              <a:ext cx="5292190" cy="338554"/>
            </a:xfrm>
            <a:prstGeom prst="rect">
              <a:avLst/>
            </a:prstGeom>
            <a:noFill/>
            <a:ln>
              <a:noFill/>
            </a:ln>
          </p:spPr>
          <p:txBody>
            <a:bodyPr wrap="square">
              <a:spAutoFit/>
            </a:bodyPr>
            <a:lstStyle/>
            <a:p>
              <a:pPr algn="dist"/>
              <a:r>
                <a:rPr lang="zh-CN" altLang="en-US" sz="1600">
                  <a:solidFill>
                    <a:schemeClr val="bg1"/>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“宠物经济”行业前景分析报告</a:t>
              </a:r>
              <a:endParaRPr lang="zh-CN" altLang="en-US" sz="16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sp>
        <p:nvSpPr>
          <p:cNvPr id="61" name="任意多边形: 形状 60">
            <a:extLst>
              <a:ext uri="{FF2B5EF4-FFF2-40B4-BE49-F238E27FC236}">
                <a16:creationId xmlns:a16="http://schemas.microsoft.com/office/drawing/2014/main" id="{DC5200FC-1FC8-6299-80F2-26AC82855007}"/>
              </a:ext>
            </a:extLst>
          </p:cNvPr>
          <p:cNvSpPr/>
          <p:nvPr/>
        </p:nvSpPr>
        <p:spPr>
          <a:xfrm rot="5400000">
            <a:off x="5999945" y="168486"/>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3" name="任意多边形: 形状 62">
            <a:extLst>
              <a:ext uri="{FF2B5EF4-FFF2-40B4-BE49-F238E27FC236}">
                <a16:creationId xmlns:a16="http://schemas.microsoft.com/office/drawing/2014/main" id="{BF80C867-F345-20BE-1029-26209863CF79}"/>
              </a:ext>
            </a:extLst>
          </p:cNvPr>
          <p:cNvSpPr/>
          <p:nvPr/>
        </p:nvSpPr>
        <p:spPr>
          <a:xfrm rot="5400000">
            <a:off x="991206" y="5693064"/>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extLst>
      <p:ext uri="{BB962C8B-B14F-4D97-AF65-F5344CB8AC3E}">
        <p14:creationId xmlns:p14="http://schemas.microsoft.com/office/powerpoint/2010/main" val="311483185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right)">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p:cTn id="15" dur="500" fill="hold"/>
                                        <p:tgtEl>
                                          <p:spTgt spid="49"/>
                                        </p:tgtEl>
                                        <p:attrNameLst>
                                          <p:attrName>ppt_w</p:attrName>
                                        </p:attrNameLst>
                                      </p:cBhvr>
                                      <p:tavLst>
                                        <p:tav tm="0">
                                          <p:val>
                                            <p:fltVal val="0"/>
                                          </p:val>
                                        </p:tav>
                                        <p:tav tm="100000">
                                          <p:val>
                                            <p:strVal val="#ppt_w"/>
                                          </p:val>
                                        </p:tav>
                                      </p:tavLst>
                                    </p:anim>
                                    <p:anim calcmode="lin" valueType="num">
                                      <p:cBhvr>
                                        <p:cTn id="16" dur="500" fill="hold"/>
                                        <p:tgtEl>
                                          <p:spTgt spid="49"/>
                                        </p:tgtEl>
                                        <p:attrNameLst>
                                          <p:attrName>ppt_h</p:attrName>
                                        </p:attrNameLst>
                                      </p:cBhvr>
                                      <p:tavLst>
                                        <p:tav tm="0">
                                          <p:val>
                                            <p:fltVal val="0"/>
                                          </p:val>
                                        </p:tav>
                                        <p:tav tm="100000">
                                          <p:val>
                                            <p:strVal val="#ppt_h"/>
                                          </p:val>
                                        </p:tav>
                                      </p:tavLst>
                                    </p:anim>
                                    <p:animEffect transition="in" filter="fade">
                                      <p:cBhvr>
                                        <p:cTn id="17" dur="500"/>
                                        <p:tgtEl>
                                          <p:spTgt spid="49"/>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down)">
                                      <p:cBhvr>
                                        <p:cTn id="20" dur="500"/>
                                        <p:tgtEl>
                                          <p:spTgt spid="60"/>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down)">
                                      <p:cBhvr>
                                        <p:cTn id="23" dur="500"/>
                                        <p:tgtEl>
                                          <p:spTgt spid="38"/>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wipe(down)">
                                      <p:cBhvr>
                                        <p:cTn id="26" dur="500"/>
                                        <p:tgtEl>
                                          <p:spTgt spid="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down)">
                                      <p:cBhvr>
                                        <p:cTn id="41" dur="5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60" grpId="0" animBg="1"/>
      <p:bldP spid="64" grpId="0" animBg="1"/>
      <p:bldP spid="38" grpId="0" animBg="1"/>
      <p:bldP spid="56" grpId="0" animBg="1"/>
      <p:bldP spid="46" grpId="0"/>
      <p:bldP spid="61" grpId="0" animBg="1"/>
      <p:bldP spid="6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5B6C39-F45E-F4E6-8781-C9CBC7A7958E}"/>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B5CC1CD7-E01B-BA15-B2F8-EFC423400063}"/>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B8069F9D-ED67-1E9F-CC91-A54F2687064E}"/>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7499BFB6-F12D-3C54-CE75-A1E46A5E4E2A}"/>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宠物经济行业社会环境</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0B87C7AB-5BFA-D848-C81C-DAB5D31871A8}"/>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BEC1CFF3-478A-7394-5206-13A531E03166}"/>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03</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17" name="组合 16">
            <a:extLst>
              <a:ext uri="{FF2B5EF4-FFF2-40B4-BE49-F238E27FC236}">
                <a16:creationId xmlns:a16="http://schemas.microsoft.com/office/drawing/2014/main" id="{9BE5B34B-9EAB-EB81-BFAC-7EFB51A5770C}"/>
              </a:ext>
            </a:extLst>
          </p:cNvPr>
          <p:cNvGrpSpPr/>
          <p:nvPr/>
        </p:nvGrpSpPr>
        <p:grpSpPr>
          <a:xfrm>
            <a:off x="692326" y="1431758"/>
            <a:ext cx="10807349" cy="4381432"/>
            <a:chOff x="710440" y="1491002"/>
            <a:chExt cx="10807349" cy="3621465"/>
          </a:xfrm>
        </p:grpSpPr>
        <p:sp>
          <p:nvSpPr>
            <p:cNvPr id="15" name="矩形: 圆角 14">
              <a:extLst>
                <a:ext uri="{FF2B5EF4-FFF2-40B4-BE49-F238E27FC236}">
                  <a16:creationId xmlns:a16="http://schemas.microsoft.com/office/drawing/2014/main" id="{34D74136-376D-038B-B424-E5FAB5810278}"/>
                </a:ext>
              </a:extLst>
            </p:cNvPr>
            <p:cNvSpPr/>
            <p:nvPr/>
          </p:nvSpPr>
          <p:spPr>
            <a:xfrm>
              <a:off x="710440" y="1491003"/>
              <a:ext cx="5185033" cy="3621464"/>
            </a:xfrm>
            <a:prstGeom prst="roundRect">
              <a:avLst>
                <a:gd name="adj" fmla="val 2217"/>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spcBef>
                  <a:spcPts val="50"/>
                </a:spcBef>
              </a:pPr>
              <a:endParaRPr lang="zh-CN" altLang="en-US" sz="17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文本框 4"/>
            <p:cNvSpPr txBox="1"/>
            <p:nvPr/>
          </p:nvSpPr>
          <p:spPr>
            <a:xfrm>
              <a:off x="1022684" y="1732972"/>
              <a:ext cx="4692306" cy="3104751"/>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marL="285750" indent="-285750" algn="l">
                <a:spcBef>
                  <a:spcPts val="50"/>
                </a:spcBef>
                <a:buFont typeface="Arial" panose="020B0604020202020204" pitchFamily="34" charset="0"/>
                <a:buChar char="•"/>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中国当前的环境下，挑战与危机并存，中国正面临着最好的发展机遇期，在风险中寻求机遇，抓住机遇，不断壮大自己。</a:t>
              </a:r>
              <a:endParaRPr lang="en-US" altLang="zh-CN"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自改革开放以来，政治体系日趋完善、法治化进程也逐步趋近完美，市场经济体系也在不断蓬勃发展，虽在一些方面上弊端漏洞仍存，但在整体上，我国总体发展稳中向好。</a:t>
              </a:r>
              <a:endParaRPr lang="en-US" altLang="zh-CN"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宏观</a:t>
              </a: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环境稳定繁荣，二十一世纪的华夏繁荣美好，对于青年人来说，也是机遇无限的时代。</a:t>
              </a:r>
            </a:p>
          </p:txBody>
        </p:sp>
        <p:sp>
          <p:nvSpPr>
            <p:cNvPr id="25" name="矩形: 圆角 24">
              <a:extLst>
                <a:ext uri="{FF2B5EF4-FFF2-40B4-BE49-F238E27FC236}">
                  <a16:creationId xmlns:a16="http://schemas.microsoft.com/office/drawing/2014/main" id="{CB38B47B-338B-10AF-F99F-03E059B74D97}"/>
                </a:ext>
              </a:extLst>
            </p:cNvPr>
            <p:cNvSpPr/>
            <p:nvPr/>
          </p:nvSpPr>
          <p:spPr>
            <a:xfrm>
              <a:off x="6332756" y="1491002"/>
              <a:ext cx="5185033" cy="3621464"/>
            </a:xfrm>
            <a:prstGeom prst="roundRect">
              <a:avLst>
                <a:gd name="adj" fmla="val 3111"/>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spcBef>
                  <a:spcPts val="50"/>
                </a:spcBef>
              </a:pPr>
              <a:endParaRPr lang="zh-CN" altLang="en-US" sz="17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 name="文本框 3">
              <a:extLst>
                <a:ext uri="{FF2B5EF4-FFF2-40B4-BE49-F238E27FC236}">
                  <a16:creationId xmlns:a16="http://schemas.microsoft.com/office/drawing/2014/main" id="{A44A2E9E-FCBD-35A8-3497-ABABCEA3A6F2}"/>
                </a:ext>
              </a:extLst>
            </p:cNvPr>
            <p:cNvSpPr txBox="1"/>
            <p:nvPr/>
          </p:nvSpPr>
          <p:spPr>
            <a:xfrm>
              <a:off x="6521888" y="1732972"/>
              <a:ext cx="4770730" cy="3376738"/>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marL="285750" indent="-285750" algn="l">
                <a:spcBef>
                  <a:spcPts val="50"/>
                </a:spcBef>
                <a:buFont typeface="Arial" panose="020B0604020202020204" pitchFamily="34" charset="0"/>
                <a:buChar char="•"/>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改革开放以来，我国经济不断发展，几度赶超世界各国，一跃而上，成为GDP总量仅次于美国的唯一一个发展中国家。</a:t>
              </a:r>
              <a:endParaRPr lang="en-US" altLang="zh-CN"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但同时我们也应看到其中的不足之处，最基本的问题便是就业问题，我国人口基数大，在改革开放后，人才的竞争更显得尤为激烈。</a:t>
              </a:r>
              <a:endParaRPr lang="en-US" altLang="zh-CN"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大学生面对毕业后的就业情况，失业人士一直困扰着我国发展过程中，对于国家来说，促进社会就业公平问题需持续关注井及时解决;对于个人来说提前做好职业规划、人生规划也是人生发展的重中之重。</a:t>
              </a:r>
            </a:p>
          </p:txBody>
        </p:sp>
      </p:grpSp>
    </p:spTree>
    <p:extLst>
      <p:ext uri="{BB962C8B-B14F-4D97-AF65-F5344CB8AC3E}">
        <p14:creationId xmlns:p14="http://schemas.microsoft.com/office/powerpoint/2010/main" val="1948471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down)">
                                      <p:cBhvr>
                                        <p:cTn id="12"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63061-5DB5-B7C2-BDD6-2CDE9E0262EC}"/>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5D592829-92EC-B8CB-6790-09E1500239B8}"/>
              </a:ext>
            </a:extLst>
          </p:cNvPr>
          <p:cNvGrpSpPr/>
          <p:nvPr/>
        </p:nvGrpSpPr>
        <p:grpSpPr>
          <a:xfrm>
            <a:off x="0" y="0"/>
            <a:ext cx="4188534" cy="829430"/>
            <a:chOff x="-1546" y="0"/>
            <a:chExt cx="4188534" cy="829430"/>
          </a:xfrm>
        </p:grpSpPr>
        <p:sp>
          <p:nvSpPr>
            <p:cNvPr id="10" name="矩形: 圆角 9">
              <a:extLst>
                <a:ext uri="{FF2B5EF4-FFF2-40B4-BE49-F238E27FC236}">
                  <a16:creationId xmlns:a16="http://schemas.microsoft.com/office/drawing/2014/main" id="{4E349DFE-0733-F5D9-629E-EB3F4AC407F4}"/>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705A3107-23A6-3C98-5F4A-C47DE82D9643}"/>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宠物经济行业社会环境</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C2059DB3-AD70-FF3A-CA35-26FF35B6497E}"/>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C28016B6-F8BC-6644-2397-D67C2FB95FAA}"/>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03</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9" name="组合 8">
            <a:extLst>
              <a:ext uri="{FF2B5EF4-FFF2-40B4-BE49-F238E27FC236}">
                <a16:creationId xmlns:a16="http://schemas.microsoft.com/office/drawing/2014/main" id="{41F1B96D-707A-82CF-0432-88FF6E48D25F}"/>
              </a:ext>
            </a:extLst>
          </p:cNvPr>
          <p:cNvGrpSpPr/>
          <p:nvPr/>
        </p:nvGrpSpPr>
        <p:grpSpPr>
          <a:xfrm>
            <a:off x="405730" y="1708482"/>
            <a:ext cx="11380541" cy="3894889"/>
            <a:chOff x="811459" y="1732547"/>
            <a:chExt cx="11380541" cy="3894889"/>
          </a:xfrm>
        </p:grpSpPr>
        <p:grpSp>
          <p:nvGrpSpPr>
            <p:cNvPr id="3" name="组合 2">
              <a:extLst>
                <a:ext uri="{FF2B5EF4-FFF2-40B4-BE49-F238E27FC236}">
                  <a16:creationId xmlns:a16="http://schemas.microsoft.com/office/drawing/2014/main" id="{CFEF95EE-E315-6D7C-09D3-910ACB09E71C}"/>
                </a:ext>
              </a:extLst>
            </p:cNvPr>
            <p:cNvGrpSpPr/>
            <p:nvPr/>
          </p:nvGrpSpPr>
          <p:grpSpPr>
            <a:xfrm>
              <a:off x="811459" y="1732547"/>
              <a:ext cx="5517151" cy="3894889"/>
              <a:chOff x="811460" y="2150140"/>
              <a:chExt cx="4312084" cy="3044160"/>
            </a:xfrm>
          </p:grpSpPr>
          <p:sp>
            <p:nvSpPr>
              <p:cNvPr id="19" name="矩形: 圆角 18">
                <a:extLst>
                  <a:ext uri="{FF2B5EF4-FFF2-40B4-BE49-F238E27FC236}">
                    <a16:creationId xmlns:a16="http://schemas.microsoft.com/office/drawing/2014/main" id="{018F0234-0B4D-3016-C7DD-340B2464C57C}"/>
                  </a:ext>
                </a:extLst>
              </p:cNvPr>
              <p:cNvSpPr/>
              <p:nvPr/>
            </p:nvSpPr>
            <p:spPr>
              <a:xfrm>
                <a:off x="811460" y="2150140"/>
                <a:ext cx="4312084" cy="3044160"/>
              </a:xfrm>
              <a:prstGeom prst="roundRect">
                <a:avLst>
                  <a:gd name="adj" fmla="val 220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文本框 4"/>
              <p:cNvSpPr txBox="1"/>
              <p:nvPr/>
            </p:nvSpPr>
            <p:spPr>
              <a:xfrm>
                <a:off x="1047270" y="3578884"/>
                <a:ext cx="3794803" cy="1211126"/>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spcBef>
                    <a:spcPts val="50"/>
                  </a:spcBef>
                </a:pPr>
                <a:r>
                  <a:rPr lang="zh-CN" altLang="en-US" sz="20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传统宠物经济行业市场门槛低、缺乏统一行业标准，服务过程没有专业的监督等问题影响行业发展。互联网与电烙铁的结合，缩减中间环节,为用户提供高性价比的服务。</a:t>
                </a:r>
              </a:p>
            </p:txBody>
          </p:sp>
          <p:sp>
            <p:nvSpPr>
              <p:cNvPr id="4" name="矩形 3">
                <a:extLst>
                  <a:ext uri="{FF2B5EF4-FFF2-40B4-BE49-F238E27FC236}">
                    <a16:creationId xmlns:a16="http://schemas.microsoft.com/office/drawing/2014/main" id="{7DF8DF95-C4B2-FF76-957F-D3F7CAFEADD0}"/>
                  </a:ext>
                </a:extLst>
              </p:cNvPr>
              <p:cNvSpPr/>
              <p:nvPr/>
            </p:nvSpPr>
            <p:spPr>
              <a:xfrm>
                <a:off x="811460" y="2513458"/>
                <a:ext cx="4312084" cy="859759"/>
              </a:xfrm>
              <a:prstGeom prst="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 name="文本框 1">
                <a:extLst>
                  <a:ext uri="{FF2B5EF4-FFF2-40B4-BE49-F238E27FC236}">
                    <a16:creationId xmlns:a16="http://schemas.microsoft.com/office/drawing/2014/main" id="{F7FB81D5-EBE8-F602-E2E8-F95EDAC44CBC}"/>
                  </a:ext>
                </a:extLst>
              </p:cNvPr>
              <p:cNvSpPr txBox="1"/>
              <p:nvPr/>
            </p:nvSpPr>
            <p:spPr>
              <a:xfrm>
                <a:off x="1009653" y="2566438"/>
                <a:ext cx="3894471" cy="756133"/>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l">
                  <a:spcBef>
                    <a:spcPts val="50"/>
                  </a:spcBef>
                </a:pPr>
                <a:r>
                  <a:rPr lang="zh-CN" altLang="en-US" sz="24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90后、00后等各类人群，</a:t>
                </a:r>
                <a:endParaRPr lang="en-US" altLang="zh-CN" sz="24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l">
                  <a:spcBef>
                    <a:spcPts val="50"/>
                  </a:spcBef>
                </a:pPr>
                <a:r>
                  <a:rPr lang="zh-CN" altLang="en-US" sz="24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逐步成为宠物经济行业的消费主力。</a:t>
                </a:r>
              </a:p>
            </p:txBody>
          </p:sp>
        </p:grpSp>
        <p:pic>
          <p:nvPicPr>
            <p:cNvPr id="8" name="图片 7">
              <a:extLst>
                <a:ext uri="{FF2B5EF4-FFF2-40B4-BE49-F238E27FC236}">
                  <a16:creationId xmlns:a16="http://schemas.microsoft.com/office/drawing/2014/main" id="{DCB5E65C-605E-4C73-F806-B669FD7D0F03}"/>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6526046" y="1732547"/>
              <a:ext cx="5665954" cy="3839705"/>
            </a:xfrm>
            <a:prstGeom prst="roundRect">
              <a:avLst>
                <a:gd name="adj" fmla="val 1832"/>
              </a:avLst>
            </a:prstGeom>
          </p:spPr>
        </p:pic>
      </p:grpSp>
    </p:spTree>
    <p:extLst>
      <p:ext uri="{BB962C8B-B14F-4D97-AF65-F5344CB8AC3E}">
        <p14:creationId xmlns:p14="http://schemas.microsoft.com/office/powerpoint/2010/main" val="144182718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4B1CA-7093-F44E-7355-C368072430DF}"/>
            </a:ext>
          </a:extLst>
        </p:cNvPr>
        <p:cNvGrpSpPr/>
        <p:nvPr/>
      </p:nvGrpSpPr>
      <p:grpSpPr>
        <a:xfrm>
          <a:off x="0" y="0"/>
          <a:ext cx="0" cy="0"/>
          <a:chOff x="0" y="0"/>
          <a:chExt cx="0" cy="0"/>
        </a:xfrm>
      </p:grpSpPr>
      <p:sp>
        <p:nvSpPr>
          <p:cNvPr id="21" name="任意多边形: 形状 20">
            <a:extLst>
              <a:ext uri="{FF2B5EF4-FFF2-40B4-BE49-F238E27FC236}">
                <a16:creationId xmlns:a16="http://schemas.microsoft.com/office/drawing/2014/main" id="{1AB8C701-F79B-3280-A9C2-4F03FD404916}"/>
              </a:ext>
            </a:extLst>
          </p:cNvPr>
          <p:cNvSpPr/>
          <p:nvPr/>
        </p:nvSpPr>
        <p:spPr>
          <a:xfrm>
            <a:off x="1" y="1233594"/>
            <a:ext cx="8407401" cy="4390812"/>
          </a:xfrm>
          <a:custGeom>
            <a:avLst/>
            <a:gdLst>
              <a:gd name="connsiteX0" fmla="*/ 0 w 8407401"/>
              <a:gd name="connsiteY0" fmla="*/ 0 h 4390812"/>
              <a:gd name="connsiteX1" fmla="*/ 6211995 w 8407401"/>
              <a:gd name="connsiteY1" fmla="*/ 0 h 4390812"/>
              <a:gd name="connsiteX2" fmla="*/ 8407401 w 8407401"/>
              <a:gd name="connsiteY2" fmla="*/ 2195406 h 4390812"/>
              <a:gd name="connsiteX3" fmla="*/ 8407400 w 8407401"/>
              <a:gd name="connsiteY3" fmla="*/ 2195406 h 4390812"/>
              <a:gd name="connsiteX4" fmla="*/ 6211994 w 8407401"/>
              <a:gd name="connsiteY4" fmla="*/ 4390812 h 4390812"/>
              <a:gd name="connsiteX5" fmla="*/ 0 w 8407401"/>
              <a:gd name="connsiteY5" fmla="*/ 4390811 h 4390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07401" h="4390812">
                <a:moveTo>
                  <a:pt x="0" y="0"/>
                </a:moveTo>
                <a:lnTo>
                  <a:pt x="6211995" y="0"/>
                </a:lnTo>
                <a:cubicBezTo>
                  <a:pt x="7424484" y="0"/>
                  <a:pt x="8407401" y="982917"/>
                  <a:pt x="8407401" y="2195406"/>
                </a:cubicBezTo>
                <a:lnTo>
                  <a:pt x="8407400" y="2195406"/>
                </a:lnTo>
                <a:cubicBezTo>
                  <a:pt x="8407400" y="3407895"/>
                  <a:pt x="7424483" y="4390812"/>
                  <a:pt x="6211994" y="4390812"/>
                </a:cubicBezTo>
                <a:lnTo>
                  <a:pt x="0" y="4390811"/>
                </a:lnTo>
                <a:close/>
              </a:path>
            </a:pathLst>
          </a:custGeom>
          <a:gradFill>
            <a:gsLst>
              <a:gs pos="54000">
                <a:srgbClr val="04CADF"/>
              </a:gs>
              <a:gs pos="0">
                <a:srgbClr val="04CADF">
                  <a:alpha val="12000"/>
                </a:srgbClr>
              </a:gs>
            </a:gsLst>
            <a:lin ang="10800000" scaled="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图形">
            <a:extLst>
              <a:ext uri="{FF2B5EF4-FFF2-40B4-BE49-F238E27FC236}">
                <a16:creationId xmlns:a16="http://schemas.microsoft.com/office/drawing/2014/main" id="{603A85B6-A62C-2C58-F4C9-4D9C7D752F9E}"/>
              </a:ext>
            </a:extLst>
          </p:cNvPr>
          <p:cNvSpPr/>
          <p:nvPr/>
        </p:nvSpPr>
        <p:spPr>
          <a:xfrm>
            <a:off x="5842000" y="-151765"/>
            <a:ext cx="6148705" cy="6148705"/>
          </a:xfrm>
          <a:prstGeom prst="ellipse">
            <a:avLst/>
          </a:prstGeom>
          <a:noFill/>
          <a:ln>
            <a:gradFill>
              <a:gsLst>
                <a:gs pos="0">
                  <a:srgbClr val="FD7E5C"/>
                </a:gs>
                <a:gs pos="100000">
                  <a:srgbClr val="FF9449"/>
                </a:gs>
              </a:gsLst>
              <a:lin ang="5400000" scaled="1"/>
            </a:grad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3" name="图形">
            <a:extLst>
              <a:ext uri="{FF2B5EF4-FFF2-40B4-BE49-F238E27FC236}">
                <a16:creationId xmlns:a16="http://schemas.microsoft.com/office/drawing/2014/main" id="{51FA1342-2D71-0C4B-CBDB-499BC8B2414C}"/>
              </a:ext>
            </a:extLst>
          </p:cNvPr>
          <p:cNvSpPr/>
          <p:nvPr/>
        </p:nvSpPr>
        <p:spPr>
          <a:xfrm flipV="1">
            <a:off x="7619365" y="0"/>
            <a:ext cx="4572635" cy="3686175"/>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53373" h="5325261">
                <a:moveTo>
                  <a:pt x="4595548" y="1367261"/>
                </a:moveTo>
                <a:cubicBezTo>
                  <a:pt x="4985179" y="-967801"/>
                  <a:pt x="8167423" y="395711"/>
                  <a:pt x="10053373" y="395711"/>
                </a:cubicBezTo>
                <a:lnTo>
                  <a:pt x="10053373" y="5325261"/>
                </a:lnTo>
                <a:lnTo>
                  <a:pt x="23548" y="5325261"/>
                </a:lnTo>
                <a:cubicBezTo>
                  <a:pt x="-376502" y="2710528"/>
                  <a:pt x="4450989" y="4358963"/>
                  <a:pt x="4595548" y="1367261"/>
                </a:cubicBezTo>
                <a:close/>
              </a:path>
            </a:pathLst>
          </a:custGeom>
          <a:gradFill>
            <a:gsLst>
              <a:gs pos="100000">
                <a:srgbClr val="04CADF"/>
              </a:gs>
              <a:gs pos="0">
                <a:srgbClr val="04CADF">
                  <a:alpha val="22000"/>
                </a:srgbClr>
              </a:gs>
            </a:gsLst>
            <a:lin ang="7800000" scaled="0"/>
          </a:gradFill>
          <a:ln>
            <a:noFill/>
          </a:ln>
          <a:effectLst>
            <a:outerShdw blurRad="50800" dist="38100" dir="8100000" algn="tr" rotWithShape="0">
              <a:srgbClr val="E95D8E">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任意多边形: 形状 59">
            <a:extLst>
              <a:ext uri="{FF2B5EF4-FFF2-40B4-BE49-F238E27FC236}">
                <a16:creationId xmlns:a16="http://schemas.microsoft.com/office/drawing/2014/main" id="{6F8D8E40-8C03-2DF5-0241-54861FAA6449}"/>
              </a:ext>
            </a:extLst>
          </p:cNvPr>
          <p:cNvSpPr/>
          <p:nvPr/>
        </p:nvSpPr>
        <p:spPr>
          <a:xfrm flipH="1">
            <a:off x="11609704" y="6224196"/>
            <a:ext cx="582296" cy="636241"/>
          </a:xfrm>
          <a:custGeom>
            <a:avLst/>
            <a:gdLst>
              <a:gd name="connsiteX0" fmla="*/ 0 w 582296"/>
              <a:gd name="connsiteY0" fmla="*/ 0 h 636241"/>
              <a:gd name="connsiteX1" fmla="*/ 0 w 582296"/>
              <a:gd name="connsiteY1" fmla="*/ 636241 h 636241"/>
              <a:gd name="connsiteX2" fmla="*/ 579527 w 582296"/>
              <a:gd name="connsiteY2" fmla="*/ 636241 h 636241"/>
              <a:gd name="connsiteX3" fmla="*/ 582296 w 582296"/>
              <a:gd name="connsiteY3" fmla="*/ 608254 h 636241"/>
              <a:gd name="connsiteX4" fmla="*/ 104424 w 582296"/>
              <a:gd name="connsiteY4" fmla="*/ 10728 h 636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96" h="636241">
                <a:moveTo>
                  <a:pt x="0" y="0"/>
                </a:moveTo>
                <a:lnTo>
                  <a:pt x="0" y="636241"/>
                </a:lnTo>
                <a:lnTo>
                  <a:pt x="579527" y="636241"/>
                </a:lnTo>
                <a:lnTo>
                  <a:pt x="582296" y="608254"/>
                </a:lnTo>
                <a:cubicBezTo>
                  <a:pt x="582296" y="313512"/>
                  <a:pt x="377145" y="67600"/>
                  <a:pt x="104424" y="10728"/>
                </a:cubicBez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64" name="任意多边形: 形状 63">
            <a:extLst>
              <a:ext uri="{FF2B5EF4-FFF2-40B4-BE49-F238E27FC236}">
                <a16:creationId xmlns:a16="http://schemas.microsoft.com/office/drawing/2014/main" id="{101ECA44-413C-563A-BADD-4F35DA2C4F66}"/>
              </a:ext>
            </a:extLst>
          </p:cNvPr>
          <p:cNvSpPr/>
          <p:nvPr/>
        </p:nvSpPr>
        <p:spPr>
          <a:xfrm flipH="1">
            <a:off x="1807" y="258626"/>
            <a:ext cx="287319" cy="452120"/>
          </a:xfrm>
          <a:custGeom>
            <a:avLst/>
            <a:gdLst>
              <a:gd name="connsiteX0" fmla="*/ 221615 w 287319"/>
              <a:gd name="connsiteY0" fmla="*/ 0 h 452120"/>
              <a:gd name="connsiteX1" fmla="*/ 0 w 287319"/>
              <a:gd name="connsiteY1" fmla="*/ 226060 h 452120"/>
              <a:gd name="connsiteX2" fmla="*/ 221615 w 287319"/>
              <a:gd name="connsiteY2" fmla="*/ 452120 h 452120"/>
              <a:gd name="connsiteX3" fmla="*/ 287319 w 287319"/>
              <a:gd name="connsiteY3" fmla="*/ 438589 h 452120"/>
              <a:gd name="connsiteX4" fmla="*/ 287319 w 287319"/>
              <a:gd name="connsiteY4" fmla="*/ 13531 h 452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319" h="452120">
                <a:moveTo>
                  <a:pt x="221615" y="0"/>
                </a:moveTo>
                <a:cubicBezTo>
                  <a:pt x="99220" y="0"/>
                  <a:pt x="0" y="101211"/>
                  <a:pt x="0" y="226060"/>
                </a:cubicBezTo>
                <a:cubicBezTo>
                  <a:pt x="0" y="350909"/>
                  <a:pt x="99220" y="452120"/>
                  <a:pt x="221615" y="452120"/>
                </a:cubicBezTo>
                <a:lnTo>
                  <a:pt x="287319" y="438589"/>
                </a:lnTo>
                <a:lnTo>
                  <a:pt x="287319" y="13531"/>
                </a:ln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38" name="图形">
            <a:extLst>
              <a:ext uri="{FF2B5EF4-FFF2-40B4-BE49-F238E27FC236}">
                <a16:creationId xmlns:a16="http://schemas.microsoft.com/office/drawing/2014/main" id="{B2BF8DB3-FC67-AB6C-1A0B-78B872103343}"/>
              </a:ext>
            </a:extLst>
          </p:cNvPr>
          <p:cNvSpPr/>
          <p:nvPr/>
        </p:nvSpPr>
        <p:spPr>
          <a:xfrm flipV="1">
            <a:off x="11121390" y="5718175"/>
            <a:ext cx="300990" cy="300990"/>
          </a:xfrm>
          <a:prstGeom prst="ellipse">
            <a:avLst/>
          </a:prstGeom>
          <a:gradFill>
            <a:gsLst>
              <a:gs pos="100000">
                <a:srgbClr val="04CADF"/>
              </a:gs>
              <a:gs pos="0">
                <a:srgbClr val="04CADF">
                  <a:alpha val="22000"/>
                </a:srgbClr>
              </a:gs>
            </a:gsLst>
            <a:lin ang="7800000" scaled="0"/>
          </a:gradFill>
          <a:ln>
            <a:noFill/>
          </a:ln>
          <a:effectLst>
            <a:outerShdw blurRad="609600" dist="152400" dir="13500000" algn="br" rotWithShape="0">
              <a:srgbClr val="FF8C4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9" name="组合 48">
            <a:extLst>
              <a:ext uri="{FF2B5EF4-FFF2-40B4-BE49-F238E27FC236}">
                <a16:creationId xmlns:a16="http://schemas.microsoft.com/office/drawing/2014/main" id="{7B262D30-023C-6F67-AB73-211BE5F7FAEB}"/>
              </a:ext>
            </a:extLst>
          </p:cNvPr>
          <p:cNvGrpSpPr/>
          <p:nvPr/>
        </p:nvGrpSpPr>
        <p:grpSpPr>
          <a:xfrm>
            <a:off x="6594463" y="1110193"/>
            <a:ext cx="4666991" cy="4666992"/>
            <a:chOff x="6550025" y="1108105"/>
            <a:chExt cx="5435600" cy="5435600"/>
          </a:xfrm>
        </p:grpSpPr>
        <p:sp>
          <p:nvSpPr>
            <p:cNvPr id="51" name="椭圆 50">
              <a:extLst>
                <a:ext uri="{FF2B5EF4-FFF2-40B4-BE49-F238E27FC236}">
                  <a16:creationId xmlns:a16="http://schemas.microsoft.com/office/drawing/2014/main" id="{453D5B33-859C-DB3B-C098-FACFDEB8F36A}"/>
                </a:ext>
              </a:extLst>
            </p:cNvPr>
            <p:cNvSpPr/>
            <p:nvPr/>
          </p:nvSpPr>
          <p:spPr>
            <a:xfrm flipH="1">
              <a:off x="6550025" y="1108105"/>
              <a:ext cx="5435600" cy="5435600"/>
            </a:xfrm>
            <a:prstGeom prst="ellipse">
              <a:avLst/>
            </a:prstGeom>
            <a:solidFill>
              <a:schemeClr val="bg1"/>
            </a:solidFill>
            <a:ln>
              <a:noFill/>
            </a:ln>
            <a:effectLst>
              <a:outerShdw blurRad="584200" dist="203200" dir="5400000" sx="92000" sy="92000" algn="ctr" rotWithShape="0">
                <a:srgbClr val="04CADF">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 name="椭圆 51">
              <a:extLst>
                <a:ext uri="{FF2B5EF4-FFF2-40B4-BE49-F238E27FC236}">
                  <a16:creationId xmlns:a16="http://schemas.microsoft.com/office/drawing/2014/main" id="{C2798118-AF3A-4452-75F8-2386542E8E5F}"/>
                </a:ext>
              </a:extLst>
            </p:cNvPr>
            <p:cNvSpPr/>
            <p:nvPr/>
          </p:nvSpPr>
          <p:spPr>
            <a:xfrm flipH="1">
              <a:off x="7048486" y="1606566"/>
              <a:ext cx="4438679" cy="4438678"/>
            </a:xfrm>
            <a:prstGeom prst="ellipse">
              <a:avLst/>
            </a:prstGeom>
            <a:blipFill dpi="0" rotWithShape="1">
              <a:blip r:embed="rId3" cstate="email">
                <a:alphaModFix amt="99000"/>
                <a:extLst>
                  <a:ext uri="{28A0092B-C50C-407E-A947-70E740481C1C}">
                    <a14:useLocalDpi xmlns:a14="http://schemas.microsoft.com/office/drawing/2010/main"/>
                  </a:ext>
                </a:extLst>
              </a:blip>
              <a:srcRect/>
              <a:tile tx="0" ty="0" sx="27000" sy="27000" flip="none" algn="ctr"/>
            </a:bli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6" name="任意多边形: 形状 55">
            <a:extLst>
              <a:ext uri="{FF2B5EF4-FFF2-40B4-BE49-F238E27FC236}">
                <a16:creationId xmlns:a16="http://schemas.microsoft.com/office/drawing/2014/main" id="{097889B8-2BC9-934D-CCAE-115D3284D709}"/>
              </a:ext>
            </a:extLst>
          </p:cNvPr>
          <p:cNvSpPr/>
          <p:nvPr/>
        </p:nvSpPr>
        <p:spPr>
          <a:xfrm>
            <a:off x="7395787" y="6237305"/>
            <a:ext cx="1553662" cy="620695"/>
          </a:xfrm>
          <a:custGeom>
            <a:avLst/>
            <a:gdLst>
              <a:gd name="connsiteX0" fmla="*/ 776831 w 1553662"/>
              <a:gd name="connsiteY0" fmla="*/ 0 h 620695"/>
              <a:gd name="connsiteX1" fmla="*/ 1512321 w 1553662"/>
              <a:gd name="connsiteY1" fmla="*/ 487516 h 620695"/>
              <a:gd name="connsiteX2" fmla="*/ 1553662 w 1553662"/>
              <a:gd name="connsiteY2" fmla="*/ 620695 h 620695"/>
              <a:gd name="connsiteX3" fmla="*/ 1274065 w 1553662"/>
              <a:gd name="connsiteY3" fmla="*/ 620695 h 620695"/>
              <a:gd name="connsiteX4" fmla="*/ 1265138 w 1553662"/>
              <a:gd name="connsiteY4" fmla="*/ 591937 h 620695"/>
              <a:gd name="connsiteX5" fmla="*/ 776831 w 1553662"/>
              <a:gd name="connsiteY5" fmla="*/ 268265 h 620695"/>
              <a:gd name="connsiteX6" fmla="*/ 288525 w 1553662"/>
              <a:gd name="connsiteY6" fmla="*/ 591937 h 620695"/>
              <a:gd name="connsiteX7" fmla="*/ 279597 w 1553662"/>
              <a:gd name="connsiteY7" fmla="*/ 620695 h 620695"/>
              <a:gd name="connsiteX8" fmla="*/ 0 w 1553662"/>
              <a:gd name="connsiteY8" fmla="*/ 620695 h 620695"/>
              <a:gd name="connsiteX9" fmla="*/ 41341 w 1553662"/>
              <a:gd name="connsiteY9" fmla="*/ 487516 h 620695"/>
              <a:gd name="connsiteX10" fmla="*/ 776831 w 1553662"/>
              <a:gd name="connsiteY10" fmla="*/ 0 h 6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3662" h="620695">
                <a:moveTo>
                  <a:pt x="776831" y="0"/>
                </a:moveTo>
                <a:cubicBezTo>
                  <a:pt x="1107464" y="0"/>
                  <a:pt x="1391145" y="201023"/>
                  <a:pt x="1512321" y="487516"/>
                </a:cubicBezTo>
                <a:lnTo>
                  <a:pt x="1553662" y="620695"/>
                </a:lnTo>
                <a:lnTo>
                  <a:pt x="1274065" y="620695"/>
                </a:lnTo>
                <a:lnTo>
                  <a:pt x="1265138" y="591937"/>
                </a:lnTo>
                <a:cubicBezTo>
                  <a:pt x="1184687" y="401729"/>
                  <a:pt x="996345" y="268265"/>
                  <a:pt x="776831" y="268265"/>
                </a:cubicBezTo>
                <a:cubicBezTo>
                  <a:pt x="557318" y="268265"/>
                  <a:pt x="368976" y="401729"/>
                  <a:pt x="288525" y="591937"/>
                </a:cubicBezTo>
                <a:lnTo>
                  <a:pt x="279597" y="620695"/>
                </a:lnTo>
                <a:lnTo>
                  <a:pt x="0" y="620695"/>
                </a:lnTo>
                <a:lnTo>
                  <a:pt x="41341" y="487516"/>
                </a:lnTo>
                <a:cubicBezTo>
                  <a:pt x="162517" y="201023"/>
                  <a:pt x="446198" y="0"/>
                  <a:pt x="776831" y="0"/>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矩形 45">
            <a:extLst>
              <a:ext uri="{FF2B5EF4-FFF2-40B4-BE49-F238E27FC236}">
                <a16:creationId xmlns:a16="http://schemas.microsoft.com/office/drawing/2014/main" id="{7E8E2701-459A-F9A1-CEE3-08B400C3FE32}"/>
              </a:ext>
            </a:extLst>
          </p:cNvPr>
          <p:cNvSpPr/>
          <p:nvPr>
            <p:custDataLst>
              <p:tags r:id="rId1"/>
            </p:custDataLst>
          </p:nvPr>
        </p:nvSpPr>
        <p:spPr>
          <a:xfrm>
            <a:off x="717102" y="315502"/>
            <a:ext cx="4290833" cy="307777"/>
          </a:xfrm>
          <a:prstGeom prst="rect">
            <a:avLst/>
          </a:prstGeom>
        </p:spPr>
        <p:txBody>
          <a:bodyPr wrap="square">
            <a:spAutoFit/>
            <a:scene3d>
              <a:camera prst="orthographicFront"/>
              <a:lightRig rig="threePt" dir="t"/>
            </a:scene3d>
            <a:sp3d contourW="12700"/>
          </a:bodyPr>
          <a:lstStyle/>
          <a:p>
            <a:pPr algn="dist"/>
            <a:r>
              <a:rPr lang="en-US" altLang="zh-CN" sz="140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PET ECONOMY DEPARTMENT REPORT//</a:t>
            </a:r>
            <a:endPar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7" name="组合 46">
            <a:extLst>
              <a:ext uri="{FF2B5EF4-FFF2-40B4-BE49-F238E27FC236}">
                <a16:creationId xmlns:a16="http://schemas.microsoft.com/office/drawing/2014/main" id="{49BDC5DD-C6F9-20F8-4C6E-CB13032D8EF0}"/>
              </a:ext>
            </a:extLst>
          </p:cNvPr>
          <p:cNvGrpSpPr/>
          <p:nvPr/>
        </p:nvGrpSpPr>
        <p:grpSpPr>
          <a:xfrm>
            <a:off x="595256" y="1934913"/>
            <a:ext cx="5999207" cy="2988175"/>
            <a:chOff x="595256" y="1766274"/>
            <a:chExt cx="5999207" cy="2988175"/>
          </a:xfrm>
        </p:grpSpPr>
        <p:grpSp>
          <p:nvGrpSpPr>
            <p:cNvPr id="48" name="组合 47">
              <a:extLst>
                <a:ext uri="{FF2B5EF4-FFF2-40B4-BE49-F238E27FC236}">
                  <a16:creationId xmlns:a16="http://schemas.microsoft.com/office/drawing/2014/main" id="{51DCBE31-87F6-69D4-E445-5A8987AF1C95}"/>
                </a:ext>
              </a:extLst>
            </p:cNvPr>
            <p:cNvGrpSpPr/>
            <p:nvPr/>
          </p:nvGrpSpPr>
          <p:grpSpPr>
            <a:xfrm>
              <a:off x="667663" y="1766274"/>
              <a:ext cx="5821931" cy="1107996"/>
              <a:chOff x="667663" y="1766274"/>
              <a:chExt cx="5821931" cy="1107996"/>
            </a:xfrm>
          </p:grpSpPr>
          <p:sp>
            <p:nvSpPr>
              <p:cNvPr id="54" name="文本框 53">
                <a:extLst>
                  <a:ext uri="{FF2B5EF4-FFF2-40B4-BE49-F238E27FC236}">
                    <a16:creationId xmlns:a16="http://schemas.microsoft.com/office/drawing/2014/main" id="{4327C2E8-6FA2-9FEC-55BD-CADD708F87B3}"/>
                  </a:ext>
                </a:extLst>
              </p:cNvPr>
              <p:cNvSpPr txBox="1"/>
              <p:nvPr/>
            </p:nvSpPr>
            <p:spPr>
              <a:xfrm>
                <a:off x="667663" y="1766274"/>
                <a:ext cx="4097650" cy="1107996"/>
              </a:xfrm>
              <a:prstGeom prst="rect">
                <a:avLst/>
              </a:prstGeom>
              <a:noFill/>
              <a:ln>
                <a:noFill/>
              </a:ln>
            </p:spPr>
            <p:txBody>
              <a:bodyPr wrap="square" rtlCol="0">
                <a:spAutoFit/>
              </a:bodyPr>
              <a:lstStyle/>
              <a:p>
                <a:r>
                  <a:rPr lang="en-US" altLang="zh-CN" sz="6600">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P</a:t>
                </a:r>
                <a:r>
                  <a:rPr lang="en-US" altLang="zh-CN" sz="660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ART 04</a:t>
                </a:r>
                <a:endParaRPr lang="zh-CN" altLang="en-US" sz="6600" dirty="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endParaRPr>
              </a:p>
            </p:txBody>
          </p:sp>
          <p:grpSp>
            <p:nvGrpSpPr>
              <p:cNvPr id="55" name="组合 54">
                <a:extLst>
                  <a:ext uri="{FF2B5EF4-FFF2-40B4-BE49-F238E27FC236}">
                    <a16:creationId xmlns:a16="http://schemas.microsoft.com/office/drawing/2014/main" id="{ACB194B4-0AD3-9D5A-599D-6FDF88340205}"/>
                  </a:ext>
                </a:extLst>
              </p:cNvPr>
              <p:cNvGrpSpPr/>
              <p:nvPr/>
            </p:nvGrpSpPr>
            <p:grpSpPr>
              <a:xfrm>
                <a:off x="4419448" y="1929674"/>
                <a:ext cx="2070146" cy="756818"/>
                <a:chOff x="9157835" y="1805408"/>
                <a:chExt cx="2070146" cy="756818"/>
              </a:xfrm>
            </p:grpSpPr>
            <p:cxnSp>
              <p:nvCxnSpPr>
                <p:cNvPr id="57" name="直接连接符 56">
                  <a:extLst>
                    <a:ext uri="{FF2B5EF4-FFF2-40B4-BE49-F238E27FC236}">
                      <a16:creationId xmlns:a16="http://schemas.microsoft.com/office/drawing/2014/main" id="{3300E200-D798-45FF-420F-B7B770C7B54E}"/>
                    </a:ext>
                  </a:extLst>
                </p:cNvPr>
                <p:cNvCxnSpPr/>
                <p:nvPr/>
              </p:nvCxnSpPr>
              <p:spPr>
                <a:xfrm>
                  <a:off x="9157835" y="2183817"/>
                  <a:ext cx="1551782" cy="0"/>
                </a:xfrm>
                <a:prstGeom prst="line">
                  <a:avLst/>
                </a:prstGeom>
                <a:solidFill>
                  <a:schemeClr val="accent1">
                    <a:lumMod val="20000"/>
                    <a:lumOff val="80000"/>
                  </a:schemeClr>
                </a:solidFill>
                <a:ln w="15875">
                  <a:noFill/>
                </a:ln>
              </p:spPr>
              <p:style>
                <a:lnRef idx="1">
                  <a:schemeClr val="accent1"/>
                </a:lnRef>
                <a:fillRef idx="0">
                  <a:schemeClr val="accent1"/>
                </a:fillRef>
                <a:effectRef idx="0">
                  <a:schemeClr val="accent1"/>
                </a:effectRef>
                <a:fontRef idx="minor">
                  <a:schemeClr val="tx1"/>
                </a:fontRef>
              </p:style>
            </p:cxnSp>
            <p:sp>
              <p:nvSpPr>
                <p:cNvPr id="58" name="弧形 57">
                  <a:extLst>
                    <a:ext uri="{FF2B5EF4-FFF2-40B4-BE49-F238E27FC236}">
                      <a16:creationId xmlns:a16="http://schemas.microsoft.com/office/drawing/2014/main" id="{CFC4B9DB-A640-AAFF-0494-9A0A2F2DFEDA}"/>
                    </a:ext>
                  </a:extLst>
                </p:cNvPr>
                <p:cNvSpPr/>
                <p:nvPr/>
              </p:nvSpPr>
              <p:spPr>
                <a:xfrm flipH="1" flipV="1">
                  <a:off x="10389590" y="1805408"/>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59" name="弧形 58">
                  <a:extLst>
                    <a:ext uri="{FF2B5EF4-FFF2-40B4-BE49-F238E27FC236}">
                      <a16:creationId xmlns:a16="http://schemas.microsoft.com/office/drawing/2014/main" id="{8D489AF4-14DF-8A7A-4D6C-1D01789B6749}"/>
                    </a:ext>
                  </a:extLst>
                </p:cNvPr>
                <p:cNvSpPr/>
                <p:nvPr/>
              </p:nvSpPr>
              <p:spPr>
                <a:xfrm flipH="1">
                  <a:off x="10389590" y="2183817"/>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grpSp>
        </p:grpSp>
        <p:sp>
          <p:nvSpPr>
            <p:cNvPr id="50" name="文本框 49">
              <a:extLst>
                <a:ext uri="{FF2B5EF4-FFF2-40B4-BE49-F238E27FC236}">
                  <a16:creationId xmlns:a16="http://schemas.microsoft.com/office/drawing/2014/main" id="{0AE4ED41-9481-39E3-2543-E5B24E63AD20}"/>
                </a:ext>
              </a:extLst>
            </p:cNvPr>
            <p:cNvSpPr txBox="1"/>
            <p:nvPr/>
          </p:nvSpPr>
          <p:spPr>
            <a:xfrm>
              <a:off x="595256" y="2951046"/>
              <a:ext cx="5999207" cy="1200329"/>
            </a:xfrm>
            <a:prstGeom prst="rect">
              <a:avLst/>
            </a:prstGeom>
            <a:noFill/>
            <a:ln>
              <a:noFill/>
            </a:ln>
          </p:spPr>
          <p:txBody>
            <a:bodyPr wrap="square" rtlCol="0">
              <a:spAutoFit/>
            </a:bodyPr>
            <a:lstStyle/>
            <a:p>
              <a:pPr>
                <a:spcBef>
                  <a:spcPts val="50"/>
                </a:spcBef>
              </a:pPr>
              <a:r>
                <a:rPr lang="zh-CN" altLang="en-US" sz="7200" dirty="0">
                  <a:solidFill>
                    <a:schemeClr val="bg1"/>
                  </a:solidFill>
                  <a:latin typeface="猫啃网风雅宋" panose="02020700000000000000" pitchFamily="18" charset="-122"/>
                  <a:ea typeface="猫啃网风雅宋" panose="02020700000000000000" pitchFamily="18" charset="-122"/>
                  <a:cs typeface="+mn-ea"/>
                  <a:sym typeface="思源黑体 CN Medium" panose="020B0600000000000000" pitchFamily="34" charset="-122"/>
                </a:rPr>
                <a:t>行业前景趋势</a:t>
              </a:r>
            </a:p>
          </p:txBody>
        </p:sp>
        <p:sp>
          <p:nvSpPr>
            <p:cNvPr id="53" name="文本框 52">
              <a:extLst>
                <a:ext uri="{FF2B5EF4-FFF2-40B4-BE49-F238E27FC236}">
                  <a16:creationId xmlns:a16="http://schemas.microsoft.com/office/drawing/2014/main" id="{4DE38D84-AD48-6CB7-124D-A1F9ECE01FB5}"/>
                </a:ext>
              </a:extLst>
            </p:cNvPr>
            <p:cNvSpPr txBox="1"/>
            <p:nvPr/>
          </p:nvSpPr>
          <p:spPr>
            <a:xfrm>
              <a:off x="679041" y="4415895"/>
              <a:ext cx="5292190" cy="338554"/>
            </a:xfrm>
            <a:prstGeom prst="rect">
              <a:avLst/>
            </a:prstGeom>
            <a:noFill/>
            <a:ln>
              <a:noFill/>
            </a:ln>
          </p:spPr>
          <p:txBody>
            <a:bodyPr wrap="square">
              <a:spAutoFit/>
            </a:bodyPr>
            <a:lstStyle/>
            <a:p>
              <a:pPr algn="dist"/>
              <a:r>
                <a:rPr lang="zh-CN" altLang="en-US" sz="1600">
                  <a:solidFill>
                    <a:schemeClr val="bg1"/>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“宠物经济”行业前景分析报告</a:t>
              </a:r>
              <a:endParaRPr lang="zh-CN" altLang="en-US" sz="16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sp>
        <p:nvSpPr>
          <p:cNvPr id="61" name="任意多边形: 形状 60">
            <a:extLst>
              <a:ext uri="{FF2B5EF4-FFF2-40B4-BE49-F238E27FC236}">
                <a16:creationId xmlns:a16="http://schemas.microsoft.com/office/drawing/2014/main" id="{2B6017CA-B462-34BF-786F-33618F659D6C}"/>
              </a:ext>
            </a:extLst>
          </p:cNvPr>
          <p:cNvSpPr/>
          <p:nvPr/>
        </p:nvSpPr>
        <p:spPr>
          <a:xfrm rot="5400000">
            <a:off x="5999945" y="168486"/>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3" name="任意多边形: 形状 62">
            <a:extLst>
              <a:ext uri="{FF2B5EF4-FFF2-40B4-BE49-F238E27FC236}">
                <a16:creationId xmlns:a16="http://schemas.microsoft.com/office/drawing/2014/main" id="{C04982FA-9C39-2C29-4CFC-B0D98F0E64B3}"/>
              </a:ext>
            </a:extLst>
          </p:cNvPr>
          <p:cNvSpPr/>
          <p:nvPr/>
        </p:nvSpPr>
        <p:spPr>
          <a:xfrm rot="5400000">
            <a:off x="991206" y="5693064"/>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extLst>
      <p:ext uri="{BB962C8B-B14F-4D97-AF65-F5344CB8AC3E}">
        <p14:creationId xmlns:p14="http://schemas.microsoft.com/office/powerpoint/2010/main" val="169126825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right)">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p:cTn id="15" dur="500" fill="hold"/>
                                        <p:tgtEl>
                                          <p:spTgt spid="49"/>
                                        </p:tgtEl>
                                        <p:attrNameLst>
                                          <p:attrName>ppt_w</p:attrName>
                                        </p:attrNameLst>
                                      </p:cBhvr>
                                      <p:tavLst>
                                        <p:tav tm="0">
                                          <p:val>
                                            <p:fltVal val="0"/>
                                          </p:val>
                                        </p:tav>
                                        <p:tav tm="100000">
                                          <p:val>
                                            <p:strVal val="#ppt_w"/>
                                          </p:val>
                                        </p:tav>
                                      </p:tavLst>
                                    </p:anim>
                                    <p:anim calcmode="lin" valueType="num">
                                      <p:cBhvr>
                                        <p:cTn id="16" dur="500" fill="hold"/>
                                        <p:tgtEl>
                                          <p:spTgt spid="49"/>
                                        </p:tgtEl>
                                        <p:attrNameLst>
                                          <p:attrName>ppt_h</p:attrName>
                                        </p:attrNameLst>
                                      </p:cBhvr>
                                      <p:tavLst>
                                        <p:tav tm="0">
                                          <p:val>
                                            <p:fltVal val="0"/>
                                          </p:val>
                                        </p:tav>
                                        <p:tav tm="100000">
                                          <p:val>
                                            <p:strVal val="#ppt_h"/>
                                          </p:val>
                                        </p:tav>
                                      </p:tavLst>
                                    </p:anim>
                                    <p:animEffect transition="in" filter="fade">
                                      <p:cBhvr>
                                        <p:cTn id="17" dur="500"/>
                                        <p:tgtEl>
                                          <p:spTgt spid="49"/>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down)">
                                      <p:cBhvr>
                                        <p:cTn id="20" dur="500"/>
                                        <p:tgtEl>
                                          <p:spTgt spid="60"/>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down)">
                                      <p:cBhvr>
                                        <p:cTn id="23" dur="500"/>
                                        <p:tgtEl>
                                          <p:spTgt spid="38"/>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wipe(down)">
                                      <p:cBhvr>
                                        <p:cTn id="26" dur="500"/>
                                        <p:tgtEl>
                                          <p:spTgt spid="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down)">
                                      <p:cBhvr>
                                        <p:cTn id="41" dur="5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60" grpId="0" animBg="1"/>
      <p:bldP spid="64" grpId="0" animBg="1"/>
      <p:bldP spid="38" grpId="0" animBg="1"/>
      <p:bldP spid="56" grpId="0" animBg="1"/>
      <p:bldP spid="46" grpId="0"/>
      <p:bldP spid="61" grpId="0" animBg="1"/>
      <p:bldP spid="6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39614-46AF-93C5-0034-364CDA267CFC}"/>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2B3DCB01-DA4E-A1C8-CF51-2875978F3B82}"/>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6B9C28E1-5AF8-6BF0-1747-28DDFDDB947B}"/>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1D5270FC-06E2-0CFF-B0BC-77839DDBDA34}"/>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宠物经济行业发展问题</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40D79335-9F47-ED5C-B31E-7564D27BF034}"/>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4CE7EB82-F873-E68C-B711-A9412248D374}"/>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04</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15" name="组合 14">
            <a:extLst>
              <a:ext uri="{FF2B5EF4-FFF2-40B4-BE49-F238E27FC236}">
                <a16:creationId xmlns:a16="http://schemas.microsoft.com/office/drawing/2014/main" id="{FEB19CB8-493E-23FF-C405-5E59D80BBD56}"/>
              </a:ext>
            </a:extLst>
          </p:cNvPr>
          <p:cNvGrpSpPr/>
          <p:nvPr/>
        </p:nvGrpSpPr>
        <p:grpSpPr>
          <a:xfrm>
            <a:off x="688176" y="1644787"/>
            <a:ext cx="10874170" cy="4002403"/>
            <a:chOff x="688176" y="1644787"/>
            <a:chExt cx="10874170" cy="4002403"/>
          </a:xfrm>
        </p:grpSpPr>
        <p:grpSp>
          <p:nvGrpSpPr>
            <p:cNvPr id="2" name="组合 1">
              <a:extLst>
                <a:ext uri="{FF2B5EF4-FFF2-40B4-BE49-F238E27FC236}">
                  <a16:creationId xmlns:a16="http://schemas.microsoft.com/office/drawing/2014/main" id="{CC617C8E-0803-D934-6467-F9386161FAE5}"/>
                </a:ext>
              </a:extLst>
            </p:cNvPr>
            <p:cNvGrpSpPr/>
            <p:nvPr/>
          </p:nvGrpSpPr>
          <p:grpSpPr>
            <a:xfrm>
              <a:off x="747006" y="1744579"/>
              <a:ext cx="10815340" cy="3819814"/>
              <a:chOff x="747006" y="2048589"/>
              <a:chExt cx="10815340" cy="3253215"/>
            </a:xfrm>
          </p:grpSpPr>
          <p:sp>
            <p:nvSpPr>
              <p:cNvPr id="27" name="六边形 26">
                <a:extLst>
                  <a:ext uri="{FF2B5EF4-FFF2-40B4-BE49-F238E27FC236}">
                    <a16:creationId xmlns:a16="http://schemas.microsoft.com/office/drawing/2014/main" id="{5B323E05-B513-3EB4-B08E-533E8FEFE671}"/>
                  </a:ext>
                </a:extLst>
              </p:cNvPr>
              <p:cNvSpPr/>
              <p:nvPr/>
            </p:nvSpPr>
            <p:spPr>
              <a:xfrm rot="5400000">
                <a:off x="801555" y="2169375"/>
                <a:ext cx="3253211" cy="3011643"/>
              </a:xfrm>
              <a:prstGeom prst="roundRect">
                <a:avLst>
                  <a:gd name="adj" fmla="val 4682"/>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文本框 4"/>
              <p:cNvSpPr txBox="1"/>
              <p:nvPr/>
            </p:nvSpPr>
            <p:spPr>
              <a:xfrm>
                <a:off x="1446228" y="2555899"/>
                <a:ext cx="2124384" cy="1772720"/>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l">
                  <a:spcBef>
                    <a:spcPts val="50"/>
                  </a:spcBef>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部分宠物主选择喂养人类食物，宠物鲜粮及宠物营养品消费能力</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弱;</a:t>
                </a: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l">
                  <a:spcBef>
                    <a:spcPts val="50"/>
                  </a:spcBef>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a:t>
                </a: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医疗与服务消费渗透率低</a:t>
                </a:r>
              </a:p>
            </p:txBody>
          </p:sp>
          <p:sp>
            <p:nvSpPr>
              <p:cNvPr id="16" name="矩形: 圆角 15">
                <a:extLst>
                  <a:ext uri="{FF2B5EF4-FFF2-40B4-BE49-F238E27FC236}">
                    <a16:creationId xmlns:a16="http://schemas.microsoft.com/office/drawing/2014/main" id="{AB4E380D-332D-F985-7BCC-CBCF297105FA}"/>
                  </a:ext>
                </a:extLst>
              </p:cNvPr>
              <p:cNvSpPr/>
              <p:nvPr/>
            </p:nvSpPr>
            <p:spPr>
              <a:xfrm rot="5400000">
                <a:off x="-662555" y="3458150"/>
                <a:ext cx="3253214" cy="434091"/>
              </a:xfrm>
              <a:prstGeom prst="round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8" name="六边形 27">
                <a:extLst>
                  <a:ext uri="{FF2B5EF4-FFF2-40B4-BE49-F238E27FC236}">
                    <a16:creationId xmlns:a16="http://schemas.microsoft.com/office/drawing/2014/main" id="{6E0FA217-6EE3-129D-F090-C4D4549AF049}"/>
                  </a:ext>
                </a:extLst>
              </p:cNvPr>
              <p:cNvSpPr/>
              <p:nvPr/>
            </p:nvSpPr>
            <p:spPr>
              <a:xfrm rot="5400000">
                <a:off x="4611555" y="2169375"/>
                <a:ext cx="3253211" cy="3011643"/>
              </a:xfrm>
              <a:prstGeom prst="roundRect">
                <a:avLst>
                  <a:gd name="adj" fmla="val 4682"/>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文本框 28">
                <a:extLst>
                  <a:ext uri="{FF2B5EF4-FFF2-40B4-BE49-F238E27FC236}">
                    <a16:creationId xmlns:a16="http://schemas.microsoft.com/office/drawing/2014/main" id="{621C432B-FB12-90DB-ADAE-8CC475DD4FB7}"/>
                  </a:ext>
                </a:extLst>
              </p:cNvPr>
              <p:cNvSpPr txBox="1"/>
              <p:nvPr/>
            </p:nvSpPr>
            <p:spPr>
              <a:xfrm>
                <a:off x="5256228" y="2555899"/>
                <a:ext cx="2124384" cy="1772720"/>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l">
                  <a:spcBef>
                    <a:spcPts val="50"/>
                  </a:spcBef>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部分宠物主选择喂养人类食物，宠物鲜粮及宠物营养品消费能力</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弱;</a:t>
                </a: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l">
                  <a:spcBef>
                    <a:spcPts val="50"/>
                  </a:spcBef>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a:t>
                </a: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医疗与服务消费渗透率低</a:t>
                </a:r>
              </a:p>
            </p:txBody>
          </p:sp>
          <p:sp>
            <p:nvSpPr>
              <p:cNvPr id="30" name="矩形: 圆角 29">
                <a:extLst>
                  <a:ext uri="{FF2B5EF4-FFF2-40B4-BE49-F238E27FC236}">
                    <a16:creationId xmlns:a16="http://schemas.microsoft.com/office/drawing/2014/main" id="{75EAAE4B-4596-CF96-0634-8EC57CDA2152}"/>
                  </a:ext>
                </a:extLst>
              </p:cNvPr>
              <p:cNvSpPr/>
              <p:nvPr/>
            </p:nvSpPr>
            <p:spPr>
              <a:xfrm rot="5400000">
                <a:off x="3147447" y="3458152"/>
                <a:ext cx="3253210" cy="434091"/>
              </a:xfrm>
              <a:prstGeom prst="round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2" name="六边形 31">
                <a:extLst>
                  <a:ext uri="{FF2B5EF4-FFF2-40B4-BE49-F238E27FC236}">
                    <a16:creationId xmlns:a16="http://schemas.microsoft.com/office/drawing/2014/main" id="{60881A3A-8A0D-B129-0090-3C64D35A19C4}"/>
                  </a:ext>
                </a:extLst>
              </p:cNvPr>
              <p:cNvSpPr/>
              <p:nvPr/>
            </p:nvSpPr>
            <p:spPr>
              <a:xfrm rot="5400000">
                <a:off x="8429919" y="2169375"/>
                <a:ext cx="3253211" cy="3011643"/>
              </a:xfrm>
              <a:prstGeom prst="roundRect">
                <a:avLst>
                  <a:gd name="adj" fmla="val 628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3" name="文本框 32">
                <a:extLst>
                  <a:ext uri="{FF2B5EF4-FFF2-40B4-BE49-F238E27FC236}">
                    <a16:creationId xmlns:a16="http://schemas.microsoft.com/office/drawing/2014/main" id="{574F64B2-8FA2-5D33-90DF-E54CC65C113E}"/>
                  </a:ext>
                </a:extLst>
              </p:cNvPr>
              <p:cNvSpPr txBox="1"/>
              <p:nvPr/>
            </p:nvSpPr>
            <p:spPr>
              <a:xfrm>
                <a:off x="8922686" y="2261067"/>
                <a:ext cx="2522307" cy="2611079"/>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l">
                  <a:spcBef>
                    <a:spcPts val="50"/>
                  </a:spcBef>
                </a:pP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在中低端产品领域，仍然有较大比例的产品依赖于进口</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渠道。</a:t>
                </a: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l">
                  <a:spcBef>
                    <a:spcPts val="50"/>
                  </a:spcBef>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此外</a:t>
                </a:r>
                <a:r>
                  <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，宠物经济行业企业缺乏创新研发能力以及仿制能力，加重下游消费端对进口科研用检测试剂的依赖，不利于宠物经济行业的发展</a:t>
                </a:r>
              </a:p>
            </p:txBody>
          </p:sp>
          <p:sp>
            <p:nvSpPr>
              <p:cNvPr id="34" name="矩形: 圆角 33">
                <a:extLst>
                  <a:ext uri="{FF2B5EF4-FFF2-40B4-BE49-F238E27FC236}">
                    <a16:creationId xmlns:a16="http://schemas.microsoft.com/office/drawing/2014/main" id="{1869352C-8E6B-9014-41BA-D5DDEE102E64}"/>
                  </a:ext>
                </a:extLst>
              </p:cNvPr>
              <p:cNvSpPr/>
              <p:nvPr/>
            </p:nvSpPr>
            <p:spPr>
              <a:xfrm rot="5400000">
                <a:off x="6935491" y="3458152"/>
                <a:ext cx="3253212" cy="434091"/>
              </a:xfrm>
              <a:prstGeom prst="roundRect">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9" name="文本框 8">
              <a:extLst>
                <a:ext uri="{FF2B5EF4-FFF2-40B4-BE49-F238E27FC236}">
                  <a16:creationId xmlns:a16="http://schemas.microsoft.com/office/drawing/2014/main" id="{BE4C4DA9-9493-816A-B788-E6FB59C397E5}"/>
                </a:ext>
              </a:extLst>
            </p:cNvPr>
            <p:cNvSpPr txBox="1"/>
            <p:nvPr/>
          </p:nvSpPr>
          <p:spPr>
            <a:xfrm>
              <a:off x="688176" y="2019383"/>
              <a:ext cx="590931" cy="3253211"/>
            </a:xfrm>
            <a:prstGeom prst="rect">
              <a:avLst/>
            </a:prstGeom>
            <a:noFill/>
          </p:spPr>
          <p:txBody>
            <a:bodyPr vert="eaVert" wrap="square">
              <a:spAutoFit/>
            </a:bodyPr>
            <a:lstStyle/>
            <a:p>
              <a:pPr algn="ctr">
                <a:lnSpc>
                  <a:spcPct val="120000"/>
                </a:lnSpc>
                <a:spcBef>
                  <a:spcPts val="50"/>
                </a:spcBef>
              </a:pPr>
              <a:r>
                <a:rPr lang="zh-CN" altLang="en-US" sz="22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缺乏科学养宠观</a:t>
              </a:r>
            </a:p>
          </p:txBody>
        </p:sp>
        <p:sp>
          <p:nvSpPr>
            <p:cNvPr id="11" name="文本框 10">
              <a:extLst>
                <a:ext uri="{FF2B5EF4-FFF2-40B4-BE49-F238E27FC236}">
                  <a16:creationId xmlns:a16="http://schemas.microsoft.com/office/drawing/2014/main" id="{4FAB6967-E46F-4759-63EA-EC8E68057CA2}"/>
                </a:ext>
              </a:extLst>
            </p:cNvPr>
            <p:cNvSpPr txBox="1"/>
            <p:nvPr/>
          </p:nvSpPr>
          <p:spPr>
            <a:xfrm>
              <a:off x="4498176" y="2425170"/>
              <a:ext cx="590931" cy="2441637"/>
            </a:xfrm>
            <a:prstGeom prst="rect">
              <a:avLst/>
            </a:prstGeom>
            <a:noFill/>
          </p:spPr>
          <p:txBody>
            <a:bodyPr vert="eaVert" wrap="square">
              <a:spAutoFit/>
            </a:bodyPr>
            <a:lstStyle/>
            <a:p>
              <a:pPr algn="ctr">
                <a:lnSpc>
                  <a:spcPct val="120000"/>
                </a:lnSpc>
                <a:spcBef>
                  <a:spcPts val="50"/>
                </a:spcBef>
              </a:pPr>
              <a:r>
                <a:rPr lang="zh-CN" altLang="en-US" sz="22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消费能力弱</a:t>
              </a:r>
            </a:p>
          </p:txBody>
        </p:sp>
        <p:sp>
          <p:nvSpPr>
            <p:cNvPr id="12" name="文本框 11">
              <a:extLst>
                <a:ext uri="{FF2B5EF4-FFF2-40B4-BE49-F238E27FC236}">
                  <a16:creationId xmlns:a16="http://schemas.microsoft.com/office/drawing/2014/main" id="{5F710F8A-C11D-932E-6C33-6EDAB3B58FEC}"/>
                </a:ext>
              </a:extLst>
            </p:cNvPr>
            <p:cNvSpPr txBox="1"/>
            <p:nvPr/>
          </p:nvSpPr>
          <p:spPr>
            <a:xfrm>
              <a:off x="8286222" y="1644787"/>
              <a:ext cx="590931" cy="4002403"/>
            </a:xfrm>
            <a:prstGeom prst="rect">
              <a:avLst/>
            </a:prstGeom>
            <a:noFill/>
          </p:spPr>
          <p:txBody>
            <a:bodyPr vert="eaVert" wrap="square">
              <a:spAutoFit/>
            </a:bodyPr>
            <a:lstStyle/>
            <a:p>
              <a:pPr algn="ctr">
                <a:lnSpc>
                  <a:spcPct val="120000"/>
                </a:lnSpc>
                <a:spcBef>
                  <a:spcPts val="50"/>
                </a:spcBef>
              </a:pPr>
              <a:r>
                <a:rPr lang="zh-CN" altLang="en-US" sz="2200" b="1" dirty="0">
                  <a:solidFill>
                    <a:schemeClr val="bg1"/>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高端产品发展落后</a:t>
              </a:r>
            </a:p>
          </p:txBody>
        </p:sp>
      </p:grpSp>
    </p:spTree>
    <p:extLst>
      <p:ext uri="{BB962C8B-B14F-4D97-AF65-F5344CB8AC3E}">
        <p14:creationId xmlns:p14="http://schemas.microsoft.com/office/powerpoint/2010/main" val="2962713808"/>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down)">
                                      <p:cBhvr>
                                        <p:cTn id="1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B495E-D2B7-07B0-AC9A-7B0DC3B38301}"/>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F5CCE596-49D1-A31E-CF76-CDB2001F3A2E}"/>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47071285-8BBA-ED84-D2A7-AA873B6A0E05}"/>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F172D173-967A-2407-ADAF-76D136D11467}"/>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宠物经济行业发展建议</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045AE3C2-5E96-AA07-4098-E934049EF846}"/>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DAB7E987-B14B-2229-C25D-D011C01FA90B}"/>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04</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36" name="组合 35">
            <a:extLst>
              <a:ext uri="{FF2B5EF4-FFF2-40B4-BE49-F238E27FC236}">
                <a16:creationId xmlns:a16="http://schemas.microsoft.com/office/drawing/2014/main" id="{82D80C9A-C144-84DB-4EF4-54C6410C60D4}"/>
              </a:ext>
            </a:extLst>
          </p:cNvPr>
          <p:cNvGrpSpPr/>
          <p:nvPr/>
        </p:nvGrpSpPr>
        <p:grpSpPr>
          <a:xfrm>
            <a:off x="739942" y="1426214"/>
            <a:ext cx="10712117" cy="4462061"/>
            <a:chOff x="874293" y="1534498"/>
            <a:chExt cx="10712117" cy="4462061"/>
          </a:xfrm>
        </p:grpSpPr>
        <p:grpSp>
          <p:nvGrpSpPr>
            <p:cNvPr id="29" name="组合 28">
              <a:extLst>
                <a:ext uri="{FF2B5EF4-FFF2-40B4-BE49-F238E27FC236}">
                  <a16:creationId xmlns:a16="http://schemas.microsoft.com/office/drawing/2014/main" id="{19644416-769B-6415-CF15-D8FE156595C5}"/>
                </a:ext>
              </a:extLst>
            </p:cNvPr>
            <p:cNvGrpSpPr/>
            <p:nvPr/>
          </p:nvGrpSpPr>
          <p:grpSpPr>
            <a:xfrm>
              <a:off x="874293" y="1534498"/>
              <a:ext cx="10712117" cy="1346114"/>
              <a:chOff x="6745322" y="1471308"/>
              <a:chExt cx="6673516" cy="1775796"/>
            </a:xfrm>
          </p:grpSpPr>
          <p:sp>
            <p:nvSpPr>
              <p:cNvPr id="27" name="矩形: 圆角 26">
                <a:extLst>
                  <a:ext uri="{FF2B5EF4-FFF2-40B4-BE49-F238E27FC236}">
                    <a16:creationId xmlns:a16="http://schemas.microsoft.com/office/drawing/2014/main" id="{73AF7864-B474-CA11-6749-4E6E368B24E6}"/>
                  </a:ext>
                </a:extLst>
              </p:cNvPr>
              <p:cNvSpPr/>
              <p:nvPr/>
            </p:nvSpPr>
            <p:spPr>
              <a:xfrm>
                <a:off x="6745322" y="1471308"/>
                <a:ext cx="6673516" cy="1775796"/>
              </a:xfrm>
              <a:prstGeom prst="roundRect">
                <a:avLst>
                  <a:gd name="adj" fmla="val 391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8" name="Rectangle 3">
                <a:extLst>
                  <a:ext uri="{FF2B5EF4-FFF2-40B4-BE49-F238E27FC236}">
                    <a16:creationId xmlns:a16="http://schemas.microsoft.com/office/drawing/2014/main" id="{C5D911F3-0CBD-C94C-40D3-B1A0FC15945B}"/>
                  </a:ext>
                </a:extLst>
              </p:cNvPr>
              <p:cNvSpPr txBox="1">
                <a:spLocks/>
              </p:cNvSpPr>
              <p:nvPr/>
            </p:nvSpPr>
            <p:spPr>
              <a:xfrm>
                <a:off x="6883991" y="1557931"/>
                <a:ext cx="6515383" cy="1555516"/>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50"/>
                  </a:spcBef>
                  <a:buNone/>
                </a:pPr>
                <a:r>
                  <a:rPr lang="zh-CN" altLang="en-US" sz="2600" b="1">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供应链升级：</a:t>
                </a:r>
              </a:p>
              <a:p>
                <a:pPr marL="0" indent="0">
                  <a:lnSpc>
                    <a:spcPct val="12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企业进入从贴牌代工到开发自有品牌生产线过度阶段，通过供应链升级，严格原材料选取，提高产品质量及生产效率</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30" name="组合 29">
              <a:extLst>
                <a:ext uri="{FF2B5EF4-FFF2-40B4-BE49-F238E27FC236}">
                  <a16:creationId xmlns:a16="http://schemas.microsoft.com/office/drawing/2014/main" id="{7DD81B2D-A81F-3E31-E154-82A43D4E9550}"/>
                </a:ext>
              </a:extLst>
            </p:cNvPr>
            <p:cNvGrpSpPr/>
            <p:nvPr/>
          </p:nvGrpSpPr>
          <p:grpSpPr>
            <a:xfrm>
              <a:off x="874293" y="3092471"/>
              <a:ext cx="10712117" cy="1346114"/>
              <a:chOff x="6745322" y="1471308"/>
              <a:chExt cx="6673516" cy="1775796"/>
            </a:xfrm>
          </p:grpSpPr>
          <p:sp>
            <p:nvSpPr>
              <p:cNvPr id="31" name="矩形: 圆角 30">
                <a:extLst>
                  <a:ext uri="{FF2B5EF4-FFF2-40B4-BE49-F238E27FC236}">
                    <a16:creationId xmlns:a16="http://schemas.microsoft.com/office/drawing/2014/main" id="{F5CA5538-90F6-F9F4-C9DD-0AB6E7390AFA}"/>
                  </a:ext>
                </a:extLst>
              </p:cNvPr>
              <p:cNvSpPr/>
              <p:nvPr/>
            </p:nvSpPr>
            <p:spPr>
              <a:xfrm>
                <a:off x="6745322" y="1471308"/>
                <a:ext cx="6673516" cy="1775796"/>
              </a:xfrm>
              <a:prstGeom prst="roundRect">
                <a:avLst>
                  <a:gd name="adj" fmla="val 391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2" name="Rectangle 3">
                <a:extLst>
                  <a:ext uri="{FF2B5EF4-FFF2-40B4-BE49-F238E27FC236}">
                    <a16:creationId xmlns:a16="http://schemas.microsoft.com/office/drawing/2014/main" id="{E15D3001-6F96-5BBE-C120-A0BB558CD60E}"/>
                  </a:ext>
                </a:extLst>
              </p:cNvPr>
              <p:cNvSpPr txBox="1">
                <a:spLocks/>
              </p:cNvSpPr>
              <p:nvPr/>
            </p:nvSpPr>
            <p:spPr>
              <a:xfrm>
                <a:off x="6883991" y="1573803"/>
                <a:ext cx="6515383" cy="1555516"/>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50"/>
                  </a:spcBef>
                  <a:buNone/>
                </a:pPr>
                <a:r>
                  <a:rPr lang="zh-CN" altLang="en-US" sz="2600" b="1">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品牌化：</a:t>
                </a:r>
              </a:p>
              <a:p>
                <a:pPr marL="0" indent="0">
                  <a:lnSpc>
                    <a:spcPct val="12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我国社会需求转化带来消费升级，</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32%</a:t>
                </a: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的消费者关注宠物用品品牌，推动企业建立自主品牌，发展个性化商品。</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33" name="组合 32">
              <a:extLst>
                <a:ext uri="{FF2B5EF4-FFF2-40B4-BE49-F238E27FC236}">
                  <a16:creationId xmlns:a16="http://schemas.microsoft.com/office/drawing/2014/main" id="{C6C0804D-58EE-4B5F-15FC-83A57DF4FE96}"/>
                </a:ext>
              </a:extLst>
            </p:cNvPr>
            <p:cNvGrpSpPr/>
            <p:nvPr/>
          </p:nvGrpSpPr>
          <p:grpSpPr>
            <a:xfrm>
              <a:off x="874293" y="4650445"/>
              <a:ext cx="10712117" cy="1346114"/>
              <a:chOff x="6745322" y="1471308"/>
              <a:chExt cx="6673516" cy="1775796"/>
            </a:xfrm>
          </p:grpSpPr>
          <p:sp>
            <p:nvSpPr>
              <p:cNvPr id="34" name="矩形: 圆角 33">
                <a:extLst>
                  <a:ext uri="{FF2B5EF4-FFF2-40B4-BE49-F238E27FC236}">
                    <a16:creationId xmlns:a16="http://schemas.microsoft.com/office/drawing/2014/main" id="{C3038478-5116-B071-9FD3-72BBDAD9E467}"/>
                  </a:ext>
                </a:extLst>
              </p:cNvPr>
              <p:cNvSpPr/>
              <p:nvPr/>
            </p:nvSpPr>
            <p:spPr>
              <a:xfrm>
                <a:off x="6745322" y="1471308"/>
                <a:ext cx="6673516" cy="1775796"/>
              </a:xfrm>
              <a:prstGeom prst="roundRect">
                <a:avLst>
                  <a:gd name="adj" fmla="val 391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35" name="Rectangle 3">
                <a:extLst>
                  <a:ext uri="{FF2B5EF4-FFF2-40B4-BE49-F238E27FC236}">
                    <a16:creationId xmlns:a16="http://schemas.microsoft.com/office/drawing/2014/main" id="{AC71508D-3EC3-04D8-7390-8A385E7DD6FE}"/>
                  </a:ext>
                </a:extLst>
              </p:cNvPr>
              <p:cNvSpPr txBox="1">
                <a:spLocks/>
              </p:cNvSpPr>
              <p:nvPr/>
            </p:nvSpPr>
            <p:spPr>
              <a:xfrm>
                <a:off x="6883991" y="1589676"/>
                <a:ext cx="6515383" cy="1555516"/>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ts val="50"/>
                  </a:spcBef>
                  <a:buNone/>
                </a:pPr>
                <a:r>
                  <a:rPr lang="zh-CN" altLang="en-US" sz="2600" b="1">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产品设计与研发：</a:t>
                </a:r>
              </a:p>
              <a:p>
                <a:pPr marL="0" indent="0">
                  <a:lnSpc>
                    <a:spcPct val="12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根据宠物用品消费者偏好调查，有</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38%</a:t>
                </a: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的消费者看重智能化。为满足市场需求，企业加大产品设计与研发力度，开启宠物智能用品新时代。</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spTree>
    <p:extLst>
      <p:ext uri="{BB962C8B-B14F-4D97-AF65-F5344CB8AC3E}">
        <p14:creationId xmlns:p14="http://schemas.microsoft.com/office/powerpoint/2010/main" val="2509385794"/>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wipe(down)">
                                      <p:cBhvr>
                                        <p:cTn id="12"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A6CC9-5450-60A6-E255-9487AB47EB63}"/>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C41BC2CC-4A87-C352-21A9-D389FE667C47}"/>
              </a:ext>
            </a:extLst>
          </p:cNvPr>
          <p:cNvGrpSpPr/>
          <p:nvPr/>
        </p:nvGrpSpPr>
        <p:grpSpPr>
          <a:xfrm>
            <a:off x="-1546" y="0"/>
            <a:ext cx="4188534" cy="829430"/>
            <a:chOff x="-1546" y="0"/>
            <a:chExt cx="4188534" cy="829430"/>
          </a:xfrm>
        </p:grpSpPr>
        <p:sp>
          <p:nvSpPr>
            <p:cNvPr id="10" name="矩形: 圆角 9">
              <a:extLst>
                <a:ext uri="{FF2B5EF4-FFF2-40B4-BE49-F238E27FC236}">
                  <a16:creationId xmlns:a16="http://schemas.microsoft.com/office/drawing/2014/main" id="{AD56780F-83D3-8B3E-4BB3-D3292F792D4D}"/>
                </a:ext>
              </a:extLst>
            </p:cNvPr>
            <p:cNvSpPr/>
            <p:nvPr/>
          </p:nvSpPr>
          <p:spPr>
            <a:xfrm>
              <a:off x="198877" y="132617"/>
              <a:ext cx="3988111"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81F423A2-B6DB-233C-F3B4-58E866D55279}"/>
                </a:ext>
              </a:extLst>
            </p:cNvPr>
            <p:cNvSpPr txBox="1"/>
            <p:nvPr/>
          </p:nvSpPr>
          <p:spPr>
            <a:xfrm>
              <a:off x="619983" y="132617"/>
              <a:ext cx="3362470"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宠物经济行业政策支持</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B8A20467-30DA-48FC-313A-1DED7319E84F}"/>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330F6206-0589-D297-A829-61ACD1311BAF}"/>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04</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2" name="组合 1">
            <a:extLst>
              <a:ext uri="{FF2B5EF4-FFF2-40B4-BE49-F238E27FC236}">
                <a16:creationId xmlns:a16="http://schemas.microsoft.com/office/drawing/2014/main" id="{E67FCDDD-546A-916A-8F11-895C27F19111}"/>
              </a:ext>
            </a:extLst>
          </p:cNvPr>
          <p:cNvGrpSpPr/>
          <p:nvPr/>
        </p:nvGrpSpPr>
        <p:grpSpPr>
          <a:xfrm>
            <a:off x="405729" y="1938080"/>
            <a:ext cx="11380542" cy="3247528"/>
            <a:chOff x="811458" y="1321949"/>
            <a:chExt cx="11380542" cy="3247528"/>
          </a:xfrm>
        </p:grpSpPr>
        <p:grpSp>
          <p:nvGrpSpPr>
            <p:cNvPr id="3" name="组合 2">
              <a:extLst>
                <a:ext uri="{FF2B5EF4-FFF2-40B4-BE49-F238E27FC236}">
                  <a16:creationId xmlns:a16="http://schemas.microsoft.com/office/drawing/2014/main" id="{44D601A1-58AE-9781-C1B6-75D7A33DE2EB}"/>
                </a:ext>
              </a:extLst>
            </p:cNvPr>
            <p:cNvGrpSpPr/>
            <p:nvPr/>
          </p:nvGrpSpPr>
          <p:grpSpPr>
            <a:xfrm>
              <a:off x="811459" y="3154295"/>
              <a:ext cx="11380541" cy="1415182"/>
              <a:chOff x="811460" y="3261346"/>
              <a:chExt cx="8894781" cy="1106075"/>
            </a:xfrm>
          </p:grpSpPr>
          <p:sp>
            <p:nvSpPr>
              <p:cNvPr id="5" name="矩形: 圆角 4">
                <a:extLst>
                  <a:ext uri="{FF2B5EF4-FFF2-40B4-BE49-F238E27FC236}">
                    <a16:creationId xmlns:a16="http://schemas.microsoft.com/office/drawing/2014/main" id="{48504CBC-3F1B-8992-8ABC-1BBAE62F996B}"/>
                  </a:ext>
                </a:extLst>
              </p:cNvPr>
              <p:cNvSpPr/>
              <p:nvPr/>
            </p:nvSpPr>
            <p:spPr>
              <a:xfrm>
                <a:off x="811460" y="3261346"/>
                <a:ext cx="8894781" cy="1106075"/>
              </a:xfrm>
              <a:prstGeom prst="roundRect">
                <a:avLst>
                  <a:gd name="adj" fmla="val 220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文本框 7">
                <a:extLst>
                  <a:ext uri="{FF2B5EF4-FFF2-40B4-BE49-F238E27FC236}">
                    <a16:creationId xmlns:a16="http://schemas.microsoft.com/office/drawing/2014/main" id="{BB84DB06-3060-39EB-BA5B-5E893878B448}"/>
                  </a:ext>
                </a:extLst>
              </p:cNvPr>
              <p:cNvSpPr txBox="1"/>
              <p:nvPr/>
            </p:nvSpPr>
            <p:spPr>
              <a:xfrm>
                <a:off x="1047269" y="3465209"/>
                <a:ext cx="8436939" cy="633804"/>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l">
                  <a:spcBef>
                    <a:spcPts val="50"/>
                  </a:spcBef>
                </a:pPr>
                <a:r>
                  <a:rPr lang="zh-CN" altLang="en-US" sz="20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国务院发布政策、十四五规划、政府报告、领导讲话等都有对宠物经济行业做了领性的指导，合理的解读能够为宠物经济行业做了好的发展指引。</a:t>
                </a:r>
                <a:endParaRPr lang="zh-CN" altLang="en-US" sz="20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pic>
          <p:nvPicPr>
            <p:cNvPr id="4" name="图片 3">
              <a:extLst>
                <a:ext uri="{FF2B5EF4-FFF2-40B4-BE49-F238E27FC236}">
                  <a16:creationId xmlns:a16="http://schemas.microsoft.com/office/drawing/2014/main" id="{E91669A3-85D1-8400-B9D2-47525392EC26}"/>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811458" y="1321949"/>
              <a:ext cx="11380542" cy="1549591"/>
            </a:xfrm>
            <a:prstGeom prst="roundRect">
              <a:avLst>
                <a:gd name="adj" fmla="val 1832"/>
              </a:avLst>
            </a:prstGeom>
          </p:spPr>
        </p:pic>
      </p:grpSp>
    </p:spTree>
    <p:extLst>
      <p:ext uri="{BB962C8B-B14F-4D97-AF65-F5344CB8AC3E}">
        <p14:creationId xmlns:p14="http://schemas.microsoft.com/office/powerpoint/2010/main" val="132824173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dow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D2F72-EF90-5C40-887C-04BB52007080}"/>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6BD84727-C384-8B79-C128-0D30DB56320F}"/>
              </a:ext>
            </a:extLst>
          </p:cNvPr>
          <p:cNvGrpSpPr/>
          <p:nvPr/>
        </p:nvGrpSpPr>
        <p:grpSpPr>
          <a:xfrm>
            <a:off x="-1546" y="0"/>
            <a:ext cx="4958557" cy="829430"/>
            <a:chOff x="-1546" y="0"/>
            <a:chExt cx="4958557" cy="829430"/>
          </a:xfrm>
        </p:grpSpPr>
        <p:sp>
          <p:nvSpPr>
            <p:cNvPr id="10" name="矩形: 圆角 9">
              <a:extLst>
                <a:ext uri="{FF2B5EF4-FFF2-40B4-BE49-F238E27FC236}">
                  <a16:creationId xmlns:a16="http://schemas.microsoft.com/office/drawing/2014/main" id="{7427CF87-AC4A-816F-0DC7-6BCF1F89303C}"/>
                </a:ext>
              </a:extLst>
            </p:cNvPr>
            <p:cNvSpPr/>
            <p:nvPr/>
          </p:nvSpPr>
          <p:spPr>
            <a:xfrm>
              <a:off x="198877" y="132617"/>
              <a:ext cx="4758134"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2F4765A2-BFC9-2CBF-D0B5-471E3EE2258E}"/>
                </a:ext>
              </a:extLst>
            </p:cNvPr>
            <p:cNvSpPr txBox="1"/>
            <p:nvPr/>
          </p:nvSpPr>
          <p:spPr>
            <a:xfrm>
              <a:off x="619983" y="132617"/>
              <a:ext cx="4108428"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宠物经济行业发展前景趋势</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C7DA8E19-286B-5F09-87F8-5754FFE4100D}"/>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8BDB4FBF-DECA-2D96-7027-D6E2D9DCCEAC}"/>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04</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8" name="组合 7">
            <a:extLst>
              <a:ext uri="{FF2B5EF4-FFF2-40B4-BE49-F238E27FC236}">
                <a16:creationId xmlns:a16="http://schemas.microsoft.com/office/drawing/2014/main" id="{A0373403-4E28-F851-8256-B44613CBB2C2}"/>
              </a:ext>
            </a:extLst>
          </p:cNvPr>
          <p:cNvGrpSpPr/>
          <p:nvPr/>
        </p:nvGrpSpPr>
        <p:grpSpPr>
          <a:xfrm>
            <a:off x="701771" y="1362504"/>
            <a:ext cx="10788459" cy="4480916"/>
            <a:chOff x="3347563" y="1582057"/>
            <a:chExt cx="9424585" cy="3914440"/>
          </a:xfrm>
        </p:grpSpPr>
        <p:sp>
          <p:nvSpPr>
            <p:cNvPr id="17" name="矩形: 圆角 16">
              <a:extLst>
                <a:ext uri="{FF2B5EF4-FFF2-40B4-BE49-F238E27FC236}">
                  <a16:creationId xmlns:a16="http://schemas.microsoft.com/office/drawing/2014/main" id="{61B024BC-9823-D525-86D8-78F190A1643A}"/>
                </a:ext>
              </a:extLst>
            </p:cNvPr>
            <p:cNvSpPr/>
            <p:nvPr/>
          </p:nvSpPr>
          <p:spPr>
            <a:xfrm>
              <a:off x="6095999" y="1582057"/>
              <a:ext cx="6676149" cy="1001486"/>
            </a:xfrm>
            <a:prstGeom prst="roundRect">
              <a:avLst>
                <a:gd name="adj" fmla="val 1037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9" name="文本框 18">
              <a:extLst>
                <a:ext uri="{FF2B5EF4-FFF2-40B4-BE49-F238E27FC236}">
                  <a16:creationId xmlns:a16="http://schemas.microsoft.com/office/drawing/2014/main" id="{E2171C87-9E16-5A10-29AD-C5AE98F5768B}"/>
                </a:ext>
              </a:extLst>
            </p:cNvPr>
            <p:cNvSpPr txBox="1"/>
            <p:nvPr/>
          </p:nvSpPr>
          <p:spPr>
            <a:xfrm>
              <a:off x="6246612" y="1802837"/>
              <a:ext cx="6362564" cy="645618"/>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l">
                <a:spcBef>
                  <a:spcPts val="50"/>
                </a:spcBef>
              </a:pPr>
              <a:r>
                <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宠物市场规模扩大衍生多种新赛道，就目前阶段而言，宠物乐园和宠物时尚赛道最有发展潜力。</a:t>
              </a:r>
            </a:p>
          </p:txBody>
        </p:sp>
        <p:sp>
          <p:nvSpPr>
            <p:cNvPr id="2" name="椭圆 1">
              <a:extLst>
                <a:ext uri="{FF2B5EF4-FFF2-40B4-BE49-F238E27FC236}">
                  <a16:creationId xmlns:a16="http://schemas.microsoft.com/office/drawing/2014/main" id="{106746B8-A8D1-1EC8-4FAF-80535694A0F8}"/>
                </a:ext>
              </a:extLst>
            </p:cNvPr>
            <p:cNvSpPr/>
            <p:nvPr/>
          </p:nvSpPr>
          <p:spPr>
            <a:xfrm>
              <a:off x="3347563" y="2590640"/>
              <a:ext cx="2023087" cy="2044803"/>
            </a:xfrm>
            <a:prstGeom prst="ellipse">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6" name="文本框 15">
              <a:extLst>
                <a:ext uri="{FF2B5EF4-FFF2-40B4-BE49-F238E27FC236}">
                  <a16:creationId xmlns:a16="http://schemas.microsoft.com/office/drawing/2014/main" id="{87BA7DF6-CA94-A3E0-FCE0-0BE64B0F7442}"/>
                </a:ext>
              </a:extLst>
            </p:cNvPr>
            <p:cNvSpPr txBox="1"/>
            <p:nvPr/>
          </p:nvSpPr>
          <p:spPr>
            <a:xfrm>
              <a:off x="3613748" y="2976056"/>
              <a:ext cx="1657545" cy="1353692"/>
            </a:xfrm>
            <a:prstGeom prst="rect">
              <a:avLst/>
            </a:prstGeom>
            <a:noFill/>
          </p:spPr>
          <p:txBody>
            <a:bodyPr wrap="square">
              <a:spAutoFit/>
            </a:bodyPr>
            <a:lstStyle>
              <a:defPPr>
                <a:defRPr lang="zh-CN"/>
              </a:defPPr>
              <a:lvl1pPr>
                <a:defRPr>
                  <a:solidFill>
                    <a:schemeClr val="bg1"/>
                  </a:solidFill>
                  <a:latin typeface="思源黑体 Heavy" panose="020B0A00000000000000" pitchFamily="34" charset="-122"/>
                  <a:ea typeface="思源黑体 Heavy" panose="020B0A00000000000000" pitchFamily="34" charset="-122"/>
                </a:defRPr>
              </a:lvl1pPr>
            </a:lstStyle>
            <a:p>
              <a:pPr>
                <a:lnSpc>
                  <a:spcPct val="120000"/>
                </a:lnSpc>
                <a:spcBef>
                  <a:spcPts val="50"/>
                </a:spcBef>
              </a:pPr>
              <a:r>
                <a:rPr lang="zh-CN" altLang="en-US" sz="20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跨界联动将催生新商业形态的出现和人才需求的增多</a:t>
              </a:r>
            </a:p>
          </p:txBody>
        </p:sp>
        <p:sp>
          <p:nvSpPr>
            <p:cNvPr id="3" name="矩形: 圆角 2">
              <a:extLst>
                <a:ext uri="{FF2B5EF4-FFF2-40B4-BE49-F238E27FC236}">
                  <a16:creationId xmlns:a16="http://schemas.microsoft.com/office/drawing/2014/main" id="{367E2914-07B0-33AE-E389-ED7FAE1CE66F}"/>
                </a:ext>
              </a:extLst>
            </p:cNvPr>
            <p:cNvSpPr/>
            <p:nvPr/>
          </p:nvSpPr>
          <p:spPr>
            <a:xfrm>
              <a:off x="6095999" y="3038534"/>
              <a:ext cx="6676149" cy="1001486"/>
            </a:xfrm>
            <a:prstGeom prst="roundRect">
              <a:avLst>
                <a:gd name="adj" fmla="val 7222"/>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 name="矩形: 圆角 3">
              <a:extLst>
                <a:ext uri="{FF2B5EF4-FFF2-40B4-BE49-F238E27FC236}">
                  <a16:creationId xmlns:a16="http://schemas.microsoft.com/office/drawing/2014/main" id="{15A7F362-A662-157D-90B4-D80E5FA10A84}"/>
                </a:ext>
              </a:extLst>
            </p:cNvPr>
            <p:cNvSpPr/>
            <p:nvPr/>
          </p:nvSpPr>
          <p:spPr>
            <a:xfrm>
              <a:off x="6095999" y="4495011"/>
              <a:ext cx="6676149" cy="1001486"/>
            </a:xfrm>
            <a:prstGeom prst="roundRect">
              <a:avLst>
                <a:gd name="adj" fmla="val 5122"/>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 name="文本框 20">
              <a:extLst>
                <a:ext uri="{FF2B5EF4-FFF2-40B4-BE49-F238E27FC236}">
                  <a16:creationId xmlns:a16="http://schemas.microsoft.com/office/drawing/2014/main" id="{5E808665-7B20-FB8A-A2D1-502A06970301}"/>
                </a:ext>
              </a:extLst>
            </p:cNvPr>
            <p:cNvSpPr txBox="1"/>
            <p:nvPr/>
          </p:nvSpPr>
          <p:spPr>
            <a:xfrm>
              <a:off x="6246612" y="3182954"/>
              <a:ext cx="6362564" cy="645618"/>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l">
                <a:spcBef>
                  <a:spcPts val="50"/>
                </a:spcBef>
              </a:pPr>
              <a:r>
                <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宠物餐厅、宠物旅行、宠物IP、宠物直播等跨界衍生赛道随消费者需求出现，宠物经济有望探寻更多的跨界商业形态，</a:t>
              </a:r>
            </a:p>
          </p:txBody>
        </p:sp>
        <p:sp>
          <p:nvSpPr>
            <p:cNvPr id="24" name="文本框 23">
              <a:extLst>
                <a:ext uri="{FF2B5EF4-FFF2-40B4-BE49-F238E27FC236}">
                  <a16:creationId xmlns:a16="http://schemas.microsoft.com/office/drawing/2014/main" id="{D0783E49-A847-7294-D30A-6447AB515954}"/>
                </a:ext>
              </a:extLst>
            </p:cNvPr>
            <p:cNvSpPr txBox="1"/>
            <p:nvPr/>
          </p:nvSpPr>
          <p:spPr>
            <a:xfrm>
              <a:off x="6246612" y="4799877"/>
              <a:ext cx="6525536" cy="355241"/>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l">
                <a:spcBef>
                  <a:spcPts val="50"/>
                </a:spcBef>
              </a:pPr>
              <a:r>
                <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同时，伴随着消费形式的多样化，人才专业化需求也将增加</a:t>
              </a:r>
            </a:p>
          </p:txBody>
        </p:sp>
        <p:sp>
          <p:nvSpPr>
            <p:cNvPr id="5" name="箭头: 左右 4">
              <a:extLst>
                <a:ext uri="{FF2B5EF4-FFF2-40B4-BE49-F238E27FC236}">
                  <a16:creationId xmlns:a16="http://schemas.microsoft.com/office/drawing/2014/main" id="{2D5A7DAF-934F-4F8A-18B8-C23AB1770382}"/>
                </a:ext>
              </a:extLst>
            </p:cNvPr>
            <p:cNvSpPr/>
            <p:nvPr/>
          </p:nvSpPr>
          <p:spPr>
            <a:xfrm rot="18900000">
              <a:off x="5403392" y="2442300"/>
              <a:ext cx="425428" cy="226401"/>
            </a:xfrm>
            <a:prstGeom prst="leftRightArrow">
              <a:avLst>
                <a:gd name="adj1" fmla="val 44758"/>
                <a:gd name="adj2" fmla="val 34277"/>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5" name="箭头: 左右 14">
              <a:extLst>
                <a:ext uri="{FF2B5EF4-FFF2-40B4-BE49-F238E27FC236}">
                  <a16:creationId xmlns:a16="http://schemas.microsoft.com/office/drawing/2014/main" id="{1375077C-C215-46CE-9E4F-E87F24F52495}"/>
                </a:ext>
              </a:extLst>
            </p:cNvPr>
            <p:cNvSpPr/>
            <p:nvPr/>
          </p:nvSpPr>
          <p:spPr>
            <a:xfrm rot="1800000">
              <a:off x="5413752" y="4571057"/>
              <a:ext cx="425428" cy="226401"/>
            </a:xfrm>
            <a:prstGeom prst="leftRightArrow">
              <a:avLst>
                <a:gd name="adj1" fmla="val 44758"/>
                <a:gd name="adj2" fmla="val 34277"/>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8" name="箭头: 左右 17">
              <a:extLst>
                <a:ext uri="{FF2B5EF4-FFF2-40B4-BE49-F238E27FC236}">
                  <a16:creationId xmlns:a16="http://schemas.microsoft.com/office/drawing/2014/main" id="{5383EBA7-06F9-94D5-61F5-588E6200BCE2}"/>
                </a:ext>
              </a:extLst>
            </p:cNvPr>
            <p:cNvSpPr/>
            <p:nvPr/>
          </p:nvSpPr>
          <p:spPr>
            <a:xfrm>
              <a:off x="5485008" y="3446172"/>
              <a:ext cx="425428" cy="226401"/>
            </a:xfrm>
            <a:prstGeom prst="leftRightArrow">
              <a:avLst>
                <a:gd name="adj1" fmla="val 44758"/>
                <a:gd name="adj2" fmla="val 34277"/>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Tree>
    <p:extLst>
      <p:ext uri="{BB962C8B-B14F-4D97-AF65-F5344CB8AC3E}">
        <p14:creationId xmlns:p14="http://schemas.microsoft.com/office/powerpoint/2010/main" val="78888419"/>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22D3D-6F7F-4FDF-3CDA-C6F8F37FE46B}"/>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C258BC65-694C-56D6-25BC-C333944A24C7}"/>
              </a:ext>
            </a:extLst>
          </p:cNvPr>
          <p:cNvGrpSpPr/>
          <p:nvPr/>
        </p:nvGrpSpPr>
        <p:grpSpPr>
          <a:xfrm>
            <a:off x="-1546" y="0"/>
            <a:ext cx="4958557" cy="829430"/>
            <a:chOff x="-1546" y="0"/>
            <a:chExt cx="4958557" cy="829430"/>
          </a:xfrm>
        </p:grpSpPr>
        <p:sp>
          <p:nvSpPr>
            <p:cNvPr id="10" name="矩形: 圆角 9">
              <a:extLst>
                <a:ext uri="{FF2B5EF4-FFF2-40B4-BE49-F238E27FC236}">
                  <a16:creationId xmlns:a16="http://schemas.microsoft.com/office/drawing/2014/main" id="{09C22047-4086-094A-FD8E-EB3B6C477BCF}"/>
                </a:ext>
              </a:extLst>
            </p:cNvPr>
            <p:cNvSpPr/>
            <p:nvPr/>
          </p:nvSpPr>
          <p:spPr>
            <a:xfrm>
              <a:off x="198877" y="132617"/>
              <a:ext cx="4758134"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FB7BB84B-0D94-41B4-167E-54E5B28D0FA8}"/>
                </a:ext>
              </a:extLst>
            </p:cNvPr>
            <p:cNvSpPr txBox="1"/>
            <p:nvPr/>
          </p:nvSpPr>
          <p:spPr>
            <a:xfrm>
              <a:off x="619983" y="132617"/>
              <a:ext cx="4108428"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宠物经济行业发展前景趋势</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DD83C70D-8104-160F-4051-CEC274303655}"/>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C2CF05EE-9BA7-5C6E-F8F5-3F3E2D0566AC}"/>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04</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23" name="组合 22">
            <a:extLst>
              <a:ext uri="{FF2B5EF4-FFF2-40B4-BE49-F238E27FC236}">
                <a16:creationId xmlns:a16="http://schemas.microsoft.com/office/drawing/2014/main" id="{8CA9234A-9217-8C8E-035C-C8BE573A99EC}"/>
              </a:ext>
            </a:extLst>
          </p:cNvPr>
          <p:cNvGrpSpPr/>
          <p:nvPr/>
        </p:nvGrpSpPr>
        <p:grpSpPr>
          <a:xfrm>
            <a:off x="0" y="962047"/>
            <a:ext cx="11615518" cy="5114897"/>
            <a:chOff x="0" y="1227011"/>
            <a:chExt cx="11615518" cy="5114897"/>
          </a:xfrm>
        </p:grpSpPr>
        <p:sp>
          <p:nvSpPr>
            <p:cNvPr id="3" name="箭头: 五边形 2">
              <a:extLst>
                <a:ext uri="{FF2B5EF4-FFF2-40B4-BE49-F238E27FC236}">
                  <a16:creationId xmlns:a16="http://schemas.microsoft.com/office/drawing/2014/main" id="{1DD7D9AA-6679-F48C-F47E-80F25DB966C9}"/>
                </a:ext>
              </a:extLst>
            </p:cNvPr>
            <p:cNvSpPr/>
            <p:nvPr/>
          </p:nvSpPr>
          <p:spPr>
            <a:xfrm>
              <a:off x="0" y="3012411"/>
              <a:ext cx="6096000" cy="1540403"/>
            </a:xfrm>
            <a:prstGeom prst="homePlate">
              <a:avLst>
                <a:gd name="adj" fmla="val 23081"/>
              </a:avLst>
            </a:prstGeom>
            <a:solidFill>
              <a:srgbClr val="B9F0F6">
                <a:alpha val="27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椭圆 7">
              <a:extLst>
                <a:ext uri="{FF2B5EF4-FFF2-40B4-BE49-F238E27FC236}">
                  <a16:creationId xmlns:a16="http://schemas.microsoft.com/office/drawing/2014/main" id="{602AC73F-1D79-0DC2-B597-9B59E7069862}"/>
                </a:ext>
              </a:extLst>
            </p:cNvPr>
            <p:cNvSpPr/>
            <p:nvPr/>
          </p:nvSpPr>
          <p:spPr>
            <a:xfrm>
              <a:off x="4885550" y="2969975"/>
              <a:ext cx="1540284" cy="1556817"/>
            </a:xfrm>
            <a:prstGeom prst="ellipse">
              <a:avLst/>
            </a:pr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9" name="文本框 8">
              <a:extLst>
                <a:ext uri="{FF2B5EF4-FFF2-40B4-BE49-F238E27FC236}">
                  <a16:creationId xmlns:a16="http://schemas.microsoft.com/office/drawing/2014/main" id="{F613D03A-180E-7C38-D415-C8CA7566AF07}"/>
                </a:ext>
              </a:extLst>
            </p:cNvPr>
            <p:cNvSpPr txBox="1"/>
            <p:nvPr/>
          </p:nvSpPr>
          <p:spPr>
            <a:xfrm>
              <a:off x="5058245" y="3267065"/>
              <a:ext cx="1215807" cy="1254895"/>
            </a:xfrm>
            <a:prstGeom prst="rect">
              <a:avLst/>
            </a:prstGeom>
            <a:noFill/>
          </p:spPr>
          <p:txBody>
            <a:bodyPr wrap="square">
              <a:spAutoFit/>
            </a:bodyPr>
            <a:lstStyle>
              <a:defPPr>
                <a:defRPr lang="zh-CN"/>
              </a:defPPr>
              <a:lvl1pPr>
                <a:defRPr>
                  <a:solidFill>
                    <a:schemeClr val="bg1"/>
                  </a:solidFill>
                  <a:latin typeface="思源黑体 Heavy" panose="020B0A00000000000000" pitchFamily="34" charset="-122"/>
                  <a:ea typeface="思源黑体 Heavy" panose="020B0A00000000000000" pitchFamily="34" charset="-122"/>
                </a:defRPr>
              </a:lvl1pPr>
            </a:lstStyle>
            <a:p>
              <a:pPr algn="ctr">
                <a:lnSpc>
                  <a:spcPct val="120000"/>
                </a:lnSpc>
                <a:spcBef>
                  <a:spcPts val="50"/>
                </a:spcBef>
              </a:pPr>
              <a:r>
                <a:rPr lang="zh-CN" altLang="en-US" sz="16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宠物经济的发展需要人才结构优化</a:t>
              </a:r>
            </a:p>
          </p:txBody>
        </p:sp>
        <p:sp>
          <p:nvSpPr>
            <p:cNvPr id="11" name="空心弧 10">
              <a:extLst>
                <a:ext uri="{FF2B5EF4-FFF2-40B4-BE49-F238E27FC236}">
                  <a16:creationId xmlns:a16="http://schemas.microsoft.com/office/drawing/2014/main" id="{7C41D23B-3D67-256E-16D8-DD8CC3498347}"/>
                </a:ext>
              </a:extLst>
            </p:cNvPr>
            <p:cNvSpPr/>
            <p:nvPr/>
          </p:nvSpPr>
          <p:spPr>
            <a:xfrm rot="6300000">
              <a:off x="4151344" y="2346202"/>
              <a:ext cx="2766967" cy="2766967"/>
            </a:xfrm>
            <a:prstGeom prst="blockArc">
              <a:avLst>
                <a:gd name="adj1" fmla="val 10800000"/>
                <a:gd name="adj2" fmla="val 20196892"/>
                <a:gd name="adj3" fmla="val 2010"/>
              </a:avLst>
            </a:prstGeom>
            <a:solidFill>
              <a:srgbClr val="B9F0F6">
                <a:alpha val="3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文本框 11">
              <a:extLst>
                <a:ext uri="{FF2B5EF4-FFF2-40B4-BE49-F238E27FC236}">
                  <a16:creationId xmlns:a16="http://schemas.microsoft.com/office/drawing/2014/main" id="{F70E0F12-5CC0-DFC5-B9B9-D619AA8A1BCD}"/>
                </a:ext>
              </a:extLst>
            </p:cNvPr>
            <p:cNvSpPr txBox="1"/>
            <p:nvPr/>
          </p:nvSpPr>
          <p:spPr>
            <a:xfrm>
              <a:off x="2741393" y="3301294"/>
              <a:ext cx="1894705" cy="962636"/>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l">
                <a:spcBef>
                  <a:spcPts val="50"/>
                </a:spcBef>
              </a:pPr>
              <a:r>
                <a:rPr lang="zh-CN" altLang="en-US" sz="1600"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虽然目前宠物经济处于探索期，但仍已达到千亿级规模。</a:t>
              </a:r>
            </a:p>
          </p:txBody>
        </p:sp>
        <p:sp>
          <p:nvSpPr>
            <p:cNvPr id="16" name="文本框 15">
              <a:extLst>
                <a:ext uri="{FF2B5EF4-FFF2-40B4-BE49-F238E27FC236}">
                  <a16:creationId xmlns:a16="http://schemas.microsoft.com/office/drawing/2014/main" id="{758BB561-FFB1-3722-E799-E41A9955CA0F}"/>
                </a:ext>
              </a:extLst>
            </p:cNvPr>
            <p:cNvSpPr txBox="1"/>
            <p:nvPr/>
          </p:nvSpPr>
          <p:spPr>
            <a:xfrm>
              <a:off x="7051981" y="1227011"/>
              <a:ext cx="4563537" cy="667170"/>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l">
                <a:spcBef>
                  <a:spcPts val="50"/>
                </a:spcBef>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62%的宠物主需要近距离了解产品，58%的消费者需要店内协助服务。</a:t>
              </a:r>
            </a:p>
          </p:txBody>
        </p:sp>
        <p:sp>
          <p:nvSpPr>
            <p:cNvPr id="17" name="文本框 16">
              <a:extLst>
                <a:ext uri="{FF2B5EF4-FFF2-40B4-BE49-F238E27FC236}">
                  <a16:creationId xmlns:a16="http://schemas.microsoft.com/office/drawing/2014/main" id="{7AC36190-C14B-0F19-220D-CEB9BE3A189B}"/>
                </a:ext>
              </a:extLst>
            </p:cNvPr>
            <p:cNvSpPr txBox="1"/>
            <p:nvPr/>
          </p:nvSpPr>
          <p:spPr>
            <a:xfrm>
              <a:off x="7051981" y="2117343"/>
              <a:ext cx="4563537" cy="667170"/>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l">
                <a:spcBef>
                  <a:spcPts val="50"/>
                </a:spcBef>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伴随消费需求升级，以及市场规模扩大，人才专业化需求将增加。</a:t>
              </a:r>
            </a:p>
          </p:txBody>
        </p:sp>
        <p:sp>
          <p:nvSpPr>
            <p:cNvPr id="19" name="文本框 18">
              <a:extLst>
                <a:ext uri="{FF2B5EF4-FFF2-40B4-BE49-F238E27FC236}">
                  <a16:creationId xmlns:a16="http://schemas.microsoft.com/office/drawing/2014/main" id="{991AA3AE-A5C8-DC97-67DD-D65F3D67BA02}"/>
                </a:ext>
              </a:extLst>
            </p:cNvPr>
            <p:cNvSpPr txBox="1"/>
            <p:nvPr/>
          </p:nvSpPr>
          <p:spPr>
            <a:xfrm>
              <a:off x="7051981" y="3007675"/>
              <a:ext cx="4563537" cy="667170"/>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l">
                <a:spcBef>
                  <a:spcPts val="50"/>
                </a:spcBef>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伴随消费需求升级，以及市场规模扩大，人才专业化需求将增加。</a:t>
              </a:r>
            </a:p>
          </p:txBody>
        </p:sp>
        <p:sp>
          <p:nvSpPr>
            <p:cNvPr id="20" name="文本框 19">
              <a:extLst>
                <a:ext uri="{FF2B5EF4-FFF2-40B4-BE49-F238E27FC236}">
                  <a16:creationId xmlns:a16="http://schemas.microsoft.com/office/drawing/2014/main" id="{79365D43-7CF0-5DEF-6750-778594EE2E7E}"/>
                </a:ext>
              </a:extLst>
            </p:cNvPr>
            <p:cNvSpPr txBox="1"/>
            <p:nvPr/>
          </p:nvSpPr>
          <p:spPr>
            <a:xfrm>
              <a:off x="7051981" y="3898007"/>
              <a:ext cx="4563537" cy="962636"/>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l">
                <a:spcBef>
                  <a:spcPts val="50"/>
                </a:spcBef>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我国人力资源与社会保障部教育培训中心已设立宠物服务行业系列培训。相关培训学校与宠物企业合作，共同推行“岗位轮动”人才培养模式</a:t>
              </a:r>
              <a:r>
                <a:rPr lang="en-US" altLang="zh-CN"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1" name="文本框 20">
              <a:extLst>
                <a:ext uri="{FF2B5EF4-FFF2-40B4-BE49-F238E27FC236}">
                  <a16:creationId xmlns:a16="http://schemas.microsoft.com/office/drawing/2014/main" id="{D161A6BF-12D0-3DD8-D42F-40F0C2B3711C}"/>
                </a:ext>
              </a:extLst>
            </p:cNvPr>
            <p:cNvSpPr txBox="1"/>
            <p:nvPr/>
          </p:nvSpPr>
          <p:spPr>
            <a:xfrm>
              <a:off x="7051981" y="5083807"/>
              <a:ext cx="4563537" cy="1258101"/>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l">
                <a:spcBef>
                  <a:spcPts val="50"/>
                </a:spcBef>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分别在宠物用品超市、宠物医院等实训基地培养学生岗位技能与综合职业素养。随着国家越来越重视宠物相关专业人才的培养，企业与高校将建立更完善的人才培训机制。</a:t>
              </a:r>
            </a:p>
          </p:txBody>
        </p:sp>
      </p:grpSp>
      <p:pic>
        <p:nvPicPr>
          <p:cNvPr id="5" name="图片 4">
            <a:extLst>
              <a:ext uri="{FF2B5EF4-FFF2-40B4-BE49-F238E27FC236}">
                <a16:creationId xmlns:a16="http://schemas.microsoft.com/office/drawing/2014/main" id="{9F28356E-CEFD-AC63-8616-12ADD33FCC07}"/>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flipH="1">
            <a:off x="48387" y="1701599"/>
            <a:ext cx="2633517" cy="2601004"/>
          </a:xfrm>
          <a:prstGeom prst="rect">
            <a:avLst/>
          </a:prstGeom>
        </p:spPr>
      </p:pic>
    </p:spTree>
    <p:extLst>
      <p:ext uri="{BB962C8B-B14F-4D97-AF65-F5344CB8AC3E}">
        <p14:creationId xmlns:p14="http://schemas.microsoft.com/office/powerpoint/2010/main" val="107990130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31E360-B064-7825-3D8A-D548D5A27FDA}"/>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2FA93896-76AB-9E19-1980-1348B399A84D}"/>
              </a:ext>
            </a:extLst>
          </p:cNvPr>
          <p:cNvGrpSpPr/>
          <p:nvPr/>
        </p:nvGrpSpPr>
        <p:grpSpPr>
          <a:xfrm>
            <a:off x="-1546" y="0"/>
            <a:ext cx="4958557" cy="829430"/>
            <a:chOff x="-1546" y="0"/>
            <a:chExt cx="4958557" cy="829430"/>
          </a:xfrm>
        </p:grpSpPr>
        <p:sp>
          <p:nvSpPr>
            <p:cNvPr id="10" name="矩形: 圆角 9">
              <a:extLst>
                <a:ext uri="{FF2B5EF4-FFF2-40B4-BE49-F238E27FC236}">
                  <a16:creationId xmlns:a16="http://schemas.microsoft.com/office/drawing/2014/main" id="{0DE6C12F-11A0-B70E-3A69-4264532160FC}"/>
                </a:ext>
              </a:extLst>
            </p:cNvPr>
            <p:cNvSpPr/>
            <p:nvPr/>
          </p:nvSpPr>
          <p:spPr>
            <a:xfrm>
              <a:off x="198877" y="132617"/>
              <a:ext cx="4758134"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31FCEB11-CD2C-281C-2AB6-7F3AEFC83A76}"/>
                </a:ext>
              </a:extLst>
            </p:cNvPr>
            <p:cNvSpPr txBox="1"/>
            <p:nvPr/>
          </p:nvSpPr>
          <p:spPr>
            <a:xfrm>
              <a:off x="619983" y="132617"/>
              <a:ext cx="4108428"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宠物经济行业投资机会</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5B267AD6-8E33-A644-CF2D-5CEFCB7CA2C4}"/>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185A367E-82DE-FBDD-B157-114E948EF506}"/>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04</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33" name="组合 32">
            <a:extLst>
              <a:ext uri="{FF2B5EF4-FFF2-40B4-BE49-F238E27FC236}">
                <a16:creationId xmlns:a16="http://schemas.microsoft.com/office/drawing/2014/main" id="{8669D860-6673-1AA6-756E-587C9E41BDA3}"/>
              </a:ext>
            </a:extLst>
          </p:cNvPr>
          <p:cNvGrpSpPr/>
          <p:nvPr/>
        </p:nvGrpSpPr>
        <p:grpSpPr>
          <a:xfrm>
            <a:off x="1443678" y="1846735"/>
            <a:ext cx="9304644" cy="3519350"/>
            <a:chOff x="1443678" y="1846735"/>
            <a:chExt cx="9304644" cy="3519350"/>
          </a:xfrm>
        </p:grpSpPr>
        <p:grpSp>
          <p:nvGrpSpPr>
            <p:cNvPr id="27" name="组合 26">
              <a:extLst>
                <a:ext uri="{FF2B5EF4-FFF2-40B4-BE49-F238E27FC236}">
                  <a16:creationId xmlns:a16="http://schemas.microsoft.com/office/drawing/2014/main" id="{ED60F3CA-7E96-AE31-B6E1-F70754F67039}"/>
                </a:ext>
              </a:extLst>
            </p:cNvPr>
            <p:cNvGrpSpPr/>
            <p:nvPr/>
          </p:nvGrpSpPr>
          <p:grpSpPr>
            <a:xfrm>
              <a:off x="2272981" y="1846735"/>
              <a:ext cx="7646038" cy="1792925"/>
              <a:chOff x="1786720" y="1817339"/>
              <a:chExt cx="6010617" cy="1409434"/>
            </a:xfrm>
            <a:solidFill>
              <a:srgbClr val="04CADF"/>
            </a:solidFill>
          </p:grpSpPr>
          <p:grpSp>
            <p:nvGrpSpPr>
              <p:cNvPr id="21" name="组合 20">
                <a:extLst>
                  <a:ext uri="{FF2B5EF4-FFF2-40B4-BE49-F238E27FC236}">
                    <a16:creationId xmlns:a16="http://schemas.microsoft.com/office/drawing/2014/main" id="{E66F6060-A930-9A19-2558-5E3259B44629}"/>
                  </a:ext>
                </a:extLst>
              </p:cNvPr>
              <p:cNvGrpSpPr/>
              <p:nvPr/>
            </p:nvGrpSpPr>
            <p:grpSpPr>
              <a:xfrm>
                <a:off x="6387903" y="1817339"/>
                <a:ext cx="1409434" cy="1409434"/>
                <a:chOff x="6387903" y="1817339"/>
                <a:chExt cx="1409434" cy="1409434"/>
              </a:xfrm>
              <a:grpFill/>
            </p:grpSpPr>
            <p:sp>
              <p:nvSpPr>
                <p:cNvPr id="8" name="泪滴形 7">
                  <a:extLst>
                    <a:ext uri="{FF2B5EF4-FFF2-40B4-BE49-F238E27FC236}">
                      <a16:creationId xmlns:a16="http://schemas.microsoft.com/office/drawing/2014/main" id="{42577855-6E6F-911C-36BB-A9F5E144D1A5}"/>
                    </a:ext>
                  </a:extLst>
                </p:cNvPr>
                <p:cNvSpPr/>
                <p:nvPr/>
              </p:nvSpPr>
              <p:spPr>
                <a:xfrm rot="8100000">
                  <a:off x="6387903" y="1817339"/>
                  <a:ext cx="1409434" cy="140943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1" name="文本框 10">
                  <a:extLst>
                    <a:ext uri="{FF2B5EF4-FFF2-40B4-BE49-F238E27FC236}">
                      <a16:creationId xmlns:a16="http://schemas.microsoft.com/office/drawing/2014/main" id="{CE4BD351-99A9-45E5-DEFD-68BEFD8B6209}"/>
                    </a:ext>
                  </a:extLst>
                </p:cNvPr>
                <p:cNvSpPr txBox="1"/>
                <p:nvPr/>
              </p:nvSpPr>
              <p:spPr>
                <a:xfrm>
                  <a:off x="6585694" y="2093769"/>
                  <a:ext cx="1028077" cy="873475"/>
                </a:xfrm>
                <a:prstGeom prst="rect">
                  <a:avLst/>
                </a:prstGeom>
                <a:grpFill/>
              </p:spPr>
              <p:txBody>
                <a:bodyPr wrap="square">
                  <a:spAutoFit/>
                </a:bodyPr>
                <a:lstStyle>
                  <a:defPPr>
                    <a:defRPr lang="zh-CN"/>
                  </a:defPPr>
                  <a:lvl1pPr>
                    <a:defRPr>
                      <a:solidFill>
                        <a:schemeClr val="bg1"/>
                      </a:solidFill>
                      <a:latin typeface="思源黑体 Heavy" panose="020B0A00000000000000" pitchFamily="34" charset="-122"/>
                      <a:ea typeface="思源黑体 Heavy" panose="020B0A00000000000000" pitchFamily="34" charset="-122"/>
                    </a:defRPr>
                  </a:lvl1pPr>
                </a:lstStyle>
                <a:p>
                  <a:pPr algn="ctr">
                    <a:lnSpc>
                      <a:spcPct val="120000"/>
                    </a:lnSpc>
                    <a:spcBef>
                      <a:spcPts val="50"/>
                    </a:spcBef>
                  </a:pPr>
                  <a:r>
                    <a:rPr lang="zh-CN" altLang="en-US" sz="28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产品</a:t>
                  </a:r>
                  <a:endParaRPr lang="en-US" altLang="zh-CN" sz="28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lnSpc>
                      <a:spcPct val="120000"/>
                    </a:lnSpc>
                    <a:spcBef>
                      <a:spcPts val="50"/>
                    </a:spcBef>
                  </a:pPr>
                  <a:r>
                    <a:rPr lang="zh-CN" altLang="en-US" sz="28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服务</a:t>
                  </a:r>
                  <a:endParaRPr lang="zh-CN" altLang="en-US" sz="28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4" name="组合 23">
                <a:extLst>
                  <a:ext uri="{FF2B5EF4-FFF2-40B4-BE49-F238E27FC236}">
                    <a16:creationId xmlns:a16="http://schemas.microsoft.com/office/drawing/2014/main" id="{A7F1199F-F052-6BFB-47F9-7F2BA7D6D6A4}"/>
                  </a:ext>
                </a:extLst>
              </p:cNvPr>
              <p:cNvGrpSpPr/>
              <p:nvPr/>
            </p:nvGrpSpPr>
            <p:grpSpPr>
              <a:xfrm>
                <a:off x="4087312" y="1817339"/>
                <a:ext cx="1409434" cy="1409434"/>
                <a:chOff x="3090690" y="1817339"/>
                <a:chExt cx="1409434" cy="1409434"/>
              </a:xfrm>
              <a:grpFill/>
            </p:grpSpPr>
            <p:sp>
              <p:nvSpPr>
                <p:cNvPr id="5" name="泪滴形 4">
                  <a:extLst>
                    <a:ext uri="{FF2B5EF4-FFF2-40B4-BE49-F238E27FC236}">
                      <a16:creationId xmlns:a16="http://schemas.microsoft.com/office/drawing/2014/main" id="{4069E269-BAA6-54BA-50C5-1DEB12C2C8DC}"/>
                    </a:ext>
                  </a:extLst>
                </p:cNvPr>
                <p:cNvSpPr/>
                <p:nvPr/>
              </p:nvSpPr>
              <p:spPr>
                <a:xfrm rot="8100000">
                  <a:off x="3090690" y="1817339"/>
                  <a:ext cx="1409434" cy="140943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2" name="文本框 11">
                  <a:extLst>
                    <a:ext uri="{FF2B5EF4-FFF2-40B4-BE49-F238E27FC236}">
                      <a16:creationId xmlns:a16="http://schemas.microsoft.com/office/drawing/2014/main" id="{EBE25F12-3B6F-4760-A654-008BC54647D0}"/>
                    </a:ext>
                  </a:extLst>
                </p:cNvPr>
                <p:cNvSpPr txBox="1"/>
                <p:nvPr/>
              </p:nvSpPr>
              <p:spPr>
                <a:xfrm>
                  <a:off x="3281368" y="2093769"/>
                  <a:ext cx="1028077" cy="873475"/>
                </a:xfrm>
                <a:prstGeom prst="rect">
                  <a:avLst/>
                </a:prstGeom>
                <a:grpFill/>
              </p:spPr>
              <p:txBody>
                <a:bodyPr wrap="square">
                  <a:spAutoFit/>
                </a:bodyPr>
                <a:lstStyle>
                  <a:defPPr>
                    <a:defRPr lang="zh-CN"/>
                  </a:defPPr>
                  <a:lvl1pPr>
                    <a:defRPr>
                      <a:solidFill>
                        <a:schemeClr val="bg1"/>
                      </a:solidFill>
                      <a:latin typeface="思源黑体 Heavy" panose="020B0A00000000000000" pitchFamily="34" charset="-122"/>
                      <a:ea typeface="思源黑体 Heavy" panose="020B0A00000000000000" pitchFamily="34" charset="-122"/>
                    </a:defRPr>
                  </a:lvl1pPr>
                </a:lstStyle>
                <a:p>
                  <a:pPr algn="ctr">
                    <a:lnSpc>
                      <a:spcPct val="120000"/>
                    </a:lnSpc>
                    <a:spcBef>
                      <a:spcPts val="50"/>
                    </a:spcBef>
                  </a:pPr>
                  <a:r>
                    <a:rPr lang="zh-CN" altLang="en-US" sz="28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资源</a:t>
                  </a:r>
                  <a:endParaRPr lang="en-US" altLang="zh-CN" sz="28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lnSpc>
                      <a:spcPct val="120000"/>
                    </a:lnSpc>
                    <a:spcBef>
                      <a:spcPts val="50"/>
                    </a:spcBef>
                  </a:pPr>
                  <a:r>
                    <a:rPr lang="zh-CN" altLang="en-US" sz="28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整合</a:t>
                  </a:r>
                  <a:endParaRPr lang="zh-CN" altLang="en-US" sz="28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26" name="组合 25">
                <a:extLst>
                  <a:ext uri="{FF2B5EF4-FFF2-40B4-BE49-F238E27FC236}">
                    <a16:creationId xmlns:a16="http://schemas.microsoft.com/office/drawing/2014/main" id="{3320B1C5-833E-6C69-510F-DC60968C24C4}"/>
                  </a:ext>
                </a:extLst>
              </p:cNvPr>
              <p:cNvGrpSpPr/>
              <p:nvPr/>
            </p:nvGrpSpPr>
            <p:grpSpPr>
              <a:xfrm>
                <a:off x="1786720" y="1817339"/>
                <a:ext cx="1409434" cy="1409434"/>
                <a:chOff x="1786720" y="1817339"/>
                <a:chExt cx="1409434" cy="1409434"/>
              </a:xfrm>
              <a:grpFill/>
            </p:grpSpPr>
            <p:sp>
              <p:nvSpPr>
                <p:cNvPr id="9" name="泪滴形 8">
                  <a:extLst>
                    <a:ext uri="{FF2B5EF4-FFF2-40B4-BE49-F238E27FC236}">
                      <a16:creationId xmlns:a16="http://schemas.microsoft.com/office/drawing/2014/main" id="{C6F25BBB-6F24-9037-D21D-BDA5826944DF}"/>
                    </a:ext>
                  </a:extLst>
                </p:cNvPr>
                <p:cNvSpPr/>
                <p:nvPr/>
              </p:nvSpPr>
              <p:spPr>
                <a:xfrm rot="8100000">
                  <a:off x="1786720" y="1817339"/>
                  <a:ext cx="1409434" cy="140943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spcBef>
                      <a:spcPts val="50"/>
                    </a:spcBef>
                  </a:pPr>
                  <a:endParaRPr lang="zh-CN" altLang="en-US" sz="24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7" name="文本框 16">
                  <a:extLst>
                    <a:ext uri="{FF2B5EF4-FFF2-40B4-BE49-F238E27FC236}">
                      <a16:creationId xmlns:a16="http://schemas.microsoft.com/office/drawing/2014/main" id="{2D8E93AF-E37A-B279-F54B-FB9A0E2BA533}"/>
                    </a:ext>
                  </a:extLst>
                </p:cNvPr>
                <p:cNvSpPr txBox="1"/>
                <p:nvPr/>
              </p:nvSpPr>
              <p:spPr>
                <a:xfrm>
                  <a:off x="1977398" y="2093769"/>
                  <a:ext cx="1028077" cy="873475"/>
                </a:xfrm>
                <a:prstGeom prst="rect">
                  <a:avLst/>
                </a:prstGeom>
                <a:grpFill/>
              </p:spPr>
              <p:txBody>
                <a:bodyPr wrap="square">
                  <a:spAutoFit/>
                </a:bodyPr>
                <a:lstStyle>
                  <a:defPPr>
                    <a:defRPr lang="zh-CN"/>
                  </a:defPPr>
                  <a:lvl1pPr>
                    <a:defRPr>
                      <a:solidFill>
                        <a:schemeClr val="bg1"/>
                      </a:solidFill>
                      <a:latin typeface="思源黑体 Heavy" panose="020B0A00000000000000" pitchFamily="34" charset="-122"/>
                      <a:ea typeface="思源黑体 Heavy" panose="020B0A00000000000000" pitchFamily="34" charset="-122"/>
                    </a:defRPr>
                  </a:lvl1pPr>
                </a:lstStyle>
                <a:p>
                  <a:pPr algn="ctr">
                    <a:lnSpc>
                      <a:spcPct val="120000"/>
                    </a:lnSpc>
                    <a:spcBef>
                      <a:spcPts val="50"/>
                    </a:spcBef>
                  </a:pPr>
                  <a:r>
                    <a:rPr lang="zh-CN" altLang="en-US" sz="28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咨询</a:t>
                  </a:r>
                  <a:endParaRPr lang="en-US" altLang="zh-CN" sz="28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algn="ctr">
                    <a:lnSpc>
                      <a:spcPct val="120000"/>
                    </a:lnSpc>
                    <a:spcBef>
                      <a:spcPts val="50"/>
                    </a:spcBef>
                  </a:pPr>
                  <a:r>
                    <a:rPr lang="zh-CN" altLang="en-US" sz="2800" b="1">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管理</a:t>
                  </a:r>
                  <a:endParaRPr lang="zh-CN" altLang="en-US" sz="2800" b="1"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grpSp>
          <p:nvGrpSpPr>
            <p:cNvPr id="32" name="组合 31">
              <a:extLst>
                <a:ext uri="{FF2B5EF4-FFF2-40B4-BE49-F238E27FC236}">
                  <a16:creationId xmlns:a16="http://schemas.microsoft.com/office/drawing/2014/main" id="{1CC8AA62-435E-D453-D8AD-47914D746F14}"/>
                </a:ext>
              </a:extLst>
            </p:cNvPr>
            <p:cNvGrpSpPr/>
            <p:nvPr/>
          </p:nvGrpSpPr>
          <p:grpSpPr>
            <a:xfrm>
              <a:off x="1443678" y="4030581"/>
              <a:ext cx="9304644" cy="1335504"/>
              <a:chOff x="692326" y="1431759"/>
              <a:chExt cx="5185033" cy="4381431"/>
            </a:xfrm>
          </p:grpSpPr>
          <p:sp>
            <p:nvSpPr>
              <p:cNvPr id="28" name="矩形: 圆角 27">
                <a:extLst>
                  <a:ext uri="{FF2B5EF4-FFF2-40B4-BE49-F238E27FC236}">
                    <a16:creationId xmlns:a16="http://schemas.microsoft.com/office/drawing/2014/main" id="{F50345D1-B3C8-DB74-9BE5-08F5024321EC}"/>
                  </a:ext>
                </a:extLst>
              </p:cNvPr>
              <p:cNvSpPr/>
              <p:nvPr/>
            </p:nvSpPr>
            <p:spPr>
              <a:xfrm>
                <a:off x="692326" y="1431759"/>
                <a:ext cx="5185033" cy="4381431"/>
              </a:xfrm>
              <a:prstGeom prst="roundRect">
                <a:avLst>
                  <a:gd name="adj" fmla="val 2217"/>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spcBef>
                    <a:spcPts val="50"/>
                  </a:spcBef>
                </a:pPr>
                <a:endParaRPr lang="zh-CN" altLang="en-US" sz="17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29" name="文本框 28">
                <a:extLst>
                  <a:ext uri="{FF2B5EF4-FFF2-40B4-BE49-F238E27FC236}">
                    <a16:creationId xmlns:a16="http://schemas.microsoft.com/office/drawing/2014/main" id="{82D2BCF7-E758-82FC-DFA2-BCA1CFF3A334}"/>
                  </a:ext>
                </a:extLst>
              </p:cNvPr>
              <p:cNvSpPr txBox="1"/>
              <p:nvPr/>
            </p:nvSpPr>
            <p:spPr>
              <a:xfrm>
                <a:off x="824066" y="2410165"/>
                <a:ext cx="4872810" cy="2424619"/>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l">
                  <a:spcBef>
                    <a:spcPts val="50"/>
                  </a:spcBef>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行业投入增加、市场空间大宠物经济行业覆盖群体较大，市场空间与产值足够大，好的服务与解决方案必然带来较大的回报，因此行业也越来越受到资本与企业的重视</a:t>
                </a:r>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spTree>
    <p:extLst>
      <p:ext uri="{BB962C8B-B14F-4D97-AF65-F5344CB8AC3E}">
        <p14:creationId xmlns:p14="http://schemas.microsoft.com/office/powerpoint/2010/main" val="1420548026"/>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down)">
                                      <p:cBhvr>
                                        <p:cTn id="12"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16FB70-A5FA-1D21-6484-08592B047C5A}"/>
            </a:ext>
          </a:extLst>
        </p:cNvPr>
        <p:cNvGrpSpPr/>
        <p:nvPr/>
      </p:nvGrpSpPr>
      <p:grpSpPr>
        <a:xfrm>
          <a:off x="0" y="0"/>
          <a:ext cx="0" cy="0"/>
          <a:chOff x="0" y="0"/>
          <a:chExt cx="0" cy="0"/>
        </a:xfrm>
      </p:grpSpPr>
      <p:sp>
        <p:nvSpPr>
          <p:cNvPr id="21" name="任意多边形: 形状 20">
            <a:extLst>
              <a:ext uri="{FF2B5EF4-FFF2-40B4-BE49-F238E27FC236}">
                <a16:creationId xmlns:a16="http://schemas.microsoft.com/office/drawing/2014/main" id="{BEED7986-A10F-79A8-FADF-9A55BF881C48}"/>
              </a:ext>
            </a:extLst>
          </p:cNvPr>
          <p:cNvSpPr/>
          <p:nvPr/>
        </p:nvSpPr>
        <p:spPr>
          <a:xfrm>
            <a:off x="1" y="1233594"/>
            <a:ext cx="8407401" cy="4390812"/>
          </a:xfrm>
          <a:custGeom>
            <a:avLst/>
            <a:gdLst>
              <a:gd name="connsiteX0" fmla="*/ 0 w 8407401"/>
              <a:gd name="connsiteY0" fmla="*/ 0 h 4390812"/>
              <a:gd name="connsiteX1" fmla="*/ 6211995 w 8407401"/>
              <a:gd name="connsiteY1" fmla="*/ 0 h 4390812"/>
              <a:gd name="connsiteX2" fmla="*/ 8407401 w 8407401"/>
              <a:gd name="connsiteY2" fmla="*/ 2195406 h 4390812"/>
              <a:gd name="connsiteX3" fmla="*/ 8407400 w 8407401"/>
              <a:gd name="connsiteY3" fmla="*/ 2195406 h 4390812"/>
              <a:gd name="connsiteX4" fmla="*/ 6211994 w 8407401"/>
              <a:gd name="connsiteY4" fmla="*/ 4390812 h 4390812"/>
              <a:gd name="connsiteX5" fmla="*/ 0 w 8407401"/>
              <a:gd name="connsiteY5" fmla="*/ 4390811 h 4390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07401" h="4390812">
                <a:moveTo>
                  <a:pt x="0" y="0"/>
                </a:moveTo>
                <a:lnTo>
                  <a:pt x="6211995" y="0"/>
                </a:lnTo>
                <a:cubicBezTo>
                  <a:pt x="7424484" y="0"/>
                  <a:pt x="8407401" y="982917"/>
                  <a:pt x="8407401" y="2195406"/>
                </a:cubicBezTo>
                <a:lnTo>
                  <a:pt x="8407400" y="2195406"/>
                </a:lnTo>
                <a:cubicBezTo>
                  <a:pt x="8407400" y="3407895"/>
                  <a:pt x="7424483" y="4390812"/>
                  <a:pt x="6211994" y="4390812"/>
                </a:cubicBezTo>
                <a:lnTo>
                  <a:pt x="0" y="4390811"/>
                </a:lnTo>
                <a:close/>
              </a:path>
            </a:pathLst>
          </a:custGeom>
          <a:gradFill>
            <a:gsLst>
              <a:gs pos="54000">
                <a:srgbClr val="04CADF"/>
              </a:gs>
              <a:gs pos="0">
                <a:srgbClr val="04CADF">
                  <a:alpha val="12000"/>
                </a:srgbClr>
              </a:gs>
            </a:gsLst>
            <a:lin ang="10800000" scaled="0"/>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5" name="图形">
            <a:extLst>
              <a:ext uri="{FF2B5EF4-FFF2-40B4-BE49-F238E27FC236}">
                <a16:creationId xmlns:a16="http://schemas.microsoft.com/office/drawing/2014/main" id="{3A54C2E3-6271-BCCB-AA93-83EADCEE70A7}"/>
              </a:ext>
            </a:extLst>
          </p:cNvPr>
          <p:cNvSpPr/>
          <p:nvPr/>
        </p:nvSpPr>
        <p:spPr>
          <a:xfrm>
            <a:off x="5842000" y="-151765"/>
            <a:ext cx="6148705" cy="6148705"/>
          </a:xfrm>
          <a:prstGeom prst="ellipse">
            <a:avLst/>
          </a:prstGeom>
          <a:noFill/>
          <a:ln>
            <a:gradFill>
              <a:gsLst>
                <a:gs pos="0">
                  <a:srgbClr val="FD7E5C"/>
                </a:gs>
                <a:gs pos="100000">
                  <a:srgbClr val="FF9449"/>
                </a:gs>
              </a:gsLst>
              <a:lin ang="5400000" scaled="1"/>
            </a:grad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23" name="图形">
            <a:extLst>
              <a:ext uri="{FF2B5EF4-FFF2-40B4-BE49-F238E27FC236}">
                <a16:creationId xmlns:a16="http://schemas.microsoft.com/office/drawing/2014/main" id="{93DF5B02-CC67-3EFF-D2F9-611931575666}"/>
              </a:ext>
            </a:extLst>
          </p:cNvPr>
          <p:cNvSpPr/>
          <p:nvPr/>
        </p:nvSpPr>
        <p:spPr>
          <a:xfrm flipV="1">
            <a:off x="7619365" y="0"/>
            <a:ext cx="4572635" cy="3686175"/>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53373" h="5325261">
                <a:moveTo>
                  <a:pt x="4595548" y="1367261"/>
                </a:moveTo>
                <a:cubicBezTo>
                  <a:pt x="4985179" y="-967801"/>
                  <a:pt x="8167423" y="395711"/>
                  <a:pt x="10053373" y="395711"/>
                </a:cubicBezTo>
                <a:lnTo>
                  <a:pt x="10053373" y="5325261"/>
                </a:lnTo>
                <a:lnTo>
                  <a:pt x="23548" y="5325261"/>
                </a:lnTo>
                <a:cubicBezTo>
                  <a:pt x="-376502" y="2710528"/>
                  <a:pt x="4450989" y="4358963"/>
                  <a:pt x="4595548" y="1367261"/>
                </a:cubicBezTo>
                <a:close/>
              </a:path>
            </a:pathLst>
          </a:custGeom>
          <a:gradFill>
            <a:gsLst>
              <a:gs pos="100000">
                <a:srgbClr val="04CADF"/>
              </a:gs>
              <a:gs pos="0">
                <a:srgbClr val="04CADF">
                  <a:alpha val="22000"/>
                </a:srgbClr>
              </a:gs>
            </a:gsLst>
            <a:lin ang="7800000" scaled="0"/>
          </a:gradFill>
          <a:ln>
            <a:noFill/>
          </a:ln>
          <a:effectLst>
            <a:outerShdw blurRad="50800" dist="38100" dir="8100000" algn="tr" rotWithShape="0">
              <a:srgbClr val="E95D8E">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0" name="任意多边形: 形状 59">
            <a:extLst>
              <a:ext uri="{FF2B5EF4-FFF2-40B4-BE49-F238E27FC236}">
                <a16:creationId xmlns:a16="http://schemas.microsoft.com/office/drawing/2014/main" id="{5F4959DE-FD6A-F901-5C40-4F0A0B198FE0}"/>
              </a:ext>
            </a:extLst>
          </p:cNvPr>
          <p:cNvSpPr/>
          <p:nvPr/>
        </p:nvSpPr>
        <p:spPr>
          <a:xfrm flipH="1">
            <a:off x="11609704" y="6224196"/>
            <a:ext cx="582296" cy="636241"/>
          </a:xfrm>
          <a:custGeom>
            <a:avLst/>
            <a:gdLst>
              <a:gd name="connsiteX0" fmla="*/ 0 w 582296"/>
              <a:gd name="connsiteY0" fmla="*/ 0 h 636241"/>
              <a:gd name="connsiteX1" fmla="*/ 0 w 582296"/>
              <a:gd name="connsiteY1" fmla="*/ 636241 h 636241"/>
              <a:gd name="connsiteX2" fmla="*/ 579527 w 582296"/>
              <a:gd name="connsiteY2" fmla="*/ 636241 h 636241"/>
              <a:gd name="connsiteX3" fmla="*/ 582296 w 582296"/>
              <a:gd name="connsiteY3" fmla="*/ 608254 h 636241"/>
              <a:gd name="connsiteX4" fmla="*/ 104424 w 582296"/>
              <a:gd name="connsiteY4" fmla="*/ 10728 h 6362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2296" h="636241">
                <a:moveTo>
                  <a:pt x="0" y="0"/>
                </a:moveTo>
                <a:lnTo>
                  <a:pt x="0" y="636241"/>
                </a:lnTo>
                <a:lnTo>
                  <a:pt x="579527" y="636241"/>
                </a:lnTo>
                <a:lnTo>
                  <a:pt x="582296" y="608254"/>
                </a:lnTo>
                <a:cubicBezTo>
                  <a:pt x="582296" y="313512"/>
                  <a:pt x="377145" y="67600"/>
                  <a:pt x="104424" y="10728"/>
                </a:cubicBez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64" name="任意多边形: 形状 63">
            <a:extLst>
              <a:ext uri="{FF2B5EF4-FFF2-40B4-BE49-F238E27FC236}">
                <a16:creationId xmlns:a16="http://schemas.microsoft.com/office/drawing/2014/main" id="{7BC2A1A1-C059-6066-DCBF-ADC21D6A1A6E}"/>
              </a:ext>
            </a:extLst>
          </p:cNvPr>
          <p:cNvSpPr/>
          <p:nvPr/>
        </p:nvSpPr>
        <p:spPr>
          <a:xfrm flipH="1">
            <a:off x="1807" y="258626"/>
            <a:ext cx="287319" cy="452120"/>
          </a:xfrm>
          <a:custGeom>
            <a:avLst/>
            <a:gdLst>
              <a:gd name="connsiteX0" fmla="*/ 221615 w 287319"/>
              <a:gd name="connsiteY0" fmla="*/ 0 h 452120"/>
              <a:gd name="connsiteX1" fmla="*/ 0 w 287319"/>
              <a:gd name="connsiteY1" fmla="*/ 226060 h 452120"/>
              <a:gd name="connsiteX2" fmla="*/ 221615 w 287319"/>
              <a:gd name="connsiteY2" fmla="*/ 452120 h 452120"/>
              <a:gd name="connsiteX3" fmla="*/ 287319 w 287319"/>
              <a:gd name="connsiteY3" fmla="*/ 438589 h 452120"/>
              <a:gd name="connsiteX4" fmla="*/ 287319 w 287319"/>
              <a:gd name="connsiteY4" fmla="*/ 13531 h 452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7319" h="452120">
                <a:moveTo>
                  <a:pt x="221615" y="0"/>
                </a:moveTo>
                <a:cubicBezTo>
                  <a:pt x="99220" y="0"/>
                  <a:pt x="0" y="101211"/>
                  <a:pt x="0" y="226060"/>
                </a:cubicBezTo>
                <a:cubicBezTo>
                  <a:pt x="0" y="350909"/>
                  <a:pt x="99220" y="452120"/>
                  <a:pt x="221615" y="452120"/>
                </a:cubicBezTo>
                <a:lnTo>
                  <a:pt x="287319" y="438589"/>
                </a:lnTo>
                <a:lnTo>
                  <a:pt x="287319" y="13531"/>
                </a:lnTo>
                <a:close/>
              </a:path>
            </a:pathLst>
          </a:custGeom>
          <a:gradFill>
            <a:gsLst>
              <a:gs pos="100000">
                <a:srgbClr val="04CADF"/>
              </a:gs>
              <a:gs pos="0">
                <a:srgbClr val="04CADF">
                  <a:alpha val="22000"/>
                </a:srgbClr>
              </a:gs>
            </a:gsLst>
            <a:lin ang="78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pitchFamily="34" charset="-122"/>
              <a:ea typeface="思源黑体 CN Medium" panose="020B0600000000000000" pitchFamily="34" charset="-122"/>
              <a:cs typeface="字魂58号-创中黑" panose="00000500000000000000" pitchFamily="2" charset="-122"/>
              <a:sym typeface="思源黑体 CN Medium" panose="020B0600000000000000" pitchFamily="34" charset="-122"/>
            </a:endParaRPr>
          </a:p>
        </p:txBody>
      </p:sp>
      <p:sp>
        <p:nvSpPr>
          <p:cNvPr id="38" name="图形">
            <a:extLst>
              <a:ext uri="{FF2B5EF4-FFF2-40B4-BE49-F238E27FC236}">
                <a16:creationId xmlns:a16="http://schemas.microsoft.com/office/drawing/2014/main" id="{66F423F1-39D4-C1CE-1B94-13727C2BB4C8}"/>
              </a:ext>
            </a:extLst>
          </p:cNvPr>
          <p:cNvSpPr/>
          <p:nvPr/>
        </p:nvSpPr>
        <p:spPr>
          <a:xfrm flipV="1">
            <a:off x="11121390" y="5718175"/>
            <a:ext cx="300990" cy="300990"/>
          </a:xfrm>
          <a:prstGeom prst="ellipse">
            <a:avLst/>
          </a:prstGeom>
          <a:gradFill>
            <a:gsLst>
              <a:gs pos="100000">
                <a:srgbClr val="04CADF"/>
              </a:gs>
              <a:gs pos="0">
                <a:srgbClr val="04CADF">
                  <a:alpha val="22000"/>
                </a:srgbClr>
              </a:gs>
            </a:gsLst>
            <a:lin ang="7800000" scaled="0"/>
          </a:gradFill>
          <a:ln>
            <a:noFill/>
          </a:ln>
          <a:effectLst>
            <a:outerShdw blurRad="609600" dist="152400" dir="13500000" algn="br" rotWithShape="0">
              <a:srgbClr val="FF8C4F">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9" name="组合 48">
            <a:extLst>
              <a:ext uri="{FF2B5EF4-FFF2-40B4-BE49-F238E27FC236}">
                <a16:creationId xmlns:a16="http://schemas.microsoft.com/office/drawing/2014/main" id="{57D981DB-89A6-EDF3-AC5B-08616F23ABAA}"/>
              </a:ext>
            </a:extLst>
          </p:cNvPr>
          <p:cNvGrpSpPr/>
          <p:nvPr/>
        </p:nvGrpSpPr>
        <p:grpSpPr>
          <a:xfrm>
            <a:off x="6594463" y="1110193"/>
            <a:ext cx="4666991" cy="4666992"/>
            <a:chOff x="6550025" y="1108105"/>
            <a:chExt cx="5435600" cy="5435600"/>
          </a:xfrm>
        </p:grpSpPr>
        <p:sp>
          <p:nvSpPr>
            <p:cNvPr id="51" name="椭圆 50">
              <a:extLst>
                <a:ext uri="{FF2B5EF4-FFF2-40B4-BE49-F238E27FC236}">
                  <a16:creationId xmlns:a16="http://schemas.microsoft.com/office/drawing/2014/main" id="{F67B3F42-6070-6933-1ACC-D2C475C302DE}"/>
                </a:ext>
              </a:extLst>
            </p:cNvPr>
            <p:cNvSpPr/>
            <p:nvPr/>
          </p:nvSpPr>
          <p:spPr>
            <a:xfrm flipH="1">
              <a:off x="6550025" y="1108105"/>
              <a:ext cx="5435600" cy="5435600"/>
            </a:xfrm>
            <a:prstGeom prst="ellipse">
              <a:avLst/>
            </a:prstGeom>
            <a:solidFill>
              <a:schemeClr val="bg1"/>
            </a:solidFill>
            <a:ln>
              <a:noFill/>
            </a:ln>
            <a:effectLst>
              <a:outerShdw blurRad="584200" dist="203200" dir="5400000" sx="92000" sy="92000" algn="ctr" rotWithShape="0">
                <a:srgbClr val="04CADF">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2" name="椭圆 51">
              <a:extLst>
                <a:ext uri="{FF2B5EF4-FFF2-40B4-BE49-F238E27FC236}">
                  <a16:creationId xmlns:a16="http://schemas.microsoft.com/office/drawing/2014/main" id="{A24EC619-B896-D4EF-3238-9B7D6D5E2513}"/>
                </a:ext>
              </a:extLst>
            </p:cNvPr>
            <p:cNvSpPr/>
            <p:nvPr/>
          </p:nvSpPr>
          <p:spPr>
            <a:xfrm flipH="1">
              <a:off x="7048486" y="1606566"/>
              <a:ext cx="4438679" cy="4438678"/>
            </a:xfrm>
            <a:prstGeom prst="ellipse">
              <a:avLst/>
            </a:prstGeom>
            <a:blipFill dpi="0" rotWithShape="1">
              <a:blip r:embed="rId3" cstate="email">
                <a:alphaModFix amt="99000"/>
                <a:extLst>
                  <a:ext uri="{28A0092B-C50C-407E-A947-70E740481C1C}">
                    <a14:useLocalDpi xmlns:a14="http://schemas.microsoft.com/office/drawing/2010/main"/>
                  </a:ext>
                </a:extLst>
              </a:blip>
              <a:srcRect/>
              <a:tile tx="0" ty="0" sx="27000" sy="27000" flip="none" algn="ctr"/>
            </a:blip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56" name="任意多边形: 形状 55">
            <a:extLst>
              <a:ext uri="{FF2B5EF4-FFF2-40B4-BE49-F238E27FC236}">
                <a16:creationId xmlns:a16="http://schemas.microsoft.com/office/drawing/2014/main" id="{FE9D9F5A-C235-2BF0-4292-505C0BF1450E}"/>
              </a:ext>
            </a:extLst>
          </p:cNvPr>
          <p:cNvSpPr/>
          <p:nvPr/>
        </p:nvSpPr>
        <p:spPr>
          <a:xfrm>
            <a:off x="7395787" y="6237305"/>
            <a:ext cx="1553662" cy="620695"/>
          </a:xfrm>
          <a:custGeom>
            <a:avLst/>
            <a:gdLst>
              <a:gd name="connsiteX0" fmla="*/ 776831 w 1553662"/>
              <a:gd name="connsiteY0" fmla="*/ 0 h 620695"/>
              <a:gd name="connsiteX1" fmla="*/ 1512321 w 1553662"/>
              <a:gd name="connsiteY1" fmla="*/ 487516 h 620695"/>
              <a:gd name="connsiteX2" fmla="*/ 1553662 w 1553662"/>
              <a:gd name="connsiteY2" fmla="*/ 620695 h 620695"/>
              <a:gd name="connsiteX3" fmla="*/ 1274065 w 1553662"/>
              <a:gd name="connsiteY3" fmla="*/ 620695 h 620695"/>
              <a:gd name="connsiteX4" fmla="*/ 1265138 w 1553662"/>
              <a:gd name="connsiteY4" fmla="*/ 591937 h 620695"/>
              <a:gd name="connsiteX5" fmla="*/ 776831 w 1553662"/>
              <a:gd name="connsiteY5" fmla="*/ 268265 h 620695"/>
              <a:gd name="connsiteX6" fmla="*/ 288525 w 1553662"/>
              <a:gd name="connsiteY6" fmla="*/ 591937 h 620695"/>
              <a:gd name="connsiteX7" fmla="*/ 279597 w 1553662"/>
              <a:gd name="connsiteY7" fmla="*/ 620695 h 620695"/>
              <a:gd name="connsiteX8" fmla="*/ 0 w 1553662"/>
              <a:gd name="connsiteY8" fmla="*/ 620695 h 620695"/>
              <a:gd name="connsiteX9" fmla="*/ 41341 w 1553662"/>
              <a:gd name="connsiteY9" fmla="*/ 487516 h 620695"/>
              <a:gd name="connsiteX10" fmla="*/ 776831 w 1553662"/>
              <a:gd name="connsiteY10" fmla="*/ 0 h 6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3662" h="620695">
                <a:moveTo>
                  <a:pt x="776831" y="0"/>
                </a:moveTo>
                <a:cubicBezTo>
                  <a:pt x="1107464" y="0"/>
                  <a:pt x="1391145" y="201023"/>
                  <a:pt x="1512321" y="487516"/>
                </a:cubicBezTo>
                <a:lnTo>
                  <a:pt x="1553662" y="620695"/>
                </a:lnTo>
                <a:lnTo>
                  <a:pt x="1274065" y="620695"/>
                </a:lnTo>
                <a:lnTo>
                  <a:pt x="1265138" y="591937"/>
                </a:lnTo>
                <a:cubicBezTo>
                  <a:pt x="1184687" y="401729"/>
                  <a:pt x="996345" y="268265"/>
                  <a:pt x="776831" y="268265"/>
                </a:cubicBezTo>
                <a:cubicBezTo>
                  <a:pt x="557318" y="268265"/>
                  <a:pt x="368976" y="401729"/>
                  <a:pt x="288525" y="591937"/>
                </a:cubicBezTo>
                <a:lnTo>
                  <a:pt x="279597" y="620695"/>
                </a:lnTo>
                <a:lnTo>
                  <a:pt x="0" y="620695"/>
                </a:lnTo>
                <a:lnTo>
                  <a:pt x="41341" y="487516"/>
                </a:lnTo>
                <a:cubicBezTo>
                  <a:pt x="162517" y="201023"/>
                  <a:pt x="446198" y="0"/>
                  <a:pt x="776831" y="0"/>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矩形 45">
            <a:extLst>
              <a:ext uri="{FF2B5EF4-FFF2-40B4-BE49-F238E27FC236}">
                <a16:creationId xmlns:a16="http://schemas.microsoft.com/office/drawing/2014/main" id="{33B995F7-CE45-354A-AF3B-3445C34CAE94}"/>
              </a:ext>
            </a:extLst>
          </p:cNvPr>
          <p:cNvSpPr/>
          <p:nvPr>
            <p:custDataLst>
              <p:tags r:id="rId1"/>
            </p:custDataLst>
          </p:nvPr>
        </p:nvSpPr>
        <p:spPr>
          <a:xfrm>
            <a:off x="717102" y="315502"/>
            <a:ext cx="4290833" cy="307777"/>
          </a:xfrm>
          <a:prstGeom prst="rect">
            <a:avLst/>
          </a:prstGeom>
        </p:spPr>
        <p:txBody>
          <a:bodyPr wrap="square">
            <a:spAutoFit/>
            <a:scene3d>
              <a:camera prst="orthographicFront"/>
              <a:lightRig rig="threePt" dir="t"/>
            </a:scene3d>
            <a:sp3d contourW="12700"/>
          </a:bodyPr>
          <a:lstStyle/>
          <a:p>
            <a:pPr algn="dist"/>
            <a:r>
              <a:rPr lang="en-US" altLang="zh-CN" sz="140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PET ECONOMY DEPARTMENT REPORT//</a:t>
            </a:r>
            <a:endPar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47" name="组合 46">
            <a:extLst>
              <a:ext uri="{FF2B5EF4-FFF2-40B4-BE49-F238E27FC236}">
                <a16:creationId xmlns:a16="http://schemas.microsoft.com/office/drawing/2014/main" id="{1619B06F-6F21-8E8D-5DE3-9F8CBE8AF188}"/>
              </a:ext>
            </a:extLst>
          </p:cNvPr>
          <p:cNvGrpSpPr/>
          <p:nvPr/>
        </p:nvGrpSpPr>
        <p:grpSpPr>
          <a:xfrm>
            <a:off x="595256" y="1934913"/>
            <a:ext cx="5999207" cy="2988175"/>
            <a:chOff x="595256" y="1766274"/>
            <a:chExt cx="5999207" cy="2988175"/>
          </a:xfrm>
        </p:grpSpPr>
        <p:grpSp>
          <p:nvGrpSpPr>
            <p:cNvPr id="48" name="组合 47">
              <a:extLst>
                <a:ext uri="{FF2B5EF4-FFF2-40B4-BE49-F238E27FC236}">
                  <a16:creationId xmlns:a16="http://schemas.microsoft.com/office/drawing/2014/main" id="{57A3C9D4-5DAC-8FD0-2959-390742B3FDF2}"/>
                </a:ext>
              </a:extLst>
            </p:cNvPr>
            <p:cNvGrpSpPr/>
            <p:nvPr/>
          </p:nvGrpSpPr>
          <p:grpSpPr>
            <a:xfrm>
              <a:off x="667663" y="1766274"/>
              <a:ext cx="5821931" cy="1107996"/>
              <a:chOff x="667663" y="1766274"/>
              <a:chExt cx="5821931" cy="1107996"/>
            </a:xfrm>
          </p:grpSpPr>
          <p:sp>
            <p:nvSpPr>
              <p:cNvPr id="54" name="文本框 53">
                <a:extLst>
                  <a:ext uri="{FF2B5EF4-FFF2-40B4-BE49-F238E27FC236}">
                    <a16:creationId xmlns:a16="http://schemas.microsoft.com/office/drawing/2014/main" id="{623B9854-E175-8B11-3223-860BEB947125}"/>
                  </a:ext>
                </a:extLst>
              </p:cNvPr>
              <p:cNvSpPr txBox="1"/>
              <p:nvPr/>
            </p:nvSpPr>
            <p:spPr>
              <a:xfrm>
                <a:off x="667663" y="1766274"/>
                <a:ext cx="4097650" cy="1107996"/>
              </a:xfrm>
              <a:prstGeom prst="rect">
                <a:avLst/>
              </a:prstGeom>
              <a:noFill/>
              <a:ln>
                <a:noFill/>
              </a:ln>
            </p:spPr>
            <p:txBody>
              <a:bodyPr wrap="square" rtlCol="0">
                <a:spAutoFit/>
              </a:bodyPr>
              <a:lstStyle/>
              <a:p>
                <a:r>
                  <a:rPr lang="en-US" altLang="zh-CN" sz="6600">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P</a:t>
                </a:r>
                <a:r>
                  <a:rPr lang="en-US" altLang="zh-CN" sz="660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rPr>
                  <a:t>ART 05</a:t>
                </a:r>
                <a:endParaRPr lang="zh-CN" altLang="en-US" sz="6600" dirty="0">
                  <a:ln w="38100">
                    <a:noFill/>
                  </a:ln>
                  <a:solidFill>
                    <a:schemeClr val="bg1"/>
                  </a:solidFill>
                  <a:latin typeface="思源宋体 Heavy" panose="02020900000000000000" pitchFamily="18" charset="-122"/>
                  <a:ea typeface="思源宋体 Heavy" panose="02020900000000000000" pitchFamily="18" charset="-122"/>
                  <a:cs typeface="阿里巴巴普惠体 H" panose="00020600040101010101" pitchFamily="18" charset="-122"/>
                  <a:sym typeface="思源黑体 CN Medium" panose="020B0600000000000000" pitchFamily="34" charset="-122"/>
                </a:endParaRPr>
              </a:p>
            </p:txBody>
          </p:sp>
          <p:grpSp>
            <p:nvGrpSpPr>
              <p:cNvPr id="55" name="组合 54">
                <a:extLst>
                  <a:ext uri="{FF2B5EF4-FFF2-40B4-BE49-F238E27FC236}">
                    <a16:creationId xmlns:a16="http://schemas.microsoft.com/office/drawing/2014/main" id="{920A7E7D-1157-532A-D36B-EA7BDB4BCBCE}"/>
                  </a:ext>
                </a:extLst>
              </p:cNvPr>
              <p:cNvGrpSpPr/>
              <p:nvPr/>
            </p:nvGrpSpPr>
            <p:grpSpPr>
              <a:xfrm>
                <a:off x="4419448" y="1929674"/>
                <a:ext cx="2070146" cy="756818"/>
                <a:chOff x="9157835" y="1805408"/>
                <a:chExt cx="2070146" cy="756818"/>
              </a:xfrm>
            </p:grpSpPr>
            <p:cxnSp>
              <p:nvCxnSpPr>
                <p:cNvPr id="57" name="直接连接符 56">
                  <a:extLst>
                    <a:ext uri="{FF2B5EF4-FFF2-40B4-BE49-F238E27FC236}">
                      <a16:creationId xmlns:a16="http://schemas.microsoft.com/office/drawing/2014/main" id="{04894148-0E22-4A01-4825-BF48F702E734}"/>
                    </a:ext>
                  </a:extLst>
                </p:cNvPr>
                <p:cNvCxnSpPr/>
                <p:nvPr/>
              </p:nvCxnSpPr>
              <p:spPr>
                <a:xfrm>
                  <a:off x="9157835" y="2183817"/>
                  <a:ext cx="1551782" cy="0"/>
                </a:xfrm>
                <a:prstGeom prst="line">
                  <a:avLst/>
                </a:prstGeom>
                <a:solidFill>
                  <a:schemeClr val="accent1">
                    <a:lumMod val="20000"/>
                    <a:lumOff val="80000"/>
                  </a:schemeClr>
                </a:solidFill>
                <a:ln w="15875">
                  <a:noFill/>
                </a:ln>
              </p:spPr>
              <p:style>
                <a:lnRef idx="1">
                  <a:schemeClr val="accent1"/>
                </a:lnRef>
                <a:fillRef idx="0">
                  <a:schemeClr val="accent1"/>
                </a:fillRef>
                <a:effectRef idx="0">
                  <a:schemeClr val="accent1"/>
                </a:effectRef>
                <a:fontRef idx="minor">
                  <a:schemeClr val="tx1"/>
                </a:fontRef>
              </p:style>
            </p:cxnSp>
            <p:sp>
              <p:nvSpPr>
                <p:cNvPr id="58" name="弧形 57">
                  <a:extLst>
                    <a:ext uri="{FF2B5EF4-FFF2-40B4-BE49-F238E27FC236}">
                      <a16:creationId xmlns:a16="http://schemas.microsoft.com/office/drawing/2014/main" id="{DA419C11-D9F2-F1C8-E366-E203DAE875D0}"/>
                    </a:ext>
                  </a:extLst>
                </p:cNvPr>
                <p:cNvSpPr/>
                <p:nvPr/>
              </p:nvSpPr>
              <p:spPr>
                <a:xfrm flipH="1" flipV="1">
                  <a:off x="10389590" y="1805408"/>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sp>
              <p:nvSpPr>
                <p:cNvPr id="59" name="弧形 58">
                  <a:extLst>
                    <a:ext uri="{FF2B5EF4-FFF2-40B4-BE49-F238E27FC236}">
                      <a16:creationId xmlns:a16="http://schemas.microsoft.com/office/drawing/2014/main" id="{FEC4ADBE-2214-374A-7C82-8E9133908B31}"/>
                    </a:ext>
                  </a:extLst>
                </p:cNvPr>
                <p:cNvSpPr/>
                <p:nvPr/>
              </p:nvSpPr>
              <p:spPr>
                <a:xfrm flipH="1">
                  <a:off x="10389590" y="2183817"/>
                  <a:ext cx="838391" cy="378409"/>
                </a:xfrm>
                <a:prstGeom prst="arc">
                  <a:avLst/>
                </a:prstGeom>
                <a:noFill/>
                <a:ln w="15875">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OPPOSans R" panose="00020600040101010101" pitchFamily="18" charset="-122"/>
                    <a:sym typeface="思源黑体 CN Medium" panose="020B0600000000000000" pitchFamily="34" charset="-122"/>
                  </a:endParaRPr>
                </a:p>
              </p:txBody>
            </p:sp>
          </p:grpSp>
        </p:grpSp>
        <p:sp>
          <p:nvSpPr>
            <p:cNvPr id="50" name="文本框 49">
              <a:extLst>
                <a:ext uri="{FF2B5EF4-FFF2-40B4-BE49-F238E27FC236}">
                  <a16:creationId xmlns:a16="http://schemas.microsoft.com/office/drawing/2014/main" id="{6F78D3E2-2C60-EF52-E7F5-576B5274B53D}"/>
                </a:ext>
              </a:extLst>
            </p:cNvPr>
            <p:cNvSpPr txBox="1"/>
            <p:nvPr/>
          </p:nvSpPr>
          <p:spPr>
            <a:xfrm>
              <a:off x="595256" y="2951046"/>
              <a:ext cx="5999207" cy="1200329"/>
            </a:xfrm>
            <a:prstGeom prst="rect">
              <a:avLst/>
            </a:prstGeom>
            <a:noFill/>
            <a:ln>
              <a:noFill/>
            </a:ln>
          </p:spPr>
          <p:txBody>
            <a:bodyPr wrap="square" rtlCol="0">
              <a:spAutoFit/>
            </a:bodyPr>
            <a:lstStyle/>
            <a:p>
              <a:pPr>
                <a:spcBef>
                  <a:spcPts val="50"/>
                </a:spcBef>
              </a:pPr>
              <a:r>
                <a:rPr lang="zh-CN" altLang="en-US" sz="7200" dirty="0">
                  <a:solidFill>
                    <a:schemeClr val="bg1"/>
                  </a:solidFill>
                  <a:latin typeface="猫啃网风雅宋" panose="02020700000000000000" pitchFamily="18" charset="-122"/>
                  <a:ea typeface="猫啃网风雅宋" panose="02020700000000000000" pitchFamily="18" charset="-122"/>
                  <a:cs typeface="+mn-ea"/>
                  <a:sym typeface="思源黑体 CN Medium" panose="020B0600000000000000" pitchFamily="34" charset="-122"/>
                </a:rPr>
                <a:t>行业竞争格局</a:t>
              </a:r>
            </a:p>
          </p:txBody>
        </p:sp>
        <p:sp>
          <p:nvSpPr>
            <p:cNvPr id="53" name="文本框 52">
              <a:extLst>
                <a:ext uri="{FF2B5EF4-FFF2-40B4-BE49-F238E27FC236}">
                  <a16:creationId xmlns:a16="http://schemas.microsoft.com/office/drawing/2014/main" id="{BDEC0F02-BD56-DFA1-DDF8-4D69785FA1C8}"/>
                </a:ext>
              </a:extLst>
            </p:cNvPr>
            <p:cNvSpPr txBox="1"/>
            <p:nvPr/>
          </p:nvSpPr>
          <p:spPr>
            <a:xfrm>
              <a:off x="679041" y="4415895"/>
              <a:ext cx="5292190" cy="338554"/>
            </a:xfrm>
            <a:prstGeom prst="rect">
              <a:avLst/>
            </a:prstGeom>
            <a:noFill/>
            <a:ln>
              <a:noFill/>
            </a:ln>
          </p:spPr>
          <p:txBody>
            <a:bodyPr wrap="square">
              <a:spAutoFit/>
            </a:bodyPr>
            <a:lstStyle/>
            <a:p>
              <a:pPr algn="dist"/>
              <a:r>
                <a:rPr lang="zh-CN" altLang="en-US" sz="1600">
                  <a:solidFill>
                    <a:schemeClr val="bg1"/>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“宠物经济”行业前景分析报告</a:t>
              </a:r>
              <a:endParaRPr lang="zh-CN" altLang="en-US" sz="16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sp>
        <p:nvSpPr>
          <p:cNvPr id="61" name="任意多边形: 形状 60">
            <a:extLst>
              <a:ext uri="{FF2B5EF4-FFF2-40B4-BE49-F238E27FC236}">
                <a16:creationId xmlns:a16="http://schemas.microsoft.com/office/drawing/2014/main" id="{C3BD72A8-4E26-8989-646E-711B88DE72EB}"/>
              </a:ext>
            </a:extLst>
          </p:cNvPr>
          <p:cNvSpPr/>
          <p:nvPr/>
        </p:nvSpPr>
        <p:spPr>
          <a:xfrm rot="5400000">
            <a:off x="5999945" y="168486"/>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63" name="任意多边形: 形状 62">
            <a:extLst>
              <a:ext uri="{FF2B5EF4-FFF2-40B4-BE49-F238E27FC236}">
                <a16:creationId xmlns:a16="http://schemas.microsoft.com/office/drawing/2014/main" id="{9486CD98-E614-27BD-1718-D5126AEA97BC}"/>
              </a:ext>
            </a:extLst>
          </p:cNvPr>
          <p:cNvSpPr/>
          <p:nvPr/>
        </p:nvSpPr>
        <p:spPr>
          <a:xfrm rot="5400000">
            <a:off x="991206" y="5693064"/>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Tree>
    <p:extLst>
      <p:ext uri="{BB962C8B-B14F-4D97-AF65-F5344CB8AC3E}">
        <p14:creationId xmlns:p14="http://schemas.microsoft.com/office/powerpoint/2010/main" val="1685187285"/>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right)">
                                      <p:cBhvr>
                                        <p:cTn id="10" dur="500"/>
                                        <p:tgtEl>
                                          <p:spTgt spid="23"/>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nodeType="clickEffect">
                                  <p:stCondLst>
                                    <p:cond delay="0"/>
                                  </p:stCondLst>
                                  <p:childTnLst>
                                    <p:set>
                                      <p:cBhvr>
                                        <p:cTn id="14" dur="1" fill="hold">
                                          <p:stCondLst>
                                            <p:cond delay="0"/>
                                          </p:stCondLst>
                                        </p:cTn>
                                        <p:tgtEl>
                                          <p:spTgt spid="49"/>
                                        </p:tgtEl>
                                        <p:attrNameLst>
                                          <p:attrName>style.visibility</p:attrName>
                                        </p:attrNameLst>
                                      </p:cBhvr>
                                      <p:to>
                                        <p:strVal val="visible"/>
                                      </p:to>
                                    </p:set>
                                    <p:anim calcmode="lin" valueType="num">
                                      <p:cBhvr>
                                        <p:cTn id="15" dur="500" fill="hold"/>
                                        <p:tgtEl>
                                          <p:spTgt spid="49"/>
                                        </p:tgtEl>
                                        <p:attrNameLst>
                                          <p:attrName>ppt_w</p:attrName>
                                        </p:attrNameLst>
                                      </p:cBhvr>
                                      <p:tavLst>
                                        <p:tav tm="0">
                                          <p:val>
                                            <p:fltVal val="0"/>
                                          </p:val>
                                        </p:tav>
                                        <p:tav tm="100000">
                                          <p:val>
                                            <p:strVal val="#ppt_w"/>
                                          </p:val>
                                        </p:tav>
                                      </p:tavLst>
                                    </p:anim>
                                    <p:anim calcmode="lin" valueType="num">
                                      <p:cBhvr>
                                        <p:cTn id="16" dur="500" fill="hold"/>
                                        <p:tgtEl>
                                          <p:spTgt spid="49"/>
                                        </p:tgtEl>
                                        <p:attrNameLst>
                                          <p:attrName>ppt_h</p:attrName>
                                        </p:attrNameLst>
                                      </p:cBhvr>
                                      <p:tavLst>
                                        <p:tav tm="0">
                                          <p:val>
                                            <p:fltVal val="0"/>
                                          </p:val>
                                        </p:tav>
                                        <p:tav tm="100000">
                                          <p:val>
                                            <p:strVal val="#ppt_h"/>
                                          </p:val>
                                        </p:tav>
                                      </p:tavLst>
                                    </p:anim>
                                    <p:animEffect transition="in" filter="fade">
                                      <p:cBhvr>
                                        <p:cTn id="17" dur="500"/>
                                        <p:tgtEl>
                                          <p:spTgt spid="49"/>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60"/>
                                        </p:tgtEl>
                                        <p:attrNameLst>
                                          <p:attrName>style.visibility</p:attrName>
                                        </p:attrNameLst>
                                      </p:cBhvr>
                                      <p:to>
                                        <p:strVal val="visible"/>
                                      </p:to>
                                    </p:set>
                                    <p:animEffect transition="in" filter="wipe(down)">
                                      <p:cBhvr>
                                        <p:cTn id="20" dur="500"/>
                                        <p:tgtEl>
                                          <p:spTgt spid="60"/>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wipe(down)">
                                      <p:cBhvr>
                                        <p:cTn id="23" dur="500"/>
                                        <p:tgtEl>
                                          <p:spTgt spid="38"/>
                                        </p:tgtEl>
                                      </p:cBhvr>
                                    </p:animEffect>
                                  </p:childTnLst>
                                </p:cTn>
                              </p:par>
                              <p:par>
                                <p:cTn id="24" presetID="22" presetClass="entr" presetSubtype="4" fill="hold" grpId="0" nodeType="withEffect">
                                  <p:stCondLst>
                                    <p:cond delay="0"/>
                                  </p:stCondLst>
                                  <p:childTnLst>
                                    <p:set>
                                      <p:cBhvr>
                                        <p:cTn id="25" dur="1" fill="hold">
                                          <p:stCondLst>
                                            <p:cond delay="0"/>
                                          </p:stCondLst>
                                        </p:cTn>
                                        <p:tgtEl>
                                          <p:spTgt spid="56"/>
                                        </p:tgtEl>
                                        <p:attrNameLst>
                                          <p:attrName>style.visibility</p:attrName>
                                        </p:attrNameLst>
                                      </p:cBhvr>
                                      <p:to>
                                        <p:strVal val="visible"/>
                                      </p:to>
                                    </p:set>
                                    <p:animEffect transition="in" filter="wipe(down)">
                                      <p:cBhvr>
                                        <p:cTn id="26" dur="500"/>
                                        <p:tgtEl>
                                          <p:spTgt spid="5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wipe(left)">
                                      <p:cBhvr>
                                        <p:cTn id="31" dur="500"/>
                                        <p:tgtEl>
                                          <p:spTgt spid="2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6"/>
                                        </p:tgtEl>
                                        <p:attrNameLst>
                                          <p:attrName>style.visibility</p:attrName>
                                        </p:attrNameLst>
                                      </p:cBhvr>
                                      <p:to>
                                        <p:strVal val="visible"/>
                                      </p:to>
                                    </p:set>
                                    <p:animEffect transition="in" filter="wipe(left)">
                                      <p:cBhvr>
                                        <p:cTn id="36" dur="500"/>
                                        <p:tgtEl>
                                          <p:spTgt spid="46"/>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nodeType="clickEffect">
                                  <p:stCondLst>
                                    <p:cond delay="0"/>
                                  </p:stCondLst>
                                  <p:childTnLst>
                                    <p:set>
                                      <p:cBhvr>
                                        <p:cTn id="40" dur="1" fill="hold">
                                          <p:stCondLst>
                                            <p:cond delay="0"/>
                                          </p:stCondLst>
                                        </p:cTn>
                                        <p:tgtEl>
                                          <p:spTgt spid="47"/>
                                        </p:tgtEl>
                                        <p:attrNameLst>
                                          <p:attrName>style.visibility</p:attrName>
                                        </p:attrNameLst>
                                      </p:cBhvr>
                                      <p:to>
                                        <p:strVal val="visible"/>
                                      </p:to>
                                    </p:set>
                                    <p:animEffect transition="in" filter="wipe(down)">
                                      <p:cBhvr>
                                        <p:cTn id="41" dur="500"/>
                                        <p:tgtEl>
                                          <p:spTgt spid="47"/>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61"/>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60" grpId="0" animBg="1"/>
      <p:bldP spid="64" grpId="0" animBg="1"/>
      <p:bldP spid="38" grpId="0" animBg="1"/>
      <p:bldP spid="56" grpId="0" animBg="1"/>
      <p:bldP spid="46" grpId="0"/>
      <p:bldP spid="61" grpId="0" animBg="1"/>
      <p:bldP spid="63"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FC4B4-9D92-6FD8-A255-6C99DE2C2D14}"/>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90562D8A-69B6-FC6D-2403-F3F04E949813}"/>
              </a:ext>
            </a:extLst>
          </p:cNvPr>
          <p:cNvGrpSpPr/>
          <p:nvPr/>
        </p:nvGrpSpPr>
        <p:grpSpPr>
          <a:xfrm>
            <a:off x="-1546" y="0"/>
            <a:ext cx="3466641" cy="829430"/>
            <a:chOff x="-1546" y="0"/>
            <a:chExt cx="3466641" cy="829430"/>
          </a:xfrm>
        </p:grpSpPr>
        <p:sp>
          <p:nvSpPr>
            <p:cNvPr id="10" name="矩形: 圆角 9">
              <a:extLst>
                <a:ext uri="{FF2B5EF4-FFF2-40B4-BE49-F238E27FC236}">
                  <a16:creationId xmlns:a16="http://schemas.microsoft.com/office/drawing/2014/main" id="{3E0B6461-EB00-80E8-1691-D2555E5278E5}"/>
                </a:ext>
              </a:extLst>
            </p:cNvPr>
            <p:cNvSpPr/>
            <p:nvPr/>
          </p:nvSpPr>
          <p:spPr>
            <a:xfrm>
              <a:off x="198877" y="132617"/>
              <a:ext cx="3266218"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1F6F77C0-EF09-8127-3EE1-FF8496968FC5}"/>
                </a:ext>
              </a:extLst>
            </p:cNvPr>
            <p:cNvSpPr txBox="1"/>
            <p:nvPr/>
          </p:nvSpPr>
          <p:spPr>
            <a:xfrm>
              <a:off x="619983" y="132617"/>
              <a:ext cx="2508228"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行业竞争格局</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6D452D31-4ED5-F34F-9C3C-D9DA5A0C2BF0}"/>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F2F9AAA4-2319-D4CF-CB68-2F8051C9B5F8}"/>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05</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12" name="组合 11">
            <a:extLst>
              <a:ext uri="{FF2B5EF4-FFF2-40B4-BE49-F238E27FC236}">
                <a16:creationId xmlns:a16="http://schemas.microsoft.com/office/drawing/2014/main" id="{9C3BC01A-FE1F-52C0-9C2B-782E80EC1ADF}"/>
              </a:ext>
            </a:extLst>
          </p:cNvPr>
          <p:cNvGrpSpPr/>
          <p:nvPr/>
        </p:nvGrpSpPr>
        <p:grpSpPr>
          <a:xfrm>
            <a:off x="692326" y="1431758"/>
            <a:ext cx="10807349" cy="4381432"/>
            <a:chOff x="692326" y="1431758"/>
            <a:chExt cx="10807349" cy="4381432"/>
          </a:xfrm>
        </p:grpSpPr>
        <p:grpSp>
          <p:nvGrpSpPr>
            <p:cNvPr id="2" name="组合 1">
              <a:extLst>
                <a:ext uri="{FF2B5EF4-FFF2-40B4-BE49-F238E27FC236}">
                  <a16:creationId xmlns:a16="http://schemas.microsoft.com/office/drawing/2014/main" id="{5A83E0A8-D230-506B-BEF3-33CFAE7F4F12}"/>
                </a:ext>
              </a:extLst>
            </p:cNvPr>
            <p:cNvGrpSpPr/>
            <p:nvPr/>
          </p:nvGrpSpPr>
          <p:grpSpPr>
            <a:xfrm>
              <a:off x="692326" y="1431758"/>
              <a:ext cx="10807349" cy="4381432"/>
              <a:chOff x="710440" y="1491002"/>
              <a:chExt cx="10807349" cy="3621465"/>
            </a:xfrm>
          </p:grpSpPr>
          <p:sp>
            <p:nvSpPr>
              <p:cNvPr id="3" name="矩形: 圆角 2">
                <a:extLst>
                  <a:ext uri="{FF2B5EF4-FFF2-40B4-BE49-F238E27FC236}">
                    <a16:creationId xmlns:a16="http://schemas.microsoft.com/office/drawing/2014/main" id="{625996F3-9CEB-8136-DDD5-1E49C274A855}"/>
                  </a:ext>
                </a:extLst>
              </p:cNvPr>
              <p:cNvSpPr/>
              <p:nvPr/>
            </p:nvSpPr>
            <p:spPr>
              <a:xfrm>
                <a:off x="710440" y="1491003"/>
                <a:ext cx="5185033" cy="3621464"/>
              </a:xfrm>
              <a:prstGeom prst="roundRect">
                <a:avLst>
                  <a:gd name="adj" fmla="val 2217"/>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spcBef>
                    <a:spcPts val="50"/>
                  </a:spcBef>
                </a:pPr>
                <a:endParaRPr lang="zh-CN" altLang="en-US" sz="17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 name="文本框 3">
                <a:extLst>
                  <a:ext uri="{FF2B5EF4-FFF2-40B4-BE49-F238E27FC236}">
                    <a16:creationId xmlns:a16="http://schemas.microsoft.com/office/drawing/2014/main" id="{8F2418CC-5E98-8482-D563-08910F5C11A5}"/>
                  </a:ext>
                </a:extLst>
              </p:cNvPr>
              <p:cNvSpPr txBox="1"/>
              <p:nvPr/>
            </p:nvSpPr>
            <p:spPr>
              <a:xfrm>
                <a:off x="1022684" y="1732972"/>
                <a:ext cx="4692306" cy="3125950"/>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marL="285750" indent="-285750" algn="l">
                  <a:spcBef>
                    <a:spcPts val="50"/>
                  </a:spcBef>
                  <a:buFont typeface="Arial" panose="020B0604020202020204" pitchFamily="34" charset="0"/>
                  <a:buChar char="•"/>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医疗行业受经济周期影响较弱，于宠物经济企业而言具有“低风险、高收益”的特点，吸引众多新兴市场参与者加入其中。</a:t>
                </a: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目前中国宠物经济行业市场企业数量众多，同质化竞争现象日趋严重，成为制约中国宠物经济行业行业发展的主要原因。</a:t>
                </a: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中国宠物经济行业公司数量众多，但大多以简单融资租赁为主要业务方式服务模式单一，同质化现象严重。</a:t>
                </a: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5" name="矩形: 圆角 4">
                <a:extLst>
                  <a:ext uri="{FF2B5EF4-FFF2-40B4-BE49-F238E27FC236}">
                    <a16:creationId xmlns:a16="http://schemas.microsoft.com/office/drawing/2014/main" id="{E78E46C2-FBDA-9D08-D564-ABC4B6B46C30}"/>
                  </a:ext>
                </a:extLst>
              </p:cNvPr>
              <p:cNvSpPr/>
              <p:nvPr/>
            </p:nvSpPr>
            <p:spPr>
              <a:xfrm>
                <a:off x="6332756" y="1491002"/>
                <a:ext cx="5185033" cy="3621464"/>
              </a:xfrm>
              <a:prstGeom prst="roundRect">
                <a:avLst>
                  <a:gd name="adj" fmla="val 3111"/>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spcBef>
                    <a:spcPts val="50"/>
                  </a:spcBef>
                </a:pPr>
                <a:endParaRPr lang="zh-CN" altLang="en-US" sz="17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文本框 7">
                <a:extLst>
                  <a:ext uri="{FF2B5EF4-FFF2-40B4-BE49-F238E27FC236}">
                    <a16:creationId xmlns:a16="http://schemas.microsoft.com/office/drawing/2014/main" id="{C54FA4A0-B566-FC14-4EFE-F2B2EBCC569F}"/>
                  </a:ext>
                </a:extLst>
              </p:cNvPr>
              <p:cNvSpPr txBox="1"/>
              <p:nvPr/>
            </p:nvSpPr>
            <p:spPr>
              <a:xfrm>
                <a:off x="6521888" y="1661132"/>
                <a:ext cx="4770730" cy="3208575"/>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algn="l">
                  <a:lnSpc>
                    <a:spcPct val="100000"/>
                  </a:lnSpc>
                  <a:spcBef>
                    <a:spcPts val="50"/>
                  </a:spcBef>
                </a:pPr>
                <a:r>
                  <a:rPr lang="zh-CN" altLang="en-US" sz="2400"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中国宠物经济行业行业的发展带来以下不良影响</a:t>
                </a:r>
                <a:r>
                  <a:rPr lang="en-US" altLang="zh-CN" sz="2400"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p>
              <a:p>
                <a:pPr algn="l">
                  <a:lnSpc>
                    <a:spcPct val="100000"/>
                  </a:lnSpc>
                  <a:spcBef>
                    <a:spcPts val="50"/>
                  </a:spcBef>
                </a:pPr>
                <a:endParaRPr lang="en-US" altLang="zh-CN" sz="2400" b="1">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价格战引发收益率报价逐年下降</a:t>
                </a:r>
                <a:r>
                  <a:rPr lang="en-US" altLang="zh-CN"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部分宠物经济行业公司为抓住优质客户资源，依靠价格战取得竟争优势，导致行业毛利率下降，医院选择合作企业时“唯价格论”，不利于行业良性发展</a:t>
                </a:r>
                <a:r>
                  <a:rPr lang="en-US" altLang="zh-CN"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p>
              <a:p>
                <a:pPr marL="285750" indent="-285750" algn="l">
                  <a:spcBef>
                    <a:spcPts val="50"/>
                  </a:spcBef>
                  <a:buFont typeface="Arial" panose="020B0604020202020204" pitchFamily="34" charset="0"/>
                  <a:buChar char="•"/>
                </a:pP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过高授信加大财务风险</a:t>
                </a:r>
                <a:r>
                  <a:rPr lang="en-US" altLang="zh-CN"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宠物经济行业公司对各家医院的总体授信额度偏高，甚至超过医院的偿还能力，为自身带来较大财务风险，不利于企业的长期发展。未来，宠物经济行业行业要想获得突破，首先需要企业间形成差异化竞争优势。</a:t>
                </a:r>
                <a:endPar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cxnSp>
          <p:nvCxnSpPr>
            <p:cNvPr id="11" name="直接连接符 10">
              <a:extLst>
                <a:ext uri="{FF2B5EF4-FFF2-40B4-BE49-F238E27FC236}">
                  <a16:creationId xmlns:a16="http://schemas.microsoft.com/office/drawing/2014/main" id="{DED4E5AE-B644-2EE3-916B-7B7161C48AAD}"/>
                </a:ext>
              </a:extLst>
            </p:cNvPr>
            <p:cNvCxnSpPr/>
            <p:nvPr/>
          </p:nvCxnSpPr>
          <p:spPr>
            <a:xfrm>
              <a:off x="6503774" y="2610852"/>
              <a:ext cx="4770730" cy="0"/>
            </a:xfrm>
            <a:prstGeom prst="line">
              <a:avLst/>
            </a:prstGeom>
            <a:ln>
              <a:solidFill>
                <a:srgbClr val="B9F0F6"/>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4986275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AED83-E592-2BAC-A358-937055A1A486}"/>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D026ED71-D3A3-F83B-8F14-5562DC30E333}"/>
              </a:ext>
            </a:extLst>
          </p:cNvPr>
          <p:cNvGrpSpPr/>
          <p:nvPr/>
        </p:nvGrpSpPr>
        <p:grpSpPr>
          <a:xfrm>
            <a:off x="-1546" y="0"/>
            <a:ext cx="3466641" cy="829430"/>
            <a:chOff x="-1546" y="0"/>
            <a:chExt cx="3466641" cy="829430"/>
          </a:xfrm>
        </p:grpSpPr>
        <p:sp>
          <p:nvSpPr>
            <p:cNvPr id="10" name="矩形: 圆角 9">
              <a:extLst>
                <a:ext uri="{FF2B5EF4-FFF2-40B4-BE49-F238E27FC236}">
                  <a16:creationId xmlns:a16="http://schemas.microsoft.com/office/drawing/2014/main" id="{B7790A75-A117-4507-EAB3-0E9726849FA4}"/>
                </a:ext>
              </a:extLst>
            </p:cNvPr>
            <p:cNvSpPr/>
            <p:nvPr/>
          </p:nvSpPr>
          <p:spPr>
            <a:xfrm>
              <a:off x="198877" y="132617"/>
              <a:ext cx="3266218"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008DFC44-A895-18F0-88E8-BC0948C40671}"/>
                </a:ext>
              </a:extLst>
            </p:cNvPr>
            <p:cNvSpPr txBox="1"/>
            <p:nvPr/>
          </p:nvSpPr>
          <p:spPr>
            <a:xfrm>
              <a:off x="619983" y="132617"/>
              <a:ext cx="2508228"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行业竞争格局</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0EFCE148-EAE0-747F-BE3B-D10CAB9FA36D}"/>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8A0AE5CD-2980-25ED-C6CB-9D532E42E980}"/>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05</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sp>
        <p:nvSpPr>
          <p:cNvPr id="16" name="文本框 15">
            <a:extLst>
              <a:ext uri="{FF2B5EF4-FFF2-40B4-BE49-F238E27FC236}">
                <a16:creationId xmlns:a16="http://schemas.microsoft.com/office/drawing/2014/main" id="{1493B548-F9C4-8DAA-258D-4084C9060568}"/>
              </a:ext>
            </a:extLst>
          </p:cNvPr>
          <p:cNvSpPr txBox="1"/>
          <p:nvPr/>
        </p:nvSpPr>
        <p:spPr>
          <a:xfrm>
            <a:off x="469040" y="1622610"/>
            <a:ext cx="11253921" cy="954620"/>
          </a:xfrm>
          <a:prstGeom prst="rect">
            <a:avLst/>
          </a:prstGeom>
          <a:noFill/>
        </p:spPr>
        <p:txBody>
          <a:bodyPr wrap="square">
            <a:spAutoFit/>
          </a:bodyPr>
          <a:lstStyle>
            <a:defPPr>
              <a:defRPr lang="zh-CN"/>
            </a:defPPr>
            <a:lvl1pPr algn="just">
              <a:lnSpc>
                <a:spcPct val="120000"/>
              </a:lnSpc>
              <a:defRPr sz="1500">
                <a:solidFill>
                  <a:schemeClr val="tx1">
                    <a:lumMod val="75000"/>
                    <a:lumOff val="25000"/>
                  </a:schemeClr>
                </a:solidFill>
                <a:latin typeface="+mn-ea"/>
              </a:defRPr>
            </a:lvl1pPr>
          </a:lstStyle>
          <a:p>
            <a:pPr algn="ctr">
              <a:spcBef>
                <a:spcPts val="50"/>
              </a:spcBef>
            </a:pPr>
            <a:r>
              <a:rPr lang="zh-CN" altLang="en-US" sz="2400" b="1"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中国本土宠物经济行业企业根据租赁公司股东背景及运营机制的不同又可以划分为厂商系、独立系和银行系三类三类宠物经济行业企业各有优劣势:</a:t>
            </a:r>
          </a:p>
        </p:txBody>
      </p:sp>
      <p:grpSp>
        <p:nvGrpSpPr>
          <p:cNvPr id="21" name="组合 20">
            <a:extLst>
              <a:ext uri="{FF2B5EF4-FFF2-40B4-BE49-F238E27FC236}">
                <a16:creationId xmlns:a16="http://schemas.microsoft.com/office/drawing/2014/main" id="{E4ACEA9B-9994-BEBF-88C7-5383F51AC54E}"/>
              </a:ext>
            </a:extLst>
          </p:cNvPr>
          <p:cNvGrpSpPr/>
          <p:nvPr/>
        </p:nvGrpSpPr>
        <p:grpSpPr>
          <a:xfrm>
            <a:off x="548720" y="3022790"/>
            <a:ext cx="11094560" cy="2513636"/>
            <a:chOff x="500932" y="2902475"/>
            <a:chExt cx="11094560" cy="2513636"/>
          </a:xfrm>
        </p:grpSpPr>
        <p:grpSp>
          <p:nvGrpSpPr>
            <p:cNvPr id="3" name="组合 2">
              <a:extLst>
                <a:ext uri="{FF2B5EF4-FFF2-40B4-BE49-F238E27FC236}">
                  <a16:creationId xmlns:a16="http://schemas.microsoft.com/office/drawing/2014/main" id="{2FBC4D09-9FB4-D838-FD99-AC97E50F9E4F}"/>
                </a:ext>
              </a:extLst>
            </p:cNvPr>
            <p:cNvGrpSpPr/>
            <p:nvPr/>
          </p:nvGrpSpPr>
          <p:grpSpPr>
            <a:xfrm>
              <a:off x="500932" y="2902475"/>
              <a:ext cx="11094560" cy="669011"/>
              <a:chOff x="3933747" y="2188711"/>
              <a:chExt cx="7908339" cy="2825995"/>
            </a:xfrm>
          </p:grpSpPr>
          <p:sp>
            <p:nvSpPr>
              <p:cNvPr id="9" name="矩形: 圆角 8">
                <a:extLst>
                  <a:ext uri="{FF2B5EF4-FFF2-40B4-BE49-F238E27FC236}">
                    <a16:creationId xmlns:a16="http://schemas.microsoft.com/office/drawing/2014/main" id="{763E977F-D31B-370D-DA8A-4DE7CFEA06AF}"/>
                  </a:ext>
                </a:extLst>
              </p:cNvPr>
              <p:cNvSpPr/>
              <p:nvPr/>
            </p:nvSpPr>
            <p:spPr>
              <a:xfrm>
                <a:off x="3933747" y="2188711"/>
                <a:ext cx="7908339" cy="2825995"/>
              </a:xfrm>
              <a:prstGeom prst="roundRect">
                <a:avLst>
                  <a:gd name="adj" fmla="val 391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1" name="Rectangle 3">
                <a:extLst>
                  <a:ext uri="{FF2B5EF4-FFF2-40B4-BE49-F238E27FC236}">
                    <a16:creationId xmlns:a16="http://schemas.microsoft.com/office/drawing/2014/main" id="{70C3BB8C-CA27-D87B-7279-29A3DA917F81}"/>
                  </a:ext>
                </a:extLst>
              </p:cNvPr>
              <p:cNvSpPr txBox="1">
                <a:spLocks/>
              </p:cNvSpPr>
              <p:nvPr/>
            </p:nvSpPr>
            <p:spPr>
              <a:xfrm>
                <a:off x="4082536" y="2456940"/>
                <a:ext cx="7709365" cy="2107140"/>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17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宠物经济行业企业具有设备技术优势，主要与母公司设备销售联动，以设备、耗材的销售利润覆盖融资租赁成本</a:t>
                </a:r>
                <a:r>
                  <a:rPr lang="en-US" altLang="zh-CN" sz="17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lang="zh-CN" altLang="en-US" sz="17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2" name="组合 11">
              <a:extLst>
                <a:ext uri="{FF2B5EF4-FFF2-40B4-BE49-F238E27FC236}">
                  <a16:creationId xmlns:a16="http://schemas.microsoft.com/office/drawing/2014/main" id="{CD49858D-148B-E9A7-217B-D7C9B0968070}"/>
                </a:ext>
              </a:extLst>
            </p:cNvPr>
            <p:cNvGrpSpPr/>
            <p:nvPr/>
          </p:nvGrpSpPr>
          <p:grpSpPr>
            <a:xfrm>
              <a:off x="500932" y="3824788"/>
              <a:ext cx="11094560" cy="669011"/>
              <a:chOff x="3933747" y="2188711"/>
              <a:chExt cx="7908339" cy="2825995"/>
            </a:xfrm>
          </p:grpSpPr>
          <p:sp>
            <p:nvSpPr>
              <p:cNvPr id="15" name="矩形: 圆角 14">
                <a:extLst>
                  <a:ext uri="{FF2B5EF4-FFF2-40B4-BE49-F238E27FC236}">
                    <a16:creationId xmlns:a16="http://schemas.microsoft.com/office/drawing/2014/main" id="{77E5589D-E5A8-F512-0643-B1644D74100D}"/>
                  </a:ext>
                </a:extLst>
              </p:cNvPr>
              <p:cNvSpPr/>
              <p:nvPr/>
            </p:nvSpPr>
            <p:spPr>
              <a:xfrm>
                <a:off x="3933747" y="2188711"/>
                <a:ext cx="7908339" cy="2825995"/>
              </a:xfrm>
              <a:prstGeom prst="roundRect">
                <a:avLst>
                  <a:gd name="adj" fmla="val 391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17" name="Rectangle 3">
                <a:extLst>
                  <a:ext uri="{FF2B5EF4-FFF2-40B4-BE49-F238E27FC236}">
                    <a16:creationId xmlns:a16="http://schemas.microsoft.com/office/drawing/2014/main" id="{383608F6-B91F-E180-F933-22654D36219E}"/>
                  </a:ext>
                </a:extLst>
              </p:cNvPr>
              <p:cNvSpPr txBox="1">
                <a:spLocks/>
              </p:cNvSpPr>
              <p:nvPr/>
            </p:nvSpPr>
            <p:spPr>
              <a:xfrm>
                <a:off x="4082536" y="2456939"/>
                <a:ext cx="7610761" cy="2107139"/>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独立系宠物经济行业企业产业化程度高，易形成差异化商业模式提供专业化的融资租赁服务</a:t>
                </a:r>
                <a:r>
                  <a:rPr lang="en-US" altLang="zh-CN"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18" name="组合 17">
              <a:extLst>
                <a:ext uri="{FF2B5EF4-FFF2-40B4-BE49-F238E27FC236}">
                  <a16:creationId xmlns:a16="http://schemas.microsoft.com/office/drawing/2014/main" id="{BB185CF9-5A42-918F-ECA8-658F0F03C76E}"/>
                </a:ext>
              </a:extLst>
            </p:cNvPr>
            <p:cNvGrpSpPr/>
            <p:nvPr/>
          </p:nvGrpSpPr>
          <p:grpSpPr>
            <a:xfrm>
              <a:off x="500932" y="4747100"/>
              <a:ext cx="11094560" cy="669011"/>
              <a:chOff x="3933747" y="2188711"/>
              <a:chExt cx="7908339" cy="2825995"/>
            </a:xfrm>
          </p:grpSpPr>
          <p:sp>
            <p:nvSpPr>
              <p:cNvPr id="19" name="矩形: 圆角 18">
                <a:extLst>
                  <a:ext uri="{FF2B5EF4-FFF2-40B4-BE49-F238E27FC236}">
                    <a16:creationId xmlns:a16="http://schemas.microsoft.com/office/drawing/2014/main" id="{6E0A2AB6-EA11-B076-AB53-0C93D97D58C7}"/>
                  </a:ext>
                </a:extLst>
              </p:cNvPr>
              <p:cNvSpPr/>
              <p:nvPr/>
            </p:nvSpPr>
            <p:spPr>
              <a:xfrm>
                <a:off x="3933747" y="2188711"/>
                <a:ext cx="7908339" cy="2825995"/>
              </a:xfrm>
              <a:prstGeom prst="roundRect">
                <a:avLst>
                  <a:gd name="adj" fmla="val 3910"/>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20" name="Rectangle 3">
                <a:extLst>
                  <a:ext uri="{FF2B5EF4-FFF2-40B4-BE49-F238E27FC236}">
                    <a16:creationId xmlns:a16="http://schemas.microsoft.com/office/drawing/2014/main" id="{65E0A124-BA29-F51E-0757-DF659E3F112F}"/>
                  </a:ext>
                </a:extLst>
              </p:cNvPr>
              <p:cNvSpPr txBox="1">
                <a:spLocks/>
              </p:cNvSpPr>
              <p:nvPr/>
            </p:nvSpPr>
            <p:spPr>
              <a:xfrm>
                <a:off x="4082536" y="2456939"/>
                <a:ext cx="7610761" cy="2107139"/>
              </a:xfrm>
              <a:prstGeom prst="rect">
                <a:avLst/>
              </a:prstGeom>
              <a:noFill/>
              <a:ln w="9525">
                <a:noFill/>
              </a:ln>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Bold" panose="020B0800000000000000"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Bold" panose="020B0800000000000000"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Bold" panose="020B0800000000000000"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Bold" panose="020B0800000000000000"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30000"/>
                  </a:lnSpc>
                  <a:spcBef>
                    <a:spcPts val="50"/>
                  </a:spcBef>
                  <a:buNone/>
                </a:pPr>
                <a:r>
                  <a:rPr lang="zh-CN" altLang="en-US" sz="18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银行系宠物经济行业企业背靠银行股东，能够以较低成本获取资金，且在渠道体系等方面具备一定优势。</a:t>
                </a:r>
                <a:endParaRPr lang="zh-CN" altLang="en-US" sz="18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spTree>
    <p:extLst>
      <p:ext uri="{BB962C8B-B14F-4D97-AF65-F5344CB8AC3E}">
        <p14:creationId xmlns:p14="http://schemas.microsoft.com/office/powerpoint/2010/main" val="595990347"/>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barn(inVertical)">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down)">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EC707-2435-AF95-543A-7789FD8F264E}"/>
            </a:ext>
          </a:extLst>
        </p:cNvPr>
        <p:cNvGrpSpPr/>
        <p:nvPr/>
      </p:nvGrpSpPr>
      <p:grpSpPr>
        <a:xfrm>
          <a:off x="0" y="0"/>
          <a:ext cx="0" cy="0"/>
          <a:chOff x="0" y="0"/>
          <a:chExt cx="0" cy="0"/>
        </a:xfrm>
      </p:grpSpPr>
      <p:grpSp>
        <p:nvGrpSpPr>
          <p:cNvPr id="7" name="组合 6">
            <a:extLst>
              <a:ext uri="{FF2B5EF4-FFF2-40B4-BE49-F238E27FC236}">
                <a16:creationId xmlns:a16="http://schemas.microsoft.com/office/drawing/2014/main" id="{ECBE0E3A-ED5B-C20C-7166-4B1F795FE94D}"/>
              </a:ext>
            </a:extLst>
          </p:cNvPr>
          <p:cNvGrpSpPr/>
          <p:nvPr/>
        </p:nvGrpSpPr>
        <p:grpSpPr>
          <a:xfrm>
            <a:off x="-1546" y="0"/>
            <a:ext cx="3466641" cy="829430"/>
            <a:chOff x="-1546" y="0"/>
            <a:chExt cx="3466641" cy="829430"/>
          </a:xfrm>
        </p:grpSpPr>
        <p:sp>
          <p:nvSpPr>
            <p:cNvPr id="10" name="矩形: 圆角 9">
              <a:extLst>
                <a:ext uri="{FF2B5EF4-FFF2-40B4-BE49-F238E27FC236}">
                  <a16:creationId xmlns:a16="http://schemas.microsoft.com/office/drawing/2014/main" id="{0F74CACF-5031-64E2-F564-8BA960CB1889}"/>
                </a:ext>
              </a:extLst>
            </p:cNvPr>
            <p:cNvSpPr/>
            <p:nvPr/>
          </p:nvSpPr>
          <p:spPr>
            <a:xfrm>
              <a:off x="198877" y="132617"/>
              <a:ext cx="3266218" cy="475008"/>
            </a:xfrm>
            <a:prstGeom prst="roundRect">
              <a:avLst>
                <a:gd name="adj" fmla="val 50000"/>
              </a:avLst>
            </a:prstGeom>
            <a:solidFill>
              <a:srgbClr val="E5F9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3" name="文本框 12">
              <a:extLst>
                <a:ext uri="{FF2B5EF4-FFF2-40B4-BE49-F238E27FC236}">
                  <a16:creationId xmlns:a16="http://schemas.microsoft.com/office/drawing/2014/main" id="{92AAA347-31DD-DE8F-FC48-92BA0107C284}"/>
                </a:ext>
              </a:extLst>
            </p:cNvPr>
            <p:cNvSpPr txBox="1"/>
            <p:nvPr/>
          </p:nvSpPr>
          <p:spPr>
            <a:xfrm>
              <a:off x="619983" y="132617"/>
              <a:ext cx="2508228" cy="475008"/>
            </a:xfrm>
            <a:prstGeom prst="rect">
              <a:avLst/>
            </a:prstGeom>
            <a:noFill/>
            <a:effectLst/>
          </p:spPr>
          <p:txBody>
            <a:bodyPr wrap="square" lIns="104653" tIns="52327" rIns="104653" bIns="52327" rtlCol="0">
              <a:spAutoFit/>
            </a:bodyPr>
            <a:lstStyle/>
            <a:p>
              <a:pPr algn="dist">
                <a:spcBef>
                  <a:spcPts val="50"/>
                </a:spcBef>
              </a:pPr>
              <a:r>
                <a:rPr lang="zh-CN" altLang="en-US" sz="2400" b="1">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行业竞争格局</a:t>
              </a:r>
              <a:endParaRPr lang="zh-CN" altLang="en-US" sz="2400" b="1" dirty="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endParaRPr>
            </a:p>
          </p:txBody>
        </p:sp>
        <p:sp>
          <p:nvSpPr>
            <p:cNvPr id="6" name="任意多边形: 形状 5">
              <a:extLst>
                <a:ext uri="{FF2B5EF4-FFF2-40B4-BE49-F238E27FC236}">
                  <a16:creationId xmlns:a16="http://schemas.microsoft.com/office/drawing/2014/main" id="{BBDB1A1A-6D03-6242-0FAC-75E581906784}"/>
                </a:ext>
              </a:extLst>
            </p:cNvPr>
            <p:cNvSpPr/>
            <p:nvPr/>
          </p:nvSpPr>
          <p:spPr>
            <a:xfrm>
              <a:off x="-1546" y="0"/>
              <a:ext cx="579521" cy="829430"/>
            </a:xfrm>
            <a:custGeom>
              <a:avLst/>
              <a:gdLst>
                <a:gd name="connsiteX0" fmla="*/ 0 w 579521"/>
                <a:gd name="connsiteY0" fmla="*/ 0 h 829430"/>
                <a:gd name="connsiteX1" fmla="*/ 515351 w 579521"/>
                <a:gd name="connsiteY1" fmla="*/ 0 h 829430"/>
                <a:gd name="connsiteX2" fmla="*/ 537628 w 579521"/>
                <a:gd name="connsiteY2" fmla="*/ 47556 h 829430"/>
                <a:gd name="connsiteX3" fmla="*/ 549323 w 579521"/>
                <a:gd name="connsiteY3" fmla="*/ 453624 h 829430"/>
                <a:gd name="connsiteX4" fmla="*/ 0 w 579521"/>
                <a:gd name="connsiteY4" fmla="*/ 825715 h 829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521" h="829430">
                  <a:moveTo>
                    <a:pt x="0" y="0"/>
                  </a:moveTo>
                  <a:lnTo>
                    <a:pt x="515351" y="0"/>
                  </a:lnTo>
                  <a:lnTo>
                    <a:pt x="537628" y="47556"/>
                  </a:lnTo>
                  <a:cubicBezTo>
                    <a:pt x="580365" y="157805"/>
                    <a:pt x="600135" y="288810"/>
                    <a:pt x="549323" y="453624"/>
                  </a:cubicBezTo>
                  <a:cubicBezTo>
                    <a:pt x="413822" y="893129"/>
                    <a:pt x="0" y="825715"/>
                    <a:pt x="0" y="825715"/>
                  </a:cubicBezTo>
                  <a:close/>
                </a:path>
              </a:pathLst>
            </a:custGeom>
            <a:solidFill>
              <a:srgbClr val="04CADF"/>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1" i="0" u="none" strike="noStrike" kern="1200" cap="none" spc="0" normalizeH="0" baseline="0" noProof="0">
                <a:ln>
                  <a:noFill/>
                </a:ln>
                <a:solidFill>
                  <a:srgbClr val="FFFFFF"/>
                </a:solidFill>
                <a:effectLst/>
                <a:uLnTx/>
                <a:uFillTx/>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sp>
          <p:nvSpPr>
            <p:cNvPr id="14" name="文本框 13">
              <a:extLst>
                <a:ext uri="{FF2B5EF4-FFF2-40B4-BE49-F238E27FC236}">
                  <a16:creationId xmlns:a16="http://schemas.microsoft.com/office/drawing/2014/main" id="{783F130B-D603-5158-A8F7-8CC8409EA2CC}"/>
                </a:ext>
              </a:extLst>
            </p:cNvPr>
            <p:cNvSpPr txBox="1"/>
            <p:nvPr/>
          </p:nvSpPr>
          <p:spPr>
            <a:xfrm>
              <a:off x="48387" y="178784"/>
              <a:ext cx="452545" cy="382675"/>
            </a:xfrm>
            <a:prstGeom prst="rect">
              <a:avLst/>
            </a:prstGeom>
            <a:noFill/>
            <a:effectLst/>
          </p:spPr>
          <p:txBody>
            <a:bodyPr wrap="square" lIns="104653" tIns="52327" rIns="104653" bIns="52327" rtlCol="0">
              <a:spAutoFit/>
            </a:bodyPr>
            <a:lstStyle/>
            <a:p>
              <a:pPr algn="dist"/>
              <a:r>
                <a:rPr lang="en-US" altLang="zh-CN" sz="1800" b="1" spc="-30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rPr>
                <a:t>05</a:t>
              </a:r>
              <a:endParaRPr lang="zh-CN" altLang="en-US" sz="1800" b="1" spc="-300" dirty="0">
                <a:solidFill>
                  <a:schemeClr val="bg1"/>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grpSp>
        <p:nvGrpSpPr>
          <p:cNvPr id="24" name="组合 23">
            <a:extLst>
              <a:ext uri="{FF2B5EF4-FFF2-40B4-BE49-F238E27FC236}">
                <a16:creationId xmlns:a16="http://schemas.microsoft.com/office/drawing/2014/main" id="{E1AEA3F3-CC3D-FCD1-98A9-888246636AF8}"/>
              </a:ext>
            </a:extLst>
          </p:cNvPr>
          <p:cNvGrpSpPr/>
          <p:nvPr/>
        </p:nvGrpSpPr>
        <p:grpSpPr>
          <a:xfrm>
            <a:off x="751150" y="1431759"/>
            <a:ext cx="10689700" cy="4381431"/>
            <a:chOff x="619983" y="1431759"/>
            <a:chExt cx="10689700" cy="4381431"/>
          </a:xfrm>
        </p:grpSpPr>
        <p:pic>
          <p:nvPicPr>
            <p:cNvPr id="23" name="图片 22">
              <a:extLst>
                <a:ext uri="{FF2B5EF4-FFF2-40B4-BE49-F238E27FC236}">
                  <a16:creationId xmlns:a16="http://schemas.microsoft.com/office/drawing/2014/main" id="{0C7BBF52-0FEA-B7B6-DF73-F5B6CC2B17F7}"/>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619983" y="1431759"/>
              <a:ext cx="3338279" cy="4378234"/>
            </a:xfrm>
            <a:prstGeom prst="roundRect">
              <a:avLst>
                <a:gd name="adj" fmla="val 1832"/>
              </a:avLst>
            </a:prstGeom>
          </p:spPr>
        </p:pic>
        <p:grpSp>
          <p:nvGrpSpPr>
            <p:cNvPr id="22" name="组合 21">
              <a:extLst>
                <a:ext uri="{FF2B5EF4-FFF2-40B4-BE49-F238E27FC236}">
                  <a16:creationId xmlns:a16="http://schemas.microsoft.com/office/drawing/2014/main" id="{171C5FA3-3476-63CE-7949-156903F15B53}"/>
                </a:ext>
              </a:extLst>
            </p:cNvPr>
            <p:cNvGrpSpPr/>
            <p:nvPr/>
          </p:nvGrpSpPr>
          <p:grpSpPr>
            <a:xfrm>
              <a:off x="4205546" y="1431759"/>
              <a:ext cx="7104137" cy="4381431"/>
              <a:chOff x="692326" y="1431759"/>
              <a:chExt cx="5185033" cy="4381431"/>
            </a:xfrm>
          </p:grpSpPr>
          <p:sp>
            <p:nvSpPr>
              <p:cNvPr id="4" name="矩形: 圆角 3">
                <a:extLst>
                  <a:ext uri="{FF2B5EF4-FFF2-40B4-BE49-F238E27FC236}">
                    <a16:creationId xmlns:a16="http://schemas.microsoft.com/office/drawing/2014/main" id="{7284AD9B-23EE-D77A-9F3D-F0E6E1904409}"/>
                  </a:ext>
                </a:extLst>
              </p:cNvPr>
              <p:cNvSpPr/>
              <p:nvPr/>
            </p:nvSpPr>
            <p:spPr>
              <a:xfrm>
                <a:off x="692326" y="1431759"/>
                <a:ext cx="5185033" cy="4381431"/>
              </a:xfrm>
              <a:prstGeom prst="roundRect">
                <a:avLst>
                  <a:gd name="adj" fmla="val 2217"/>
                </a:avLst>
              </a:prstGeom>
              <a:solidFill>
                <a:schemeClr val="bg1"/>
              </a:solidFill>
              <a:ln>
                <a:solidFill>
                  <a:srgbClr val="B9F0F6"/>
                </a:solidFill>
              </a:ln>
              <a:effectLst>
                <a:outerShdw blurRad="254000" dist="127000" dir="5400000" algn="t" rotWithShape="0">
                  <a:srgbClr val="04CADF">
                    <a:alpha val="10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spcBef>
                    <a:spcPts val="50"/>
                  </a:spcBef>
                </a:pPr>
                <a:endParaRPr lang="zh-CN" altLang="en-US" sz="17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8" name="文本框 7">
                <a:extLst>
                  <a:ext uri="{FF2B5EF4-FFF2-40B4-BE49-F238E27FC236}">
                    <a16:creationId xmlns:a16="http://schemas.microsoft.com/office/drawing/2014/main" id="{D0B58EE5-98AA-76B1-9BC7-C00851B8110C}"/>
                  </a:ext>
                </a:extLst>
              </p:cNvPr>
              <p:cNvSpPr txBox="1"/>
              <p:nvPr/>
            </p:nvSpPr>
            <p:spPr>
              <a:xfrm>
                <a:off x="811365" y="1724506"/>
                <a:ext cx="4908792" cy="3781933"/>
              </a:xfrm>
              <a:prstGeom prst="rect">
                <a:avLst/>
              </a:prstGeom>
              <a:noFill/>
            </p:spPr>
            <p:txBody>
              <a:bodyPr wrap="square">
                <a:spAutoFit/>
              </a:bodyPr>
              <a:lstStyle>
                <a:defPPr>
                  <a:defRPr lang="zh-CN"/>
                </a:defPPr>
                <a:lvl1pPr algn="just">
                  <a:lnSpc>
                    <a:spcPct val="120000"/>
                  </a:lnSpc>
                  <a:defRPr>
                    <a:solidFill>
                      <a:schemeClr val="tx1">
                        <a:lumMod val="75000"/>
                        <a:lumOff val="25000"/>
                      </a:schemeClr>
                    </a:solidFill>
                    <a:latin typeface="+mn-ea"/>
                  </a:defRPr>
                </a:lvl1pPr>
              </a:lstStyle>
              <a:p>
                <a:pPr marL="285750" indent="-285750" algn="l">
                  <a:spcBef>
                    <a:spcPts val="50"/>
                  </a:spcBef>
                  <a:buFont typeface="Arial" panose="020B0604020202020204" pitchFamily="34" charset="0"/>
                  <a:buChar char="•"/>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中国政府正大力推动社会资本进入宠物经济行业，对宠物经济行业产品需求被迅速拉动，需求量呈现上升趋势，宠物经济行业企业进军国民经济大产业的战略窗口期已经来临。</a:t>
                </a: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宠物经济行业各业态企业竞争激烈，当前，市场上</a:t>
                </a:r>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50%</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以上的宠物经济行业企业有外资介入，包括中外独</a:t>
                </a:r>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合</a:t>
                </a:r>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资、台港澳与境内合资、外商独资等，纯内资本土宠物经济行业企业数目较少，约占宠物经济行业企业总数的</a:t>
                </a:r>
                <a:r>
                  <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25%</a:t>
                </a: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a:t>
                </a: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endParaRPr lang="en-US" altLang="zh-CN">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a:p>
                <a:pPr marL="285750" indent="-285750" algn="l">
                  <a:spcBef>
                    <a:spcPts val="50"/>
                  </a:spcBef>
                  <a:buFont typeface="Arial" panose="020B0604020202020204" pitchFamily="34" charset="0"/>
                  <a:buChar char="•"/>
                </a:pPr>
                <a:r>
                  <a:rPr lang="zh-CN" altLang="en-US">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此外，商业银行逐步进入宠物经济行业，兴业银行、中心银行、民生银行等先后成立金融公司，涉足设备融资租赁业务。</a:t>
                </a: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spTree>
    <p:extLst>
      <p:ext uri="{BB962C8B-B14F-4D97-AF65-F5344CB8AC3E}">
        <p14:creationId xmlns:p14="http://schemas.microsoft.com/office/powerpoint/2010/main" val="3464510211"/>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down)">
                                      <p:cBhvr>
                                        <p:cTn id="1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7B7A17-1C7D-43B7-1595-013152229699}"/>
            </a:ext>
          </a:extLst>
        </p:cNvPr>
        <p:cNvGrpSpPr/>
        <p:nvPr/>
      </p:nvGrpSpPr>
      <p:grpSpPr>
        <a:xfrm>
          <a:off x="0" y="0"/>
          <a:ext cx="0" cy="0"/>
          <a:chOff x="0" y="0"/>
          <a:chExt cx="0" cy="0"/>
        </a:xfrm>
      </p:grpSpPr>
      <p:sp>
        <p:nvSpPr>
          <p:cNvPr id="37" name="图形">
            <a:extLst>
              <a:ext uri="{FF2B5EF4-FFF2-40B4-BE49-F238E27FC236}">
                <a16:creationId xmlns:a16="http://schemas.microsoft.com/office/drawing/2014/main" id="{1ABACFBE-5B67-A24F-9163-BA3E2A2C9907}"/>
              </a:ext>
            </a:extLst>
          </p:cNvPr>
          <p:cNvSpPr/>
          <p:nvPr/>
        </p:nvSpPr>
        <p:spPr>
          <a:xfrm flipH="1">
            <a:off x="0" y="2895398"/>
            <a:ext cx="5872763" cy="3962602"/>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53373" h="5325261">
                <a:moveTo>
                  <a:pt x="4595548" y="1367261"/>
                </a:moveTo>
                <a:cubicBezTo>
                  <a:pt x="4985179" y="-967801"/>
                  <a:pt x="8167423" y="395711"/>
                  <a:pt x="10053373" y="395711"/>
                </a:cubicBezTo>
                <a:lnTo>
                  <a:pt x="10053373" y="5325261"/>
                </a:lnTo>
                <a:lnTo>
                  <a:pt x="23548" y="5325261"/>
                </a:lnTo>
                <a:cubicBezTo>
                  <a:pt x="-376502" y="2710528"/>
                  <a:pt x="4450989" y="4358963"/>
                  <a:pt x="4595548" y="1367261"/>
                </a:cubicBezTo>
                <a:close/>
              </a:path>
            </a:pathLst>
          </a:custGeom>
          <a:gradFill flip="none" rotWithShape="1">
            <a:gsLst>
              <a:gs pos="0">
                <a:srgbClr val="04CADF">
                  <a:alpha val="70000"/>
                </a:srgbClr>
              </a:gs>
              <a:gs pos="100000">
                <a:srgbClr val="B9F0F6">
                  <a:alpha val="0"/>
                </a:srgbClr>
              </a:gs>
            </a:gsLst>
            <a:lin ang="16200000" scaled="1"/>
            <a:tileRect/>
          </a:gradFill>
          <a:ln>
            <a:noFill/>
          </a:ln>
          <a:effectLst>
            <a:outerShdw blurRad="50800" dist="38100" dir="21540000" algn="tr" rotWithShape="0">
              <a:srgbClr val="E95D8E">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8" name="图形">
            <a:extLst>
              <a:ext uri="{FF2B5EF4-FFF2-40B4-BE49-F238E27FC236}">
                <a16:creationId xmlns:a16="http://schemas.microsoft.com/office/drawing/2014/main" id="{45054101-C330-43F3-B4DF-60AABF0D167D}"/>
              </a:ext>
            </a:extLst>
          </p:cNvPr>
          <p:cNvSpPr/>
          <p:nvPr/>
        </p:nvSpPr>
        <p:spPr>
          <a:xfrm flipV="1">
            <a:off x="7506586" y="1268"/>
            <a:ext cx="4685413" cy="2435023"/>
          </a:xfrm>
          <a:custGeom>
            <a:avLst/>
            <a:gdLst>
              <a:gd name="connsiteX0" fmla="*/ 0 w 5657850"/>
              <a:gd name="connsiteY0" fmla="*/ 0 h 4929550"/>
              <a:gd name="connsiteX1" fmla="*/ 5657850 w 5657850"/>
              <a:gd name="connsiteY1" fmla="*/ 0 h 4929550"/>
              <a:gd name="connsiteX2" fmla="*/ 5657850 w 5657850"/>
              <a:gd name="connsiteY2" fmla="*/ 4929550 h 4929550"/>
              <a:gd name="connsiteX3" fmla="*/ 0 w 5657850"/>
              <a:gd name="connsiteY3" fmla="*/ 4929550 h 4929550"/>
              <a:gd name="connsiteX4" fmla="*/ 0 w 5657850"/>
              <a:gd name="connsiteY4" fmla="*/ 0 h 4929550"/>
              <a:gd name="connsiteX0-1" fmla="*/ 0 w 5657850"/>
              <a:gd name="connsiteY0-2" fmla="*/ 1003300 h 5932850"/>
              <a:gd name="connsiteX1-3" fmla="*/ 5657850 w 5657850"/>
              <a:gd name="connsiteY1-4" fmla="*/ 1003300 h 5932850"/>
              <a:gd name="connsiteX2-5" fmla="*/ 5657850 w 5657850"/>
              <a:gd name="connsiteY2-6" fmla="*/ 5932850 h 5932850"/>
              <a:gd name="connsiteX3-7" fmla="*/ 0 w 5657850"/>
              <a:gd name="connsiteY3-8" fmla="*/ 5932850 h 5932850"/>
              <a:gd name="connsiteX4-9" fmla="*/ 0 w 5657850"/>
              <a:gd name="connsiteY4-10" fmla="*/ 1003300 h 5932850"/>
              <a:gd name="connsiteX0-11" fmla="*/ 660400 w 6318250"/>
              <a:gd name="connsiteY0-12" fmla="*/ 1003300 h 5932850"/>
              <a:gd name="connsiteX1-13" fmla="*/ 6318250 w 6318250"/>
              <a:gd name="connsiteY1-14" fmla="*/ 1003300 h 5932850"/>
              <a:gd name="connsiteX2-15" fmla="*/ 6318250 w 6318250"/>
              <a:gd name="connsiteY2-16" fmla="*/ 5932850 h 5932850"/>
              <a:gd name="connsiteX3-17" fmla="*/ 660400 w 6318250"/>
              <a:gd name="connsiteY3-18" fmla="*/ 5932850 h 5932850"/>
              <a:gd name="connsiteX4-19" fmla="*/ 660400 w 6318250"/>
              <a:gd name="connsiteY4-20" fmla="*/ 1003300 h 5932850"/>
              <a:gd name="connsiteX0-21" fmla="*/ 660400 w 6318250"/>
              <a:gd name="connsiteY0-22" fmla="*/ 965201 h 5894751"/>
              <a:gd name="connsiteX1-23" fmla="*/ 6318250 w 6318250"/>
              <a:gd name="connsiteY1-24" fmla="*/ 965201 h 5894751"/>
              <a:gd name="connsiteX2-25" fmla="*/ 6318250 w 6318250"/>
              <a:gd name="connsiteY2-26" fmla="*/ 5894751 h 5894751"/>
              <a:gd name="connsiteX3-27" fmla="*/ 660400 w 6318250"/>
              <a:gd name="connsiteY3-28" fmla="*/ 5894751 h 5894751"/>
              <a:gd name="connsiteX4-29" fmla="*/ 660400 w 6318250"/>
              <a:gd name="connsiteY4-30" fmla="*/ 965201 h 5894751"/>
              <a:gd name="connsiteX0-31" fmla="*/ 711200 w 6369050"/>
              <a:gd name="connsiteY0-32" fmla="*/ 965200 h 5894750"/>
              <a:gd name="connsiteX1-33" fmla="*/ 6369050 w 6369050"/>
              <a:gd name="connsiteY1-34" fmla="*/ 965200 h 5894750"/>
              <a:gd name="connsiteX2-35" fmla="*/ 6369050 w 6369050"/>
              <a:gd name="connsiteY2-36" fmla="*/ 5894750 h 5894750"/>
              <a:gd name="connsiteX3-37" fmla="*/ 711200 w 6369050"/>
              <a:gd name="connsiteY3-38" fmla="*/ 5894750 h 5894750"/>
              <a:gd name="connsiteX4-39" fmla="*/ 711200 w 6369050"/>
              <a:gd name="connsiteY4-40" fmla="*/ 965200 h 5894750"/>
              <a:gd name="connsiteX0-41" fmla="*/ 4371975 w 10029825"/>
              <a:gd name="connsiteY0-42" fmla="*/ 965200 h 5894750"/>
              <a:gd name="connsiteX1-43" fmla="*/ 10029825 w 10029825"/>
              <a:gd name="connsiteY1-44" fmla="*/ 965200 h 5894750"/>
              <a:gd name="connsiteX2-45" fmla="*/ 10029825 w 10029825"/>
              <a:gd name="connsiteY2-46" fmla="*/ 5894750 h 5894750"/>
              <a:gd name="connsiteX3-47" fmla="*/ 0 w 10029825"/>
              <a:gd name="connsiteY3-48" fmla="*/ 5894750 h 5894750"/>
              <a:gd name="connsiteX4-49" fmla="*/ 4371975 w 10029825"/>
              <a:gd name="connsiteY4-50" fmla="*/ 965200 h 5894750"/>
              <a:gd name="connsiteX0-51" fmla="*/ 4406541 w 10064391"/>
              <a:gd name="connsiteY0-52" fmla="*/ 965200 h 5894750"/>
              <a:gd name="connsiteX1-53" fmla="*/ 10064391 w 10064391"/>
              <a:gd name="connsiteY1-54" fmla="*/ 965200 h 5894750"/>
              <a:gd name="connsiteX2-55" fmla="*/ 10064391 w 10064391"/>
              <a:gd name="connsiteY2-56" fmla="*/ 5894750 h 5894750"/>
              <a:gd name="connsiteX3-57" fmla="*/ 34566 w 10064391"/>
              <a:gd name="connsiteY3-58" fmla="*/ 5894750 h 5894750"/>
              <a:gd name="connsiteX4-59" fmla="*/ 4406541 w 10064391"/>
              <a:gd name="connsiteY4-60" fmla="*/ 965200 h 5894750"/>
              <a:gd name="connsiteX0-61" fmla="*/ 4604702 w 10062527"/>
              <a:gd name="connsiteY0-62" fmla="*/ 1302342 h 5260342"/>
              <a:gd name="connsiteX1-63" fmla="*/ 10062527 w 10062527"/>
              <a:gd name="connsiteY1-64" fmla="*/ 330792 h 5260342"/>
              <a:gd name="connsiteX2-65" fmla="*/ 10062527 w 10062527"/>
              <a:gd name="connsiteY2-66" fmla="*/ 5260342 h 5260342"/>
              <a:gd name="connsiteX3-67" fmla="*/ 32702 w 10062527"/>
              <a:gd name="connsiteY3-68" fmla="*/ 5260342 h 5260342"/>
              <a:gd name="connsiteX4-69" fmla="*/ 4604702 w 10062527"/>
              <a:gd name="connsiteY4-70" fmla="*/ 1302342 h 5260342"/>
              <a:gd name="connsiteX0-71" fmla="*/ 4604702 w 10062527"/>
              <a:gd name="connsiteY0-72" fmla="*/ 1690387 h 5648387"/>
              <a:gd name="connsiteX1-73" fmla="*/ 10062527 w 10062527"/>
              <a:gd name="connsiteY1-74" fmla="*/ 718837 h 5648387"/>
              <a:gd name="connsiteX2-75" fmla="*/ 10062527 w 10062527"/>
              <a:gd name="connsiteY2-76" fmla="*/ 5648387 h 5648387"/>
              <a:gd name="connsiteX3-77" fmla="*/ 32702 w 10062527"/>
              <a:gd name="connsiteY3-78" fmla="*/ 5648387 h 5648387"/>
              <a:gd name="connsiteX4-79" fmla="*/ 4604702 w 10062527"/>
              <a:gd name="connsiteY4-80" fmla="*/ 1690387 h 5648387"/>
              <a:gd name="connsiteX0-81" fmla="*/ 4603976 w 10061801"/>
              <a:gd name="connsiteY0-82" fmla="*/ 1690387 h 5648387"/>
              <a:gd name="connsiteX1-83" fmla="*/ 10061801 w 10061801"/>
              <a:gd name="connsiteY1-84" fmla="*/ 718837 h 5648387"/>
              <a:gd name="connsiteX2-85" fmla="*/ 10061801 w 10061801"/>
              <a:gd name="connsiteY2-86" fmla="*/ 5648387 h 5648387"/>
              <a:gd name="connsiteX3-87" fmla="*/ 31976 w 10061801"/>
              <a:gd name="connsiteY3-88" fmla="*/ 5648387 h 5648387"/>
              <a:gd name="connsiteX4-89" fmla="*/ 4603976 w 10061801"/>
              <a:gd name="connsiteY4-90" fmla="*/ 1690387 h 5648387"/>
              <a:gd name="connsiteX0-91" fmla="*/ 4603976 w 10061801"/>
              <a:gd name="connsiteY0-92" fmla="*/ 1392426 h 5350426"/>
              <a:gd name="connsiteX1-93" fmla="*/ 10061801 w 10061801"/>
              <a:gd name="connsiteY1-94" fmla="*/ 420876 h 5350426"/>
              <a:gd name="connsiteX2-95" fmla="*/ 10061801 w 10061801"/>
              <a:gd name="connsiteY2-96" fmla="*/ 5350426 h 5350426"/>
              <a:gd name="connsiteX3-97" fmla="*/ 31976 w 10061801"/>
              <a:gd name="connsiteY3-98" fmla="*/ 5350426 h 5350426"/>
              <a:gd name="connsiteX4-99" fmla="*/ 4603976 w 10061801"/>
              <a:gd name="connsiteY4-100" fmla="*/ 1392426 h 5350426"/>
              <a:gd name="connsiteX0-101" fmla="*/ 4595548 w 10053373"/>
              <a:gd name="connsiteY0-102" fmla="*/ 1392426 h 5350426"/>
              <a:gd name="connsiteX1-103" fmla="*/ 10053373 w 10053373"/>
              <a:gd name="connsiteY1-104" fmla="*/ 420876 h 5350426"/>
              <a:gd name="connsiteX2-105" fmla="*/ 10053373 w 10053373"/>
              <a:gd name="connsiteY2-106" fmla="*/ 5350426 h 5350426"/>
              <a:gd name="connsiteX3-107" fmla="*/ 23548 w 10053373"/>
              <a:gd name="connsiteY3-108" fmla="*/ 5350426 h 5350426"/>
              <a:gd name="connsiteX4-109" fmla="*/ 4595548 w 10053373"/>
              <a:gd name="connsiteY4-110" fmla="*/ 1392426 h 5350426"/>
              <a:gd name="connsiteX0-111" fmla="*/ 4595548 w 10053373"/>
              <a:gd name="connsiteY0-112" fmla="*/ 1367261 h 5325261"/>
              <a:gd name="connsiteX1-113" fmla="*/ 10053373 w 10053373"/>
              <a:gd name="connsiteY1-114" fmla="*/ 395711 h 5325261"/>
              <a:gd name="connsiteX2-115" fmla="*/ 10053373 w 10053373"/>
              <a:gd name="connsiteY2-116" fmla="*/ 5325261 h 5325261"/>
              <a:gd name="connsiteX3-117" fmla="*/ 23548 w 10053373"/>
              <a:gd name="connsiteY3-118" fmla="*/ 5325261 h 5325261"/>
              <a:gd name="connsiteX4-119" fmla="*/ 4595548 w 10053373"/>
              <a:gd name="connsiteY4-120" fmla="*/ 1367261 h 5325261"/>
              <a:gd name="connsiteX0-121" fmla="*/ 9240363 w 14698188"/>
              <a:gd name="connsiteY0-122" fmla="*/ 1367261 h 5325261"/>
              <a:gd name="connsiteX1-123" fmla="*/ 14698188 w 14698188"/>
              <a:gd name="connsiteY1-124" fmla="*/ 395711 h 5325261"/>
              <a:gd name="connsiteX2-125" fmla="*/ 14698188 w 14698188"/>
              <a:gd name="connsiteY2-126" fmla="*/ 5325261 h 5325261"/>
              <a:gd name="connsiteX3-127" fmla="*/ 12308 w 14698188"/>
              <a:gd name="connsiteY3-128" fmla="*/ 5325261 h 5325261"/>
              <a:gd name="connsiteX4-129" fmla="*/ 9240363 w 14698188"/>
              <a:gd name="connsiteY4-130" fmla="*/ 1367261 h 5325261"/>
              <a:gd name="connsiteX0-131" fmla="*/ 9240363 w 14698188"/>
              <a:gd name="connsiteY0-132" fmla="*/ 1076000 h 5034000"/>
              <a:gd name="connsiteX1-133" fmla="*/ 14698188 w 14698188"/>
              <a:gd name="connsiteY1-134" fmla="*/ 104450 h 5034000"/>
              <a:gd name="connsiteX2-135" fmla="*/ 14698188 w 14698188"/>
              <a:gd name="connsiteY2-136" fmla="*/ 5034000 h 5034000"/>
              <a:gd name="connsiteX3-137" fmla="*/ 12308 w 14698188"/>
              <a:gd name="connsiteY3-138" fmla="*/ 5034000 h 5034000"/>
              <a:gd name="connsiteX4-139" fmla="*/ 9240363 w 14698188"/>
              <a:gd name="connsiteY4-140" fmla="*/ 1076000 h 5034000"/>
              <a:gd name="connsiteX0-141" fmla="*/ 9247695 w 14705520"/>
              <a:gd name="connsiteY0-142" fmla="*/ 1076000 h 5034000"/>
              <a:gd name="connsiteX1-143" fmla="*/ 14705520 w 14705520"/>
              <a:gd name="connsiteY1-144" fmla="*/ 104450 h 5034000"/>
              <a:gd name="connsiteX2-145" fmla="*/ 14705520 w 14705520"/>
              <a:gd name="connsiteY2-146" fmla="*/ 5034000 h 5034000"/>
              <a:gd name="connsiteX3-147" fmla="*/ 19640 w 14705520"/>
              <a:gd name="connsiteY3-148" fmla="*/ 5034000 h 5034000"/>
              <a:gd name="connsiteX4-149" fmla="*/ 9247695 w 14705520"/>
              <a:gd name="connsiteY4-150" fmla="*/ 1076000 h 5034000"/>
              <a:gd name="connsiteX0-151" fmla="*/ 9251946 w 14709771"/>
              <a:gd name="connsiteY0-152" fmla="*/ 1076000 h 5034000"/>
              <a:gd name="connsiteX1-153" fmla="*/ 14709771 w 14709771"/>
              <a:gd name="connsiteY1-154" fmla="*/ 104450 h 5034000"/>
              <a:gd name="connsiteX2-155" fmla="*/ 14709771 w 14709771"/>
              <a:gd name="connsiteY2-156" fmla="*/ 5034000 h 5034000"/>
              <a:gd name="connsiteX3-157" fmla="*/ 23891 w 14709771"/>
              <a:gd name="connsiteY3-158" fmla="*/ 5034000 h 5034000"/>
              <a:gd name="connsiteX4-159" fmla="*/ 9251946 w 14709771"/>
              <a:gd name="connsiteY4-160" fmla="*/ 1076000 h 5034000"/>
              <a:gd name="connsiteX0-161" fmla="*/ 9251946 w 14709771"/>
              <a:gd name="connsiteY0-162" fmla="*/ 1273721 h 5231721"/>
              <a:gd name="connsiteX1-163" fmla="*/ 14709771 w 14709771"/>
              <a:gd name="connsiteY1-164" fmla="*/ 302171 h 5231721"/>
              <a:gd name="connsiteX2-165" fmla="*/ 14709771 w 14709771"/>
              <a:gd name="connsiteY2-166" fmla="*/ 5231721 h 5231721"/>
              <a:gd name="connsiteX3-167" fmla="*/ 23891 w 14709771"/>
              <a:gd name="connsiteY3-168" fmla="*/ 5231721 h 5231721"/>
              <a:gd name="connsiteX4-169" fmla="*/ 9251946 w 14709771"/>
              <a:gd name="connsiteY4-170" fmla="*/ 1273721 h 5231721"/>
              <a:gd name="connsiteX0-171" fmla="*/ 10013250 w 14706648"/>
              <a:gd name="connsiteY0-172" fmla="*/ 2312727 h 4929550"/>
              <a:gd name="connsiteX1-173" fmla="*/ 14706648 w 14706648"/>
              <a:gd name="connsiteY1-174" fmla="*/ 0 h 4929550"/>
              <a:gd name="connsiteX2-175" fmla="*/ 14706648 w 14706648"/>
              <a:gd name="connsiteY2-176" fmla="*/ 4929550 h 4929550"/>
              <a:gd name="connsiteX3-177" fmla="*/ 20768 w 14706648"/>
              <a:gd name="connsiteY3-178" fmla="*/ 4929550 h 4929550"/>
              <a:gd name="connsiteX4-179" fmla="*/ 10013250 w 14706648"/>
              <a:gd name="connsiteY4-180" fmla="*/ 2312727 h 4929550"/>
              <a:gd name="connsiteX0-181" fmla="*/ 10011463 w 14704861"/>
              <a:gd name="connsiteY0-182" fmla="*/ 2312727 h 4929550"/>
              <a:gd name="connsiteX1-183" fmla="*/ 14704861 w 14704861"/>
              <a:gd name="connsiteY1-184" fmla="*/ 0 h 4929550"/>
              <a:gd name="connsiteX2-185" fmla="*/ 14704861 w 14704861"/>
              <a:gd name="connsiteY2-186" fmla="*/ 4929550 h 4929550"/>
              <a:gd name="connsiteX3-187" fmla="*/ 18981 w 14704861"/>
              <a:gd name="connsiteY3-188" fmla="*/ 4929550 h 4929550"/>
              <a:gd name="connsiteX4-189" fmla="*/ 10011463 w 14704861"/>
              <a:gd name="connsiteY4-190" fmla="*/ 2312727 h 4929550"/>
              <a:gd name="connsiteX0-191" fmla="*/ 10011463 w 14704861"/>
              <a:gd name="connsiteY0-192" fmla="*/ 2312727 h 4929550"/>
              <a:gd name="connsiteX1-193" fmla="*/ 14704861 w 14704861"/>
              <a:gd name="connsiteY1-194" fmla="*/ 0 h 4929550"/>
              <a:gd name="connsiteX2-195" fmla="*/ 14704861 w 14704861"/>
              <a:gd name="connsiteY2-196" fmla="*/ 4929550 h 4929550"/>
              <a:gd name="connsiteX3-197" fmla="*/ 18981 w 14704861"/>
              <a:gd name="connsiteY3-198" fmla="*/ 4929550 h 4929550"/>
              <a:gd name="connsiteX4-199" fmla="*/ 10011463 w 14704861"/>
              <a:gd name="connsiteY4-200" fmla="*/ 2312727 h 49295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4704861" h="4929550">
                <a:moveTo>
                  <a:pt x="10011463" y="2312727"/>
                </a:moveTo>
                <a:cubicBezTo>
                  <a:pt x="13111336" y="451021"/>
                  <a:pt x="12818911" y="0"/>
                  <a:pt x="14704861" y="0"/>
                </a:cubicBezTo>
                <a:lnTo>
                  <a:pt x="14704861" y="4929550"/>
                </a:lnTo>
                <a:lnTo>
                  <a:pt x="18981" y="4929550"/>
                </a:lnTo>
                <a:cubicBezTo>
                  <a:pt x="-381069" y="2314817"/>
                  <a:pt x="5627810" y="4476055"/>
                  <a:pt x="10011463" y="2312727"/>
                </a:cubicBezTo>
                <a:close/>
              </a:path>
            </a:pathLst>
          </a:custGeom>
          <a:gradFill flip="none" rotWithShape="1">
            <a:gsLst>
              <a:gs pos="13000">
                <a:srgbClr val="04CADF">
                  <a:alpha val="70000"/>
                </a:srgbClr>
              </a:gs>
              <a:gs pos="100000">
                <a:srgbClr val="B9F0F6">
                  <a:alpha val="0"/>
                </a:srgbClr>
              </a:gs>
            </a:gsLst>
            <a:lin ang="81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dirty="0">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9" name="组合 8">
            <a:extLst>
              <a:ext uri="{FF2B5EF4-FFF2-40B4-BE49-F238E27FC236}">
                <a16:creationId xmlns:a16="http://schemas.microsoft.com/office/drawing/2014/main" id="{5FCC72F8-BA12-40F9-327A-9ADA6388B6B6}"/>
              </a:ext>
            </a:extLst>
          </p:cNvPr>
          <p:cNvGrpSpPr/>
          <p:nvPr/>
        </p:nvGrpSpPr>
        <p:grpSpPr>
          <a:xfrm>
            <a:off x="229742" y="1281428"/>
            <a:ext cx="4471188" cy="4471189"/>
            <a:chOff x="6550025" y="1108105"/>
            <a:chExt cx="5435600" cy="5435600"/>
          </a:xfrm>
        </p:grpSpPr>
        <p:sp>
          <p:nvSpPr>
            <p:cNvPr id="12" name="椭圆 11">
              <a:extLst>
                <a:ext uri="{FF2B5EF4-FFF2-40B4-BE49-F238E27FC236}">
                  <a16:creationId xmlns:a16="http://schemas.microsoft.com/office/drawing/2014/main" id="{2E878C1A-68AD-0AF2-3771-E1F7220BC832}"/>
                </a:ext>
              </a:extLst>
            </p:cNvPr>
            <p:cNvSpPr/>
            <p:nvPr/>
          </p:nvSpPr>
          <p:spPr>
            <a:xfrm flipH="1">
              <a:off x="6550025" y="1108105"/>
              <a:ext cx="5435600" cy="5435600"/>
            </a:xfrm>
            <a:prstGeom prst="ellipse">
              <a:avLst/>
            </a:prstGeom>
            <a:solidFill>
              <a:schemeClr val="bg1"/>
            </a:solidFill>
            <a:ln>
              <a:noFill/>
            </a:ln>
            <a:effectLst>
              <a:outerShdw blurRad="584200" dist="203200" dir="5400000" sx="92000" sy="92000" algn="ctr" rotWithShape="0">
                <a:srgbClr val="04CADF">
                  <a:alpha val="2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3" name="椭圆 12">
              <a:extLst>
                <a:ext uri="{FF2B5EF4-FFF2-40B4-BE49-F238E27FC236}">
                  <a16:creationId xmlns:a16="http://schemas.microsoft.com/office/drawing/2014/main" id="{1918CED7-2858-5B96-1C55-E41D7AD0D48E}"/>
                </a:ext>
              </a:extLst>
            </p:cNvPr>
            <p:cNvSpPr/>
            <p:nvPr/>
          </p:nvSpPr>
          <p:spPr>
            <a:xfrm flipH="1">
              <a:off x="7048486" y="1606566"/>
              <a:ext cx="4438678" cy="4438678"/>
            </a:xfrm>
            <a:prstGeom prst="ellipse">
              <a:avLst/>
            </a:prstGeom>
            <a:gradFill flip="none" rotWithShape="1">
              <a:gsLst>
                <a:gs pos="0">
                  <a:srgbClr val="04CADF">
                    <a:alpha val="40000"/>
                  </a:srgbClr>
                </a:gs>
                <a:gs pos="86000">
                  <a:srgbClr val="04CADF">
                    <a:alpha val="0"/>
                  </a:srgbClr>
                </a:gs>
              </a:gsLst>
              <a:lin ang="5400000" scaled="0"/>
              <a:tileRect/>
            </a:gra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dirty="0">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56" name="组合 55">
            <a:extLst>
              <a:ext uri="{FF2B5EF4-FFF2-40B4-BE49-F238E27FC236}">
                <a16:creationId xmlns:a16="http://schemas.microsoft.com/office/drawing/2014/main" id="{54037BDA-3540-9970-FEAD-0173CED8EA35}"/>
              </a:ext>
            </a:extLst>
          </p:cNvPr>
          <p:cNvGrpSpPr/>
          <p:nvPr/>
        </p:nvGrpSpPr>
        <p:grpSpPr>
          <a:xfrm>
            <a:off x="9530872" y="6208793"/>
            <a:ext cx="2506981" cy="649207"/>
            <a:chOff x="7395787" y="5706745"/>
            <a:chExt cx="4445694" cy="1151255"/>
          </a:xfrm>
          <a:solidFill>
            <a:srgbClr val="04CADF"/>
          </a:solidFill>
        </p:grpSpPr>
        <p:sp>
          <p:nvSpPr>
            <p:cNvPr id="6" name="图形">
              <a:extLst>
                <a:ext uri="{FF2B5EF4-FFF2-40B4-BE49-F238E27FC236}">
                  <a16:creationId xmlns:a16="http://schemas.microsoft.com/office/drawing/2014/main" id="{0E9627D8-E6C9-04F2-49DD-1E399D40564A}"/>
                </a:ext>
              </a:extLst>
            </p:cNvPr>
            <p:cNvSpPr/>
            <p:nvPr/>
          </p:nvSpPr>
          <p:spPr>
            <a:xfrm flipV="1">
              <a:off x="11137266" y="5706745"/>
              <a:ext cx="704215" cy="70421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10" name="图形">
              <a:extLst>
                <a:ext uri="{FF2B5EF4-FFF2-40B4-BE49-F238E27FC236}">
                  <a16:creationId xmlns:a16="http://schemas.microsoft.com/office/drawing/2014/main" id="{FDA2315C-E3C6-52BD-EAFE-4A3D81FD176D}"/>
                </a:ext>
              </a:extLst>
            </p:cNvPr>
            <p:cNvSpPr/>
            <p:nvPr/>
          </p:nvSpPr>
          <p:spPr>
            <a:xfrm flipV="1">
              <a:off x="10269283" y="6279832"/>
              <a:ext cx="262255" cy="26225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34" name="任意多边形: 形状 33">
              <a:extLst>
                <a:ext uri="{FF2B5EF4-FFF2-40B4-BE49-F238E27FC236}">
                  <a16:creationId xmlns:a16="http://schemas.microsoft.com/office/drawing/2014/main" id="{D04F16FC-8EF3-9375-EC07-559F9EE4F548}"/>
                </a:ext>
              </a:extLst>
            </p:cNvPr>
            <p:cNvSpPr/>
            <p:nvPr/>
          </p:nvSpPr>
          <p:spPr>
            <a:xfrm>
              <a:off x="7395787" y="6237305"/>
              <a:ext cx="1553662" cy="620695"/>
            </a:xfrm>
            <a:custGeom>
              <a:avLst/>
              <a:gdLst>
                <a:gd name="connsiteX0" fmla="*/ 776831 w 1553662"/>
                <a:gd name="connsiteY0" fmla="*/ 0 h 620695"/>
                <a:gd name="connsiteX1" fmla="*/ 1512321 w 1553662"/>
                <a:gd name="connsiteY1" fmla="*/ 487516 h 620695"/>
                <a:gd name="connsiteX2" fmla="*/ 1553662 w 1553662"/>
                <a:gd name="connsiteY2" fmla="*/ 620695 h 620695"/>
                <a:gd name="connsiteX3" fmla="*/ 1274065 w 1553662"/>
                <a:gd name="connsiteY3" fmla="*/ 620695 h 620695"/>
                <a:gd name="connsiteX4" fmla="*/ 1265138 w 1553662"/>
                <a:gd name="connsiteY4" fmla="*/ 591937 h 620695"/>
                <a:gd name="connsiteX5" fmla="*/ 776831 w 1553662"/>
                <a:gd name="connsiteY5" fmla="*/ 268265 h 620695"/>
                <a:gd name="connsiteX6" fmla="*/ 288525 w 1553662"/>
                <a:gd name="connsiteY6" fmla="*/ 591937 h 620695"/>
                <a:gd name="connsiteX7" fmla="*/ 279597 w 1553662"/>
                <a:gd name="connsiteY7" fmla="*/ 620695 h 620695"/>
                <a:gd name="connsiteX8" fmla="*/ 0 w 1553662"/>
                <a:gd name="connsiteY8" fmla="*/ 620695 h 620695"/>
                <a:gd name="connsiteX9" fmla="*/ 41341 w 1553662"/>
                <a:gd name="connsiteY9" fmla="*/ 487516 h 620695"/>
                <a:gd name="connsiteX10" fmla="*/ 776831 w 1553662"/>
                <a:gd name="connsiteY10" fmla="*/ 0 h 620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553662" h="620695">
                  <a:moveTo>
                    <a:pt x="776831" y="0"/>
                  </a:moveTo>
                  <a:cubicBezTo>
                    <a:pt x="1107464" y="0"/>
                    <a:pt x="1391145" y="201023"/>
                    <a:pt x="1512321" y="487516"/>
                  </a:cubicBezTo>
                  <a:lnTo>
                    <a:pt x="1553662" y="620695"/>
                  </a:lnTo>
                  <a:lnTo>
                    <a:pt x="1274065" y="620695"/>
                  </a:lnTo>
                  <a:lnTo>
                    <a:pt x="1265138" y="591937"/>
                  </a:lnTo>
                  <a:cubicBezTo>
                    <a:pt x="1184687" y="401729"/>
                    <a:pt x="996345" y="268265"/>
                    <a:pt x="776831" y="268265"/>
                  </a:cubicBezTo>
                  <a:cubicBezTo>
                    <a:pt x="557318" y="268265"/>
                    <a:pt x="368976" y="401729"/>
                    <a:pt x="288525" y="591937"/>
                  </a:cubicBezTo>
                  <a:lnTo>
                    <a:pt x="279597" y="620695"/>
                  </a:lnTo>
                  <a:lnTo>
                    <a:pt x="0" y="620695"/>
                  </a:lnTo>
                  <a:lnTo>
                    <a:pt x="41341" y="487516"/>
                  </a:lnTo>
                  <a:cubicBezTo>
                    <a:pt x="162517" y="201023"/>
                    <a:pt x="446198" y="0"/>
                    <a:pt x="776831" y="0"/>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grpSp>
        <p:nvGrpSpPr>
          <p:cNvPr id="55" name="组合 54">
            <a:extLst>
              <a:ext uri="{FF2B5EF4-FFF2-40B4-BE49-F238E27FC236}">
                <a16:creationId xmlns:a16="http://schemas.microsoft.com/office/drawing/2014/main" id="{12A85865-28EA-16D2-26DD-71FAE37E3680}"/>
              </a:ext>
            </a:extLst>
          </p:cNvPr>
          <p:cNvGrpSpPr/>
          <p:nvPr/>
        </p:nvGrpSpPr>
        <p:grpSpPr>
          <a:xfrm>
            <a:off x="0" y="-1"/>
            <a:ext cx="1787768" cy="1076103"/>
            <a:chOff x="0" y="-1"/>
            <a:chExt cx="1787768" cy="1076103"/>
          </a:xfrm>
          <a:solidFill>
            <a:srgbClr val="04CADF"/>
          </a:solidFill>
        </p:grpSpPr>
        <p:sp>
          <p:nvSpPr>
            <p:cNvPr id="39" name="图形">
              <a:extLst>
                <a:ext uri="{FF2B5EF4-FFF2-40B4-BE49-F238E27FC236}">
                  <a16:creationId xmlns:a16="http://schemas.microsoft.com/office/drawing/2014/main" id="{3F211BC9-4546-02FD-0094-35F695D3C512}"/>
                </a:ext>
              </a:extLst>
            </p:cNvPr>
            <p:cNvSpPr/>
            <p:nvPr/>
          </p:nvSpPr>
          <p:spPr>
            <a:xfrm flipV="1">
              <a:off x="1409943" y="294581"/>
              <a:ext cx="377825" cy="377825"/>
            </a:xfrm>
            <a:prstGeom prst="ellipse">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914400"/>
              <a:endParaRPr lang="zh-CN" altLang="en-US">
                <a:solidFill>
                  <a:srgbClr val="FFFFFF"/>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42" name="任意多边形: 形状 41">
              <a:extLst>
                <a:ext uri="{FF2B5EF4-FFF2-40B4-BE49-F238E27FC236}">
                  <a16:creationId xmlns:a16="http://schemas.microsoft.com/office/drawing/2014/main" id="{EFB58BC1-425B-6260-FFCE-2A9DCC474A41}"/>
                </a:ext>
              </a:extLst>
            </p:cNvPr>
            <p:cNvSpPr/>
            <p:nvPr/>
          </p:nvSpPr>
          <p:spPr>
            <a:xfrm>
              <a:off x="0" y="-1"/>
              <a:ext cx="1041612" cy="1076103"/>
            </a:xfrm>
            <a:custGeom>
              <a:avLst/>
              <a:gdLst>
                <a:gd name="connsiteX0" fmla="*/ 705674 w 1041612"/>
                <a:gd name="connsiteY0" fmla="*/ 0 h 1076103"/>
                <a:gd name="connsiteX1" fmla="*/ 1030592 w 1041612"/>
                <a:gd name="connsiteY1" fmla="*/ 0 h 1076103"/>
                <a:gd name="connsiteX2" fmla="*/ 1041612 w 1041612"/>
                <a:gd name="connsiteY2" fmla="*/ 109315 h 1076103"/>
                <a:gd name="connsiteX3" fmla="*/ 74824 w 1041612"/>
                <a:gd name="connsiteY3" fmla="*/ 1076103 h 1076103"/>
                <a:gd name="connsiteX4" fmla="*/ 0 w 1041612"/>
                <a:gd name="connsiteY4" fmla="*/ 1072325 h 1076103"/>
                <a:gd name="connsiteX5" fmla="*/ 0 w 1041612"/>
                <a:gd name="connsiteY5" fmla="*/ 743642 h 1076103"/>
                <a:gd name="connsiteX6" fmla="*/ 74824 w 1041612"/>
                <a:gd name="connsiteY6" fmla="*/ 751185 h 1076103"/>
                <a:gd name="connsiteX7" fmla="*/ 716694 w 1041612"/>
                <a:gd name="connsiteY7" fmla="*/ 109315 h 1076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41612" h="1076103">
                  <a:moveTo>
                    <a:pt x="705674" y="0"/>
                  </a:moveTo>
                  <a:lnTo>
                    <a:pt x="1030592" y="0"/>
                  </a:lnTo>
                  <a:lnTo>
                    <a:pt x="1041612" y="109315"/>
                  </a:lnTo>
                  <a:cubicBezTo>
                    <a:pt x="1041612" y="643257"/>
                    <a:pt x="608766" y="1076103"/>
                    <a:pt x="74824" y="1076103"/>
                  </a:cubicBezTo>
                  <a:lnTo>
                    <a:pt x="0" y="1072325"/>
                  </a:lnTo>
                  <a:lnTo>
                    <a:pt x="0" y="743642"/>
                  </a:lnTo>
                  <a:lnTo>
                    <a:pt x="74824" y="751185"/>
                  </a:lnTo>
                  <a:cubicBezTo>
                    <a:pt x="429319" y="751185"/>
                    <a:pt x="716694" y="463810"/>
                    <a:pt x="716694" y="109315"/>
                  </a:cubicBezTo>
                  <a:close/>
                </a:path>
              </a:pathLst>
            </a:custGeom>
            <a:gr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sp>
        <p:nvSpPr>
          <p:cNvPr id="25" name="矩形 24">
            <a:extLst>
              <a:ext uri="{FF2B5EF4-FFF2-40B4-BE49-F238E27FC236}">
                <a16:creationId xmlns:a16="http://schemas.microsoft.com/office/drawing/2014/main" id="{BAA894B8-B7D0-A361-BC13-FA406890B0F4}"/>
              </a:ext>
            </a:extLst>
          </p:cNvPr>
          <p:cNvSpPr/>
          <p:nvPr>
            <p:custDataLst>
              <p:tags r:id="rId1"/>
            </p:custDataLst>
          </p:nvPr>
        </p:nvSpPr>
        <p:spPr>
          <a:xfrm>
            <a:off x="2156100" y="315502"/>
            <a:ext cx="5052774" cy="307777"/>
          </a:xfrm>
          <a:prstGeom prst="rect">
            <a:avLst/>
          </a:prstGeom>
        </p:spPr>
        <p:txBody>
          <a:bodyPr wrap="square">
            <a:spAutoFit/>
            <a:scene3d>
              <a:camera prst="orthographicFront"/>
              <a:lightRig rig="threePt" dir="t"/>
            </a:scene3d>
            <a:sp3d contourW="12700"/>
          </a:bodyPr>
          <a:lstStyle/>
          <a:p>
            <a:pPr algn="dist"/>
            <a:r>
              <a:rPr lang="en-US" altLang="zh-CN" sz="140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rPr>
              <a:t>PET ECONOMY DEPARTMENT REPORT//</a:t>
            </a:r>
            <a:endPar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46" name="任意多边形: 形状 45">
            <a:extLst>
              <a:ext uri="{FF2B5EF4-FFF2-40B4-BE49-F238E27FC236}">
                <a16:creationId xmlns:a16="http://schemas.microsoft.com/office/drawing/2014/main" id="{40BA4123-6641-EFE0-23B7-926A12610C67}"/>
              </a:ext>
            </a:extLst>
          </p:cNvPr>
          <p:cNvSpPr/>
          <p:nvPr/>
        </p:nvSpPr>
        <p:spPr>
          <a:xfrm rot="5400000">
            <a:off x="4649663" y="866194"/>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71000">
                <a:srgbClr val="04CADF"/>
              </a:gs>
              <a:gs pos="0">
                <a:srgbClr val="FCF0F4">
                  <a:alpha val="4000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sp>
        <p:nvSpPr>
          <p:cNvPr id="54" name="任意多边形: 形状 53">
            <a:extLst>
              <a:ext uri="{FF2B5EF4-FFF2-40B4-BE49-F238E27FC236}">
                <a16:creationId xmlns:a16="http://schemas.microsoft.com/office/drawing/2014/main" id="{06E985A4-8686-9DE2-0DF6-E5F503495542}"/>
              </a:ext>
            </a:extLst>
          </p:cNvPr>
          <p:cNvSpPr/>
          <p:nvPr/>
        </p:nvSpPr>
        <p:spPr>
          <a:xfrm rot="5400000">
            <a:off x="1105092" y="5819174"/>
            <a:ext cx="262360" cy="980286"/>
          </a:xfrm>
          <a:custGeom>
            <a:avLst/>
            <a:gdLst>
              <a:gd name="connsiteX0" fmla="*/ 213830 w 262360"/>
              <a:gd name="connsiteY0" fmla="*/ 24265 h 980286"/>
              <a:gd name="connsiteX1" fmla="*/ 238095 w 262360"/>
              <a:gd name="connsiteY1" fmla="*/ 0 h 980286"/>
              <a:gd name="connsiteX2" fmla="*/ 262360 w 262360"/>
              <a:gd name="connsiteY2" fmla="*/ 24265 h 980286"/>
              <a:gd name="connsiteX3" fmla="*/ 238095 w 262360"/>
              <a:gd name="connsiteY3" fmla="*/ 48531 h 980286"/>
              <a:gd name="connsiteX4" fmla="*/ 213830 w 262360"/>
              <a:gd name="connsiteY4" fmla="*/ 24265 h 980286"/>
              <a:gd name="connsiteX5" fmla="*/ 213830 w 262360"/>
              <a:gd name="connsiteY5" fmla="*/ 179558 h 980286"/>
              <a:gd name="connsiteX6" fmla="*/ 238095 w 262360"/>
              <a:gd name="connsiteY6" fmla="*/ 155293 h 980286"/>
              <a:gd name="connsiteX7" fmla="*/ 262360 w 262360"/>
              <a:gd name="connsiteY7" fmla="*/ 179558 h 980286"/>
              <a:gd name="connsiteX8" fmla="*/ 238095 w 262360"/>
              <a:gd name="connsiteY8" fmla="*/ 203823 h 980286"/>
              <a:gd name="connsiteX9" fmla="*/ 213830 w 262360"/>
              <a:gd name="connsiteY9" fmla="*/ 179558 h 980286"/>
              <a:gd name="connsiteX10" fmla="*/ 213830 w 262360"/>
              <a:gd name="connsiteY10" fmla="*/ 334851 h 980286"/>
              <a:gd name="connsiteX11" fmla="*/ 238095 w 262360"/>
              <a:gd name="connsiteY11" fmla="*/ 310585 h 980286"/>
              <a:gd name="connsiteX12" fmla="*/ 262360 w 262360"/>
              <a:gd name="connsiteY12" fmla="*/ 334851 h 980286"/>
              <a:gd name="connsiteX13" fmla="*/ 238095 w 262360"/>
              <a:gd name="connsiteY13" fmla="*/ 359116 h 980286"/>
              <a:gd name="connsiteX14" fmla="*/ 213830 w 262360"/>
              <a:gd name="connsiteY14" fmla="*/ 334851 h 980286"/>
              <a:gd name="connsiteX15" fmla="*/ 213830 w 262360"/>
              <a:gd name="connsiteY15" fmla="*/ 490143 h 980286"/>
              <a:gd name="connsiteX16" fmla="*/ 238095 w 262360"/>
              <a:gd name="connsiteY16" fmla="*/ 465878 h 980286"/>
              <a:gd name="connsiteX17" fmla="*/ 262360 w 262360"/>
              <a:gd name="connsiteY17" fmla="*/ 490143 h 980286"/>
              <a:gd name="connsiteX18" fmla="*/ 238095 w 262360"/>
              <a:gd name="connsiteY18" fmla="*/ 514408 h 980286"/>
              <a:gd name="connsiteX19" fmla="*/ 213830 w 262360"/>
              <a:gd name="connsiteY19" fmla="*/ 490143 h 980286"/>
              <a:gd name="connsiteX20" fmla="*/ 213830 w 262360"/>
              <a:gd name="connsiteY20" fmla="*/ 645436 h 980286"/>
              <a:gd name="connsiteX21" fmla="*/ 238095 w 262360"/>
              <a:gd name="connsiteY21" fmla="*/ 621171 h 980286"/>
              <a:gd name="connsiteX22" fmla="*/ 262360 w 262360"/>
              <a:gd name="connsiteY22" fmla="*/ 645436 h 980286"/>
              <a:gd name="connsiteX23" fmla="*/ 238095 w 262360"/>
              <a:gd name="connsiteY23" fmla="*/ 669701 h 980286"/>
              <a:gd name="connsiteX24" fmla="*/ 213830 w 262360"/>
              <a:gd name="connsiteY24" fmla="*/ 645436 h 980286"/>
              <a:gd name="connsiteX25" fmla="*/ 213830 w 262360"/>
              <a:gd name="connsiteY25" fmla="*/ 800728 h 980286"/>
              <a:gd name="connsiteX26" fmla="*/ 238095 w 262360"/>
              <a:gd name="connsiteY26" fmla="*/ 776463 h 980286"/>
              <a:gd name="connsiteX27" fmla="*/ 262360 w 262360"/>
              <a:gd name="connsiteY27" fmla="*/ 800728 h 980286"/>
              <a:gd name="connsiteX28" fmla="*/ 238095 w 262360"/>
              <a:gd name="connsiteY28" fmla="*/ 824994 h 980286"/>
              <a:gd name="connsiteX29" fmla="*/ 213830 w 262360"/>
              <a:gd name="connsiteY29" fmla="*/ 800728 h 980286"/>
              <a:gd name="connsiteX30" fmla="*/ 213830 w 262360"/>
              <a:gd name="connsiteY30" fmla="*/ 956021 h 980286"/>
              <a:gd name="connsiteX31" fmla="*/ 238095 w 262360"/>
              <a:gd name="connsiteY31" fmla="*/ 931756 h 980286"/>
              <a:gd name="connsiteX32" fmla="*/ 262360 w 262360"/>
              <a:gd name="connsiteY32" fmla="*/ 956021 h 980286"/>
              <a:gd name="connsiteX33" fmla="*/ 238095 w 262360"/>
              <a:gd name="connsiteY33" fmla="*/ 980286 h 980286"/>
              <a:gd name="connsiteX34" fmla="*/ 213830 w 262360"/>
              <a:gd name="connsiteY34" fmla="*/ 956021 h 980286"/>
              <a:gd name="connsiteX35" fmla="*/ 106915 w 262360"/>
              <a:gd name="connsiteY35" fmla="*/ 24265 h 980286"/>
              <a:gd name="connsiteX36" fmla="*/ 131180 w 262360"/>
              <a:gd name="connsiteY36" fmla="*/ 0 h 980286"/>
              <a:gd name="connsiteX37" fmla="*/ 155445 w 262360"/>
              <a:gd name="connsiteY37" fmla="*/ 24265 h 980286"/>
              <a:gd name="connsiteX38" fmla="*/ 131180 w 262360"/>
              <a:gd name="connsiteY38" fmla="*/ 48531 h 980286"/>
              <a:gd name="connsiteX39" fmla="*/ 106915 w 262360"/>
              <a:gd name="connsiteY39" fmla="*/ 24265 h 980286"/>
              <a:gd name="connsiteX40" fmla="*/ 106915 w 262360"/>
              <a:gd name="connsiteY40" fmla="*/ 179558 h 980286"/>
              <a:gd name="connsiteX41" fmla="*/ 131180 w 262360"/>
              <a:gd name="connsiteY41" fmla="*/ 155293 h 980286"/>
              <a:gd name="connsiteX42" fmla="*/ 155445 w 262360"/>
              <a:gd name="connsiteY42" fmla="*/ 179558 h 980286"/>
              <a:gd name="connsiteX43" fmla="*/ 131180 w 262360"/>
              <a:gd name="connsiteY43" fmla="*/ 203823 h 980286"/>
              <a:gd name="connsiteX44" fmla="*/ 106915 w 262360"/>
              <a:gd name="connsiteY44" fmla="*/ 179558 h 980286"/>
              <a:gd name="connsiteX45" fmla="*/ 106915 w 262360"/>
              <a:gd name="connsiteY45" fmla="*/ 334851 h 980286"/>
              <a:gd name="connsiteX46" fmla="*/ 131180 w 262360"/>
              <a:gd name="connsiteY46" fmla="*/ 310585 h 980286"/>
              <a:gd name="connsiteX47" fmla="*/ 155445 w 262360"/>
              <a:gd name="connsiteY47" fmla="*/ 334851 h 980286"/>
              <a:gd name="connsiteX48" fmla="*/ 131180 w 262360"/>
              <a:gd name="connsiteY48" fmla="*/ 359116 h 980286"/>
              <a:gd name="connsiteX49" fmla="*/ 106915 w 262360"/>
              <a:gd name="connsiteY49" fmla="*/ 334851 h 980286"/>
              <a:gd name="connsiteX50" fmla="*/ 106915 w 262360"/>
              <a:gd name="connsiteY50" fmla="*/ 490143 h 980286"/>
              <a:gd name="connsiteX51" fmla="*/ 131180 w 262360"/>
              <a:gd name="connsiteY51" fmla="*/ 465878 h 980286"/>
              <a:gd name="connsiteX52" fmla="*/ 155445 w 262360"/>
              <a:gd name="connsiteY52" fmla="*/ 490143 h 980286"/>
              <a:gd name="connsiteX53" fmla="*/ 131180 w 262360"/>
              <a:gd name="connsiteY53" fmla="*/ 514408 h 980286"/>
              <a:gd name="connsiteX54" fmla="*/ 106915 w 262360"/>
              <a:gd name="connsiteY54" fmla="*/ 490143 h 980286"/>
              <a:gd name="connsiteX55" fmla="*/ 106915 w 262360"/>
              <a:gd name="connsiteY55" fmla="*/ 645436 h 980286"/>
              <a:gd name="connsiteX56" fmla="*/ 131180 w 262360"/>
              <a:gd name="connsiteY56" fmla="*/ 621171 h 980286"/>
              <a:gd name="connsiteX57" fmla="*/ 155445 w 262360"/>
              <a:gd name="connsiteY57" fmla="*/ 645436 h 980286"/>
              <a:gd name="connsiteX58" fmla="*/ 131180 w 262360"/>
              <a:gd name="connsiteY58" fmla="*/ 669701 h 980286"/>
              <a:gd name="connsiteX59" fmla="*/ 106915 w 262360"/>
              <a:gd name="connsiteY59" fmla="*/ 645436 h 980286"/>
              <a:gd name="connsiteX60" fmla="*/ 106915 w 262360"/>
              <a:gd name="connsiteY60" fmla="*/ 800728 h 980286"/>
              <a:gd name="connsiteX61" fmla="*/ 131180 w 262360"/>
              <a:gd name="connsiteY61" fmla="*/ 776463 h 980286"/>
              <a:gd name="connsiteX62" fmla="*/ 155445 w 262360"/>
              <a:gd name="connsiteY62" fmla="*/ 800728 h 980286"/>
              <a:gd name="connsiteX63" fmla="*/ 131180 w 262360"/>
              <a:gd name="connsiteY63" fmla="*/ 824994 h 980286"/>
              <a:gd name="connsiteX64" fmla="*/ 106915 w 262360"/>
              <a:gd name="connsiteY64" fmla="*/ 800728 h 980286"/>
              <a:gd name="connsiteX65" fmla="*/ 106915 w 262360"/>
              <a:gd name="connsiteY65" fmla="*/ 956021 h 980286"/>
              <a:gd name="connsiteX66" fmla="*/ 131180 w 262360"/>
              <a:gd name="connsiteY66" fmla="*/ 931756 h 980286"/>
              <a:gd name="connsiteX67" fmla="*/ 155445 w 262360"/>
              <a:gd name="connsiteY67" fmla="*/ 956021 h 980286"/>
              <a:gd name="connsiteX68" fmla="*/ 131180 w 262360"/>
              <a:gd name="connsiteY68" fmla="*/ 980286 h 980286"/>
              <a:gd name="connsiteX69" fmla="*/ 106915 w 262360"/>
              <a:gd name="connsiteY69" fmla="*/ 956021 h 980286"/>
              <a:gd name="connsiteX70" fmla="*/ 0 w 262360"/>
              <a:gd name="connsiteY70" fmla="*/ 24265 h 980286"/>
              <a:gd name="connsiteX71" fmla="*/ 24265 w 262360"/>
              <a:gd name="connsiteY71" fmla="*/ 0 h 980286"/>
              <a:gd name="connsiteX72" fmla="*/ 48530 w 262360"/>
              <a:gd name="connsiteY72" fmla="*/ 24265 h 980286"/>
              <a:gd name="connsiteX73" fmla="*/ 24265 w 262360"/>
              <a:gd name="connsiteY73" fmla="*/ 48531 h 980286"/>
              <a:gd name="connsiteX74" fmla="*/ 0 w 262360"/>
              <a:gd name="connsiteY74" fmla="*/ 24265 h 980286"/>
              <a:gd name="connsiteX75" fmla="*/ 0 w 262360"/>
              <a:gd name="connsiteY75" fmla="*/ 179558 h 980286"/>
              <a:gd name="connsiteX76" fmla="*/ 24265 w 262360"/>
              <a:gd name="connsiteY76" fmla="*/ 155293 h 980286"/>
              <a:gd name="connsiteX77" fmla="*/ 48530 w 262360"/>
              <a:gd name="connsiteY77" fmla="*/ 179558 h 980286"/>
              <a:gd name="connsiteX78" fmla="*/ 24265 w 262360"/>
              <a:gd name="connsiteY78" fmla="*/ 203823 h 980286"/>
              <a:gd name="connsiteX79" fmla="*/ 0 w 262360"/>
              <a:gd name="connsiteY79" fmla="*/ 179558 h 980286"/>
              <a:gd name="connsiteX80" fmla="*/ 0 w 262360"/>
              <a:gd name="connsiteY80" fmla="*/ 334852 h 980286"/>
              <a:gd name="connsiteX81" fmla="*/ 24265 w 262360"/>
              <a:gd name="connsiteY81" fmla="*/ 310586 h 980286"/>
              <a:gd name="connsiteX82" fmla="*/ 48530 w 262360"/>
              <a:gd name="connsiteY82" fmla="*/ 334852 h 980286"/>
              <a:gd name="connsiteX83" fmla="*/ 24265 w 262360"/>
              <a:gd name="connsiteY83" fmla="*/ 359116 h 980286"/>
              <a:gd name="connsiteX84" fmla="*/ 0 w 262360"/>
              <a:gd name="connsiteY84" fmla="*/ 334852 h 980286"/>
              <a:gd name="connsiteX85" fmla="*/ 0 w 262360"/>
              <a:gd name="connsiteY85" fmla="*/ 490143 h 980286"/>
              <a:gd name="connsiteX86" fmla="*/ 24265 w 262360"/>
              <a:gd name="connsiteY86" fmla="*/ 465878 h 980286"/>
              <a:gd name="connsiteX87" fmla="*/ 48530 w 262360"/>
              <a:gd name="connsiteY87" fmla="*/ 490143 h 980286"/>
              <a:gd name="connsiteX88" fmla="*/ 24265 w 262360"/>
              <a:gd name="connsiteY88" fmla="*/ 514408 h 980286"/>
              <a:gd name="connsiteX89" fmla="*/ 0 w 262360"/>
              <a:gd name="connsiteY89" fmla="*/ 490143 h 980286"/>
              <a:gd name="connsiteX90" fmla="*/ 0 w 262360"/>
              <a:gd name="connsiteY90" fmla="*/ 645436 h 980286"/>
              <a:gd name="connsiteX91" fmla="*/ 24265 w 262360"/>
              <a:gd name="connsiteY91" fmla="*/ 621171 h 980286"/>
              <a:gd name="connsiteX92" fmla="*/ 48530 w 262360"/>
              <a:gd name="connsiteY92" fmla="*/ 645436 h 980286"/>
              <a:gd name="connsiteX93" fmla="*/ 24265 w 262360"/>
              <a:gd name="connsiteY93" fmla="*/ 669701 h 980286"/>
              <a:gd name="connsiteX94" fmla="*/ 0 w 262360"/>
              <a:gd name="connsiteY94" fmla="*/ 645436 h 980286"/>
              <a:gd name="connsiteX95" fmla="*/ 0 w 262360"/>
              <a:gd name="connsiteY95" fmla="*/ 800728 h 980286"/>
              <a:gd name="connsiteX96" fmla="*/ 24265 w 262360"/>
              <a:gd name="connsiteY96" fmla="*/ 776463 h 980286"/>
              <a:gd name="connsiteX97" fmla="*/ 48530 w 262360"/>
              <a:gd name="connsiteY97" fmla="*/ 800728 h 980286"/>
              <a:gd name="connsiteX98" fmla="*/ 24265 w 262360"/>
              <a:gd name="connsiteY98" fmla="*/ 824994 h 980286"/>
              <a:gd name="connsiteX99" fmla="*/ 0 w 262360"/>
              <a:gd name="connsiteY99" fmla="*/ 800728 h 980286"/>
              <a:gd name="connsiteX100" fmla="*/ 0 w 262360"/>
              <a:gd name="connsiteY100" fmla="*/ 956021 h 980286"/>
              <a:gd name="connsiteX101" fmla="*/ 24265 w 262360"/>
              <a:gd name="connsiteY101" fmla="*/ 931756 h 980286"/>
              <a:gd name="connsiteX102" fmla="*/ 48530 w 262360"/>
              <a:gd name="connsiteY102" fmla="*/ 956021 h 980286"/>
              <a:gd name="connsiteX103" fmla="*/ 24265 w 262360"/>
              <a:gd name="connsiteY103" fmla="*/ 980286 h 980286"/>
              <a:gd name="connsiteX104" fmla="*/ 0 w 262360"/>
              <a:gd name="connsiteY104" fmla="*/ 956021 h 980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262360" h="980286">
                <a:moveTo>
                  <a:pt x="213830" y="24265"/>
                </a:moveTo>
                <a:cubicBezTo>
                  <a:pt x="213830" y="10864"/>
                  <a:pt x="224693" y="0"/>
                  <a:pt x="238095" y="0"/>
                </a:cubicBezTo>
                <a:cubicBezTo>
                  <a:pt x="251497" y="0"/>
                  <a:pt x="262360" y="10864"/>
                  <a:pt x="262360" y="24265"/>
                </a:cubicBezTo>
                <a:cubicBezTo>
                  <a:pt x="262360" y="37667"/>
                  <a:pt x="251497" y="48531"/>
                  <a:pt x="238095" y="48531"/>
                </a:cubicBezTo>
                <a:cubicBezTo>
                  <a:pt x="224693" y="48531"/>
                  <a:pt x="213830" y="37667"/>
                  <a:pt x="213830" y="24265"/>
                </a:cubicBezTo>
                <a:close/>
                <a:moveTo>
                  <a:pt x="213830" y="179558"/>
                </a:moveTo>
                <a:cubicBezTo>
                  <a:pt x="213830" y="166156"/>
                  <a:pt x="224693" y="155293"/>
                  <a:pt x="238095" y="155293"/>
                </a:cubicBezTo>
                <a:cubicBezTo>
                  <a:pt x="251497" y="155293"/>
                  <a:pt x="262360" y="166156"/>
                  <a:pt x="262360" y="179558"/>
                </a:cubicBezTo>
                <a:cubicBezTo>
                  <a:pt x="262360" y="192960"/>
                  <a:pt x="251497" y="203823"/>
                  <a:pt x="238095" y="203823"/>
                </a:cubicBezTo>
                <a:cubicBezTo>
                  <a:pt x="224693" y="203823"/>
                  <a:pt x="213830" y="192960"/>
                  <a:pt x="213830" y="179558"/>
                </a:cubicBezTo>
                <a:close/>
                <a:moveTo>
                  <a:pt x="213830" y="334851"/>
                </a:moveTo>
                <a:cubicBezTo>
                  <a:pt x="213830" y="321449"/>
                  <a:pt x="224693" y="310585"/>
                  <a:pt x="238095" y="310585"/>
                </a:cubicBezTo>
                <a:cubicBezTo>
                  <a:pt x="251497" y="310585"/>
                  <a:pt x="262360" y="321449"/>
                  <a:pt x="262360" y="334851"/>
                </a:cubicBezTo>
                <a:cubicBezTo>
                  <a:pt x="262360" y="348252"/>
                  <a:pt x="251497" y="359116"/>
                  <a:pt x="238095" y="359116"/>
                </a:cubicBezTo>
                <a:cubicBezTo>
                  <a:pt x="224693" y="359116"/>
                  <a:pt x="213830" y="348252"/>
                  <a:pt x="213830" y="334851"/>
                </a:cubicBezTo>
                <a:close/>
                <a:moveTo>
                  <a:pt x="213830" y="490143"/>
                </a:moveTo>
                <a:cubicBezTo>
                  <a:pt x="213830" y="476741"/>
                  <a:pt x="224693" y="465878"/>
                  <a:pt x="238095" y="465878"/>
                </a:cubicBezTo>
                <a:cubicBezTo>
                  <a:pt x="251497" y="465878"/>
                  <a:pt x="262360" y="476741"/>
                  <a:pt x="262360" y="490143"/>
                </a:cubicBezTo>
                <a:cubicBezTo>
                  <a:pt x="262360" y="503545"/>
                  <a:pt x="251497" y="514408"/>
                  <a:pt x="238095" y="514408"/>
                </a:cubicBezTo>
                <a:cubicBezTo>
                  <a:pt x="224693" y="514408"/>
                  <a:pt x="213830" y="503545"/>
                  <a:pt x="213830" y="490143"/>
                </a:cubicBezTo>
                <a:close/>
                <a:moveTo>
                  <a:pt x="213830" y="645436"/>
                </a:moveTo>
                <a:cubicBezTo>
                  <a:pt x="213830" y="632034"/>
                  <a:pt x="224693" y="621171"/>
                  <a:pt x="238095" y="621171"/>
                </a:cubicBezTo>
                <a:cubicBezTo>
                  <a:pt x="251497" y="621171"/>
                  <a:pt x="262360" y="632034"/>
                  <a:pt x="262360" y="645436"/>
                </a:cubicBezTo>
                <a:cubicBezTo>
                  <a:pt x="262360" y="658838"/>
                  <a:pt x="251497" y="669701"/>
                  <a:pt x="238095" y="669701"/>
                </a:cubicBezTo>
                <a:cubicBezTo>
                  <a:pt x="224693" y="669701"/>
                  <a:pt x="213830" y="658838"/>
                  <a:pt x="213830" y="645436"/>
                </a:cubicBezTo>
                <a:close/>
                <a:moveTo>
                  <a:pt x="213830" y="800728"/>
                </a:moveTo>
                <a:cubicBezTo>
                  <a:pt x="213830" y="787327"/>
                  <a:pt x="224693" y="776463"/>
                  <a:pt x="238095" y="776463"/>
                </a:cubicBezTo>
                <a:cubicBezTo>
                  <a:pt x="251497" y="776463"/>
                  <a:pt x="262360" y="787327"/>
                  <a:pt x="262360" y="800728"/>
                </a:cubicBezTo>
                <a:cubicBezTo>
                  <a:pt x="262360" y="814130"/>
                  <a:pt x="251497" y="824994"/>
                  <a:pt x="238095" y="824994"/>
                </a:cubicBezTo>
                <a:cubicBezTo>
                  <a:pt x="224693" y="824994"/>
                  <a:pt x="213830" y="814130"/>
                  <a:pt x="213830" y="800728"/>
                </a:cubicBezTo>
                <a:close/>
                <a:moveTo>
                  <a:pt x="213830" y="956021"/>
                </a:moveTo>
                <a:cubicBezTo>
                  <a:pt x="213830" y="942619"/>
                  <a:pt x="224693" y="931756"/>
                  <a:pt x="238095" y="931756"/>
                </a:cubicBezTo>
                <a:cubicBezTo>
                  <a:pt x="251497" y="931756"/>
                  <a:pt x="262360" y="942619"/>
                  <a:pt x="262360" y="956021"/>
                </a:cubicBezTo>
                <a:cubicBezTo>
                  <a:pt x="262360" y="969423"/>
                  <a:pt x="251497" y="980286"/>
                  <a:pt x="238095" y="980286"/>
                </a:cubicBezTo>
                <a:cubicBezTo>
                  <a:pt x="224693" y="980286"/>
                  <a:pt x="213830" y="969423"/>
                  <a:pt x="213830" y="956021"/>
                </a:cubicBezTo>
                <a:close/>
                <a:moveTo>
                  <a:pt x="106915" y="24265"/>
                </a:moveTo>
                <a:cubicBezTo>
                  <a:pt x="106915" y="10864"/>
                  <a:pt x="117778" y="0"/>
                  <a:pt x="131180" y="0"/>
                </a:cubicBezTo>
                <a:cubicBezTo>
                  <a:pt x="144582" y="0"/>
                  <a:pt x="155445" y="10864"/>
                  <a:pt x="155445" y="24265"/>
                </a:cubicBezTo>
                <a:cubicBezTo>
                  <a:pt x="155445" y="37667"/>
                  <a:pt x="144582" y="48531"/>
                  <a:pt x="131180" y="48531"/>
                </a:cubicBezTo>
                <a:cubicBezTo>
                  <a:pt x="117778" y="48531"/>
                  <a:pt x="106915" y="37667"/>
                  <a:pt x="106915" y="24265"/>
                </a:cubicBezTo>
                <a:close/>
                <a:moveTo>
                  <a:pt x="106915" y="179558"/>
                </a:moveTo>
                <a:cubicBezTo>
                  <a:pt x="106915" y="166156"/>
                  <a:pt x="117778" y="155293"/>
                  <a:pt x="131180" y="155293"/>
                </a:cubicBezTo>
                <a:cubicBezTo>
                  <a:pt x="144582" y="155293"/>
                  <a:pt x="155445" y="166156"/>
                  <a:pt x="155445" y="179558"/>
                </a:cubicBezTo>
                <a:cubicBezTo>
                  <a:pt x="155445" y="192960"/>
                  <a:pt x="144582" y="203823"/>
                  <a:pt x="131180" y="203823"/>
                </a:cubicBezTo>
                <a:cubicBezTo>
                  <a:pt x="117778" y="203823"/>
                  <a:pt x="106915" y="192960"/>
                  <a:pt x="106915" y="179558"/>
                </a:cubicBezTo>
                <a:close/>
                <a:moveTo>
                  <a:pt x="106915" y="334851"/>
                </a:moveTo>
                <a:cubicBezTo>
                  <a:pt x="106915" y="321449"/>
                  <a:pt x="117778" y="310585"/>
                  <a:pt x="131180" y="310585"/>
                </a:cubicBezTo>
                <a:cubicBezTo>
                  <a:pt x="144582" y="310585"/>
                  <a:pt x="155445" y="321449"/>
                  <a:pt x="155445" y="334851"/>
                </a:cubicBezTo>
                <a:cubicBezTo>
                  <a:pt x="155445" y="348252"/>
                  <a:pt x="144582" y="359116"/>
                  <a:pt x="131180" y="359116"/>
                </a:cubicBezTo>
                <a:cubicBezTo>
                  <a:pt x="117778" y="359116"/>
                  <a:pt x="106915" y="348252"/>
                  <a:pt x="106915" y="334851"/>
                </a:cubicBezTo>
                <a:close/>
                <a:moveTo>
                  <a:pt x="106915" y="490143"/>
                </a:moveTo>
                <a:cubicBezTo>
                  <a:pt x="106915" y="476741"/>
                  <a:pt x="117778" y="465878"/>
                  <a:pt x="131180" y="465878"/>
                </a:cubicBezTo>
                <a:cubicBezTo>
                  <a:pt x="144582" y="465878"/>
                  <a:pt x="155445" y="476741"/>
                  <a:pt x="155445" y="490143"/>
                </a:cubicBezTo>
                <a:cubicBezTo>
                  <a:pt x="155445" y="503545"/>
                  <a:pt x="144582" y="514408"/>
                  <a:pt x="131180" y="514408"/>
                </a:cubicBezTo>
                <a:cubicBezTo>
                  <a:pt x="117778" y="514408"/>
                  <a:pt x="106915" y="503545"/>
                  <a:pt x="106915" y="490143"/>
                </a:cubicBezTo>
                <a:close/>
                <a:moveTo>
                  <a:pt x="106915" y="645436"/>
                </a:moveTo>
                <a:cubicBezTo>
                  <a:pt x="106915" y="632034"/>
                  <a:pt x="117778" y="621171"/>
                  <a:pt x="131180" y="621171"/>
                </a:cubicBezTo>
                <a:cubicBezTo>
                  <a:pt x="144582" y="621171"/>
                  <a:pt x="155445" y="632034"/>
                  <a:pt x="155445" y="645436"/>
                </a:cubicBezTo>
                <a:cubicBezTo>
                  <a:pt x="155445" y="658838"/>
                  <a:pt x="144582" y="669701"/>
                  <a:pt x="131180" y="669701"/>
                </a:cubicBezTo>
                <a:cubicBezTo>
                  <a:pt x="117778" y="669701"/>
                  <a:pt x="106915" y="658838"/>
                  <a:pt x="106915" y="645436"/>
                </a:cubicBezTo>
                <a:close/>
                <a:moveTo>
                  <a:pt x="106915" y="800728"/>
                </a:moveTo>
                <a:cubicBezTo>
                  <a:pt x="106915" y="787327"/>
                  <a:pt x="117778" y="776463"/>
                  <a:pt x="131180" y="776463"/>
                </a:cubicBezTo>
                <a:cubicBezTo>
                  <a:pt x="144582" y="776463"/>
                  <a:pt x="155445" y="787327"/>
                  <a:pt x="155445" y="800728"/>
                </a:cubicBezTo>
                <a:cubicBezTo>
                  <a:pt x="155445" y="814130"/>
                  <a:pt x="144582" y="824994"/>
                  <a:pt x="131180" y="824994"/>
                </a:cubicBezTo>
                <a:cubicBezTo>
                  <a:pt x="117778" y="824994"/>
                  <a:pt x="106915" y="814130"/>
                  <a:pt x="106915" y="800728"/>
                </a:cubicBezTo>
                <a:close/>
                <a:moveTo>
                  <a:pt x="106915" y="956021"/>
                </a:moveTo>
                <a:cubicBezTo>
                  <a:pt x="106915" y="942619"/>
                  <a:pt x="117778" y="931756"/>
                  <a:pt x="131180" y="931756"/>
                </a:cubicBezTo>
                <a:cubicBezTo>
                  <a:pt x="144582" y="931756"/>
                  <a:pt x="155445" y="942619"/>
                  <a:pt x="155445" y="956021"/>
                </a:cubicBezTo>
                <a:cubicBezTo>
                  <a:pt x="155445" y="969423"/>
                  <a:pt x="144582" y="980286"/>
                  <a:pt x="131180" y="980286"/>
                </a:cubicBezTo>
                <a:cubicBezTo>
                  <a:pt x="117778" y="980286"/>
                  <a:pt x="106915" y="969423"/>
                  <a:pt x="106915" y="956021"/>
                </a:cubicBezTo>
                <a:close/>
                <a:moveTo>
                  <a:pt x="0" y="24265"/>
                </a:moveTo>
                <a:cubicBezTo>
                  <a:pt x="0" y="10864"/>
                  <a:pt x="10863" y="0"/>
                  <a:pt x="24265" y="0"/>
                </a:cubicBezTo>
                <a:cubicBezTo>
                  <a:pt x="37667" y="0"/>
                  <a:pt x="48530" y="10864"/>
                  <a:pt x="48530" y="24265"/>
                </a:cubicBezTo>
                <a:cubicBezTo>
                  <a:pt x="48530" y="37667"/>
                  <a:pt x="37667" y="48531"/>
                  <a:pt x="24265" y="48531"/>
                </a:cubicBezTo>
                <a:cubicBezTo>
                  <a:pt x="10863" y="48531"/>
                  <a:pt x="0" y="37667"/>
                  <a:pt x="0" y="24265"/>
                </a:cubicBezTo>
                <a:close/>
                <a:moveTo>
                  <a:pt x="0" y="179558"/>
                </a:moveTo>
                <a:cubicBezTo>
                  <a:pt x="0" y="166156"/>
                  <a:pt x="10863" y="155293"/>
                  <a:pt x="24265" y="155293"/>
                </a:cubicBezTo>
                <a:cubicBezTo>
                  <a:pt x="37667" y="155293"/>
                  <a:pt x="48530" y="166156"/>
                  <a:pt x="48530" y="179558"/>
                </a:cubicBezTo>
                <a:cubicBezTo>
                  <a:pt x="48530" y="192960"/>
                  <a:pt x="37667" y="203823"/>
                  <a:pt x="24265" y="203823"/>
                </a:cubicBezTo>
                <a:cubicBezTo>
                  <a:pt x="10863" y="203823"/>
                  <a:pt x="0" y="192960"/>
                  <a:pt x="0" y="179558"/>
                </a:cubicBezTo>
                <a:close/>
                <a:moveTo>
                  <a:pt x="0" y="334852"/>
                </a:moveTo>
                <a:cubicBezTo>
                  <a:pt x="0" y="321450"/>
                  <a:pt x="10863" y="310586"/>
                  <a:pt x="24265" y="310586"/>
                </a:cubicBezTo>
                <a:cubicBezTo>
                  <a:pt x="37667" y="310586"/>
                  <a:pt x="48530" y="321450"/>
                  <a:pt x="48530" y="334852"/>
                </a:cubicBezTo>
                <a:cubicBezTo>
                  <a:pt x="48530" y="348252"/>
                  <a:pt x="37667" y="359116"/>
                  <a:pt x="24265" y="359116"/>
                </a:cubicBezTo>
                <a:cubicBezTo>
                  <a:pt x="10863" y="359116"/>
                  <a:pt x="0" y="348252"/>
                  <a:pt x="0" y="334852"/>
                </a:cubicBezTo>
                <a:close/>
                <a:moveTo>
                  <a:pt x="0" y="490143"/>
                </a:moveTo>
                <a:cubicBezTo>
                  <a:pt x="0" y="476741"/>
                  <a:pt x="10863" y="465878"/>
                  <a:pt x="24265" y="465878"/>
                </a:cubicBezTo>
                <a:cubicBezTo>
                  <a:pt x="37667" y="465878"/>
                  <a:pt x="48530" y="476741"/>
                  <a:pt x="48530" y="490143"/>
                </a:cubicBezTo>
                <a:cubicBezTo>
                  <a:pt x="48530" y="503545"/>
                  <a:pt x="37667" y="514408"/>
                  <a:pt x="24265" y="514408"/>
                </a:cubicBezTo>
                <a:cubicBezTo>
                  <a:pt x="10863" y="514408"/>
                  <a:pt x="0" y="503545"/>
                  <a:pt x="0" y="490143"/>
                </a:cubicBezTo>
                <a:close/>
                <a:moveTo>
                  <a:pt x="0" y="645436"/>
                </a:moveTo>
                <a:cubicBezTo>
                  <a:pt x="0" y="632034"/>
                  <a:pt x="10863" y="621171"/>
                  <a:pt x="24265" y="621171"/>
                </a:cubicBezTo>
                <a:cubicBezTo>
                  <a:pt x="37667" y="621171"/>
                  <a:pt x="48530" y="632034"/>
                  <a:pt x="48530" y="645436"/>
                </a:cubicBezTo>
                <a:cubicBezTo>
                  <a:pt x="48530" y="658838"/>
                  <a:pt x="37667" y="669701"/>
                  <a:pt x="24265" y="669701"/>
                </a:cubicBezTo>
                <a:cubicBezTo>
                  <a:pt x="10863" y="669701"/>
                  <a:pt x="0" y="658838"/>
                  <a:pt x="0" y="645436"/>
                </a:cubicBezTo>
                <a:close/>
                <a:moveTo>
                  <a:pt x="0" y="800728"/>
                </a:moveTo>
                <a:cubicBezTo>
                  <a:pt x="0" y="787327"/>
                  <a:pt x="10863" y="776463"/>
                  <a:pt x="24265" y="776463"/>
                </a:cubicBezTo>
                <a:cubicBezTo>
                  <a:pt x="37667" y="776463"/>
                  <a:pt x="48530" y="787327"/>
                  <a:pt x="48530" y="800728"/>
                </a:cubicBezTo>
                <a:cubicBezTo>
                  <a:pt x="48530" y="814130"/>
                  <a:pt x="37667" y="824994"/>
                  <a:pt x="24265" y="824994"/>
                </a:cubicBezTo>
                <a:cubicBezTo>
                  <a:pt x="10863" y="824994"/>
                  <a:pt x="0" y="814130"/>
                  <a:pt x="0" y="800728"/>
                </a:cubicBezTo>
                <a:close/>
                <a:moveTo>
                  <a:pt x="0" y="956021"/>
                </a:moveTo>
                <a:cubicBezTo>
                  <a:pt x="0" y="942619"/>
                  <a:pt x="10863" y="931756"/>
                  <a:pt x="24265" y="931756"/>
                </a:cubicBezTo>
                <a:cubicBezTo>
                  <a:pt x="37667" y="931756"/>
                  <a:pt x="48530" y="942619"/>
                  <a:pt x="48530" y="956021"/>
                </a:cubicBezTo>
                <a:cubicBezTo>
                  <a:pt x="48530" y="969423"/>
                  <a:pt x="37667" y="980286"/>
                  <a:pt x="24265" y="980286"/>
                </a:cubicBezTo>
                <a:cubicBezTo>
                  <a:pt x="10863" y="980286"/>
                  <a:pt x="0" y="969423"/>
                  <a:pt x="0" y="956021"/>
                </a:cubicBezTo>
                <a:close/>
              </a:path>
            </a:pathLst>
          </a:custGeom>
          <a:gradFill>
            <a:gsLst>
              <a:gs pos="100000">
                <a:schemeClr val="bg1"/>
              </a:gs>
              <a:gs pos="0">
                <a:srgbClr val="FCF0F4">
                  <a:alpha val="0"/>
                </a:srgb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solidFill>
                <a:schemeClr val="tx1">
                  <a:lumMod val="85000"/>
                  <a:lumOff val="15000"/>
                </a:schemeClr>
              </a:solidFill>
              <a:latin typeface="思源黑体 CN Medium" panose="020B0600000000000000" pitchFamily="34" charset="-122"/>
              <a:ea typeface="思源黑体 CN Medium" panose="020B0600000000000000" pitchFamily="34" charset="-122"/>
              <a:sym typeface="思源黑体 CN Medium" panose="020B0600000000000000" pitchFamily="34" charset="-122"/>
            </a:endParaRPr>
          </a:p>
        </p:txBody>
      </p:sp>
      <p:grpSp>
        <p:nvGrpSpPr>
          <p:cNvPr id="2" name="组合 1">
            <a:extLst>
              <a:ext uri="{FF2B5EF4-FFF2-40B4-BE49-F238E27FC236}">
                <a16:creationId xmlns:a16="http://schemas.microsoft.com/office/drawing/2014/main" id="{46D97259-5B01-174F-1A47-3541C1FF1967}"/>
              </a:ext>
            </a:extLst>
          </p:cNvPr>
          <p:cNvGrpSpPr/>
          <p:nvPr/>
        </p:nvGrpSpPr>
        <p:grpSpPr>
          <a:xfrm>
            <a:off x="4652086" y="991479"/>
            <a:ext cx="7016581" cy="3074088"/>
            <a:chOff x="434171" y="639431"/>
            <a:chExt cx="7016581" cy="3074088"/>
          </a:xfrm>
        </p:grpSpPr>
        <p:grpSp>
          <p:nvGrpSpPr>
            <p:cNvPr id="3" name="组合 2">
              <a:extLst>
                <a:ext uri="{FF2B5EF4-FFF2-40B4-BE49-F238E27FC236}">
                  <a16:creationId xmlns:a16="http://schemas.microsoft.com/office/drawing/2014/main" id="{B01BB779-EF71-28C7-4C21-00128AC82DEB}"/>
                </a:ext>
              </a:extLst>
            </p:cNvPr>
            <p:cNvGrpSpPr/>
            <p:nvPr/>
          </p:nvGrpSpPr>
          <p:grpSpPr>
            <a:xfrm>
              <a:off x="1006371" y="639431"/>
              <a:ext cx="6444381" cy="3074088"/>
              <a:chOff x="924182" y="639431"/>
              <a:chExt cx="6444381" cy="3074088"/>
            </a:xfrm>
          </p:grpSpPr>
          <p:grpSp>
            <p:nvGrpSpPr>
              <p:cNvPr id="31" name="组合 30">
                <a:extLst>
                  <a:ext uri="{FF2B5EF4-FFF2-40B4-BE49-F238E27FC236}">
                    <a16:creationId xmlns:a16="http://schemas.microsoft.com/office/drawing/2014/main" id="{AFC54360-84A1-842C-F333-F7832BF5AD31}"/>
                  </a:ext>
                </a:extLst>
              </p:cNvPr>
              <p:cNvGrpSpPr/>
              <p:nvPr/>
            </p:nvGrpSpPr>
            <p:grpSpPr>
              <a:xfrm>
                <a:off x="924182" y="639431"/>
                <a:ext cx="6444381" cy="3074088"/>
                <a:chOff x="910385" y="762069"/>
                <a:chExt cx="6221722" cy="2967876"/>
              </a:xfrm>
            </p:grpSpPr>
            <p:sp>
              <p:nvSpPr>
                <p:cNvPr id="32" name="文本框 31">
                  <a:extLst>
                    <a:ext uri="{FF2B5EF4-FFF2-40B4-BE49-F238E27FC236}">
                      <a16:creationId xmlns:a16="http://schemas.microsoft.com/office/drawing/2014/main" id="{2425D1D9-C4E7-F9FB-E426-4C777AA8AE1B}"/>
                    </a:ext>
                  </a:extLst>
                </p:cNvPr>
                <p:cNvSpPr txBox="1"/>
                <p:nvPr/>
              </p:nvSpPr>
              <p:spPr>
                <a:xfrm rot="21040592">
                  <a:off x="910385" y="1027042"/>
                  <a:ext cx="1658173" cy="2646878"/>
                </a:xfrm>
                <a:prstGeom prst="rect">
                  <a:avLst/>
                </a:prstGeom>
                <a:noFill/>
              </p:spPr>
              <p:txBody>
                <a:bodyPr wrap="square" rtlCol="0">
                  <a:spAutoFit/>
                </a:bodyPr>
                <a:lstStyle/>
                <a:p>
                  <a:pPr algn="ctr"/>
                  <a:r>
                    <a:rPr lang="zh-CN" altLang="en-US" sz="16900" spc="-300" dirty="0">
                      <a:solidFill>
                        <a:srgbClr val="04CADF"/>
                      </a:solidFill>
                      <a:latin typeface="猫啃网风雅宋" panose="02020700000000000000" pitchFamily="18" charset="-122"/>
                      <a:ea typeface="猫啃网风雅宋" panose="02020700000000000000" pitchFamily="18" charset="-122"/>
                      <a:sym typeface="思源黑体 CN Medium" panose="020B0600000000000000" pitchFamily="34" charset="-122"/>
                    </a:rPr>
                    <a:t>宠</a:t>
                  </a:r>
                </a:p>
              </p:txBody>
            </p:sp>
            <p:sp>
              <p:nvSpPr>
                <p:cNvPr id="33" name="文本框 32">
                  <a:extLst>
                    <a:ext uri="{FF2B5EF4-FFF2-40B4-BE49-F238E27FC236}">
                      <a16:creationId xmlns:a16="http://schemas.microsoft.com/office/drawing/2014/main" id="{BA30AEE2-3966-68D2-5B39-D492AAAEFC6D}"/>
                    </a:ext>
                  </a:extLst>
                </p:cNvPr>
                <p:cNvSpPr txBox="1"/>
                <p:nvPr/>
              </p:nvSpPr>
              <p:spPr>
                <a:xfrm rot="358734">
                  <a:off x="2315184" y="1652111"/>
                  <a:ext cx="1658173" cy="1812570"/>
                </a:xfrm>
                <a:prstGeom prst="rect">
                  <a:avLst/>
                </a:prstGeom>
                <a:noFill/>
              </p:spPr>
              <p:txBody>
                <a:bodyPr wrap="square" rtlCol="0">
                  <a:spAutoFit/>
                </a:bodyPr>
                <a:lstStyle/>
                <a:p>
                  <a:pPr algn="ctr"/>
                  <a:r>
                    <a:rPr lang="zh-CN" altLang="en-US" sz="11600" spc="-300" dirty="0">
                      <a:solidFill>
                        <a:srgbClr val="04CADF"/>
                      </a:solidFill>
                      <a:latin typeface="猫啃网风雅宋" panose="02020700000000000000" pitchFamily="18" charset="-122"/>
                      <a:ea typeface="猫啃网风雅宋" panose="02020700000000000000" pitchFamily="18" charset="-122"/>
                      <a:sym typeface="思源黑体 CN Medium" panose="020B0600000000000000" pitchFamily="34" charset="-122"/>
                    </a:rPr>
                    <a:t>物</a:t>
                  </a:r>
                </a:p>
              </p:txBody>
            </p:sp>
            <p:sp>
              <p:nvSpPr>
                <p:cNvPr id="35" name="文本框 34">
                  <a:extLst>
                    <a:ext uri="{FF2B5EF4-FFF2-40B4-BE49-F238E27FC236}">
                      <a16:creationId xmlns:a16="http://schemas.microsoft.com/office/drawing/2014/main" id="{351F4FA1-B5DF-575F-0A1D-7F759109278D}"/>
                    </a:ext>
                  </a:extLst>
                </p:cNvPr>
                <p:cNvSpPr txBox="1"/>
                <p:nvPr/>
              </p:nvSpPr>
              <p:spPr>
                <a:xfrm rot="20986670">
                  <a:off x="3792620" y="762069"/>
                  <a:ext cx="1658173" cy="2646878"/>
                </a:xfrm>
                <a:prstGeom prst="rect">
                  <a:avLst/>
                </a:prstGeom>
                <a:noFill/>
              </p:spPr>
              <p:txBody>
                <a:bodyPr wrap="square" rtlCol="0">
                  <a:spAutoFit/>
                </a:bodyPr>
                <a:lstStyle/>
                <a:p>
                  <a:pPr algn="ctr"/>
                  <a:r>
                    <a:rPr lang="zh-CN" altLang="en-US" sz="16900" spc="-300" dirty="0">
                      <a:solidFill>
                        <a:srgbClr val="04CADF"/>
                      </a:solidFill>
                      <a:latin typeface="猫啃网风雅宋" panose="02020700000000000000" pitchFamily="18" charset="-122"/>
                      <a:ea typeface="猫啃网风雅宋" panose="02020700000000000000" pitchFamily="18" charset="-122"/>
                      <a:sym typeface="思源黑体 CN Medium" panose="020B0600000000000000" pitchFamily="34" charset="-122"/>
                    </a:rPr>
                    <a:t>经</a:t>
                  </a:r>
                </a:p>
              </p:txBody>
            </p:sp>
            <p:sp>
              <p:nvSpPr>
                <p:cNvPr id="36" name="文本框 35">
                  <a:extLst>
                    <a:ext uri="{FF2B5EF4-FFF2-40B4-BE49-F238E27FC236}">
                      <a16:creationId xmlns:a16="http://schemas.microsoft.com/office/drawing/2014/main" id="{BF571F7E-9405-AFB1-70DA-89C4C205F5E4}"/>
                    </a:ext>
                  </a:extLst>
                </p:cNvPr>
                <p:cNvSpPr txBox="1"/>
                <p:nvPr/>
              </p:nvSpPr>
              <p:spPr>
                <a:xfrm rot="338312">
                  <a:off x="5473934" y="1513954"/>
                  <a:ext cx="1658173" cy="2215991"/>
                </a:xfrm>
                <a:prstGeom prst="rect">
                  <a:avLst/>
                </a:prstGeom>
                <a:noFill/>
              </p:spPr>
              <p:txBody>
                <a:bodyPr wrap="square" rtlCol="0">
                  <a:spAutoFit/>
                </a:bodyPr>
                <a:lstStyle/>
                <a:p>
                  <a:pPr algn="ctr"/>
                  <a:r>
                    <a:rPr lang="zh-CN" altLang="en-US" sz="14400" spc="-300" dirty="0">
                      <a:solidFill>
                        <a:srgbClr val="04CADF"/>
                      </a:solidFill>
                      <a:latin typeface="猫啃网风雅宋" panose="02020700000000000000" pitchFamily="18" charset="-122"/>
                      <a:ea typeface="猫啃网风雅宋" panose="02020700000000000000" pitchFamily="18" charset="-122"/>
                      <a:sym typeface="思源黑体 CN Medium" panose="020B0600000000000000" pitchFamily="34" charset="-122"/>
                    </a:rPr>
                    <a:t>济</a:t>
                  </a:r>
                </a:p>
              </p:txBody>
            </p:sp>
            <p:sp>
              <p:nvSpPr>
                <p:cNvPr id="40" name="文本框 39">
                  <a:extLst>
                    <a:ext uri="{FF2B5EF4-FFF2-40B4-BE49-F238E27FC236}">
                      <a16:creationId xmlns:a16="http://schemas.microsoft.com/office/drawing/2014/main" id="{D84F8FCC-6740-4BA7-514B-2F41B13F485F}"/>
                    </a:ext>
                  </a:extLst>
                </p:cNvPr>
                <p:cNvSpPr txBox="1"/>
                <p:nvPr/>
              </p:nvSpPr>
              <p:spPr>
                <a:xfrm>
                  <a:off x="2546465" y="1126812"/>
                  <a:ext cx="1156829" cy="505142"/>
                </a:xfrm>
                <a:prstGeom prst="rect">
                  <a:avLst/>
                </a:prstGeom>
                <a:noFill/>
              </p:spPr>
              <p:txBody>
                <a:bodyPr wrap="square">
                  <a:spAutoFit/>
                </a:bodyPr>
                <a:lstStyle/>
                <a:p>
                  <a:pPr algn="ctr"/>
                  <a:r>
                    <a:rPr lang="en-US" altLang="zh-CN" sz="1400" dirty="0">
                      <a:solidFill>
                        <a:schemeClr val="tx1">
                          <a:lumMod val="75000"/>
                          <a:lumOff val="25000"/>
                        </a:schemeClr>
                      </a:solidFill>
                      <a:latin typeface="猫啃网风雅宋" panose="02020700000000000000" pitchFamily="18" charset="-122"/>
                      <a:ea typeface="猫啃网风雅宋" panose="02020700000000000000" pitchFamily="18" charset="-122"/>
                      <a:sym typeface="思源黑体 CN Medium" panose="020B0600000000000000" pitchFamily="34" charset="-122"/>
                    </a:rPr>
                    <a:t>ABOUT PET ECONOMY</a:t>
                  </a:r>
                  <a:endParaRPr lang="zh-CN" altLang="en-US" sz="1400" dirty="0">
                    <a:solidFill>
                      <a:schemeClr val="tx1">
                        <a:lumMod val="75000"/>
                        <a:lumOff val="25000"/>
                      </a:schemeClr>
                    </a:solidFill>
                    <a:latin typeface="猫啃网风雅宋" panose="02020700000000000000" pitchFamily="18" charset="-122"/>
                    <a:ea typeface="猫啃网风雅宋" panose="02020700000000000000" pitchFamily="18" charset="-122"/>
                    <a:sym typeface="思源黑体 CN Medium" panose="020B0600000000000000" pitchFamily="34" charset="-122"/>
                  </a:endParaRPr>
                </a:p>
              </p:txBody>
            </p:sp>
          </p:grpSp>
          <p:sp>
            <p:nvSpPr>
              <p:cNvPr id="24" name="任意多边形: 形状 23">
                <a:extLst>
                  <a:ext uri="{FF2B5EF4-FFF2-40B4-BE49-F238E27FC236}">
                    <a16:creationId xmlns:a16="http://schemas.microsoft.com/office/drawing/2014/main" id="{CB61E6C5-9219-105E-0692-AF213B47ED10}"/>
                  </a:ext>
                </a:extLst>
              </p:cNvPr>
              <p:cNvSpPr/>
              <p:nvPr/>
            </p:nvSpPr>
            <p:spPr>
              <a:xfrm>
                <a:off x="960094" y="1697448"/>
                <a:ext cx="5649686" cy="1518769"/>
              </a:xfrm>
              <a:custGeom>
                <a:avLst/>
                <a:gdLst>
                  <a:gd name="connsiteX0" fmla="*/ 0 w 5734050"/>
                  <a:gd name="connsiteY0" fmla="*/ 306613 h 1505894"/>
                  <a:gd name="connsiteX1" fmla="*/ 628650 w 5734050"/>
                  <a:gd name="connsiteY1" fmla="*/ 78013 h 1505894"/>
                  <a:gd name="connsiteX2" fmla="*/ 2152650 w 5734050"/>
                  <a:gd name="connsiteY2" fmla="*/ 1487713 h 1505894"/>
                  <a:gd name="connsiteX3" fmla="*/ 3371850 w 5734050"/>
                  <a:gd name="connsiteY3" fmla="*/ 916213 h 1505894"/>
                  <a:gd name="connsiteX4" fmla="*/ 4933950 w 5734050"/>
                  <a:gd name="connsiteY4" fmla="*/ 230413 h 1505894"/>
                  <a:gd name="connsiteX5" fmla="*/ 5734050 w 5734050"/>
                  <a:gd name="connsiteY5" fmla="*/ 630463 h 1505894"/>
                  <a:gd name="connsiteX0" fmla="*/ 0 w 5734050"/>
                  <a:gd name="connsiteY0" fmla="*/ 306613 h 1488131"/>
                  <a:gd name="connsiteX1" fmla="*/ 628650 w 5734050"/>
                  <a:gd name="connsiteY1" fmla="*/ 78013 h 1488131"/>
                  <a:gd name="connsiteX2" fmla="*/ 2152650 w 5734050"/>
                  <a:gd name="connsiteY2" fmla="*/ 1487713 h 1488131"/>
                  <a:gd name="connsiteX3" fmla="*/ 4933950 w 5734050"/>
                  <a:gd name="connsiteY3" fmla="*/ 230413 h 1488131"/>
                  <a:gd name="connsiteX4" fmla="*/ 5734050 w 5734050"/>
                  <a:gd name="connsiteY4" fmla="*/ 630463 h 1488131"/>
                  <a:gd name="connsiteX0" fmla="*/ 0 w 5734050"/>
                  <a:gd name="connsiteY0" fmla="*/ 308686 h 1518769"/>
                  <a:gd name="connsiteX1" fmla="*/ 628650 w 5734050"/>
                  <a:gd name="connsiteY1" fmla="*/ 80086 h 1518769"/>
                  <a:gd name="connsiteX2" fmla="*/ 2219325 w 5734050"/>
                  <a:gd name="connsiteY2" fmla="*/ 1518361 h 1518769"/>
                  <a:gd name="connsiteX3" fmla="*/ 4933950 w 5734050"/>
                  <a:gd name="connsiteY3" fmla="*/ 232486 h 1518769"/>
                  <a:gd name="connsiteX4" fmla="*/ 5734050 w 5734050"/>
                  <a:gd name="connsiteY4" fmla="*/ 632536 h 1518769"/>
                  <a:gd name="connsiteX0" fmla="*/ 0 w 5617936"/>
                  <a:gd name="connsiteY0" fmla="*/ 308686 h 1518769"/>
                  <a:gd name="connsiteX1" fmla="*/ 628650 w 5617936"/>
                  <a:gd name="connsiteY1" fmla="*/ 80086 h 1518769"/>
                  <a:gd name="connsiteX2" fmla="*/ 2219325 w 5617936"/>
                  <a:gd name="connsiteY2" fmla="*/ 1518361 h 1518769"/>
                  <a:gd name="connsiteX3" fmla="*/ 4933950 w 5617936"/>
                  <a:gd name="connsiteY3" fmla="*/ 232486 h 1518769"/>
                  <a:gd name="connsiteX4" fmla="*/ 5617936 w 5617936"/>
                  <a:gd name="connsiteY4" fmla="*/ 501908 h 1518769"/>
                  <a:gd name="connsiteX0" fmla="*/ 0 w 5649686"/>
                  <a:gd name="connsiteY0" fmla="*/ 308686 h 1518769"/>
                  <a:gd name="connsiteX1" fmla="*/ 628650 w 5649686"/>
                  <a:gd name="connsiteY1" fmla="*/ 80086 h 1518769"/>
                  <a:gd name="connsiteX2" fmla="*/ 2219325 w 5649686"/>
                  <a:gd name="connsiteY2" fmla="*/ 1518361 h 1518769"/>
                  <a:gd name="connsiteX3" fmla="*/ 4933950 w 5649686"/>
                  <a:gd name="connsiteY3" fmla="*/ 232486 h 1518769"/>
                  <a:gd name="connsiteX4" fmla="*/ 5649686 w 5649686"/>
                  <a:gd name="connsiteY4" fmla="*/ 489208 h 15187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9686" h="1518769">
                    <a:moveTo>
                      <a:pt x="0" y="308686"/>
                    </a:moveTo>
                    <a:cubicBezTo>
                      <a:pt x="134937" y="95961"/>
                      <a:pt x="258763" y="-121526"/>
                      <a:pt x="628650" y="80086"/>
                    </a:cubicBezTo>
                    <a:cubicBezTo>
                      <a:pt x="998537" y="281698"/>
                      <a:pt x="1501775" y="1492961"/>
                      <a:pt x="2219325" y="1518361"/>
                    </a:cubicBezTo>
                    <a:cubicBezTo>
                      <a:pt x="2936875" y="1543761"/>
                      <a:pt x="4337050" y="375361"/>
                      <a:pt x="4933950" y="232486"/>
                    </a:cubicBezTo>
                    <a:cubicBezTo>
                      <a:pt x="5327650" y="184861"/>
                      <a:pt x="5446486" y="265370"/>
                      <a:pt x="5649686" y="489208"/>
                    </a:cubicBezTo>
                  </a:path>
                </a:pathLst>
              </a:custGeom>
              <a:noFill/>
              <a:ln w="38100">
                <a:solidFill>
                  <a:srgbClr val="FFFA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猫啃网风雅宋" panose="02020700000000000000" pitchFamily="18" charset="-122"/>
                  <a:ea typeface="猫啃网风雅宋" panose="02020700000000000000" pitchFamily="18" charset="-122"/>
                  <a:sym typeface="思源黑体 CN Medium" panose="020B0600000000000000" pitchFamily="34" charset="-122"/>
                </a:endParaRPr>
              </a:p>
            </p:txBody>
          </p:sp>
        </p:grpSp>
        <p:pic>
          <p:nvPicPr>
            <p:cNvPr id="4" name="图片 3">
              <a:extLst>
                <a:ext uri="{FF2B5EF4-FFF2-40B4-BE49-F238E27FC236}">
                  <a16:creationId xmlns:a16="http://schemas.microsoft.com/office/drawing/2014/main" id="{D17D5316-932F-1685-77DE-8D49ADD7C0D2}"/>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a:off x="5408126" y="732782"/>
              <a:ext cx="1304762" cy="1123810"/>
            </a:xfrm>
            <a:prstGeom prst="rect">
              <a:avLst/>
            </a:prstGeom>
          </p:spPr>
        </p:pic>
        <p:pic>
          <p:nvPicPr>
            <p:cNvPr id="5" name="图片 4">
              <a:extLst>
                <a:ext uri="{FF2B5EF4-FFF2-40B4-BE49-F238E27FC236}">
                  <a16:creationId xmlns:a16="http://schemas.microsoft.com/office/drawing/2014/main" id="{D2FC1BF6-8E52-E61A-7263-A2D637F88F01}"/>
                </a:ext>
              </a:extLst>
            </p:cNvPr>
            <p:cNvPicPr>
              <a:picLocks noChangeAspect="1"/>
            </p:cNvPicPr>
            <p:nvPr/>
          </p:nvPicPr>
          <p:blipFill>
            <a:blip r:embed="rId10">
              <a:extLst>
                <a:ext uri="{28A0092B-C50C-407E-A947-70E740481C1C}">
                  <a14:useLocalDpi xmlns:a14="http://schemas.microsoft.com/office/drawing/2010/main"/>
                </a:ext>
              </a:extLst>
            </a:blip>
            <a:stretch>
              <a:fillRect/>
            </a:stretch>
          </p:blipFill>
          <p:spPr>
            <a:xfrm rot="5249748" flipV="1">
              <a:off x="343695" y="2457473"/>
              <a:ext cx="1304762" cy="1123810"/>
            </a:xfrm>
            <a:prstGeom prst="rect">
              <a:avLst/>
            </a:prstGeom>
          </p:spPr>
        </p:pic>
      </p:grpSp>
      <p:sp>
        <p:nvSpPr>
          <p:cNvPr id="43" name="文本框 42">
            <a:extLst>
              <a:ext uri="{FF2B5EF4-FFF2-40B4-BE49-F238E27FC236}">
                <a16:creationId xmlns:a16="http://schemas.microsoft.com/office/drawing/2014/main" id="{7B898033-E51E-5D62-EEAC-CAF4F9CA3D90}"/>
              </a:ext>
            </a:extLst>
          </p:cNvPr>
          <p:cNvSpPr txBox="1"/>
          <p:nvPr/>
        </p:nvSpPr>
        <p:spPr>
          <a:xfrm>
            <a:off x="5148460" y="4788859"/>
            <a:ext cx="5661449" cy="850297"/>
          </a:xfrm>
          <a:prstGeom prst="rect">
            <a:avLst/>
          </a:prstGeom>
          <a:noFill/>
        </p:spPr>
        <p:txBody>
          <a:bodyPr wrap="square" rtlCol="0">
            <a:spAutoFit/>
          </a:bodyPr>
          <a:lstStyle/>
          <a:p>
            <a:pPr algn="ctr">
              <a:lnSpc>
                <a:spcPct val="120000"/>
              </a:lnSpc>
              <a:spcBef>
                <a:spcPts val="50"/>
              </a:spcBef>
            </a:pPr>
            <a:r>
              <a:rPr lang="zh-CN" altLang="en-US" sz="14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Pellentesque habitant morbi tristique senectus et netus et malesuada fames ac turpis egestas. Proin pharetra nonummy pede. Mauris et orci.</a:t>
            </a:r>
            <a:endParaRPr lang="zh-CN" altLang="en-US" sz="14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44" name="组合 43">
            <a:extLst>
              <a:ext uri="{FF2B5EF4-FFF2-40B4-BE49-F238E27FC236}">
                <a16:creationId xmlns:a16="http://schemas.microsoft.com/office/drawing/2014/main" id="{95E9BFA2-3677-4A1E-5765-8C707B1AE060}"/>
              </a:ext>
            </a:extLst>
          </p:cNvPr>
          <p:cNvGrpSpPr/>
          <p:nvPr/>
        </p:nvGrpSpPr>
        <p:grpSpPr>
          <a:xfrm>
            <a:off x="5100415" y="3982519"/>
            <a:ext cx="5757538" cy="626098"/>
            <a:chOff x="912075" y="3510886"/>
            <a:chExt cx="5532218" cy="626098"/>
          </a:xfrm>
        </p:grpSpPr>
        <p:sp>
          <p:nvSpPr>
            <p:cNvPr id="45" name="文本框 44">
              <a:extLst>
                <a:ext uri="{FF2B5EF4-FFF2-40B4-BE49-F238E27FC236}">
                  <a16:creationId xmlns:a16="http://schemas.microsoft.com/office/drawing/2014/main" id="{C9096782-B210-76AA-9855-02BFF8E024BC}"/>
                </a:ext>
              </a:extLst>
            </p:cNvPr>
            <p:cNvSpPr txBox="1"/>
            <p:nvPr/>
          </p:nvSpPr>
          <p:spPr>
            <a:xfrm>
              <a:off x="912075" y="3562677"/>
              <a:ext cx="5532218" cy="553998"/>
            </a:xfrm>
            <a:prstGeom prst="rect">
              <a:avLst/>
            </a:prstGeom>
            <a:noFill/>
          </p:spPr>
          <p:txBody>
            <a:bodyPr wrap="square">
              <a:spAutoFit/>
            </a:bodyPr>
            <a:lstStyle/>
            <a:p>
              <a:pPr algn="dist"/>
              <a:r>
                <a:rPr lang="zh-CN" altLang="en-US" sz="3000">
                  <a:solidFill>
                    <a:schemeClr val="tx1">
                      <a:lumMod val="85000"/>
                      <a:lumOff val="15000"/>
                    </a:schemeClr>
                  </a:solidFill>
                  <a:latin typeface="思源宋体 Heavy" panose="02020900000000000000" pitchFamily="18" charset="-122"/>
                  <a:ea typeface="思源宋体 Heavy" panose="02020900000000000000" pitchFamily="18" charset="-122"/>
                  <a:cs typeface="+mn-ea"/>
                  <a:sym typeface="思源黑体 CN Medium" panose="020B0600000000000000" pitchFamily="34" charset="-122"/>
                </a:rPr>
                <a:t>演示完毕感谢您的观看</a:t>
              </a:r>
              <a:endParaRPr lang="zh-CN" altLang="en-US" sz="3000">
                <a:solidFill>
                  <a:schemeClr val="tx1">
                    <a:lumMod val="85000"/>
                    <a:lumOff val="15000"/>
                  </a:schemeClr>
                </a:solidFill>
                <a:latin typeface="思源宋体 Heavy" panose="02020900000000000000" pitchFamily="18" charset="-122"/>
                <a:ea typeface="思源宋体 Heavy" panose="02020900000000000000" pitchFamily="18" charset="-122"/>
                <a:sym typeface="思源黑体 CN Medium" panose="020B0600000000000000" pitchFamily="34" charset="-122"/>
              </a:endParaRPr>
            </a:p>
          </p:txBody>
        </p:sp>
        <p:grpSp>
          <p:nvGrpSpPr>
            <p:cNvPr id="57" name="组合 56">
              <a:extLst>
                <a:ext uri="{FF2B5EF4-FFF2-40B4-BE49-F238E27FC236}">
                  <a16:creationId xmlns:a16="http://schemas.microsoft.com/office/drawing/2014/main" id="{857472BA-50A4-9F8F-F661-03F0D78818D8}"/>
                </a:ext>
              </a:extLst>
            </p:cNvPr>
            <p:cNvGrpSpPr/>
            <p:nvPr/>
          </p:nvGrpSpPr>
          <p:grpSpPr>
            <a:xfrm>
              <a:off x="1189898" y="3510886"/>
              <a:ext cx="5236840" cy="626098"/>
              <a:chOff x="1042861" y="3429000"/>
              <a:chExt cx="5236840" cy="713094"/>
            </a:xfrm>
          </p:grpSpPr>
          <p:cxnSp>
            <p:nvCxnSpPr>
              <p:cNvPr id="59" name="直接连接符 58">
                <a:extLst>
                  <a:ext uri="{FF2B5EF4-FFF2-40B4-BE49-F238E27FC236}">
                    <a16:creationId xmlns:a16="http://schemas.microsoft.com/office/drawing/2014/main" id="{94CB9CA3-3DE5-BA4F-8BEA-8A8B3EF8CF49}"/>
                  </a:ext>
                </a:extLst>
              </p:cNvPr>
              <p:cNvCxnSpPr>
                <a:cxnSpLocks/>
              </p:cNvCxnSpPr>
              <p:nvPr/>
            </p:nvCxnSpPr>
            <p:spPr>
              <a:xfrm>
                <a:off x="1042861" y="3429000"/>
                <a:ext cx="5236840" cy="0"/>
              </a:xfrm>
              <a:prstGeom prst="line">
                <a:avLst/>
              </a:prstGeom>
              <a:ln>
                <a:solidFill>
                  <a:srgbClr val="04CADF"/>
                </a:solidFill>
              </a:ln>
            </p:spPr>
            <p:style>
              <a:lnRef idx="1">
                <a:schemeClr val="accent1"/>
              </a:lnRef>
              <a:fillRef idx="0">
                <a:schemeClr val="accent1"/>
              </a:fillRef>
              <a:effectRef idx="0">
                <a:schemeClr val="accent1"/>
              </a:effectRef>
              <a:fontRef idx="minor">
                <a:schemeClr val="tx1"/>
              </a:fontRef>
            </p:style>
          </p:cxnSp>
          <p:cxnSp>
            <p:nvCxnSpPr>
              <p:cNvPr id="60" name="直接连接符 59">
                <a:extLst>
                  <a:ext uri="{FF2B5EF4-FFF2-40B4-BE49-F238E27FC236}">
                    <a16:creationId xmlns:a16="http://schemas.microsoft.com/office/drawing/2014/main" id="{C69B0ABD-751E-8C29-61CE-2CFB247F2F5A}"/>
                  </a:ext>
                </a:extLst>
              </p:cNvPr>
              <p:cNvCxnSpPr>
                <a:cxnSpLocks/>
              </p:cNvCxnSpPr>
              <p:nvPr/>
            </p:nvCxnSpPr>
            <p:spPr>
              <a:xfrm>
                <a:off x="1042861" y="4142094"/>
                <a:ext cx="5236840" cy="0"/>
              </a:xfrm>
              <a:prstGeom prst="line">
                <a:avLst/>
              </a:prstGeom>
              <a:ln>
                <a:solidFill>
                  <a:srgbClr val="04CADF"/>
                </a:solidFill>
              </a:ln>
            </p:spPr>
            <p:style>
              <a:lnRef idx="1">
                <a:schemeClr val="accent1"/>
              </a:lnRef>
              <a:fillRef idx="0">
                <a:schemeClr val="accent1"/>
              </a:fillRef>
              <a:effectRef idx="0">
                <a:schemeClr val="accent1"/>
              </a:effectRef>
              <a:fontRef idx="minor">
                <a:schemeClr val="tx1"/>
              </a:fontRef>
            </p:style>
          </p:cxnSp>
        </p:grpSp>
      </p:grpSp>
      <p:grpSp>
        <p:nvGrpSpPr>
          <p:cNvPr id="61" name="组合 60">
            <a:extLst>
              <a:ext uri="{FF2B5EF4-FFF2-40B4-BE49-F238E27FC236}">
                <a16:creationId xmlns:a16="http://schemas.microsoft.com/office/drawing/2014/main" id="{A0379D3D-373E-7253-88F0-B7595A15A349}"/>
              </a:ext>
            </a:extLst>
          </p:cNvPr>
          <p:cNvGrpSpPr/>
          <p:nvPr/>
        </p:nvGrpSpPr>
        <p:grpSpPr>
          <a:xfrm>
            <a:off x="6158800" y="5911908"/>
            <a:ext cx="3640768" cy="338554"/>
            <a:chOff x="3788325" y="4481472"/>
            <a:chExt cx="3957989" cy="368052"/>
          </a:xfrm>
          <a:effectLst/>
        </p:grpSpPr>
        <p:grpSp>
          <p:nvGrpSpPr>
            <p:cNvPr id="62" name="组合 61">
              <a:extLst>
                <a:ext uri="{FF2B5EF4-FFF2-40B4-BE49-F238E27FC236}">
                  <a16:creationId xmlns:a16="http://schemas.microsoft.com/office/drawing/2014/main" id="{E81C091A-D8FA-B16F-F953-77DFC9CD96D5}"/>
                </a:ext>
              </a:extLst>
            </p:cNvPr>
            <p:cNvGrpSpPr/>
            <p:nvPr/>
          </p:nvGrpSpPr>
          <p:grpSpPr>
            <a:xfrm>
              <a:off x="3788325" y="4481472"/>
              <a:ext cx="2068871" cy="368052"/>
              <a:chOff x="3788325" y="4481472"/>
              <a:chExt cx="2068871" cy="368052"/>
            </a:xfrm>
          </p:grpSpPr>
          <p:sp>
            <p:nvSpPr>
              <p:cNvPr id="69" name="圆形 10">
                <a:extLst>
                  <a:ext uri="{FF2B5EF4-FFF2-40B4-BE49-F238E27FC236}">
                    <a16:creationId xmlns:a16="http://schemas.microsoft.com/office/drawing/2014/main" id="{2D95FC4A-4E2C-EE78-4272-CF099BA6FF18}"/>
                  </a:ext>
                </a:extLst>
              </p:cNvPr>
              <p:cNvSpPr>
                <a:spLocks noChangeArrowheads="1"/>
              </p:cNvSpPr>
              <p:nvPr>
                <p:custDataLst>
                  <p:tags r:id="rId6"/>
                </p:custDataLst>
              </p:nvPr>
            </p:nvSpPr>
            <p:spPr bwMode="auto">
              <a:xfrm>
                <a:off x="3788325" y="4485770"/>
                <a:ext cx="358149" cy="358149"/>
              </a:xfrm>
              <a:prstGeom prst="ellipse">
                <a:avLst/>
              </a:prstGeom>
              <a:solidFill>
                <a:srgbClr val="04CADF"/>
              </a:solidFill>
              <a:ln w="19050">
                <a:solidFill>
                  <a:schemeClr val="bg1"/>
                </a:solidFill>
                <a:round/>
              </a:ln>
              <a:effectLst>
                <a:outerShdw blurRad="25400" dist="25400" dir="5400000" algn="t" rotWithShape="0">
                  <a:srgbClr val="04CADF">
                    <a:alpha val="20000"/>
                  </a:srgbClr>
                </a:outerShdw>
              </a:effectLst>
            </p:spPr>
            <p:txBody>
              <a:bodyPr wrap="none" anchor="ctr"/>
              <a:lstStyle/>
              <a:p>
                <a:pPr marL="0" marR="0" lvl="0" indent="0" algn="ctr" defTabSz="914400" rtl="0" eaLnBrk="1" fontAlgn="base" latinLnBrk="0" hangingPunct="1">
                  <a:spcBef>
                    <a:spcPct val="50000"/>
                  </a:spcBef>
                  <a:spcAft>
                    <a:spcPct val="0"/>
                  </a:spcAft>
                  <a:buClrTx/>
                  <a:buSzTx/>
                  <a:buFontTx/>
                  <a:buNone/>
                  <a:defRPr/>
                </a:pPr>
                <a:endParaRPr kumimoji="0" lang="zh-CN" altLang="en-US" sz="1600" i="0" u="none" strike="noStrike" kern="1200" cap="none" spc="0" normalizeH="0" baseline="0" noProof="0">
                  <a:ln>
                    <a:noFill/>
                  </a:ln>
                  <a:solidFill>
                    <a:schemeClr val="tx1">
                      <a:lumMod val="85000"/>
                      <a:lumOff val="15000"/>
                    </a:schemeClr>
                  </a:solidFill>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0" name="图形 03">
                <a:extLst>
                  <a:ext uri="{FF2B5EF4-FFF2-40B4-BE49-F238E27FC236}">
                    <a16:creationId xmlns:a16="http://schemas.microsoft.com/office/drawing/2014/main" id="{AB9C900E-3D6C-F153-7249-62C308F2D768}"/>
                  </a:ext>
                </a:extLst>
              </p:cNvPr>
              <p:cNvSpPr/>
              <p:nvPr>
                <p:custDataLst>
                  <p:tags r:id="rId7"/>
                </p:custDataLst>
              </p:nvPr>
            </p:nvSpPr>
            <p:spPr>
              <a:xfrm>
                <a:off x="3874377" y="4559444"/>
                <a:ext cx="186043" cy="186659"/>
              </a:xfrm>
              <a:custGeom>
                <a:avLst/>
                <a:gdLst/>
                <a:ahLst/>
                <a:cxnLst>
                  <a:cxn ang="0">
                    <a:pos x="wd2" y="hd2"/>
                  </a:cxn>
                  <a:cxn ang="5400000">
                    <a:pos x="wd2" y="hd2"/>
                  </a:cxn>
                  <a:cxn ang="10800000">
                    <a:pos x="wd2" y="hd2"/>
                  </a:cxn>
                  <a:cxn ang="16200000">
                    <a:pos x="wd2" y="hd2"/>
                  </a:cxn>
                </a:cxnLst>
                <a:rect l="0" t="0" r="r" b="b"/>
                <a:pathLst>
                  <a:path w="21600" h="21600" extrusionOk="0">
                    <a:moveTo>
                      <a:pt x="1856" y="16369"/>
                    </a:moveTo>
                    <a:cubicBezTo>
                      <a:pt x="844" y="16706"/>
                      <a:pt x="0" y="17887"/>
                      <a:pt x="0" y="19069"/>
                    </a:cubicBezTo>
                    <a:cubicBezTo>
                      <a:pt x="0" y="21600"/>
                      <a:pt x="0" y="21600"/>
                      <a:pt x="0" y="21600"/>
                    </a:cubicBezTo>
                    <a:cubicBezTo>
                      <a:pt x="21600" y="21600"/>
                      <a:pt x="21600" y="21600"/>
                      <a:pt x="21600" y="21600"/>
                    </a:cubicBezTo>
                    <a:cubicBezTo>
                      <a:pt x="21600" y="19069"/>
                      <a:pt x="21600" y="19069"/>
                      <a:pt x="21600" y="19069"/>
                    </a:cubicBezTo>
                    <a:cubicBezTo>
                      <a:pt x="21600" y="17887"/>
                      <a:pt x="20756" y="16706"/>
                      <a:pt x="19744" y="16369"/>
                    </a:cubicBezTo>
                    <a:cubicBezTo>
                      <a:pt x="19575" y="16369"/>
                      <a:pt x="19575" y="16369"/>
                      <a:pt x="19575" y="16369"/>
                    </a:cubicBezTo>
                    <a:cubicBezTo>
                      <a:pt x="18394" y="16031"/>
                      <a:pt x="17381" y="15694"/>
                      <a:pt x="16875" y="15525"/>
                    </a:cubicBezTo>
                    <a:cubicBezTo>
                      <a:pt x="14850" y="14681"/>
                      <a:pt x="14344" y="14175"/>
                      <a:pt x="14344" y="13837"/>
                    </a:cubicBezTo>
                    <a:cubicBezTo>
                      <a:pt x="14006" y="13500"/>
                      <a:pt x="14175" y="12994"/>
                      <a:pt x="14513" y="12319"/>
                    </a:cubicBezTo>
                    <a:cubicBezTo>
                      <a:pt x="14681" y="12150"/>
                      <a:pt x="14850" y="11812"/>
                      <a:pt x="15019" y="11644"/>
                    </a:cubicBezTo>
                    <a:cubicBezTo>
                      <a:pt x="15019" y="11475"/>
                      <a:pt x="15019" y="11475"/>
                      <a:pt x="15019" y="11475"/>
                    </a:cubicBezTo>
                    <a:cubicBezTo>
                      <a:pt x="15525" y="10800"/>
                      <a:pt x="15863" y="10125"/>
                      <a:pt x="16031" y="9281"/>
                    </a:cubicBezTo>
                    <a:cubicBezTo>
                      <a:pt x="16369" y="8269"/>
                      <a:pt x="16538" y="7256"/>
                      <a:pt x="16538" y="6244"/>
                    </a:cubicBezTo>
                    <a:cubicBezTo>
                      <a:pt x="16538" y="5400"/>
                      <a:pt x="16369" y="4556"/>
                      <a:pt x="16200" y="3713"/>
                    </a:cubicBezTo>
                    <a:cubicBezTo>
                      <a:pt x="15863" y="3038"/>
                      <a:pt x="15356" y="2363"/>
                      <a:pt x="14850" y="1688"/>
                    </a:cubicBezTo>
                    <a:cubicBezTo>
                      <a:pt x="13669" y="675"/>
                      <a:pt x="12319" y="0"/>
                      <a:pt x="10800" y="0"/>
                    </a:cubicBezTo>
                    <a:cubicBezTo>
                      <a:pt x="9281" y="0"/>
                      <a:pt x="7931" y="675"/>
                      <a:pt x="6750" y="1688"/>
                    </a:cubicBezTo>
                    <a:cubicBezTo>
                      <a:pt x="6244" y="2363"/>
                      <a:pt x="5737" y="3038"/>
                      <a:pt x="5400" y="3713"/>
                    </a:cubicBezTo>
                    <a:cubicBezTo>
                      <a:pt x="5231" y="4556"/>
                      <a:pt x="5062" y="5400"/>
                      <a:pt x="5062" y="6244"/>
                    </a:cubicBezTo>
                    <a:cubicBezTo>
                      <a:pt x="5062" y="7256"/>
                      <a:pt x="5231" y="8269"/>
                      <a:pt x="5569" y="9281"/>
                    </a:cubicBezTo>
                    <a:cubicBezTo>
                      <a:pt x="5737" y="10125"/>
                      <a:pt x="6075" y="10800"/>
                      <a:pt x="6581" y="11475"/>
                    </a:cubicBezTo>
                    <a:cubicBezTo>
                      <a:pt x="6581" y="11644"/>
                      <a:pt x="6581" y="11644"/>
                      <a:pt x="6581" y="11644"/>
                    </a:cubicBezTo>
                    <a:cubicBezTo>
                      <a:pt x="6750" y="11812"/>
                      <a:pt x="6919" y="12150"/>
                      <a:pt x="7087" y="12319"/>
                    </a:cubicBezTo>
                    <a:cubicBezTo>
                      <a:pt x="7425" y="12994"/>
                      <a:pt x="7594" y="13500"/>
                      <a:pt x="7256" y="13837"/>
                    </a:cubicBezTo>
                    <a:cubicBezTo>
                      <a:pt x="7256" y="14175"/>
                      <a:pt x="6750" y="14681"/>
                      <a:pt x="4725" y="15525"/>
                    </a:cubicBezTo>
                    <a:cubicBezTo>
                      <a:pt x="4219" y="15694"/>
                      <a:pt x="3206" y="16031"/>
                      <a:pt x="2025" y="16369"/>
                    </a:cubicBezTo>
                    <a:lnTo>
                      <a:pt x="1856" y="16369"/>
                    </a:lnTo>
                    <a:close/>
                    <a:moveTo>
                      <a:pt x="5062" y="16200"/>
                    </a:moveTo>
                    <a:cubicBezTo>
                      <a:pt x="5737" y="15862"/>
                      <a:pt x="6244" y="15694"/>
                      <a:pt x="6750" y="15356"/>
                    </a:cubicBezTo>
                    <a:cubicBezTo>
                      <a:pt x="7425" y="15019"/>
                      <a:pt x="7762" y="14681"/>
                      <a:pt x="8100" y="14344"/>
                    </a:cubicBezTo>
                    <a:cubicBezTo>
                      <a:pt x="8269" y="13669"/>
                      <a:pt x="8269" y="12825"/>
                      <a:pt x="7762" y="11812"/>
                    </a:cubicBezTo>
                    <a:cubicBezTo>
                      <a:pt x="7594" y="11644"/>
                      <a:pt x="7425" y="11475"/>
                      <a:pt x="7256" y="11306"/>
                    </a:cubicBezTo>
                    <a:cubicBezTo>
                      <a:pt x="7256" y="11306"/>
                      <a:pt x="7256" y="11306"/>
                      <a:pt x="7256" y="11306"/>
                    </a:cubicBezTo>
                    <a:cubicBezTo>
                      <a:pt x="6412" y="9787"/>
                      <a:pt x="5906" y="8100"/>
                      <a:pt x="5737" y="6244"/>
                    </a:cubicBezTo>
                    <a:cubicBezTo>
                      <a:pt x="5737" y="5400"/>
                      <a:pt x="5906" y="4725"/>
                      <a:pt x="6244" y="4050"/>
                    </a:cubicBezTo>
                    <a:cubicBezTo>
                      <a:pt x="6412" y="3375"/>
                      <a:pt x="6750" y="2869"/>
                      <a:pt x="7256" y="2363"/>
                    </a:cubicBezTo>
                    <a:cubicBezTo>
                      <a:pt x="8269" y="1350"/>
                      <a:pt x="9450" y="844"/>
                      <a:pt x="10800" y="844"/>
                    </a:cubicBezTo>
                    <a:cubicBezTo>
                      <a:pt x="10800" y="844"/>
                      <a:pt x="10800" y="844"/>
                      <a:pt x="10800" y="844"/>
                    </a:cubicBezTo>
                    <a:cubicBezTo>
                      <a:pt x="12150" y="844"/>
                      <a:pt x="13331" y="1350"/>
                      <a:pt x="14344" y="2363"/>
                    </a:cubicBezTo>
                    <a:cubicBezTo>
                      <a:pt x="14850" y="2869"/>
                      <a:pt x="15188" y="3375"/>
                      <a:pt x="15356" y="4050"/>
                    </a:cubicBezTo>
                    <a:cubicBezTo>
                      <a:pt x="15694" y="4725"/>
                      <a:pt x="15863" y="5400"/>
                      <a:pt x="15863" y="6244"/>
                    </a:cubicBezTo>
                    <a:cubicBezTo>
                      <a:pt x="15694" y="8100"/>
                      <a:pt x="15188" y="9787"/>
                      <a:pt x="14344" y="11306"/>
                    </a:cubicBezTo>
                    <a:cubicBezTo>
                      <a:pt x="14344" y="11306"/>
                      <a:pt x="14344" y="11306"/>
                      <a:pt x="14344" y="11306"/>
                    </a:cubicBezTo>
                    <a:cubicBezTo>
                      <a:pt x="14175" y="11475"/>
                      <a:pt x="14006" y="11644"/>
                      <a:pt x="14006" y="11812"/>
                    </a:cubicBezTo>
                    <a:cubicBezTo>
                      <a:pt x="13331" y="12825"/>
                      <a:pt x="13331" y="13669"/>
                      <a:pt x="13500" y="14344"/>
                    </a:cubicBezTo>
                    <a:cubicBezTo>
                      <a:pt x="13838" y="14681"/>
                      <a:pt x="14175" y="15019"/>
                      <a:pt x="14850" y="15356"/>
                    </a:cubicBezTo>
                    <a:cubicBezTo>
                      <a:pt x="15356" y="15694"/>
                      <a:pt x="15863" y="15862"/>
                      <a:pt x="16538" y="16200"/>
                    </a:cubicBezTo>
                    <a:cubicBezTo>
                      <a:pt x="17213" y="16369"/>
                      <a:pt x="18056" y="16706"/>
                      <a:pt x="19406" y="17044"/>
                    </a:cubicBezTo>
                    <a:cubicBezTo>
                      <a:pt x="20250" y="17381"/>
                      <a:pt x="20756" y="18225"/>
                      <a:pt x="20756" y="19069"/>
                    </a:cubicBezTo>
                    <a:cubicBezTo>
                      <a:pt x="20756" y="20756"/>
                      <a:pt x="20756" y="20756"/>
                      <a:pt x="20756" y="20756"/>
                    </a:cubicBezTo>
                    <a:cubicBezTo>
                      <a:pt x="844" y="20756"/>
                      <a:pt x="844" y="20756"/>
                      <a:pt x="844" y="20756"/>
                    </a:cubicBezTo>
                    <a:cubicBezTo>
                      <a:pt x="844" y="19069"/>
                      <a:pt x="844" y="19069"/>
                      <a:pt x="844" y="19069"/>
                    </a:cubicBezTo>
                    <a:cubicBezTo>
                      <a:pt x="844" y="18225"/>
                      <a:pt x="1350" y="17381"/>
                      <a:pt x="2194" y="17044"/>
                    </a:cubicBezTo>
                    <a:cubicBezTo>
                      <a:pt x="3544" y="16706"/>
                      <a:pt x="4387" y="16369"/>
                      <a:pt x="5062" y="16200"/>
                    </a:cubicBezTo>
                    <a:close/>
                  </a:path>
                </a:pathLst>
              </a:custGeom>
              <a:solidFill>
                <a:srgbClr val="FFFFFF"/>
              </a:solidFill>
              <a:ln w="6350" cap="flat">
                <a:solidFill>
                  <a:schemeClr val="bg1"/>
                </a:solidFill>
                <a:miter lim="400000"/>
              </a:ln>
              <a:effectLst/>
            </p:spPr>
            <p:txBody>
              <a:bodyPr wrap="square" lIns="91439" tIns="91439" rIns="91439" bIns="91439" numCol="1" anchor="t">
                <a:noAutofit/>
              </a:bodyPr>
              <a:lstStyle/>
              <a:p>
                <a:pPr>
                  <a:spcBef>
                    <a:spcPts val="50"/>
                  </a:spcBef>
                </a:pPr>
                <a:endParaRPr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71" name="矩形 70">
                <a:extLst>
                  <a:ext uri="{FF2B5EF4-FFF2-40B4-BE49-F238E27FC236}">
                    <a16:creationId xmlns:a16="http://schemas.microsoft.com/office/drawing/2014/main" id="{50C7C273-AC53-6FAC-A23D-CCEB5279D967}"/>
                  </a:ext>
                </a:extLst>
              </p:cNvPr>
              <p:cNvSpPr/>
              <p:nvPr>
                <p:custDataLst>
                  <p:tags r:id="rId8"/>
                </p:custDataLst>
              </p:nvPr>
            </p:nvSpPr>
            <p:spPr>
              <a:xfrm>
                <a:off x="4121284" y="4481472"/>
                <a:ext cx="1735912" cy="368052"/>
              </a:xfrm>
              <a:prstGeom prst="rect">
                <a:avLst/>
              </a:prstGeom>
            </p:spPr>
            <p:txBody>
              <a:bodyPr wrap="none">
                <a:spAutoFit/>
              </a:bodyPr>
              <a:lstStyle/>
              <a:p>
                <a:pPr lvl="0">
                  <a:spcBef>
                    <a:spcPts val="50"/>
                  </a:spcBef>
                  <a:defRPr/>
                </a:pPr>
                <a:r>
                  <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演讲：第一</a:t>
                </a:r>
                <a:r>
                  <a:rPr lang="en-US" altLang="zh-CN"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PPT</a:t>
                </a:r>
                <a:endPar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nvGrpSpPr>
            <p:cNvPr id="63" name="组合 62">
              <a:extLst>
                <a:ext uri="{FF2B5EF4-FFF2-40B4-BE49-F238E27FC236}">
                  <a16:creationId xmlns:a16="http://schemas.microsoft.com/office/drawing/2014/main" id="{D3B69F59-DEAD-94BC-DD4F-7F7D487297A4}"/>
                </a:ext>
              </a:extLst>
            </p:cNvPr>
            <p:cNvGrpSpPr/>
            <p:nvPr/>
          </p:nvGrpSpPr>
          <p:grpSpPr>
            <a:xfrm>
              <a:off x="5764545" y="4481472"/>
              <a:ext cx="1981769" cy="368052"/>
              <a:chOff x="5764545" y="4481472"/>
              <a:chExt cx="1981769" cy="368052"/>
            </a:xfrm>
          </p:grpSpPr>
          <p:sp>
            <p:nvSpPr>
              <p:cNvPr id="64" name="圆形10">
                <a:extLst>
                  <a:ext uri="{FF2B5EF4-FFF2-40B4-BE49-F238E27FC236}">
                    <a16:creationId xmlns:a16="http://schemas.microsoft.com/office/drawing/2014/main" id="{0F4CB8E7-985E-460A-7279-69C1CA1FF9BD}"/>
                  </a:ext>
                </a:extLst>
              </p:cNvPr>
              <p:cNvSpPr>
                <a:spLocks noChangeArrowheads="1"/>
              </p:cNvSpPr>
              <p:nvPr>
                <p:custDataLst>
                  <p:tags r:id="rId2"/>
                </p:custDataLst>
              </p:nvPr>
            </p:nvSpPr>
            <p:spPr bwMode="auto">
              <a:xfrm>
                <a:off x="5764545" y="4483748"/>
                <a:ext cx="358148" cy="358149"/>
              </a:xfrm>
              <a:prstGeom prst="ellipse">
                <a:avLst/>
              </a:prstGeom>
              <a:solidFill>
                <a:srgbClr val="04CADF"/>
              </a:solidFill>
              <a:ln w="19050">
                <a:solidFill>
                  <a:schemeClr val="bg1"/>
                </a:solidFill>
                <a:round/>
              </a:ln>
              <a:effectLst>
                <a:outerShdw blurRad="25400" dist="25400" dir="5400000" algn="t" rotWithShape="0">
                  <a:srgbClr val="04CADF">
                    <a:alpha val="20000"/>
                  </a:srgbClr>
                </a:outerShdw>
              </a:effectLst>
            </p:spPr>
            <p:txBody>
              <a:bodyPr wrap="none" anchor="ctr"/>
              <a:lstStyle/>
              <a:p>
                <a:pPr marL="0" marR="0" lvl="0" indent="0" algn="ctr" defTabSz="914400" rtl="0" eaLnBrk="1" fontAlgn="base" latinLnBrk="0" hangingPunct="1">
                  <a:spcBef>
                    <a:spcPct val="50000"/>
                  </a:spcBef>
                  <a:spcAft>
                    <a:spcPct val="0"/>
                  </a:spcAft>
                  <a:buClrTx/>
                  <a:buSzTx/>
                  <a:buFontTx/>
                  <a:buNone/>
                  <a:defRPr/>
                </a:pPr>
                <a:endParaRPr kumimoji="0" lang="zh-CN" altLang="en-US" sz="1600" i="0" u="none" strike="noStrike" kern="1200" cap="none" spc="0" normalizeH="0" baseline="0" noProof="0">
                  <a:ln>
                    <a:noFill/>
                  </a:ln>
                  <a:solidFill>
                    <a:schemeClr val="tx1">
                      <a:lumMod val="85000"/>
                      <a:lumOff val="15000"/>
                    </a:schemeClr>
                  </a:solidFill>
                  <a:uLnTx/>
                  <a:uFillTx/>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nvGrpSpPr>
              <p:cNvPr id="65" name="组合 64">
                <a:extLst>
                  <a:ext uri="{FF2B5EF4-FFF2-40B4-BE49-F238E27FC236}">
                    <a16:creationId xmlns:a16="http://schemas.microsoft.com/office/drawing/2014/main" id="{1BEF3724-135E-EDCE-DB1D-DEF10C6F66AF}"/>
                  </a:ext>
                </a:extLst>
              </p:cNvPr>
              <p:cNvGrpSpPr/>
              <p:nvPr/>
            </p:nvGrpSpPr>
            <p:grpSpPr>
              <a:xfrm>
                <a:off x="5850379" y="4559443"/>
                <a:ext cx="186478" cy="186660"/>
                <a:chOff x="14937457" y="3473368"/>
                <a:chExt cx="553449" cy="553988"/>
              </a:xfrm>
            </p:grpSpPr>
            <p:sp>
              <p:nvSpPr>
                <p:cNvPr id="67" name="图形 02">
                  <a:extLst>
                    <a:ext uri="{FF2B5EF4-FFF2-40B4-BE49-F238E27FC236}">
                      <a16:creationId xmlns:a16="http://schemas.microsoft.com/office/drawing/2014/main" id="{F9D77A4C-C7D0-A0EB-71FC-027F0EED254D}"/>
                    </a:ext>
                  </a:extLst>
                </p:cNvPr>
                <p:cNvSpPr/>
                <p:nvPr>
                  <p:custDataLst>
                    <p:tags r:id="rId4"/>
                  </p:custDataLst>
                </p:nvPr>
              </p:nvSpPr>
              <p:spPr>
                <a:xfrm>
                  <a:off x="14937457" y="3473368"/>
                  <a:ext cx="553449" cy="553988"/>
                </a:xfrm>
                <a:custGeom>
                  <a:avLst/>
                  <a:gdLst/>
                  <a:ahLst/>
                  <a:cxnLst>
                    <a:cxn ang="0">
                      <a:pos x="wd2" y="hd2"/>
                    </a:cxn>
                    <a:cxn ang="5400000">
                      <a:pos x="wd2" y="hd2"/>
                    </a:cxn>
                    <a:cxn ang="10800000">
                      <a:pos x="wd2" y="hd2"/>
                    </a:cxn>
                    <a:cxn ang="16200000">
                      <a:pos x="wd2" y="hd2"/>
                    </a:cxn>
                  </a:cxnLst>
                  <a:rect l="0" t="0" r="r" b="b"/>
                  <a:pathLst>
                    <a:path w="19874" h="21600" extrusionOk="0">
                      <a:moveTo>
                        <a:pt x="19568" y="7931"/>
                      </a:moveTo>
                      <a:cubicBezTo>
                        <a:pt x="18791" y="5231"/>
                        <a:pt x="17237" y="2869"/>
                        <a:pt x="14907" y="1519"/>
                      </a:cubicBezTo>
                      <a:cubicBezTo>
                        <a:pt x="13353" y="506"/>
                        <a:pt x="11643" y="0"/>
                        <a:pt x="9934" y="0"/>
                      </a:cubicBezTo>
                      <a:cubicBezTo>
                        <a:pt x="6360" y="0"/>
                        <a:pt x="3096" y="2025"/>
                        <a:pt x="1387" y="5400"/>
                      </a:cubicBezTo>
                      <a:cubicBezTo>
                        <a:pt x="-1410" y="10631"/>
                        <a:pt x="144" y="17212"/>
                        <a:pt x="4961" y="20081"/>
                      </a:cubicBezTo>
                      <a:cubicBezTo>
                        <a:pt x="6515" y="21094"/>
                        <a:pt x="8225" y="21600"/>
                        <a:pt x="9934" y="21600"/>
                      </a:cubicBezTo>
                      <a:cubicBezTo>
                        <a:pt x="13508" y="21600"/>
                        <a:pt x="16771" y="19575"/>
                        <a:pt x="18481" y="16200"/>
                      </a:cubicBezTo>
                      <a:cubicBezTo>
                        <a:pt x="19879" y="13669"/>
                        <a:pt x="20190" y="10800"/>
                        <a:pt x="19568" y="7931"/>
                      </a:cubicBezTo>
                      <a:close/>
                      <a:moveTo>
                        <a:pt x="19102" y="11981"/>
                      </a:moveTo>
                      <a:cubicBezTo>
                        <a:pt x="18947" y="13331"/>
                        <a:pt x="18481" y="14681"/>
                        <a:pt x="17859" y="15862"/>
                      </a:cubicBezTo>
                      <a:cubicBezTo>
                        <a:pt x="17548" y="16537"/>
                        <a:pt x="16927" y="17381"/>
                        <a:pt x="16461" y="17887"/>
                      </a:cubicBezTo>
                      <a:cubicBezTo>
                        <a:pt x="15839" y="18562"/>
                        <a:pt x="15217" y="19069"/>
                        <a:pt x="14440" y="19575"/>
                      </a:cubicBezTo>
                      <a:cubicBezTo>
                        <a:pt x="13042" y="20419"/>
                        <a:pt x="11488" y="20756"/>
                        <a:pt x="9934" y="20756"/>
                      </a:cubicBezTo>
                      <a:cubicBezTo>
                        <a:pt x="9157" y="20756"/>
                        <a:pt x="8380" y="20756"/>
                        <a:pt x="7603" y="20419"/>
                      </a:cubicBezTo>
                      <a:cubicBezTo>
                        <a:pt x="6826" y="20250"/>
                        <a:pt x="6049" y="19912"/>
                        <a:pt x="5272" y="19406"/>
                      </a:cubicBezTo>
                      <a:cubicBezTo>
                        <a:pt x="4184" y="18731"/>
                        <a:pt x="3252" y="17887"/>
                        <a:pt x="2630" y="16875"/>
                      </a:cubicBezTo>
                      <a:cubicBezTo>
                        <a:pt x="1853" y="15862"/>
                        <a:pt x="1387" y="14681"/>
                        <a:pt x="1076" y="13331"/>
                      </a:cubicBezTo>
                      <a:cubicBezTo>
                        <a:pt x="766" y="12150"/>
                        <a:pt x="610" y="10800"/>
                        <a:pt x="766" y="9619"/>
                      </a:cubicBezTo>
                      <a:cubicBezTo>
                        <a:pt x="921" y="8269"/>
                        <a:pt x="1387" y="6919"/>
                        <a:pt x="2009" y="5737"/>
                      </a:cubicBezTo>
                      <a:cubicBezTo>
                        <a:pt x="2319" y="5063"/>
                        <a:pt x="2941" y="4219"/>
                        <a:pt x="3407" y="3713"/>
                      </a:cubicBezTo>
                      <a:cubicBezTo>
                        <a:pt x="4029" y="3038"/>
                        <a:pt x="4650" y="2531"/>
                        <a:pt x="5427" y="2025"/>
                      </a:cubicBezTo>
                      <a:cubicBezTo>
                        <a:pt x="7448" y="844"/>
                        <a:pt x="9934" y="506"/>
                        <a:pt x="12265" y="1181"/>
                      </a:cubicBezTo>
                      <a:cubicBezTo>
                        <a:pt x="13042" y="1350"/>
                        <a:pt x="13819" y="1688"/>
                        <a:pt x="14596" y="2194"/>
                      </a:cubicBezTo>
                      <a:cubicBezTo>
                        <a:pt x="15684" y="2869"/>
                        <a:pt x="16616" y="3713"/>
                        <a:pt x="17237" y="4725"/>
                      </a:cubicBezTo>
                      <a:cubicBezTo>
                        <a:pt x="18014" y="5737"/>
                        <a:pt x="18481" y="6919"/>
                        <a:pt x="18791" y="8269"/>
                      </a:cubicBezTo>
                      <a:cubicBezTo>
                        <a:pt x="19102" y="9450"/>
                        <a:pt x="19258" y="10800"/>
                        <a:pt x="19102" y="11981"/>
                      </a:cubicBezTo>
                      <a:close/>
                    </a:path>
                  </a:pathLst>
                </a:custGeom>
                <a:solidFill>
                  <a:srgbClr val="FFFFFF"/>
                </a:solidFill>
                <a:ln w="6350" cap="flat">
                  <a:solidFill>
                    <a:schemeClr val="bg1"/>
                  </a:solidFill>
                  <a:miter lim="400000"/>
                </a:ln>
                <a:effectLst/>
              </p:spPr>
              <p:txBody>
                <a:bodyPr wrap="square" lIns="91439" tIns="91439" rIns="91439" bIns="91439" numCol="1" anchor="t">
                  <a:noAutofit/>
                </a:bodyPr>
                <a:lstStyle/>
                <a:p>
                  <a:pPr>
                    <a:spcBef>
                      <a:spcPts val="50"/>
                    </a:spcBef>
                  </a:pPr>
                  <a:endParaRPr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sp>
              <p:nvSpPr>
                <p:cNvPr id="68" name="图形 01">
                  <a:extLst>
                    <a:ext uri="{FF2B5EF4-FFF2-40B4-BE49-F238E27FC236}">
                      <a16:creationId xmlns:a16="http://schemas.microsoft.com/office/drawing/2014/main" id="{0AAADF27-B48A-93ED-E0E8-83D492300B3A}"/>
                    </a:ext>
                  </a:extLst>
                </p:cNvPr>
                <p:cNvSpPr/>
                <p:nvPr>
                  <p:custDataLst>
                    <p:tags r:id="rId5"/>
                  </p:custDataLst>
                </p:nvPr>
              </p:nvSpPr>
              <p:spPr>
                <a:xfrm>
                  <a:off x="15205353" y="3555643"/>
                  <a:ext cx="181007" cy="299850"/>
                </a:xfrm>
                <a:custGeom>
                  <a:avLst/>
                  <a:gdLst/>
                  <a:ahLst/>
                  <a:cxnLst>
                    <a:cxn ang="0">
                      <a:pos x="wd2" y="hd2"/>
                    </a:cxn>
                    <a:cxn ang="5400000">
                      <a:pos x="wd2" y="hd2"/>
                    </a:cxn>
                    <a:cxn ang="10800000">
                      <a:pos x="wd2" y="hd2"/>
                    </a:cxn>
                    <a:cxn ang="16200000">
                      <a:pos x="wd2" y="hd2"/>
                    </a:cxn>
                  </a:cxnLst>
                  <a:rect l="0" t="0" r="r" b="b"/>
                  <a:pathLst>
                    <a:path w="21600" h="21600" extrusionOk="0">
                      <a:moveTo>
                        <a:pt x="21086" y="20348"/>
                      </a:moveTo>
                      <a:cubicBezTo>
                        <a:pt x="2057" y="13774"/>
                        <a:pt x="2057" y="13774"/>
                        <a:pt x="2057" y="13774"/>
                      </a:cubicBezTo>
                      <a:cubicBezTo>
                        <a:pt x="2057" y="626"/>
                        <a:pt x="2057" y="626"/>
                        <a:pt x="2057" y="626"/>
                      </a:cubicBezTo>
                      <a:cubicBezTo>
                        <a:pt x="2057" y="313"/>
                        <a:pt x="1543" y="0"/>
                        <a:pt x="1029" y="0"/>
                      </a:cubicBezTo>
                      <a:cubicBezTo>
                        <a:pt x="514" y="0"/>
                        <a:pt x="0" y="313"/>
                        <a:pt x="0" y="626"/>
                      </a:cubicBezTo>
                      <a:cubicBezTo>
                        <a:pt x="0" y="14087"/>
                        <a:pt x="0" y="14087"/>
                        <a:pt x="0" y="14087"/>
                      </a:cubicBezTo>
                      <a:cubicBezTo>
                        <a:pt x="0" y="14400"/>
                        <a:pt x="0" y="14713"/>
                        <a:pt x="514" y="14713"/>
                      </a:cubicBezTo>
                      <a:cubicBezTo>
                        <a:pt x="19543" y="21600"/>
                        <a:pt x="19543" y="21600"/>
                        <a:pt x="19543" y="21600"/>
                      </a:cubicBezTo>
                      <a:cubicBezTo>
                        <a:pt x="20057" y="21600"/>
                        <a:pt x="21086" y="21600"/>
                        <a:pt x="21086" y="21287"/>
                      </a:cubicBezTo>
                      <a:cubicBezTo>
                        <a:pt x="21600" y="20974"/>
                        <a:pt x="21600" y="20974"/>
                        <a:pt x="21600" y="20661"/>
                      </a:cubicBezTo>
                      <a:cubicBezTo>
                        <a:pt x="21086" y="20348"/>
                        <a:pt x="21086" y="20348"/>
                        <a:pt x="21086" y="20348"/>
                      </a:cubicBezTo>
                      <a:close/>
                    </a:path>
                  </a:pathLst>
                </a:custGeom>
                <a:solidFill>
                  <a:srgbClr val="FFFFFF"/>
                </a:solidFill>
                <a:ln w="6350" cap="flat">
                  <a:solidFill>
                    <a:schemeClr val="bg1"/>
                  </a:solidFill>
                  <a:miter lim="400000"/>
                </a:ln>
                <a:effectLst/>
              </p:spPr>
              <p:txBody>
                <a:bodyPr wrap="square" lIns="91439" tIns="91439" rIns="91439" bIns="91439" numCol="1" anchor="t">
                  <a:noAutofit/>
                </a:bodyPr>
                <a:lstStyle/>
                <a:p>
                  <a:pPr>
                    <a:spcBef>
                      <a:spcPts val="50"/>
                    </a:spcBef>
                  </a:pPr>
                  <a:endParaRPr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sp>
            <p:nvSpPr>
              <p:cNvPr id="66" name="矩形 65">
                <a:extLst>
                  <a:ext uri="{FF2B5EF4-FFF2-40B4-BE49-F238E27FC236}">
                    <a16:creationId xmlns:a16="http://schemas.microsoft.com/office/drawing/2014/main" id="{85866B90-559E-94BF-7902-8540353B7C22}"/>
                  </a:ext>
                </a:extLst>
              </p:cNvPr>
              <p:cNvSpPr/>
              <p:nvPr>
                <p:custDataLst>
                  <p:tags r:id="rId3"/>
                </p:custDataLst>
              </p:nvPr>
            </p:nvSpPr>
            <p:spPr>
              <a:xfrm>
                <a:off x="6102625" y="4481472"/>
                <a:ext cx="1643689" cy="368052"/>
              </a:xfrm>
              <a:prstGeom prst="rect">
                <a:avLst/>
              </a:prstGeom>
            </p:spPr>
            <p:txBody>
              <a:bodyPr wrap="none">
                <a:spAutoFit/>
              </a:bodyPr>
              <a:lstStyle/>
              <a:p>
                <a:pPr lvl="0">
                  <a:spcBef>
                    <a:spcPts val="50"/>
                  </a:spcBef>
                  <a:defRPr/>
                </a:pP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时间：</a:t>
                </a:r>
                <a:r>
                  <a:rPr lang="en-US" altLang="zh-CN"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X</a:t>
                </a: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月</a:t>
                </a:r>
                <a:r>
                  <a:rPr lang="en-US" altLang="zh-CN"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X</a:t>
                </a:r>
                <a:r>
                  <a:rPr lang="zh-CN" altLang="en-US" sz="160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rPr>
                  <a:t>日</a:t>
                </a:r>
                <a:endParaRPr lang="zh-CN" altLang="en-US" sz="1600" dirty="0">
                  <a:solidFill>
                    <a:schemeClr val="tx1">
                      <a:lumMod val="85000"/>
                      <a:lumOff val="15000"/>
                    </a:schemeClr>
                  </a:solidFill>
                  <a:latin typeface="思源黑体 CN Medium" panose="020B0600000000000000" pitchFamily="34" charset="-122"/>
                  <a:ea typeface="思源黑体 CN Medium" panose="020B0600000000000000" pitchFamily="34" charset="-122"/>
                  <a:cs typeface="+mn-ea"/>
                  <a:sym typeface="思源黑体 CN Medium" panose="020B0600000000000000" pitchFamily="34" charset="-122"/>
                </a:endParaRPr>
              </a:p>
            </p:txBody>
          </p:sp>
        </p:grpSp>
      </p:grpSp>
      <p:pic>
        <p:nvPicPr>
          <p:cNvPr id="81" name="图片 80">
            <a:extLst>
              <a:ext uri="{FF2B5EF4-FFF2-40B4-BE49-F238E27FC236}">
                <a16:creationId xmlns:a16="http://schemas.microsoft.com/office/drawing/2014/main" id="{E1AE6DDE-3C89-F4A9-846E-6FA8DCF69620}"/>
              </a:ext>
            </a:extLst>
          </p:cNvPr>
          <p:cNvPicPr>
            <a:picLocks noChangeAspect="1"/>
          </p:cNvPicPr>
          <p:nvPr/>
        </p:nvPicPr>
        <p:blipFill>
          <a:blip r:embed="rId11" cstate="email">
            <a:extLst>
              <a:ext uri="{28A0092B-C50C-407E-A947-70E740481C1C}">
                <a14:useLocalDpi xmlns:a14="http://schemas.microsoft.com/office/drawing/2010/main"/>
              </a:ext>
            </a:extLst>
          </a:blip>
          <a:stretch>
            <a:fillRect/>
          </a:stretch>
        </p:blipFill>
        <p:spPr>
          <a:xfrm>
            <a:off x="123471" y="997480"/>
            <a:ext cx="4271009" cy="4271009"/>
          </a:xfrm>
          <a:prstGeom prst="rect">
            <a:avLst/>
          </a:prstGeom>
        </p:spPr>
      </p:pic>
    </p:spTree>
    <p:extLst>
      <p:ext uri="{BB962C8B-B14F-4D97-AF65-F5344CB8AC3E}">
        <p14:creationId xmlns:p14="http://schemas.microsoft.com/office/powerpoint/2010/main" val="3694231643"/>
      </p:ext>
    </p:extLst>
  </p:cSld>
  <p:clrMapOvr>
    <a:masterClrMapping/>
  </p:clrMapOvr>
  <mc:AlternateContent xmlns:mc="http://schemas.openxmlformats.org/markup-compatibility/2006" xmlns:p14="http://schemas.microsoft.com/office/powerpoint/2010/main">
    <mc:Choice Requires="p14">
      <p:transition spd="slow" p14:dur="1500" advTm="3000">
        <p:random/>
      </p:transition>
    </mc:Choice>
    <mc:Fallback xmlns="">
      <p:transition spd="slow" advTm="3000">
        <p:random/>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down)">
                                      <p:cBhvr>
                                        <p:cTn id="7" dur="500"/>
                                        <p:tgtEl>
                                          <p:spTgt spid="37"/>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wipe(up)">
                                      <p:cBhvr>
                                        <p:cTn id="10" dur="500"/>
                                        <p:tgtEl>
                                          <p:spTgt spid="38"/>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wipe(left)">
                                      <p:cBhvr>
                                        <p:cTn id="21" dur="500"/>
                                        <p:tgtEl>
                                          <p:spTgt spid="25"/>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6"/>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4"/>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circle(in)">
                                      <p:cBhvr>
                                        <p:cTn id="32" dur="20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44"/>
                                        </p:tgtEl>
                                        <p:attrNameLst>
                                          <p:attrName>style.visibility</p:attrName>
                                        </p:attrNameLst>
                                      </p:cBhvr>
                                      <p:to>
                                        <p:strVal val="visible"/>
                                      </p:to>
                                    </p:set>
                                    <p:animEffect transition="in" filter="barn(inVertical)">
                                      <p:cBhvr>
                                        <p:cTn id="37" dur="500"/>
                                        <p:tgtEl>
                                          <p:spTgt spid="4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wipe(down)">
                                      <p:cBhvr>
                                        <p:cTn id="42" dur="5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25" grpId="0"/>
      <p:bldP spid="46" grpId="0" animBg="1"/>
      <p:bldP spid="54" grpId="0" animBg="1"/>
      <p:bldP spid="4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563048" y="3933056"/>
            <a:ext cx="7263527" cy="877100"/>
          </a:xfrm>
          <a:prstGeom prst="rect">
            <a:avLst/>
          </a:prstGeom>
        </p:spPr>
        <p:txBody>
          <a:bodyPr wrap="none">
            <a:spAutoFit/>
          </a:bodyPr>
          <a:lstStyle/>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素材授权</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素材来源</a:t>
            </a:r>
            <a:r>
              <a:rPr lang="en-US" altLang="zh-CN" sz="2400" kern="0" dirty="0">
                <a:solidFill>
                  <a:srgbClr val="FFC000"/>
                </a:solidFill>
                <a:latin typeface="汉仪中圆简" panose="02010609000101010101" pitchFamily="49" charset="-122"/>
                <a:ea typeface="汉仪中圆简" panose="02010609000101010101" pitchFamily="49" charset="-122"/>
              </a:rPr>
              <a:t>@</a:t>
            </a:r>
            <a:r>
              <a:rPr lang="zh-CN" altLang="en-US" sz="2400" kern="0" dirty="0">
                <a:solidFill>
                  <a:srgbClr val="FFC000"/>
                </a:solidFill>
                <a:latin typeface="汉仪中圆简" panose="02010609000101010101" pitchFamily="49" charset="-122"/>
                <a:ea typeface="汉仪中圆简" panose="02010609000101010101" pitchFamily="49" charset="-122"/>
              </a:rPr>
              <a:t>包图网</a:t>
            </a:r>
            <a:endParaRPr lang="en-US" altLang="zh-CN" sz="2400" kern="0" dirty="0">
              <a:solidFill>
                <a:srgbClr val="FFC000"/>
              </a:solidFill>
              <a:latin typeface="汉仪中圆简" panose="02010609000101010101" pitchFamily="49" charset="-122"/>
              <a:ea typeface="汉仪中圆简" panose="02010609000101010101" pitchFamily="49" charset="-122"/>
            </a:endParaRPr>
          </a:p>
          <a:p>
            <a:pPr marL="342900" indent="-342900" algn="ctr" fontAlgn="base">
              <a:lnSpc>
                <a:spcPct val="110000"/>
              </a:lnSpc>
              <a:spcBef>
                <a:spcPct val="0"/>
              </a:spcBef>
              <a:spcAft>
                <a:spcPct val="0"/>
              </a:spcAft>
            </a:pPr>
            <a:r>
              <a:rPr lang="zh-CN" altLang="en-US" sz="2400" kern="0" dirty="0">
                <a:solidFill>
                  <a:srgbClr val="FFC000"/>
                </a:solidFill>
                <a:latin typeface="汉仪中圆简" panose="02010609000101010101" pitchFamily="49" charset="-122"/>
                <a:ea typeface="汉仪中圆简" panose="02010609000101010101" pitchFamily="49" charset="-122"/>
              </a:rPr>
              <a:t>本素材仅供学习研究使用。禁止商用、传播、转载。</a:t>
            </a:r>
            <a:endParaRPr lang="en-US" altLang="zh-CN" sz="2400" kern="0" dirty="0">
              <a:solidFill>
                <a:srgbClr val="FFC000"/>
              </a:solidFill>
              <a:latin typeface="汉仪中圆简" panose="02010609000101010101" pitchFamily="49" charset="-122"/>
              <a:ea typeface="汉仪中圆简" panose="02010609000101010101" pitchFamily="49" charset="-122"/>
            </a:endParaRPr>
          </a:p>
        </p:txBody>
      </p:sp>
      <p:pic>
        <p:nvPicPr>
          <p:cNvPr id="1026" name="Picture 2" descr="https://js.ibaotu.com/revision/img/logo2.png"/>
          <p:cNvPicPr>
            <a:picLocks noChangeAspect="1" noChangeArrowheads="1"/>
          </p:cNvPicPr>
          <p:nvPr/>
        </p:nvPicPr>
        <p:blipFill>
          <a:blip r:embed="rId2">
            <a:extLst>
              <a:ext uri="{28A0092B-C50C-407E-A947-70E740481C1C}">
                <a14:useLocalDpi xmlns:a14="http://schemas.microsoft.com/office/drawing/2010/main"/>
              </a:ext>
            </a:extLst>
          </a:blip>
          <a:stretch>
            <a:fillRect/>
          </a:stretch>
        </p:blipFill>
        <p:spPr bwMode="auto">
          <a:xfrm>
            <a:off x="5065281" y="1844823"/>
            <a:ext cx="2259061" cy="871141"/>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7" name="矩形 6"/>
          <p:cNvSpPr/>
          <p:nvPr/>
        </p:nvSpPr>
        <p:spPr>
          <a:xfrm>
            <a:off x="4594053" y="2802290"/>
            <a:ext cx="3201517" cy="407291"/>
          </a:xfrm>
          <a:prstGeom prst="rect">
            <a:avLst/>
          </a:prstGeom>
        </p:spPr>
        <p:txBody>
          <a:bodyPr wrap="none">
            <a:spAutoFit/>
          </a:bodyPr>
          <a:lstStyle/>
          <a:p>
            <a:pPr marL="342900" indent="-342900" algn="ctr" fontAlgn="base">
              <a:lnSpc>
                <a:spcPct val="110000"/>
              </a:lnSpc>
              <a:spcBef>
                <a:spcPct val="0"/>
              </a:spcBef>
              <a:spcAft>
                <a:spcPct val="0"/>
              </a:spcAft>
            </a:pPr>
            <a:r>
              <a:rPr lang="en-US" altLang="zh-CN" sz="2000" kern="0" dirty="0">
                <a:solidFill>
                  <a:srgbClr val="FFC000"/>
                </a:solidFill>
                <a:latin typeface="微软雅黑" panose="020B0503020204020204" pitchFamily="34" charset="-122"/>
                <a:ea typeface="微软雅黑" panose="020B0503020204020204" pitchFamily="34" charset="-122"/>
                <a:hlinkClick r:id="rId3"/>
              </a:rPr>
              <a:t>https://ibaotu.com/ppt/</a:t>
            </a:r>
            <a:r>
              <a:rPr lang="en-US" altLang="zh-CN" sz="2000" kern="0" dirty="0">
                <a:solidFill>
                  <a:srgbClr val="FFC000"/>
                </a:solidFill>
                <a:latin typeface="微软雅黑" panose="020B0503020204020204" pitchFamily="34" charset="-122"/>
                <a:ea typeface="微软雅黑" panose="020B0503020204020204" pitchFamily="34" charset="-122"/>
              </a:rPr>
              <a:t> </a:t>
            </a:r>
          </a:p>
        </p:txBody>
      </p:sp>
    </p:spTree>
    <p:extLst>
      <p:ext uri="{BB962C8B-B14F-4D97-AF65-F5344CB8AC3E}">
        <p14:creationId xmlns:p14="http://schemas.microsoft.com/office/powerpoint/2010/main" val="32257160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071664" y="4437112"/>
            <a:ext cx="6768752" cy="21602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2"/>
              </a:rPr>
              <a:t>www.1ppt.com/moban/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行业</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3"/>
              </a:rPr>
              <a:t>www.1ppt.com/hangye/</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节日</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4"/>
              </a:rPr>
              <a:t>www.1ppt.com/jieri/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素材：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5"/>
              </a:rPr>
              <a:t>www.1ppt.com/sucai/</a:t>
            </a:r>
            <a:endParaRPr lang="en-US" altLang="zh-CN" sz="1100" dirty="0">
              <a:solidFill>
                <a:srgbClr val="EEECE1">
                  <a:lumMod val="25000"/>
                </a:srgbClr>
              </a:solidFill>
              <a:latin typeface="微软雅黑" panose="020B0503020204020204" pitchFamily="34" charset="-122"/>
              <a:ea typeface="微软雅黑" panose="020B0503020204020204" pitchFamily="34" charset="-122"/>
            </a:endParaRP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6"/>
              </a:rPr>
              <a:t>www.1ppt.com/beijing/</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图表：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7"/>
              </a:rPr>
              <a:t>www.1ppt.com/tubiao/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优秀</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下载：</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8"/>
              </a:rPr>
              <a:t>www.1ppt.com/xiazai/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教程：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9"/>
              </a:rPr>
              <a:t>www.1ppt.com/powerpoint/</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en-US" altLang="zh-CN" sz="1100" dirty="0">
                <a:solidFill>
                  <a:srgbClr val="EEECE1">
                    <a:lumMod val="25000"/>
                  </a:srgbClr>
                </a:solidFill>
                <a:latin typeface="微软雅黑" panose="020B0503020204020204" pitchFamily="34" charset="-122"/>
                <a:ea typeface="微软雅黑" panose="020B0503020204020204" pitchFamily="34" charset="-122"/>
              </a:rPr>
              <a:t>Word</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0"/>
              </a:rPr>
              <a:t>www.1ppt.com/word/</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Excel</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模板：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1"/>
              </a:rPr>
              <a:t>www.1ppt.com/excel/</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个人简历：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2"/>
              </a:rPr>
              <a:t>www.1ppt.com/jianli/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PPT</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课件：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3"/>
              </a:rPr>
              <a:t>www.1ppt.com/kejian/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手抄报：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4"/>
              </a:rPr>
              <a:t>www.1ppt.com/shouchaobao/</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试题下载：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5"/>
              </a:rPr>
              <a:t>www.1ppt.com/shiti/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p>
          <a:p>
            <a:r>
              <a:rPr lang="zh-CN" altLang="en-US" sz="1100" dirty="0">
                <a:solidFill>
                  <a:srgbClr val="EEECE1">
                    <a:lumMod val="25000"/>
                  </a:srgbClr>
                </a:solidFill>
                <a:latin typeface="微软雅黑" panose="020B0503020204020204" pitchFamily="34" charset="-122"/>
                <a:ea typeface="微软雅黑" panose="020B0503020204020204" pitchFamily="34" charset="-122"/>
              </a:rPr>
              <a:t>教案下载：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6"/>
              </a:rPr>
              <a:t>www.1ppt.com/jiaoan/</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r>
              <a:rPr lang="zh-CN" altLang="en-US" sz="1100" dirty="0">
                <a:solidFill>
                  <a:srgbClr val="EEECE1">
                    <a:lumMod val="25000"/>
                  </a:srgbClr>
                </a:solidFill>
                <a:latin typeface="微软雅黑" panose="020B0503020204020204" pitchFamily="34" charset="-122"/>
                <a:ea typeface="微软雅黑" panose="020B0503020204020204" pitchFamily="34" charset="-122"/>
              </a:rPr>
              <a:t>字体下载：      </a:t>
            </a:r>
            <a:r>
              <a:rPr lang="en-US" altLang="zh-CN" sz="1100" dirty="0">
                <a:solidFill>
                  <a:srgbClr val="EEECE1">
                    <a:lumMod val="25000"/>
                  </a:srgbClr>
                </a:solidFill>
                <a:latin typeface="微软雅黑" panose="020B0503020204020204" pitchFamily="34" charset="-122"/>
                <a:ea typeface="微软雅黑" panose="020B0503020204020204" pitchFamily="34" charset="-122"/>
                <a:hlinkClick r:id="rId17"/>
              </a:rPr>
              <a:t>www.1ppt.com/ziti/</a:t>
            </a:r>
            <a:r>
              <a:rPr lang="en-US" altLang="zh-CN" sz="1100" dirty="0">
                <a:solidFill>
                  <a:srgbClr val="EEECE1">
                    <a:lumMod val="25000"/>
                  </a:srgbClr>
                </a:solidFill>
                <a:latin typeface="微软雅黑" panose="020B0503020204020204" pitchFamily="34" charset="-122"/>
                <a:ea typeface="微软雅黑" panose="020B0503020204020204" pitchFamily="34" charset="-122"/>
              </a:rPr>
              <a:t>              </a:t>
            </a:r>
            <a:endParaRPr lang="zh-CN" altLang="en-US" sz="1100" dirty="0">
              <a:solidFill>
                <a:srgbClr val="EEECE1">
                  <a:lumMod val="25000"/>
                </a:srgbClr>
              </a:solidFill>
              <a:latin typeface="微软雅黑" panose="020B0503020204020204" pitchFamily="34" charset="-122"/>
              <a:ea typeface="微软雅黑" panose="020B0503020204020204" pitchFamily="34" charset="-122"/>
            </a:endParaRPr>
          </a:p>
        </p:txBody>
      </p:sp>
      <p:sp>
        <p:nvSpPr>
          <p:cNvPr id="3" name="Rectangle 17"/>
          <p:cNvSpPr>
            <a:spLocks noChangeArrowheads="1"/>
          </p:cNvSpPr>
          <p:nvPr/>
        </p:nvSpPr>
        <p:spPr bwMode="gray">
          <a:xfrm>
            <a:off x="1524000" y="2998276"/>
            <a:ext cx="9144000" cy="1366829"/>
          </a:xfrm>
          <a:prstGeom prst="rect">
            <a:avLst/>
          </a:prstGeom>
          <a:solidFill>
            <a:schemeClr val="tx2">
              <a:lumMod val="75000"/>
            </a:schemeClr>
          </a:solidFill>
          <a:ln w="9525">
            <a:noFill/>
            <a:miter lim="800000"/>
            <a:headEnd/>
            <a:tailEnd/>
          </a:ln>
        </p:spPr>
        <p:txBody>
          <a:bodyPr wrap="none" anchor="ctr"/>
          <a:lstStyle/>
          <a:p>
            <a:pPr>
              <a:defRPr/>
            </a:pPr>
            <a:endParaRPr lang="zh-CN" altLang="en-US" kern="0" dirty="0">
              <a:solidFill>
                <a:srgbClr val="005397"/>
              </a:solidFill>
              <a:latin typeface="Arial"/>
              <a:ea typeface="微软雅黑"/>
            </a:endParaRPr>
          </a:p>
        </p:txBody>
      </p:sp>
      <p:sp>
        <p:nvSpPr>
          <p:cNvPr id="15" name="Rectangle 3"/>
          <p:cNvSpPr>
            <a:spLocks noChangeArrowheads="1"/>
          </p:cNvSpPr>
          <p:nvPr/>
        </p:nvSpPr>
        <p:spPr bwMode="auto">
          <a:xfrm>
            <a:off x="1920306" y="3097346"/>
            <a:ext cx="4103687"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可以在下列情况使用</a:t>
            </a:r>
            <a:endParaRPr lang="zh-CN" altLang="en-US" sz="1200"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个人学习、研究。</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拷贝模板中的内容用于其它幻灯片母版中使用。</a:t>
            </a:r>
          </a:p>
        </p:txBody>
      </p:sp>
      <p:sp>
        <p:nvSpPr>
          <p:cNvPr id="16" name="Rectangle 4"/>
          <p:cNvSpPr>
            <a:spLocks noChangeArrowheads="1"/>
          </p:cNvSpPr>
          <p:nvPr/>
        </p:nvSpPr>
        <p:spPr bwMode="auto">
          <a:xfrm>
            <a:off x="6096000" y="3097346"/>
            <a:ext cx="4103688" cy="1195751"/>
          </a:xfrm>
          <a:prstGeom prst="rect">
            <a:avLst/>
          </a:prstGeom>
          <a:noFill/>
          <a:ln w="3175" algn="ctr">
            <a:no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spcBef>
                <a:spcPct val="20000"/>
              </a:spcBef>
              <a:buClr>
                <a:srgbClr val="5B8CC1"/>
              </a:buClr>
              <a:defRPr/>
            </a:pPr>
            <a:r>
              <a:rPr lang="zh-CN" altLang="en-US" sz="2000" b="1" kern="0" dirty="0">
                <a:solidFill>
                  <a:prstClr val="white"/>
                </a:solidFill>
                <a:latin typeface="微软雅黑" pitchFamily="34" charset="-122"/>
                <a:ea typeface="微软雅黑" pitchFamily="34" charset="-122"/>
              </a:rPr>
              <a:t>不可以在以下情况使用</a:t>
            </a:r>
            <a:endParaRPr lang="zh-CN" altLang="en-US" sz="1050" b="1" kern="0" dirty="0">
              <a:solidFill>
                <a:prstClr val="white"/>
              </a:solidFill>
              <a:latin typeface="微软雅黑" pitchFamily="34" charset="-122"/>
              <a:ea typeface="微软雅黑" pitchFamily="34" charset="-122"/>
            </a:endParaRP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任何形式的在线付费下载。</a:t>
            </a:r>
          </a:p>
          <a:p>
            <a:pPr>
              <a:lnSpc>
                <a:spcPct val="150000"/>
              </a:lnSpc>
              <a:buClr>
                <a:srgbClr val="5B8CC1"/>
              </a:buClr>
              <a:buFont typeface="Wingdings" pitchFamily="2" charset="2"/>
              <a:buChar char="n"/>
              <a:defRPr/>
            </a:pPr>
            <a:r>
              <a:rPr lang="zh-CN" altLang="en-US" sz="1200" kern="0" dirty="0">
                <a:solidFill>
                  <a:prstClr val="white"/>
                </a:solidFill>
                <a:latin typeface="微软雅黑" pitchFamily="34" charset="-122"/>
                <a:ea typeface="微软雅黑" pitchFamily="34" charset="-122"/>
              </a:rPr>
              <a:t>网络转</a:t>
            </a:r>
            <a:r>
              <a:rPr lang="zh-CN" altLang="en-US" sz="1200" kern="0">
                <a:solidFill>
                  <a:prstClr val="white"/>
                </a:solidFill>
                <a:latin typeface="微软雅黑" pitchFamily="34" charset="-122"/>
                <a:ea typeface="微软雅黑" pitchFamily="34" charset="-122"/>
              </a:rPr>
              <a:t>载、线上线下传</a:t>
            </a:r>
            <a:r>
              <a:rPr lang="zh-CN" altLang="en-US" sz="1200" kern="0" dirty="0">
                <a:solidFill>
                  <a:prstClr val="white"/>
                </a:solidFill>
                <a:latin typeface="微软雅黑" pitchFamily="34" charset="-122"/>
                <a:ea typeface="微软雅黑" pitchFamily="34" charset="-122"/>
              </a:rPr>
              <a:t>播。</a:t>
            </a:r>
            <a:endParaRPr lang="zh-CN" altLang="en-GB" sz="1200" kern="0" dirty="0">
              <a:solidFill>
                <a:prstClr val="white"/>
              </a:solidFill>
              <a:latin typeface="微软雅黑" pitchFamily="34" charset="-122"/>
              <a:ea typeface="微软雅黑" pitchFamily="34" charset="-122"/>
            </a:endParaRPr>
          </a:p>
        </p:txBody>
      </p:sp>
      <p:pic>
        <p:nvPicPr>
          <p:cNvPr id="1027" name="Picture 3"/>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3064099" y="375296"/>
            <a:ext cx="5919787" cy="235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xmlns:aink="http://schemas.microsoft.com/office/drawing/2016/ink">
        <mc:Choice Requires="p14 aink">
          <p:contentPart p14:bwMode="auto" r:id="rId19">
            <p14:nvContentPartPr>
              <p14:cNvPr id="7" name="墨迹 6">
                <a:extLst>
                  <a:ext uri="{FF2B5EF4-FFF2-40B4-BE49-F238E27FC236}">
                    <a16:creationId xmlns:a16="http://schemas.microsoft.com/office/drawing/2014/main" id="{6EBBEC50-721B-9297-DE8C-65115C350AC0}"/>
                  </a:ext>
                </a:extLst>
              </p14:cNvPr>
              <p14:cNvContentPartPr/>
              <p14:nvPr/>
            </p14:nvContentPartPr>
            <p14:xfrm>
              <a:off x="-1269037" y="737060"/>
              <a:ext cx="360" cy="360"/>
            </p14:xfrm>
          </p:contentPart>
        </mc:Choice>
        <mc:Fallback xmlns="">
          <p:pic>
            <p:nvPicPr>
              <p:cNvPr id="7" name="墨迹 6">
                <a:extLst>
                  <a:ext uri="{FF2B5EF4-FFF2-40B4-BE49-F238E27FC236}">
                    <a16:creationId xmlns:a16="http://schemas.microsoft.com/office/drawing/2014/main" id="{6EBBEC50-721B-9297-DE8C-65115C350AC0}"/>
                  </a:ext>
                </a:extLst>
              </p:cNvPr>
              <p:cNvPicPr/>
              <p:nvPr/>
            </p:nvPicPr>
            <p:blipFill>
              <a:blip r:embed="rId20"/>
              <a:stretch>
                <a:fillRect/>
              </a:stretch>
            </p:blipFill>
            <p:spPr>
              <a:xfrm>
                <a:off x="-1287037" y="629060"/>
                <a:ext cx="36000" cy="216000"/>
              </a:xfrm>
              <a:prstGeom prst="rect">
                <a:avLst/>
              </a:prstGeom>
            </p:spPr>
          </p:pic>
        </mc:Fallback>
      </mc:AlternateContent>
    </p:spTree>
    <p:extLst>
      <p:ext uri="{BB962C8B-B14F-4D97-AF65-F5344CB8AC3E}">
        <p14:creationId xmlns:p14="http://schemas.microsoft.com/office/powerpoint/2010/main" val="283141068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10.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6"/>
  <p:tag name="KSO_WM_UNIT_TEXT_FILL_TYPE" val="1"/>
</p:tagLst>
</file>

<file path=ppt/tags/tag11.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6"/>
  <p:tag name="KSO_WM_UNIT_TEXT_FILL_TYPE" val="1"/>
</p:tagLst>
</file>

<file path=ppt/tags/tag12.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13.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14.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15.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16.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17.xml><?xml version="1.0" encoding="utf-8"?>
<p:tagLst xmlns:a="http://schemas.openxmlformats.org/drawingml/2006/main" xmlns:r="http://schemas.openxmlformats.org/officeDocument/2006/relationships" xmlns:p="http://schemas.openxmlformats.org/presentationml/2006/main">
  <p:tag name="KSO_WM_UNIT_TEXT_FILL_FORE_SCHEMECOLOR_INDEX_BRIGHTNESS" val="0.5"/>
  <p:tag name="KSO_WM_UNIT_TEXT_FILL_FORE_SCHEMECOLOR_INDEX" val="13"/>
  <p:tag name="KSO_WM_UNIT_TEXT_FILL_TYPE" val="1"/>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TotalTime>
  <Words>3052</Words>
  <Application>Microsoft Office PowerPoint</Application>
  <PresentationFormat>宽屏</PresentationFormat>
  <Paragraphs>256</Paragraphs>
  <Slides>32</Slides>
  <Notes>1</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32</vt:i4>
      </vt:variant>
    </vt:vector>
  </HeadingPairs>
  <TitlesOfParts>
    <vt:vector size="44" baseType="lpstr">
      <vt:lpstr>等线</vt:lpstr>
      <vt:lpstr>等线 Light</vt:lpstr>
      <vt:lpstr>汉仪中圆简</vt:lpstr>
      <vt:lpstr>猫啃网风雅宋</vt:lpstr>
      <vt:lpstr>思源黑体 CN Medium</vt:lpstr>
      <vt:lpstr>思源宋体 CN Heavy</vt:lpstr>
      <vt:lpstr>思源宋体 Heavy</vt:lpstr>
      <vt:lpstr>微软雅黑</vt:lpstr>
      <vt:lpstr>Arial</vt:lpstr>
      <vt:lpstr>Wingdings</vt:lpstr>
      <vt:lpstr>第一PPT，www.1ppt.com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宠物经济</dc:title>
  <dc:creator>第一PPT，www.1ppt.com</dc:creator>
  <cp:keywords>www.1ppt.com</cp:keywords>
  <dc:description>第一PPT</dc:description>
  <cp:lastModifiedBy>PC</cp:lastModifiedBy>
  <cp:revision>13</cp:revision>
  <dcterms:created xsi:type="dcterms:W3CDTF">2025-12-14T12:53:28Z</dcterms:created>
  <dcterms:modified xsi:type="dcterms:W3CDTF">2026-07-18T06:47:38Z</dcterms:modified>
</cp:coreProperties>
</file>