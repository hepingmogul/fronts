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42"/>
  </p:handoutMasterIdLst>
  <p:sldIdLst>
    <p:sldId id="263" r:id="rId3"/>
    <p:sldId id="264" r:id="rId4"/>
    <p:sldId id="276" r:id="rId5"/>
    <p:sldId id="265" r:id="rId6"/>
    <p:sldId id="298" r:id="rId7"/>
    <p:sldId id="277" r:id="rId8"/>
    <p:sldId id="278" r:id="rId9"/>
    <p:sldId id="266" r:id="rId10"/>
    <p:sldId id="470" r:id="rId11"/>
    <p:sldId id="471" r:id="rId12"/>
    <p:sldId id="282" r:id="rId13"/>
    <p:sldId id="413" r:id="rId14"/>
    <p:sldId id="291" r:id="rId15"/>
    <p:sldId id="406" r:id="rId16"/>
    <p:sldId id="466" r:id="rId17"/>
    <p:sldId id="269" r:id="rId19"/>
    <p:sldId id="292" r:id="rId20"/>
    <p:sldId id="301" r:id="rId21"/>
    <p:sldId id="268" r:id="rId22"/>
    <p:sldId id="303" r:id="rId23"/>
    <p:sldId id="299" r:id="rId24"/>
    <p:sldId id="339" r:id="rId25"/>
    <p:sldId id="311" r:id="rId26"/>
    <p:sldId id="323" r:id="rId27"/>
    <p:sldId id="306" r:id="rId28"/>
    <p:sldId id="340" r:id="rId29"/>
    <p:sldId id="317" r:id="rId30"/>
    <p:sldId id="270" r:id="rId31"/>
    <p:sldId id="328" r:id="rId32"/>
    <p:sldId id="326" r:id="rId33"/>
    <p:sldId id="463" r:id="rId34"/>
    <p:sldId id="460" r:id="rId35"/>
    <p:sldId id="414" r:id="rId36"/>
    <p:sldId id="462" r:id="rId37"/>
    <p:sldId id="461" r:id="rId38"/>
    <p:sldId id="344" r:id="rId39"/>
    <p:sldId id="363" r:id="rId40"/>
    <p:sldId id="272" r:id="rId41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36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蔡 学昊" initials="蔡" lastIdx="3" clrIdx="6"/>
  <p:cmAuthor id="1" name="Administrator" initials="A" lastIdx="1" clrIdx="0"/>
  <p:cmAuthor id="8" name="Dell" initials="D" lastIdx="2" clrIdx="7"/>
  <p:cmAuthor id="2" name="mmc" initials="m" lastIdx="3" clrIdx="1"/>
  <p:cmAuthor id="9" name="Asus" initials="A" lastIdx="1" clrIdx="8"/>
  <p:cmAuthor id="4" name="THINK" initials="T" lastIdx="1" clrIdx="2"/>
  <p:cmAuthor id="5" name="dreamsummit" initials="d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BFBF"/>
    <a:srgbClr val="7E7E7E"/>
    <a:srgbClr val="52623F"/>
    <a:srgbClr val="8C977E"/>
    <a:srgbClr val="6F4132"/>
    <a:srgbClr val="52533F"/>
    <a:srgbClr val="225D4B"/>
    <a:srgbClr val="844132"/>
    <a:srgbClr val="624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1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216" y="232"/>
      </p:cViewPr>
      <p:guideLst>
        <p:guide orient="horz" pos="2536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622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19994" y="873776"/>
            <a:ext cx="11072006" cy="5110448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sz="1600"/>
            </a:lvl1pPr>
          </a:lstStyle>
          <a:p>
            <a:pPr lvl="0"/>
            <a:endParaRPr lang="en-US" noProof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DFCF7-14DF-4B30-94FE-D38E195CC09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7E560-C190-4A4A-8A74-9CC77FB379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989280" y="1723232"/>
            <a:ext cx="10213439" cy="3411538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/>
            </a:lvl1pPr>
          </a:lstStyle>
          <a:p>
            <a:pPr lvl="0"/>
            <a:endParaRPr lang="en-US" noProof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0DBFD0-92C2-4DD1-8571-5798E5AEFEC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3E18-DE8A-4C76-A2A8-2C40DF053EE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84.xml"/><Relationship Id="rId22" Type="http://schemas.openxmlformats.org/officeDocument/2006/relationships/image" Target="../media/image7.svg"/><Relationship Id="rId21" Type="http://schemas.openxmlformats.org/officeDocument/2006/relationships/image" Target="../media/image6.png"/><Relationship Id="rId20" Type="http://schemas.openxmlformats.org/officeDocument/2006/relationships/tags" Target="../tags/tag83.xml"/><Relationship Id="rId2" Type="http://schemas.openxmlformats.org/officeDocument/2006/relationships/tags" Target="../tags/tag69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image" Target="../media/image5.svg"/><Relationship Id="rId15" Type="http://schemas.openxmlformats.org/officeDocument/2006/relationships/image" Target="../media/image4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image" Target="../media/image3.sv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image" Target="../media/image9.png"/><Relationship Id="rId7" Type="http://schemas.openxmlformats.org/officeDocument/2006/relationships/tags" Target="../tags/tag93.xml"/><Relationship Id="rId6" Type="http://schemas.openxmlformats.org/officeDocument/2006/relationships/image" Target="../media/image8.png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95.xml"/><Relationship Id="rId10" Type="http://schemas.openxmlformats.org/officeDocument/2006/relationships/image" Target="../media/image10.png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02.xml"/><Relationship Id="rId7" Type="http://schemas.openxmlformats.org/officeDocument/2006/relationships/image" Target="../media/image11.png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04.xml"/><Relationship Id="rId11" Type="http://schemas.openxmlformats.org/officeDocument/2006/relationships/image" Target="../media/image13.png"/><Relationship Id="rId10" Type="http://schemas.openxmlformats.org/officeDocument/2006/relationships/tags" Target="../tags/tag103.xml"/><Relationship Id="rId1" Type="http://schemas.openxmlformats.org/officeDocument/2006/relationships/tags" Target="../tags/tag9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49.xml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tags" Target="../tags/tag129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../media/image14.png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181.xml"/><Relationship Id="rId22" Type="http://schemas.openxmlformats.org/officeDocument/2006/relationships/image" Target="../media/image16.png"/><Relationship Id="rId21" Type="http://schemas.openxmlformats.org/officeDocument/2006/relationships/tags" Target="../tags/tag180.xml"/><Relationship Id="rId20" Type="http://schemas.openxmlformats.org/officeDocument/2006/relationships/image" Target="../media/image15.png"/><Relationship Id="rId2" Type="http://schemas.openxmlformats.org/officeDocument/2006/relationships/tags" Target="../tags/tag163.xml"/><Relationship Id="rId19" Type="http://schemas.openxmlformats.org/officeDocument/2006/relationships/tags" Target="../tags/tag179.xml"/><Relationship Id="rId18" Type="http://schemas.openxmlformats.org/officeDocument/2006/relationships/tags" Target="../tags/tag178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image" Target="../media/image17.png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image" Target="../media/image22.png"/><Relationship Id="rId7" Type="http://schemas.openxmlformats.org/officeDocument/2006/relationships/tags" Target="../tags/tag195.xml"/><Relationship Id="rId6" Type="http://schemas.openxmlformats.org/officeDocument/2006/relationships/image" Target="../media/image21.png"/><Relationship Id="rId5" Type="http://schemas.openxmlformats.org/officeDocument/2006/relationships/tags" Target="../tags/tag194.xml"/><Relationship Id="rId4" Type="http://schemas.openxmlformats.org/officeDocument/2006/relationships/image" Target="../media/image20.png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214.xml"/><Relationship Id="rId30" Type="http://schemas.openxmlformats.org/officeDocument/2006/relationships/image" Target="../media/image26.png"/><Relationship Id="rId3" Type="http://schemas.openxmlformats.org/officeDocument/2006/relationships/tags" Target="../tags/tag193.xml"/><Relationship Id="rId29" Type="http://schemas.openxmlformats.org/officeDocument/2006/relationships/tags" Target="../tags/tag213.xml"/><Relationship Id="rId28" Type="http://schemas.openxmlformats.org/officeDocument/2006/relationships/image" Target="../media/image25.png"/><Relationship Id="rId27" Type="http://schemas.openxmlformats.org/officeDocument/2006/relationships/tags" Target="../tags/tag212.xml"/><Relationship Id="rId26" Type="http://schemas.openxmlformats.org/officeDocument/2006/relationships/image" Target="../media/image24.png"/><Relationship Id="rId25" Type="http://schemas.openxmlformats.org/officeDocument/2006/relationships/tags" Target="../tags/tag211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image" Target="../media/image19.png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image" Target="../media/image23.png"/><Relationship Id="rId1" Type="http://schemas.openxmlformats.org/officeDocument/2006/relationships/tags" Target="../tags/tag19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241.xml"/><Relationship Id="rId1" Type="http://schemas.openxmlformats.org/officeDocument/2006/relationships/tags" Target="../tags/tag23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7" Type="http://schemas.openxmlformats.org/officeDocument/2006/relationships/slideLayout" Target="../slideLayouts/slideLayout2.xml"/><Relationship Id="rId56" Type="http://schemas.openxmlformats.org/officeDocument/2006/relationships/tags" Target="../tags/tag287.xml"/><Relationship Id="rId55" Type="http://schemas.openxmlformats.org/officeDocument/2006/relationships/tags" Target="../tags/tag286.xml"/><Relationship Id="rId54" Type="http://schemas.openxmlformats.org/officeDocument/2006/relationships/image" Target="../media/image36.svg"/><Relationship Id="rId53" Type="http://schemas.openxmlformats.org/officeDocument/2006/relationships/image" Target="../media/image35.png"/><Relationship Id="rId52" Type="http://schemas.openxmlformats.org/officeDocument/2006/relationships/tags" Target="../tags/tag285.xml"/><Relationship Id="rId51" Type="http://schemas.openxmlformats.org/officeDocument/2006/relationships/image" Target="../media/image34.svg"/><Relationship Id="rId50" Type="http://schemas.openxmlformats.org/officeDocument/2006/relationships/image" Target="../media/image33.png"/><Relationship Id="rId5" Type="http://schemas.openxmlformats.org/officeDocument/2006/relationships/tags" Target="../tags/tag246.xml"/><Relationship Id="rId49" Type="http://schemas.openxmlformats.org/officeDocument/2006/relationships/tags" Target="../tags/tag284.xml"/><Relationship Id="rId48" Type="http://schemas.openxmlformats.org/officeDocument/2006/relationships/image" Target="../media/image32.svg"/><Relationship Id="rId47" Type="http://schemas.openxmlformats.org/officeDocument/2006/relationships/image" Target="../media/image31.png"/><Relationship Id="rId46" Type="http://schemas.openxmlformats.org/officeDocument/2006/relationships/tags" Target="../tags/tag283.xml"/><Relationship Id="rId45" Type="http://schemas.openxmlformats.org/officeDocument/2006/relationships/image" Target="../media/image30.svg"/><Relationship Id="rId44" Type="http://schemas.openxmlformats.org/officeDocument/2006/relationships/image" Target="../media/image29.png"/><Relationship Id="rId43" Type="http://schemas.openxmlformats.org/officeDocument/2006/relationships/tags" Target="../tags/tag282.xml"/><Relationship Id="rId42" Type="http://schemas.openxmlformats.org/officeDocument/2006/relationships/image" Target="../media/image28.svg"/><Relationship Id="rId41" Type="http://schemas.openxmlformats.org/officeDocument/2006/relationships/image" Target="../media/image27.png"/><Relationship Id="rId40" Type="http://schemas.openxmlformats.org/officeDocument/2006/relationships/tags" Target="../tags/tag281.xml"/><Relationship Id="rId4" Type="http://schemas.openxmlformats.org/officeDocument/2006/relationships/tags" Target="../tags/tag245.xml"/><Relationship Id="rId39" Type="http://schemas.openxmlformats.org/officeDocument/2006/relationships/tags" Target="../tags/tag280.xml"/><Relationship Id="rId38" Type="http://schemas.openxmlformats.org/officeDocument/2006/relationships/tags" Target="../tags/tag279.xml"/><Relationship Id="rId37" Type="http://schemas.openxmlformats.org/officeDocument/2006/relationships/tags" Target="../tags/tag278.xml"/><Relationship Id="rId36" Type="http://schemas.openxmlformats.org/officeDocument/2006/relationships/tags" Target="../tags/tag277.xml"/><Relationship Id="rId35" Type="http://schemas.openxmlformats.org/officeDocument/2006/relationships/tags" Target="../tags/tag276.xml"/><Relationship Id="rId34" Type="http://schemas.openxmlformats.org/officeDocument/2006/relationships/tags" Target="../tags/tag275.xml"/><Relationship Id="rId33" Type="http://schemas.openxmlformats.org/officeDocument/2006/relationships/tags" Target="../tags/tag274.xml"/><Relationship Id="rId32" Type="http://schemas.openxmlformats.org/officeDocument/2006/relationships/tags" Target="../tags/tag273.xml"/><Relationship Id="rId31" Type="http://schemas.openxmlformats.org/officeDocument/2006/relationships/tags" Target="../tags/tag272.xml"/><Relationship Id="rId30" Type="http://schemas.openxmlformats.org/officeDocument/2006/relationships/tags" Target="../tags/tag271.xml"/><Relationship Id="rId3" Type="http://schemas.openxmlformats.org/officeDocument/2006/relationships/tags" Target="../tags/tag244.xml"/><Relationship Id="rId29" Type="http://schemas.openxmlformats.org/officeDocument/2006/relationships/tags" Target="../tags/tag270.xml"/><Relationship Id="rId28" Type="http://schemas.openxmlformats.org/officeDocument/2006/relationships/tags" Target="../tags/tag269.xml"/><Relationship Id="rId27" Type="http://schemas.openxmlformats.org/officeDocument/2006/relationships/tags" Target="../tags/tag268.xml"/><Relationship Id="rId26" Type="http://schemas.openxmlformats.org/officeDocument/2006/relationships/tags" Target="../tags/tag267.xml"/><Relationship Id="rId25" Type="http://schemas.openxmlformats.org/officeDocument/2006/relationships/tags" Target="../tags/tag266.xml"/><Relationship Id="rId24" Type="http://schemas.openxmlformats.org/officeDocument/2006/relationships/tags" Target="../tags/tag265.xml"/><Relationship Id="rId23" Type="http://schemas.openxmlformats.org/officeDocument/2006/relationships/tags" Target="../tags/tag264.xml"/><Relationship Id="rId22" Type="http://schemas.openxmlformats.org/officeDocument/2006/relationships/tags" Target="../tags/tag263.xml"/><Relationship Id="rId21" Type="http://schemas.openxmlformats.org/officeDocument/2006/relationships/tags" Target="../tags/tag262.xml"/><Relationship Id="rId20" Type="http://schemas.openxmlformats.org/officeDocument/2006/relationships/tags" Target="../tags/tag261.xml"/><Relationship Id="rId2" Type="http://schemas.openxmlformats.org/officeDocument/2006/relationships/tags" Target="../tags/tag243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tags" Target="../tags/tag24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tags" Target="../tags/tag288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image" Target="../media/image37.png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333.xml"/><Relationship Id="rId32" Type="http://schemas.openxmlformats.org/officeDocument/2006/relationships/tags" Target="../tags/tag332.xml"/><Relationship Id="rId31" Type="http://schemas.openxmlformats.org/officeDocument/2006/relationships/image" Target="../media/image44.png"/><Relationship Id="rId30" Type="http://schemas.openxmlformats.org/officeDocument/2006/relationships/tags" Target="../tags/tag331.xml"/><Relationship Id="rId3" Type="http://schemas.openxmlformats.org/officeDocument/2006/relationships/tags" Target="../tags/tag311.xml"/><Relationship Id="rId29" Type="http://schemas.openxmlformats.org/officeDocument/2006/relationships/tags" Target="../tags/tag330.xml"/><Relationship Id="rId28" Type="http://schemas.openxmlformats.org/officeDocument/2006/relationships/image" Target="../media/image43.png"/><Relationship Id="rId27" Type="http://schemas.openxmlformats.org/officeDocument/2006/relationships/tags" Target="../tags/tag329.xml"/><Relationship Id="rId26" Type="http://schemas.openxmlformats.org/officeDocument/2006/relationships/tags" Target="../tags/tag328.xml"/><Relationship Id="rId25" Type="http://schemas.openxmlformats.org/officeDocument/2006/relationships/tags" Target="../tags/tag327.xml"/><Relationship Id="rId24" Type="http://schemas.openxmlformats.org/officeDocument/2006/relationships/tags" Target="../tags/tag326.xml"/><Relationship Id="rId23" Type="http://schemas.openxmlformats.org/officeDocument/2006/relationships/image" Target="../media/image42.png"/><Relationship Id="rId22" Type="http://schemas.openxmlformats.org/officeDocument/2006/relationships/tags" Target="../tags/tag325.xml"/><Relationship Id="rId21" Type="http://schemas.openxmlformats.org/officeDocument/2006/relationships/image" Target="../media/image41.png"/><Relationship Id="rId20" Type="http://schemas.openxmlformats.org/officeDocument/2006/relationships/tags" Target="../tags/tag324.xml"/><Relationship Id="rId2" Type="http://schemas.openxmlformats.org/officeDocument/2006/relationships/tags" Target="../tags/tag310.xml"/><Relationship Id="rId19" Type="http://schemas.openxmlformats.org/officeDocument/2006/relationships/image" Target="../media/image40.png"/><Relationship Id="rId18" Type="http://schemas.openxmlformats.org/officeDocument/2006/relationships/tags" Target="../tags/tag323.xml"/><Relationship Id="rId17" Type="http://schemas.openxmlformats.org/officeDocument/2006/relationships/tags" Target="../tags/tag322.xml"/><Relationship Id="rId16" Type="http://schemas.openxmlformats.org/officeDocument/2006/relationships/tags" Target="../tags/tag321.xml"/><Relationship Id="rId15" Type="http://schemas.openxmlformats.org/officeDocument/2006/relationships/tags" Target="../tags/tag320.xml"/><Relationship Id="rId14" Type="http://schemas.openxmlformats.org/officeDocument/2006/relationships/image" Target="../media/image39.png"/><Relationship Id="rId13" Type="http://schemas.openxmlformats.org/officeDocument/2006/relationships/tags" Target="../tags/tag319.xml"/><Relationship Id="rId12" Type="http://schemas.openxmlformats.org/officeDocument/2006/relationships/image" Target="../media/image38.png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tags" Target="../tags/tag30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371.xml"/><Relationship Id="rId30" Type="http://schemas.openxmlformats.org/officeDocument/2006/relationships/tags" Target="../tags/tag370.xml"/><Relationship Id="rId3" Type="http://schemas.openxmlformats.org/officeDocument/2006/relationships/tags" Target="../tags/tag343.xml"/><Relationship Id="rId29" Type="http://schemas.openxmlformats.org/officeDocument/2006/relationships/tags" Target="../tags/tag369.xml"/><Relationship Id="rId28" Type="http://schemas.openxmlformats.org/officeDocument/2006/relationships/tags" Target="../tags/tag368.xml"/><Relationship Id="rId27" Type="http://schemas.openxmlformats.org/officeDocument/2006/relationships/tags" Target="../tags/tag367.xml"/><Relationship Id="rId26" Type="http://schemas.openxmlformats.org/officeDocument/2006/relationships/tags" Target="../tags/tag366.xml"/><Relationship Id="rId25" Type="http://schemas.openxmlformats.org/officeDocument/2006/relationships/tags" Target="../tags/tag365.xml"/><Relationship Id="rId24" Type="http://schemas.openxmlformats.org/officeDocument/2006/relationships/tags" Target="../tags/tag364.xml"/><Relationship Id="rId23" Type="http://schemas.openxmlformats.org/officeDocument/2006/relationships/tags" Target="../tags/tag363.xml"/><Relationship Id="rId22" Type="http://schemas.openxmlformats.org/officeDocument/2006/relationships/tags" Target="../tags/tag362.xml"/><Relationship Id="rId21" Type="http://schemas.openxmlformats.org/officeDocument/2006/relationships/tags" Target="../tags/tag361.xml"/><Relationship Id="rId20" Type="http://schemas.openxmlformats.org/officeDocument/2006/relationships/tags" Target="../tags/tag360.xml"/><Relationship Id="rId2" Type="http://schemas.openxmlformats.org/officeDocument/2006/relationships/tags" Target="../tags/tag342.xml"/><Relationship Id="rId19" Type="http://schemas.openxmlformats.org/officeDocument/2006/relationships/tags" Target="../tags/tag359.xml"/><Relationship Id="rId18" Type="http://schemas.openxmlformats.org/officeDocument/2006/relationships/tags" Target="../tags/tag358.xml"/><Relationship Id="rId17" Type="http://schemas.openxmlformats.org/officeDocument/2006/relationships/tags" Target="../tags/tag357.xml"/><Relationship Id="rId16" Type="http://schemas.openxmlformats.org/officeDocument/2006/relationships/tags" Target="../tags/tag356.xml"/><Relationship Id="rId15" Type="http://schemas.openxmlformats.org/officeDocument/2006/relationships/tags" Target="../tags/tag355.xml"/><Relationship Id="rId14" Type="http://schemas.openxmlformats.org/officeDocument/2006/relationships/tags" Target="../tags/tag354.xml"/><Relationship Id="rId13" Type="http://schemas.openxmlformats.org/officeDocument/2006/relationships/tags" Target="../tags/tag353.xml"/><Relationship Id="rId12" Type="http://schemas.openxmlformats.org/officeDocument/2006/relationships/tags" Target="../tags/tag352.xml"/><Relationship Id="rId11" Type="http://schemas.openxmlformats.org/officeDocument/2006/relationships/tags" Target="../tags/tag351.xml"/><Relationship Id="rId10" Type="http://schemas.openxmlformats.org/officeDocument/2006/relationships/tags" Target="../tags/tag350.xml"/><Relationship Id="rId1" Type="http://schemas.openxmlformats.org/officeDocument/2006/relationships/tags" Target="../tags/tag34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391.xml"/><Relationship Id="rId2" Type="http://schemas.openxmlformats.org/officeDocument/2006/relationships/tags" Target="../tags/tag373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tags" Target="../tags/tag37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00.xml"/><Relationship Id="rId8" Type="http://schemas.openxmlformats.org/officeDocument/2006/relationships/tags" Target="../tags/tag399.xml"/><Relationship Id="rId7" Type="http://schemas.openxmlformats.org/officeDocument/2006/relationships/tags" Target="../tags/tag398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414.xml"/><Relationship Id="rId22" Type="http://schemas.openxmlformats.org/officeDocument/2006/relationships/tags" Target="../tags/tag413.xml"/><Relationship Id="rId21" Type="http://schemas.openxmlformats.org/officeDocument/2006/relationships/tags" Target="../tags/tag412.xml"/><Relationship Id="rId20" Type="http://schemas.openxmlformats.org/officeDocument/2006/relationships/tags" Target="../tags/tag411.xml"/><Relationship Id="rId2" Type="http://schemas.openxmlformats.org/officeDocument/2006/relationships/tags" Target="../tags/tag393.xml"/><Relationship Id="rId19" Type="http://schemas.openxmlformats.org/officeDocument/2006/relationships/tags" Target="../tags/tag410.xml"/><Relationship Id="rId18" Type="http://schemas.openxmlformats.org/officeDocument/2006/relationships/tags" Target="../tags/tag409.xml"/><Relationship Id="rId17" Type="http://schemas.openxmlformats.org/officeDocument/2006/relationships/tags" Target="../tags/tag408.xml"/><Relationship Id="rId16" Type="http://schemas.openxmlformats.org/officeDocument/2006/relationships/tags" Target="../tags/tag407.xml"/><Relationship Id="rId15" Type="http://schemas.openxmlformats.org/officeDocument/2006/relationships/tags" Target="../tags/tag406.xml"/><Relationship Id="rId14" Type="http://schemas.openxmlformats.org/officeDocument/2006/relationships/tags" Target="../tags/tag405.xml"/><Relationship Id="rId13" Type="http://schemas.openxmlformats.org/officeDocument/2006/relationships/tags" Target="../tags/tag404.xml"/><Relationship Id="rId12" Type="http://schemas.openxmlformats.org/officeDocument/2006/relationships/tags" Target="../tags/tag403.xml"/><Relationship Id="rId11" Type="http://schemas.openxmlformats.org/officeDocument/2006/relationships/tags" Target="../tags/tag402.xml"/><Relationship Id="rId10" Type="http://schemas.openxmlformats.org/officeDocument/2006/relationships/tags" Target="../tags/tag401.xml"/><Relationship Id="rId1" Type="http://schemas.openxmlformats.org/officeDocument/2006/relationships/tags" Target="../tags/tag39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2" Type="http://schemas.openxmlformats.org/officeDocument/2006/relationships/slideLayout" Target="../slideLayouts/slideLayout7.xml"/><Relationship Id="rId41" Type="http://schemas.openxmlformats.org/officeDocument/2006/relationships/tags" Target="../tags/tag447.xml"/><Relationship Id="rId40" Type="http://schemas.openxmlformats.org/officeDocument/2006/relationships/image" Target="../media/image52.svg"/><Relationship Id="rId4" Type="http://schemas.openxmlformats.org/officeDocument/2006/relationships/tags" Target="../tags/tag418.xml"/><Relationship Id="rId39" Type="http://schemas.openxmlformats.org/officeDocument/2006/relationships/image" Target="../media/image51.png"/><Relationship Id="rId38" Type="http://schemas.openxmlformats.org/officeDocument/2006/relationships/tags" Target="../tags/tag446.xml"/><Relationship Id="rId37" Type="http://schemas.openxmlformats.org/officeDocument/2006/relationships/tags" Target="../tags/tag445.xml"/><Relationship Id="rId36" Type="http://schemas.openxmlformats.org/officeDocument/2006/relationships/tags" Target="../tags/tag444.xml"/><Relationship Id="rId35" Type="http://schemas.openxmlformats.org/officeDocument/2006/relationships/tags" Target="../tags/tag443.xml"/><Relationship Id="rId34" Type="http://schemas.openxmlformats.org/officeDocument/2006/relationships/tags" Target="../tags/tag442.xml"/><Relationship Id="rId33" Type="http://schemas.openxmlformats.org/officeDocument/2006/relationships/tags" Target="../tags/tag441.xml"/><Relationship Id="rId32" Type="http://schemas.openxmlformats.org/officeDocument/2006/relationships/tags" Target="../tags/tag440.xml"/><Relationship Id="rId31" Type="http://schemas.openxmlformats.org/officeDocument/2006/relationships/image" Target="../media/image50.svg"/><Relationship Id="rId30" Type="http://schemas.openxmlformats.org/officeDocument/2006/relationships/image" Target="../media/image49.png"/><Relationship Id="rId3" Type="http://schemas.openxmlformats.org/officeDocument/2006/relationships/tags" Target="../tags/tag417.xml"/><Relationship Id="rId29" Type="http://schemas.openxmlformats.org/officeDocument/2006/relationships/tags" Target="../tags/tag439.xml"/><Relationship Id="rId28" Type="http://schemas.openxmlformats.org/officeDocument/2006/relationships/tags" Target="../tags/tag438.xml"/><Relationship Id="rId27" Type="http://schemas.openxmlformats.org/officeDocument/2006/relationships/tags" Target="../tags/tag437.xml"/><Relationship Id="rId26" Type="http://schemas.openxmlformats.org/officeDocument/2006/relationships/tags" Target="../tags/tag436.xml"/><Relationship Id="rId25" Type="http://schemas.openxmlformats.org/officeDocument/2006/relationships/tags" Target="../tags/tag435.xml"/><Relationship Id="rId24" Type="http://schemas.openxmlformats.org/officeDocument/2006/relationships/tags" Target="../tags/tag434.xml"/><Relationship Id="rId23" Type="http://schemas.openxmlformats.org/officeDocument/2006/relationships/image" Target="../media/image48.svg"/><Relationship Id="rId22" Type="http://schemas.openxmlformats.org/officeDocument/2006/relationships/image" Target="../media/image47.png"/><Relationship Id="rId21" Type="http://schemas.openxmlformats.org/officeDocument/2006/relationships/tags" Target="../tags/tag433.xml"/><Relationship Id="rId20" Type="http://schemas.openxmlformats.org/officeDocument/2006/relationships/tags" Target="../tags/tag432.xml"/><Relationship Id="rId2" Type="http://schemas.openxmlformats.org/officeDocument/2006/relationships/tags" Target="../tags/tag416.xml"/><Relationship Id="rId19" Type="http://schemas.openxmlformats.org/officeDocument/2006/relationships/tags" Target="../tags/tag431.xml"/><Relationship Id="rId18" Type="http://schemas.openxmlformats.org/officeDocument/2006/relationships/tags" Target="../tags/tag430.xml"/><Relationship Id="rId17" Type="http://schemas.openxmlformats.org/officeDocument/2006/relationships/tags" Target="../tags/tag429.xml"/><Relationship Id="rId16" Type="http://schemas.openxmlformats.org/officeDocument/2006/relationships/tags" Target="../tags/tag428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56.xml"/><Relationship Id="rId8" Type="http://schemas.openxmlformats.org/officeDocument/2006/relationships/tags" Target="../tags/tag455.xml"/><Relationship Id="rId7" Type="http://schemas.openxmlformats.org/officeDocument/2006/relationships/tags" Target="../tags/tag454.xml"/><Relationship Id="rId6" Type="http://schemas.openxmlformats.org/officeDocument/2006/relationships/tags" Target="../tags/tag453.xml"/><Relationship Id="rId5" Type="http://schemas.openxmlformats.org/officeDocument/2006/relationships/tags" Target="../tags/tag452.xml"/><Relationship Id="rId4" Type="http://schemas.openxmlformats.org/officeDocument/2006/relationships/tags" Target="../tags/tag451.xml"/><Relationship Id="rId3" Type="http://schemas.openxmlformats.org/officeDocument/2006/relationships/tags" Target="../tags/tag450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475.xml"/><Relationship Id="rId27" Type="http://schemas.openxmlformats.org/officeDocument/2006/relationships/tags" Target="../tags/tag474.xml"/><Relationship Id="rId26" Type="http://schemas.openxmlformats.org/officeDocument/2006/relationships/tags" Target="../tags/tag473.xml"/><Relationship Id="rId25" Type="http://schemas.openxmlformats.org/officeDocument/2006/relationships/tags" Target="../tags/tag472.xml"/><Relationship Id="rId24" Type="http://schemas.openxmlformats.org/officeDocument/2006/relationships/tags" Target="../tags/tag471.xml"/><Relationship Id="rId23" Type="http://schemas.openxmlformats.org/officeDocument/2006/relationships/tags" Target="../tags/tag470.xml"/><Relationship Id="rId22" Type="http://schemas.openxmlformats.org/officeDocument/2006/relationships/tags" Target="../tags/tag469.xml"/><Relationship Id="rId21" Type="http://schemas.openxmlformats.org/officeDocument/2006/relationships/tags" Target="../tags/tag468.xml"/><Relationship Id="rId20" Type="http://schemas.openxmlformats.org/officeDocument/2006/relationships/tags" Target="../tags/tag467.xml"/><Relationship Id="rId2" Type="http://schemas.openxmlformats.org/officeDocument/2006/relationships/tags" Target="../tags/tag449.xml"/><Relationship Id="rId19" Type="http://schemas.openxmlformats.org/officeDocument/2006/relationships/tags" Target="../tags/tag466.xml"/><Relationship Id="rId18" Type="http://schemas.openxmlformats.org/officeDocument/2006/relationships/tags" Target="../tags/tag465.xml"/><Relationship Id="rId17" Type="http://schemas.openxmlformats.org/officeDocument/2006/relationships/tags" Target="../tags/tag464.xml"/><Relationship Id="rId16" Type="http://schemas.openxmlformats.org/officeDocument/2006/relationships/tags" Target="../tags/tag463.xml"/><Relationship Id="rId15" Type="http://schemas.openxmlformats.org/officeDocument/2006/relationships/tags" Target="../tags/tag462.xml"/><Relationship Id="rId14" Type="http://schemas.openxmlformats.org/officeDocument/2006/relationships/tags" Target="../tags/tag461.xml"/><Relationship Id="rId13" Type="http://schemas.openxmlformats.org/officeDocument/2006/relationships/tags" Target="../tags/tag460.xml"/><Relationship Id="rId12" Type="http://schemas.openxmlformats.org/officeDocument/2006/relationships/tags" Target="../tags/tag459.xml"/><Relationship Id="rId11" Type="http://schemas.openxmlformats.org/officeDocument/2006/relationships/tags" Target="../tags/tag458.xml"/><Relationship Id="rId10" Type="http://schemas.openxmlformats.org/officeDocument/2006/relationships/tags" Target="../tags/tag457.xml"/><Relationship Id="rId1" Type="http://schemas.openxmlformats.org/officeDocument/2006/relationships/tags" Target="../tags/tag448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Relationship Id="rId3" Type="http://schemas.openxmlformats.org/officeDocument/2006/relationships/tags" Target="../tags/tag48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480.xml"/><Relationship Id="rId19" Type="http://schemas.openxmlformats.org/officeDocument/2006/relationships/tags" Target="../tags/tag497.xml"/><Relationship Id="rId18" Type="http://schemas.openxmlformats.org/officeDocument/2006/relationships/tags" Target="../tags/tag496.xml"/><Relationship Id="rId17" Type="http://schemas.openxmlformats.org/officeDocument/2006/relationships/tags" Target="../tags/tag495.xml"/><Relationship Id="rId16" Type="http://schemas.openxmlformats.org/officeDocument/2006/relationships/tags" Target="../tags/tag494.xml"/><Relationship Id="rId15" Type="http://schemas.openxmlformats.org/officeDocument/2006/relationships/tags" Target="../tags/tag493.xml"/><Relationship Id="rId14" Type="http://schemas.openxmlformats.org/officeDocument/2006/relationships/tags" Target="../tags/tag492.xml"/><Relationship Id="rId13" Type="http://schemas.openxmlformats.org/officeDocument/2006/relationships/tags" Target="../tags/tag491.xml"/><Relationship Id="rId12" Type="http://schemas.openxmlformats.org/officeDocument/2006/relationships/tags" Target="../tags/tag490.xml"/><Relationship Id="rId11" Type="http://schemas.openxmlformats.org/officeDocument/2006/relationships/tags" Target="../tags/tag489.xml"/><Relationship Id="rId10" Type="http://schemas.openxmlformats.org/officeDocument/2006/relationships/tags" Target="../tags/tag488.xml"/><Relationship Id="rId1" Type="http://schemas.openxmlformats.org/officeDocument/2006/relationships/tags" Target="../tags/tag479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13.xml"/><Relationship Id="rId15" Type="http://schemas.openxmlformats.org/officeDocument/2006/relationships/tags" Target="../tags/tag512.xml"/><Relationship Id="rId14" Type="http://schemas.openxmlformats.org/officeDocument/2006/relationships/tags" Target="../tags/tag511.xml"/><Relationship Id="rId13" Type="http://schemas.openxmlformats.org/officeDocument/2006/relationships/tags" Target="../tags/tag510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tags" Target="../tags/tag49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20.xml"/><Relationship Id="rId6" Type="http://schemas.openxmlformats.org/officeDocument/2006/relationships/tags" Target="../tags/tag519.xml"/><Relationship Id="rId5" Type="http://schemas.openxmlformats.org/officeDocument/2006/relationships/tags" Target="../tags/tag518.xml"/><Relationship Id="rId4" Type="http://schemas.openxmlformats.org/officeDocument/2006/relationships/tags" Target="../tags/tag517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" Type="http://schemas.openxmlformats.org/officeDocument/2006/relationships/tags" Target="../tags/tag514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527.xml"/><Relationship Id="rId8" Type="http://schemas.openxmlformats.org/officeDocument/2006/relationships/image" Target="../media/image54.png"/><Relationship Id="rId7" Type="http://schemas.openxmlformats.org/officeDocument/2006/relationships/tags" Target="../tags/tag526.xml"/><Relationship Id="rId6" Type="http://schemas.openxmlformats.org/officeDocument/2006/relationships/image" Target="../media/image53.png"/><Relationship Id="rId5" Type="http://schemas.openxmlformats.org/officeDocument/2006/relationships/tags" Target="../tags/tag525.xml"/><Relationship Id="rId47" Type="http://schemas.openxmlformats.org/officeDocument/2006/relationships/notesSlide" Target="../notesSlides/notesSlide4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545.xml"/><Relationship Id="rId44" Type="http://schemas.openxmlformats.org/officeDocument/2006/relationships/image" Target="../media/image72.png"/><Relationship Id="rId43" Type="http://schemas.openxmlformats.org/officeDocument/2006/relationships/tags" Target="../tags/tag544.xml"/><Relationship Id="rId42" Type="http://schemas.openxmlformats.org/officeDocument/2006/relationships/image" Target="../media/image71.png"/><Relationship Id="rId41" Type="http://schemas.openxmlformats.org/officeDocument/2006/relationships/tags" Target="../tags/tag543.xml"/><Relationship Id="rId40" Type="http://schemas.openxmlformats.org/officeDocument/2006/relationships/image" Target="../media/image70.png"/><Relationship Id="rId4" Type="http://schemas.openxmlformats.org/officeDocument/2006/relationships/tags" Target="../tags/tag524.xml"/><Relationship Id="rId39" Type="http://schemas.openxmlformats.org/officeDocument/2006/relationships/tags" Target="../tags/tag542.xml"/><Relationship Id="rId38" Type="http://schemas.openxmlformats.org/officeDocument/2006/relationships/image" Target="../media/image69.png"/><Relationship Id="rId37" Type="http://schemas.openxmlformats.org/officeDocument/2006/relationships/tags" Target="../tags/tag541.xml"/><Relationship Id="rId36" Type="http://schemas.openxmlformats.org/officeDocument/2006/relationships/image" Target="../media/image68.png"/><Relationship Id="rId35" Type="http://schemas.openxmlformats.org/officeDocument/2006/relationships/tags" Target="../tags/tag540.xml"/><Relationship Id="rId34" Type="http://schemas.openxmlformats.org/officeDocument/2006/relationships/image" Target="../media/image67.png"/><Relationship Id="rId33" Type="http://schemas.openxmlformats.org/officeDocument/2006/relationships/tags" Target="../tags/tag539.xml"/><Relationship Id="rId32" Type="http://schemas.openxmlformats.org/officeDocument/2006/relationships/image" Target="../media/image66.png"/><Relationship Id="rId31" Type="http://schemas.openxmlformats.org/officeDocument/2006/relationships/tags" Target="../tags/tag538.xml"/><Relationship Id="rId30" Type="http://schemas.openxmlformats.org/officeDocument/2006/relationships/image" Target="../media/image65.png"/><Relationship Id="rId3" Type="http://schemas.openxmlformats.org/officeDocument/2006/relationships/tags" Target="../tags/tag523.xml"/><Relationship Id="rId29" Type="http://schemas.openxmlformats.org/officeDocument/2006/relationships/tags" Target="../tags/tag537.xml"/><Relationship Id="rId28" Type="http://schemas.openxmlformats.org/officeDocument/2006/relationships/image" Target="../media/image64.png"/><Relationship Id="rId27" Type="http://schemas.openxmlformats.org/officeDocument/2006/relationships/tags" Target="../tags/tag536.xml"/><Relationship Id="rId26" Type="http://schemas.openxmlformats.org/officeDocument/2006/relationships/image" Target="../media/image63.png"/><Relationship Id="rId25" Type="http://schemas.openxmlformats.org/officeDocument/2006/relationships/tags" Target="../tags/tag535.xml"/><Relationship Id="rId24" Type="http://schemas.openxmlformats.org/officeDocument/2006/relationships/image" Target="../media/image62.png"/><Relationship Id="rId23" Type="http://schemas.openxmlformats.org/officeDocument/2006/relationships/tags" Target="../tags/tag534.xml"/><Relationship Id="rId22" Type="http://schemas.openxmlformats.org/officeDocument/2006/relationships/image" Target="../media/image61.png"/><Relationship Id="rId21" Type="http://schemas.openxmlformats.org/officeDocument/2006/relationships/tags" Target="../tags/tag533.xml"/><Relationship Id="rId20" Type="http://schemas.openxmlformats.org/officeDocument/2006/relationships/image" Target="../media/image60.png"/><Relationship Id="rId2" Type="http://schemas.openxmlformats.org/officeDocument/2006/relationships/tags" Target="../tags/tag522.xml"/><Relationship Id="rId19" Type="http://schemas.openxmlformats.org/officeDocument/2006/relationships/tags" Target="../tags/tag532.xml"/><Relationship Id="rId18" Type="http://schemas.openxmlformats.org/officeDocument/2006/relationships/image" Target="../media/image59.png"/><Relationship Id="rId17" Type="http://schemas.openxmlformats.org/officeDocument/2006/relationships/tags" Target="../tags/tag531.xml"/><Relationship Id="rId16" Type="http://schemas.openxmlformats.org/officeDocument/2006/relationships/image" Target="../media/image58.jpeg"/><Relationship Id="rId15" Type="http://schemas.openxmlformats.org/officeDocument/2006/relationships/tags" Target="../tags/tag530.xml"/><Relationship Id="rId14" Type="http://schemas.openxmlformats.org/officeDocument/2006/relationships/image" Target="../media/image57.png"/><Relationship Id="rId13" Type="http://schemas.openxmlformats.org/officeDocument/2006/relationships/tags" Target="../tags/tag529.xml"/><Relationship Id="rId12" Type="http://schemas.openxmlformats.org/officeDocument/2006/relationships/image" Target="../media/image56.png"/><Relationship Id="rId11" Type="http://schemas.openxmlformats.org/officeDocument/2006/relationships/tags" Target="../tags/tag528.xml"/><Relationship Id="rId10" Type="http://schemas.openxmlformats.org/officeDocument/2006/relationships/image" Target="../media/image55.png"/><Relationship Id="rId1" Type="http://schemas.openxmlformats.org/officeDocument/2006/relationships/tags" Target="../tags/tag52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553.xml"/><Relationship Id="rId8" Type="http://schemas.openxmlformats.org/officeDocument/2006/relationships/tags" Target="../tags/tag552.xml"/><Relationship Id="rId7" Type="http://schemas.openxmlformats.org/officeDocument/2006/relationships/tags" Target="../tags/tag551.xml"/><Relationship Id="rId6" Type="http://schemas.openxmlformats.org/officeDocument/2006/relationships/tags" Target="../tags/tag550.xml"/><Relationship Id="rId5" Type="http://schemas.openxmlformats.org/officeDocument/2006/relationships/tags" Target="../tags/tag549.xml"/><Relationship Id="rId4" Type="http://schemas.openxmlformats.org/officeDocument/2006/relationships/tags" Target="../tags/tag548.xml"/><Relationship Id="rId3" Type="http://schemas.openxmlformats.org/officeDocument/2006/relationships/tags" Target="../tags/tag547.xml"/><Relationship Id="rId2" Type="http://schemas.openxmlformats.org/officeDocument/2006/relationships/image" Target="../media/image73.pn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4.xml"/><Relationship Id="rId17" Type="http://schemas.openxmlformats.org/officeDocument/2006/relationships/tags" Target="../tags/tag559.xml"/><Relationship Id="rId16" Type="http://schemas.openxmlformats.org/officeDocument/2006/relationships/tags" Target="../tags/tag558.xml"/><Relationship Id="rId15" Type="http://schemas.openxmlformats.org/officeDocument/2006/relationships/tags" Target="../tags/tag557.xml"/><Relationship Id="rId14" Type="http://schemas.openxmlformats.org/officeDocument/2006/relationships/image" Target="../media/image75.png"/><Relationship Id="rId13" Type="http://schemas.openxmlformats.org/officeDocument/2006/relationships/tags" Target="../tags/tag556.xml"/><Relationship Id="rId12" Type="http://schemas.openxmlformats.org/officeDocument/2006/relationships/image" Target="../media/image74.png"/><Relationship Id="rId11" Type="http://schemas.openxmlformats.org/officeDocument/2006/relationships/tags" Target="../tags/tag555.xml"/><Relationship Id="rId10" Type="http://schemas.openxmlformats.org/officeDocument/2006/relationships/tags" Target="../tags/tag554.xml"/><Relationship Id="rId1" Type="http://schemas.openxmlformats.org/officeDocument/2006/relationships/tags" Target="../tags/tag54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4.xml"/><Relationship Id="rId13" Type="http://schemas.openxmlformats.org/officeDocument/2006/relationships/tags" Target="../tags/tag572.xml"/><Relationship Id="rId12" Type="http://schemas.openxmlformats.org/officeDocument/2006/relationships/tags" Target="../tags/tag571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tags" Target="../tags/tag56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581.xml"/><Relationship Id="rId8" Type="http://schemas.openxmlformats.org/officeDocument/2006/relationships/tags" Target="../tags/tag580.xml"/><Relationship Id="rId7" Type="http://schemas.openxmlformats.org/officeDocument/2006/relationships/tags" Target="../tags/tag579.xml"/><Relationship Id="rId6" Type="http://schemas.openxmlformats.org/officeDocument/2006/relationships/tags" Target="../tags/tag578.xml"/><Relationship Id="rId5" Type="http://schemas.openxmlformats.org/officeDocument/2006/relationships/tags" Target="../tags/tag577.xml"/><Relationship Id="rId4" Type="http://schemas.openxmlformats.org/officeDocument/2006/relationships/tags" Target="../tags/tag576.xml"/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583.xml"/><Relationship Id="rId10" Type="http://schemas.openxmlformats.org/officeDocument/2006/relationships/tags" Target="../tags/tag582.xml"/><Relationship Id="rId1" Type="http://schemas.openxmlformats.org/officeDocument/2006/relationships/tags" Target="../tags/tag57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590.xml"/><Relationship Id="rId6" Type="http://schemas.openxmlformats.org/officeDocument/2006/relationships/tags" Target="../tags/tag589.xml"/><Relationship Id="rId5" Type="http://schemas.openxmlformats.org/officeDocument/2006/relationships/tags" Target="../tags/tag588.xml"/><Relationship Id="rId4" Type="http://schemas.openxmlformats.org/officeDocument/2006/relationships/tags" Target="../tags/tag587.xml"/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" Type="http://schemas.openxmlformats.org/officeDocument/2006/relationships/tags" Target="../tags/tag584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" Type="http://schemas.openxmlformats.org/officeDocument/2006/relationships/tags" Target="../tags/tag597.xml"/><Relationship Id="rId6" Type="http://schemas.openxmlformats.org/officeDocument/2006/relationships/tags" Target="../tags/tag596.xml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0" Type="http://schemas.openxmlformats.org/officeDocument/2006/relationships/slideLayout" Target="../slideLayouts/slideLayout13.xml"/><Relationship Id="rId3" Type="http://schemas.openxmlformats.org/officeDocument/2006/relationships/tags" Target="../tags/tag593.xml"/><Relationship Id="rId29" Type="http://schemas.openxmlformats.org/officeDocument/2006/relationships/tags" Target="../tags/tag619.xml"/><Relationship Id="rId28" Type="http://schemas.openxmlformats.org/officeDocument/2006/relationships/tags" Target="../tags/tag618.xml"/><Relationship Id="rId27" Type="http://schemas.openxmlformats.org/officeDocument/2006/relationships/tags" Target="../tags/tag617.xml"/><Relationship Id="rId26" Type="http://schemas.openxmlformats.org/officeDocument/2006/relationships/tags" Target="../tags/tag616.xml"/><Relationship Id="rId25" Type="http://schemas.openxmlformats.org/officeDocument/2006/relationships/tags" Target="../tags/tag615.xml"/><Relationship Id="rId24" Type="http://schemas.openxmlformats.org/officeDocument/2006/relationships/tags" Target="../tags/tag614.xml"/><Relationship Id="rId23" Type="http://schemas.openxmlformats.org/officeDocument/2006/relationships/tags" Target="../tags/tag613.xml"/><Relationship Id="rId22" Type="http://schemas.openxmlformats.org/officeDocument/2006/relationships/tags" Target="../tags/tag612.xml"/><Relationship Id="rId21" Type="http://schemas.openxmlformats.org/officeDocument/2006/relationships/tags" Target="../tags/tag611.xml"/><Relationship Id="rId20" Type="http://schemas.openxmlformats.org/officeDocument/2006/relationships/tags" Target="../tags/tag610.xml"/><Relationship Id="rId2" Type="http://schemas.openxmlformats.org/officeDocument/2006/relationships/tags" Target="../tags/tag592.xml"/><Relationship Id="rId19" Type="http://schemas.openxmlformats.org/officeDocument/2006/relationships/tags" Target="../tags/tag609.xml"/><Relationship Id="rId18" Type="http://schemas.openxmlformats.org/officeDocument/2006/relationships/tags" Target="../tags/tag608.xml"/><Relationship Id="rId17" Type="http://schemas.openxmlformats.org/officeDocument/2006/relationships/tags" Target="../tags/tag607.xml"/><Relationship Id="rId16" Type="http://schemas.openxmlformats.org/officeDocument/2006/relationships/tags" Target="../tags/tag606.xml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1.xml"/><Relationship Id="rId1" Type="http://schemas.openxmlformats.org/officeDocument/2006/relationships/tags" Target="../tags/tag6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明月设计1"/>
          <p:cNvSpPr/>
          <p:nvPr userDrawn="1"/>
        </p:nvSpPr>
        <p:spPr>
          <a:xfrm>
            <a:off x="838835" y="1383665"/>
            <a:ext cx="7646670" cy="4281170"/>
          </a:xfrm>
          <a:prstGeom prst="rect">
            <a:avLst/>
          </a:prstGeom>
          <a:gradFill>
            <a:gsLst>
              <a:gs pos="16000">
                <a:srgbClr val="6F4132"/>
              </a:gs>
              <a:gs pos="100000">
                <a:srgbClr val="4A2A2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中黑S" panose="00020600040101010101" charset="-122"/>
            </a:endParaRPr>
          </a:p>
        </p:txBody>
      </p:sp>
      <p:sp>
        <p:nvSpPr>
          <p:cNvPr id="19" name="明月设计3" descr="7b0a20202020227461726765744d6f64756c65223a202270726f636573734f6e6c696e65466f6e7473220a7d0a"/>
          <p:cNvSpPr txBox="1"/>
          <p:nvPr/>
        </p:nvSpPr>
        <p:spPr>
          <a:xfrm>
            <a:off x="1292225" y="2085975"/>
            <a:ext cx="630872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6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中黑S" panose="00020600040101010101" charset="-122"/>
                <a:sym typeface="汉仪中黑S" panose="00020600040101010101" charset="-122"/>
              </a:rPr>
              <a:t>Twining</a:t>
            </a:r>
            <a:r>
              <a:rPr lang="zh-CN" altLang="en-US" sz="66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中黑S" panose="00020600040101010101" charset="-122"/>
                <a:sym typeface="汉仪中黑S" panose="00020600040101010101" charset="-122"/>
              </a:rPr>
              <a:t>川宁</a:t>
            </a:r>
            <a:endParaRPr lang="zh-CN" altLang="en-US" sz="66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汉仪中黑S" panose="00020600040101010101" charset="-122"/>
              <a:sym typeface="汉仪中黑S" panose="00020600040101010101" charset="-122"/>
            </a:endParaRPr>
          </a:p>
          <a:p>
            <a:pPr algn="l"/>
            <a:r>
              <a:rPr lang="zh-CN" altLang="en-US" sz="66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中黑S" panose="00020600040101010101" charset="-122"/>
                <a:sym typeface="汉仪中黑S" panose="00020600040101010101" charset="-122"/>
              </a:rPr>
              <a:t>站外投放方案</a:t>
            </a:r>
            <a:endParaRPr lang="zh-CN" altLang="en-US" sz="66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汉仪中黑S" panose="00020600040101010101" charset="-122"/>
              <a:sym typeface="汉仪中黑S" panose="00020600040101010101" charset="-122"/>
            </a:endParaRPr>
          </a:p>
        </p:txBody>
      </p:sp>
      <p:cxnSp>
        <p:nvCxnSpPr>
          <p:cNvPr id="10" name="明月设计12"/>
          <p:cNvCxnSpPr/>
          <p:nvPr/>
        </p:nvCxnSpPr>
        <p:spPr>
          <a:xfrm>
            <a:off x="2005330" y="738823"/>
            <a:ext cx="8562975" cy="0"/>
          </a:xfrm>
          <a:prstGeom prst="line">
            <a:avLst/>
          </a:prstGeom>
          <a:ln w="19050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835" y="306070"/>
            <a:ext cx="1563370" cy="433070"/>
          </a:xfrm>
          <a:prstGeom prst="rect">
            <a:avLst/>
          </a:prstGeom>
        </p:spPr>
      </p:pic>
      <p:sp>
        <p:nvSpPr>
          <p:cNvPr id="3" name="文本框 2" descr="e7d195523061f1c01d60fa9f1cfcbfb3d7dea265119d71e15FBB43640B43E9A75E03FE54C774D5D4779ED45933E78901D3CB0E69E39D04A9E1E9B25CF060C4BCA4D072860494D0D8E683C2FE58414E15137588162032D9E3E6ABEA69FAC4904920BC94C6ECCF9CE7C072DE984B727F1C2CF2CEC22AB12897EEDC4305EFC2E36BBDD673FECDA871CC"/>
          <p:cNvSpPr txBox="1"/>
          <p:nvPr>
            <p:custDataLst>
              <p:tags r:id="rId3"/>
            </p:custDataLst>
          </p:nvPr>
        </p:nvSpPr>
        <p:spPr>
          <a:xfrm>
            <a:off x="1381125" y="4369435"/>
            <a:ext cx="288099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sz="1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椰香可可拿铁</a:t>
            </a:r>
            <a:r>
              <a:rPr lang="en-US" altLang="zh-CN" sz="1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椰香抹茶拿铁</a:t>
            </a:r>
            <a:endParaRPr lang="zh-CN" sz="13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81125" y="4327525"/>
            <a:ext cx="2639060" cy="2540"/>
          </a:xfrm>
          <a:prstGeom prst="line">
            <a:avLst/>
          </a:prstGeom>
          <a:ln w="19050">
            <a:solidFill>
              <a:srgbClr val="5262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明月设计1"/>
          <p:cNvSpPr/>
          <p:nvPr/>
        </p:nvSpPr>
        <p:spPr>
          <a:xfrm>
            <a:off x="5996305" y="2651125"/>
            <a:ext cx="4489450" cy="660400"/>
          </a:xfrm>
          <a:prstGeom prst="roundRect">
            <a:avLst>
              <a:gd name="adj" fmla="val 24326"/>
            </a:avLst>
          </a:prstGeom>
          <a:solidFill>
            <a:schemeClr val="bg1"/>
          </a:solidFill>
          <a:ln>
            <a:solidFill>
              <a:srgbClr val="52623F"/>
            </a:solidFill>
          </a:ln>
          <a:effectLst>
            <a:outerShdw blurRad="584200" dist="63500" dir="2700000" algn="tl" rotWithShape="0">
              <a:schemeClr val="accent3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rgbClr val="8A0509"/>
              </a:solidFill>
              <a:latin typeface="汉仪中黑S" panose="00020600040101010101" charset="-122"/>
              <a:ea typeface="汉仪中黑S" panose="00020600040101010101" charset="-122"/>
              <a:cs typeface="汉仪中黑S" panose="00020600040101010101" charset="-122"/>
              <a:sym typeface="+mn-ea"/>
            </a:endParaRPr>
          </a:p>
        </p:txBody>
      </p:sp>
      <p:sp>
        <p:nvSpPr>
          <p:cNvPr id="12" name="明月设计2"/>
          <p:cNvSpPr/>
          <p:nvPr/>
        </p:nvSpPr>
        <p:spPr>
          <a:xfrm>
            <a:off x="5996305" y="3607435"/>
            <a:ext cx="4489450" cy="660400"/>
          </a:xfrm>
          <a:prstGeom prst="roundRect">
            <a:avLst>
              <a:gd name="adj" fmla="val 24326"/>
            </a:avLst>
          </a:prstGeom>
          <a:solidFill>
            <a:schemeClr val="bg1"/>
          </a:solidFill>
          <a:ln>
            <a:solidFill>
              <a:srgbClr val="52623F"/>
            </a:solidFill>
          </a:ln>
          <a:effectLst>
            <a:outerShdw blurRad="584200" dist="63500" dir="2700000" algn="tl" rotWithShape="0">
              <a:schemeClr val="accent3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rgbClr val="8A0509"/>
              </a:solidFill>
              <a:latin typeface="汉仪中黑S" panose="00020600040101010101" charset="-122"/>
              <a:ea typeface="汉仪中黑S" panose="00020600040101010101" charset="-122"/>
              <a:cs typeface="汉仪中黑S" panose="00020600040101010101" charset="-122"/>
              <a:sym typeface="+mn-ea"/>
            </a:endParaRPr>
          </a:p>
        </p:txBody>
      </p:sp>
      <p:sp>
        <p:nvSpPr>
          <p:cNvPr id="13" name="明月设计3"/>
          <p:cNvSpPr/>
          <p:nvPr/>
        </p:nvSpPr>
        <p:spPr>
          <a:xfrm>
            <a:off x="5996305" y="4623435"/>
            <a:ext cx="4489450" cy="660400"/>
          </a:xfrm>
          <a:prstGeom prst="roundRect">
            <a:avLst>
              <a:gd name="adj" fmla="val 24326"/>
            </a:avLst>
          </a:prstGeom>
          <a:solidFill>
            <a:schemeClr val="bg1"/>
          </a:solidFill>
          <a:ln>
            <a:solidFill>
              <a:srgbClr val="52623F"/>
            </a:solidFill>
          </a:ln>
          <a:effectLst>
            <a:outerShdw blurRad="584200" dist="63500" dir="2700000" algn="tl" rotWithShape="0">
              <a:schemeClr val="accent3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rgbClr val="8A0509"/>
              </a:solidFill>
              <a:latin typeface="汉仪中黑S" panose="00020600040101010101" charset="-122"/>
              <a:ea typeface="汉仪中黑S" panose="00020600040101010101" charset="-122"/>
              <a:cs typeface="汉仪中黑S" panose="00020600040101010101" charset="-122"/>
              <a:sym typeface="+mn-ea"/>
            </a:endParaRPr>
          </a:p>
        </p:txBody>
      </p:sp>
      <p:sp>
        <p:nvSpPr>
          <p:cNvPr id="7" name="明月设计4"/>
          <p:cNvSpPr/>
          <p:nvPr userDrawn="1"/>
        </p:nvSpPr>
        <p:spPr>
          <a:xfrm rot="5400000">
            <a:off x="347980" y="2139315"/>
            <a:ext cx="4258310" cy="3023870"/>
          </a:xfrm>
          <a:prstGeom prst="rect">
            <a:avLst/>
          </a:prstGeom>
          <a:gradFill>
            <a:gsLst>
              <a:gs pos="16000">
                <a:srgbClr val="6F4132"/>
              </a:gs>
              <a:gs pos="100000">
                <a:srgbClr val="4A2A2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中黑S" panose="00020600040101010101" charset="-122"/>
            </a:endParaRPr>
          </a:p>
        </p:txBody>
      </p:sp>
      <p:sp>
        <p:nvSpPr>
          <p:cNvPr id="273" name="明月设计5"/>
          <p:cNvSpPr txBox="1"/>
          <p:nvPr/>
        </p:nvSpPr>
        <p:spPr>
          <a:xfrm>
            <a:off x="1441768" y="2264171"/>
            <a:ext cx="228219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72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目 录</a:t>
            </a:r>
            <a:endParaRPr lang="zh-CN" altLang="en-US" sz="72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8" name="明月设计7"/>
          <p:cNvSpPr/>
          <p:nvPr/>
        </p:nvSpPr>
        <p:spPr>
          <a:xfrm>
            <a:off x="5996305" y="1652270"/>
            <a:ext cx="4489450" cy="660400"/>
          </a:xfrm>
          <a:prstGeom prst="roundRect">
            <a:avLst>
              <a:gd name="adj" fmla="val 24326"/>
            </a:avLst>
          </a:prstGeom>
          <a:solidFill>
            <a:schemeClr val="bg1"/>
          </a:solidFill>
          <a:ln>
            <a:solidFill>
              <a:srgbClr val="52623F"/>
            </a:solidFill>
          </a:ln>
          <a:effectLst>
            <a:outerShdw blurRad="584200" dist="63500" dir="2700000" algn="tl" rotWithShape="0">
              <a:schemeClr val="accent3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rgbClr val="8A0509"/>
              </a:solidFill>
              <a:latin typeface="汉仪中黑S" panose="00020600040101010101" charset="-122"/>
              <a:ea typeface="汉仪中黑S" panose="00020600040101010101" charset="-122"/>
              <a:cs typeface="汉仪中黑S" panose="00020600040101010101" charset="-122"/>
              <a:sym typeface="+mn-ea"/>
            </a:endParaRPr>
          </a:p>
        </p:txBody>
      </p:sp>
      <p:sp>
        <p:nvSpPr>
          <p:cNvPr id="3" name="明月设计8"/>
          <p:cNvSpPr txBox="1"/>
          <p:nvPr/>
        </p:nvSpPr>
        <p:spPr>
          <a:xfrm>
            <a:off x="6162675" y="1752283"/>
            <a:ext cx="51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en-US" altLang="zh-CN" sz="2000" noProof="1">
                <a:solidFill>
                  <a:srgbClr val="6F4132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01</a:t>
            </a:r>
            <a:endParaRPr lang="en-US" altLang="zh-CN" sz="2000" noProof="1">
              <a:solidFill>
                <a:srgbClr val="6F4132"/>
              </a:solidFill>
              <a:latin typeface="汉仪雅酷黑 75W" panose="020B0804020202020204" charset="-122"/>
              <a:ea typeface="汉仪雅酷黑 75W" panose="020B0804020202020204" charset="-122"/>
              <a:cs typeface="汉仪雅酷黑 75W" panose="020B0804020202020204" charset="-122"/>
            </a:endParaRPr>
          </a:p>
        </p:txBody>
      </p:sp>
      <p:sp>
        <p:nvSpPr>
          <p:cNvPr id="6" name="明月设计9"/>
          <p:cNvSpPr txBox="1"/>
          <p:nvPr/>
        </p:nvSpPr>
        <p:spPr>
          <a:xfrm>
            <a:off x="6759575" y="1772603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市场环境分析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4" name="明月设计10"/>
          <p:cNvSpPr txBox="1"/>
          <p:nvPr/>
        </p:nvSpPr>
        <p:spPr>
          <a:xfrm>
            <a:off x="8703945" y="1844675"/>
            <a:ext cx="17818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/>
            <a:r>
              <a:rPr lang="zh-CN" altLang="en-US" sz="1200" spc="100" noProof="1">
                <a:solidFill>
                  <a:schemeClr val="tx1">
                    <a:lumMod val="75000"/>
                    <a:lumOff val="25000"/>
                    <a:alpha val="69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Market analysis</a:t>
            </a:r>
            <a:endParaRPr lang="zh-CN" altLang="en-US" sz="1200" spc="100" noProof="1">
              <a:solidFill>
                <a:schemeClr val="tx1">
                  <a:lumMod val="75000"/>
                  <a:lumOff val="25000"/>
                  <a:alpha val="69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14" name="明月设计11"/>
          <p:cNvSpPr txBox="1"/>
          <p:nvPr/>
        </p:nvSpPr>
        <p:spPr>
          <a:xfrm>
            <a:off x="6162675" y="2766378"/>
            <a:ext cx="51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en-US" altLang="zh-CN" sz="2000" noProof="1">
                <a:solidFill>
                  <a:srgbClr val="6F4132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02</a:t>
            </a:r>
            <a:endParaRPr lang="en-US" altLang="zh-CN" sz="2000" noProof="1">
              <a:solidFill>
                <a:srgbClr val="6F4132"/>
              </a:solidFill>
              <a:latin typeface="汉仪雅酷黑 75W" panose="020B0804020202020204" charset="-122"/>
              <a:ea typeface="汉仪雅酷黑 75W" panose="020B0804020202020204" charset="-122"/>
              <a:cs typeface="汉仪雅酷黑 75W" panose="020B0804020202020204" charset="-122"/>
            </a:endParaRPr>
          </a:p>
        </p:txBody>
      </p:sp>
      <p:sp>
        <p:nvSpPr>
          <p:cNvPr id="15" name="明月设计12"/>
          <p:cNvSpPr txBox="1"/>
          <p:nvPr/>
        </p:nvSpPr>
        <p:spPr>
          <a:xfrm>
            <a:off x="6759575" y="2777173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小红书投放策略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16" name="明月设计13"/>
          <p:cNvSpPr txBox="1"/>
          <p:nvPr/>
        </p:nvSpPr>
        <p:spPr>
          <a:xfrm>
            <a:off x="8703945" y="2849245"/>
            <a:ext cx="17056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1200" spc="100" noProof="1">
                <a:solidFill>
                  <a:schemeClr val="tx1">
                    <a:lumMod val="75000"/>
                    <a:lumOff val="25000"/>
                    <a:alpha val="69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Placement </a:t>
            </a:r>
            <a:r>
              <a:rPr lang="zh-CN" altLang="en-US" sz="1200" noProof="1">
                <a:solidFill>
                  <a:schemeClr val="tx1">
                    <a:lumMod val="75000"/>
                    <a:lumOff val="25000"/>
                    <a:alpha val="69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strategy</a:t>
            </a:r>
            <a:endParaRPr lang="zh-CN" altLang="en-US" sz="1200" noProof="1">
              <a:solidFill>
                <a:schemeClr val="tx1">
                  <a:lumMod val="75000"/>
                  <a:lumOff val="25000"/>
                  <a:alpha val="69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19" name="明月设计14"/>
          <p:cNvSpPr txBox="1"/>
          <p:nvPr/>
        </p:nvSpPr>
        <p:spPr>
          <a:xfrm>
            <a:off x="6162675" y="3724593"/>
            <a:ext cx="51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en-US" altLang="zh-CN" sz="2000" noProof="1">
                <a:solidFill>
                  <a:srgbClr val="6F4132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03</a:t>
            </a:r>
            <a:endParaRPr lang="en-US" altLang="zh-CN" sz="2000" noProof="1">
              <a:solidFill>
                <a:srgbClr val="6F4132"/>
              </a:solidFill>
              <a:latin typeface="汉仪雅酷黑 75W" panose="020B0804020202020204" charset="-122"/>
              <a:ea typeface="汉仪雅酷黑 75W" panose="020B0804020202020204" charset="-122"/>
              <a:cs typeface="汉仪雅酷黑 75W" panose="020B0804020202020204" charset="-122"/>
            </a:endParaRPr>
          </a:p>
        </p:txBody>
      </p:sp>
      <p:sp>
        <p:nvSpPr>
          <p:cNvPr id="20" name="明月设计15"/>
          <p:cNvSpPr txBox="1"/>
          <p:nvPr/>
        </p:nvSpPr>
        <p:spPr>
          <a:xfrm>
            <a:off x="6759575" y="3744913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小红书执行规划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22" name="明月设计16"/>
          <p:cNvSpPr txBox="1"/>
          <p:nvPr/>
        </p:nvSpPr>
        <p:spPr>
          <a:xfrm>
            <a:off x="8703945" y="3816985"/>
            <a:ext cx="15494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200" spc="100">
                <a:solidFill>
                  <a:schemeClr val="tx1">
                    <a:lumMod val="75000"/>
                    <a:lumOff val="25000"/>
                    <a:alpha val="69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  <a:sym typeface="+mn-ea"/>
              </a:rPr>
              <a:t>Executive planning</a:t>
            </a:r>
            <a:endParaRPr lang="zh-CN" altLang="en-US" sz="1200" spc="100">
              <a:solidFill>
                <a:schemeClr val="tx1">
                  <a:lumMod val="75000"/>
                  <a:lumOff val="25000"/>
                  <a:alpha val="69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  <a:sym typeface="+mn-ea"/>
            </a:endParaRPr>
          </a:p>
        </p:txBody>
      </p:sp>
      <p:sp>
        <p:nvSpPr>
          <p:cNvPr id="24" name="明月设计17"/>
          <p:cNvSpPr txBox="1"/>
          <p:nvPr/>
        </p:nvSpPr>
        <p:spPr>
          <a:xfrm>
            <a:off x="6162675" y="4729163"/>
            <a:ext cx="51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en-US" altLang="zh-CN" sz="2000" noProof="1">
                <a:solidFill>
                  <a:srgbClr val="6F4132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04</a:t>
            </a:r>
            <a:endParaRPr lang="en-US" altLang="zh-CN" sz="2000" noProof="1">
              <a:solidFill>
                <a:srgbClr val="6F4132"/>
              </a:solidFill>
              <a:latin typeface="汉仪雅酷黑 75W" panose="020B0804020202020204" charset="-122"/>
              <a:ea typeface="汉仪雅酷黑 75W" panose="020B0804020202020204" charset="-122"/>
              <a:cs typeface="汉仪雅酷黑 75W" panose="020B0804020202020204" charset="-122"/>
            </a:endParaRPr>
          </a:p>
        </p:txBody>
      </p:sp>
      <p:sp>
        <p:nvSpPr>
          <p:cNvPr id="25" name="明月设计18"/>
          <p:cNvSpPr txBox="1"/>
          <p:nvPr/>
        </p:nvSpPr>
        <p:spPr>
          <a:xfrm>
            <a:off x="6759575" y="4749483"/>
            <a:ext cx="18808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投放目标&amp;预算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  <p:sp>
        <p:nvSpPr>
          <p:cNvPr id="26" name="明月设计19"/>
          <p:cNvSpPr txBox="1"/>
          <p:nvPr/>
        </p:nvSpPr>
        <p:spPr>
          <a:xfrm>
            <a:off x="8703945" y="4821555"/>
            <a:ext cx="13849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200" spc="100">
                <a:solidFill>
                  <a:schemeClr val="tx1">
                    <a:lumMod val="75000"/>
                    <a:lumOff val="25000"/>
                    <a:alpha val="69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  <a:sym typeface="+mn-ea"/>
              </a:rPr>
              <a:t>Target &amp; Budget</a:t>
            </a:r>
            <a:endParaRPr lang="zh-CN" altLang="en-US" sz="1200" spc="100">
              <a:solidFill>
                <a:schemeClr val="tx1">
                  <a:lumMod val="75000"/>
                  <a:lumOff val="25000"/>
                  <a:alpha val="69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  <a:sym typeface="+mn-ea"/>
            </a:endParaRPr>
          </a:p>
        </p:txBody>
      </p:sp>
      <p:grpSp>
        <p:nvGrpSpPr>
          <p:cNvPr id="31" name="明月设计20"/>
          <p:cNvGrpSpPr/>
          <p:nvPr/>
        </p:nvGrpSpPr>
        <p:grpSpPr>
          <a:xfrm>
            <a:off x="11282680" y="349885"/>
            <a:ext cx="511810" cy="82550"/>
            <a:chOff x="15240" y="930"/>
            <a:chExt cx="1514" cy="244"/>
          </a:xfrm>
        </p:grpSpPr>
        <p:grpSp>
          <p:nvGrpSpPr>
            <p:cNvPr id="27" name="组合 26"/>
            <p:cNvGrpSpPr/>
            <p:nvPr/>
          </p:nvGrpSpPr>
          <p:grpSpPr>
            <a:xfrm>
              <a:off x="15240" y="930"/>
              <a:ext cx="665" cy="244"/>
              <a:chOff x="15240" y="930"/>
              <a:chExt cx="665" cy="244"/>
            </a:xfrm>
          </p:grpSpPr>
          <p:sp>
            <p:nvSpPr>
              <p:cNvPr id="18" name="明月设计20-1"/>
              <p:cNvSpPr/>
              <p:nvPr/>
            </p:nvSpPr>
            <p:spPr>
              <a:xfrm>
                <a:off x="15240" y="930"/>
                <a:ext cx="244" cy="244"/>
              </a:xfrm>
              <a:prstGeom prst="ellipse">
                <a:avLst/>
              </a:prstGeom>
              <a:solidFill>
                <a:srgbClr val="8B59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中黑S" panose="00020600040101010101" charset="-122"/>
                </a:endParaRPr>
              </a:p>
            </p:txBody>
          </p:sp>
          <p:sp>
            <p:nvSpPr>
              <p:cNvPr id="21" name="明月设计20-2"/>
              <p:cNvSpPr/>
              <p:nvPr/>
            </p:nvSpPr>
            <p:spPr>
              <a:xfrm>
                <a:off x="15661" y="930"/>
                <a:ext cx="244" cy="244"/>
              </a:xfrm>
              <a:prstGeom prst="ellipse">
                <a:avLst/>
              </a:prstGeom>
              <a:noFill/>
              <a:ln>
                <a:solidFill>
                  <a:srgbClr val="8B594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B5943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中黑S" panose="00020600040101010101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6090" y="930"/>
              <a:ext cx="665" cy="244"/>
              <a:chOff x="15240" y="930"/>
              <a:chExt cx="665" cy="244"/>
            </a:xfrm>
          </p:grpSpPr>
          <p:sp>
            <p:nvSpPr>
              <p:cNvPr id="29" name="明月设计20-3"/>
              <p:cNvSpPr/>
              <p:nvPr/>
            </p:nvSpPr>
            <p:spPr>
              <a:xfrm>
                <a:off x="15240" y="930"/>
                <a:ext cx="244" cy="244"/>
              </a:xfrm>
              <a:prstGeom prst="ellipse">
                <a:avLst/>
              </a:prstGeom>
              <a:solidFill>
                <a:srgbClr val="8B59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中黑S" panose="00020600040101010101" charset="-122"/>
                </a:endParaRPr>
              </a:p>
            </p:txBody>
          </p:sp>
          <p:sp>
            <p:nvSpPr>
              <p:cNvPr id="30" name="明月设计20-4"/>
              <p:cNvSpPr/>
              <p:nvPr/>
            </p:nvSpPr>
            <p:spPr>
              <a:xfrm>
                <a:off x="15661" y="930"/>
                <a:ext cx="244" cy="244"/>
              </a:xfrm>
              <a:prstGeom prst="ellipse">
                <a:avLst/>
              </a:prstGeom>
              <a:noFill/>
              <a:ln>
                <a:solidFill>
                  <a:srgbClr val="8B594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B5943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中黑S" panose="00020600040101010101" charset="-122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1537018" y="3744913"/>
            <a:ext cx="2187575" cy="421005"/>
            <a:chOff x="2179" y="5929"/>
            <a:chExt cx="3445" cy="663"/>
          </a:xfrm>
        </p:grpSpPr>
        <p:sp>
          <p:nvSpPr>
            <p:cNvPr id="32" name="明月设计21"/>
            <p:cNvSpPr/>
            <p:nvPr/>
          </p:nvSpPr>
          <p:spPr>
            <a:xfrm>
              <a:off x="2179" y="5929"/>
              <a:ext cx="3445" cy="663"/>
            </a:xfrm>
            <a:prstGeom prst="roundRect">
              <a:avLst>
                <a:gd name="adj" fmla="val 24315"/>
              </a:avLst>
            </a:prstGeom>
            <a:solidFill>
              <a:srgbClr val="52623F"/>
            </a:solidFill>
            <a:ln>
              <a:noFill/>
            </a:ln>
            <a:effectLst>
              <a:outerShdw blurRad="393700" dist="88900" dir="5400000" algn="t" rotWithShape="0">
                <a:srgbClr val="E03716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>
                <a:solidFill>
                  <a:schemeClr val="bg1"/>
                </a:solidFill>
                <a:latin typeface="汉仪中黑S" panose="00020600040101010101" charset="-122"/>
                <a:ea typeface="汉仪中黑S" panose="00020600040101010101" charset="-122"/>
                <a:cs typeface="汉仪中黑S" panose="00020600040101010101" charset="-122"/>
              </a:endParaRPr>
            </a:p>
          </p:txBody>
        </p:sp>
        <p:sp>
          <p:nvSpPr>
            <p:cNvPr id="2" name="明月设计22"/>
            <p:cNvSpPr txBox="1"/>
            <p:nvPr/>
          </p:nvSpPr>
          <p:spPr>
            <a:xfrm>
              <a:off x="2672" y="5995"/>
              <a:ext cx="245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/>
              <a:r>
                <a:rPr lang="en-US" altLang="zh-CN" sz="1600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CONTENTS</a:t>
              </a:r>
              <a:endParaRPr lang="en-US" altLang="zh-CN" sz="16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835" y="306070"/>
            <a:ext cx="1563370" cy="4330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现阶段投放目的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圆角矩形 17"/>
          <p:cNvSpPr/>
          <p:nvPr>
            <p:custDataLst>
              <p:tags r:id="rId5"/>
            </p:custDataLst>
          </p:nvPr>
        </p:nvSpPr>
        <p:spPr>
          <a:xfrm>
            <a:off x="8648065" y="1801495"/>
            <a:ext cx="1979930" cy="3255645"/>
          </a:xfrm>
          <a:prstGeom prst="roundRect">
            <a:avLst>
              <a:gd name="adj" fmla="val 50000"/>
            </a:avLst>
          </a:prstGeom>
          <a:solidFill>
            <a:srgbClr val="7E7E7E">
              <a:alpha val="50000"/>
            </a:srgbClr>
          </a:soli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6"/>
            </p:custDataLst>
          </p:nvPr>
        </p:nvSpPr>
        <p:spPr>
          <a:xfrm>
            <a:off x="8776970" y="2012950"/>
            <a:ext cx="1722755" cy="28327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7E7E7E"/>
            </a:solidFill>
          </a:ln>
          <a:effectLst>
            <a:outerShdw blurRad="63500" sx="102000" sy="102000" algn="ctr" rotWithShape="0">
              <a:srgbClr val="7E7E7E">
                <a:alpha val="4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777605" y="2996565"/>
            <a:ext cx="1722120" cy="138747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品效合一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推广收割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天猫站内搜索流量拉升</a:t>
            </a:r>
            <a:endParaRPr lang="zh-CN" altLang="en-US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pic>
        <p:nvPicPr>
          <p:cNvPr id="51" name="图片 50" descr="343435383038363b343532323430323bcdc6b9e3b7bdb0b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03715" y="2452370"/>
            <a:ext cx="467995" cy="467995"/>
          </a:xfrm>
          <a:prstGeom prst="rect">
            <a:avLst/>
          </a:prstGeom>
        </p:spPr>
      </p:pic>
      <p:sp>
        <p:nvSpPr>
          <p:cNvPr id="6" name="圆角矩形 5"/>
          <p:cNvSpPr/>
          <p:nvPr>
            <p:custDataLst>
              <p:tags r:id="rId11"/>
            </p:custDataLst>
          </p:nvPr>
        </p:nvSpPr>
        <p:spPr>
          <a:xfrm>
            <a:off x="5105400" y="1801495"/>
            <a:ext cx="1979930" cy="3255645"/>
          </a:xfrm>
          <a:prstGeom prst="roundRect">
            <a:avLst>
              <a:gd name="adj" fmla="val 50000"/>
            </a:avLst>
          </a:prstGeom>
          <a:solidFill>
            <a:srgbClr val="52623F">
              <a:alpha val="50000"/>
            </a:srgbClr>
          </a:soli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12"/>
            </p:custDataLst>
          </p:nvPr>
        </p:nvSpPr>
        <p:spPr>
          <a:xfrm>
            <a:off x="5234305" y="2012950"/>
            <a:ext cx="1722755" cy="28327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52623F"/>
            </a:solidFill>
          </a:ln>
          <a:effectLst>
            <a:outerShdw blurRad="63500" sx="102000" sy="102000" algn="ctr" rotWithShape="0">
              <a:srgbClr val="52623F">
                <a:alpha val="4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5234940" y="2996565"/>
            <a:ext cx="1722120" cy="138747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产品拉新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类目流量抢夺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平台爆款内容素材打造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endParaRPr lang="zh-CN" altLang="en-US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pic>
        <p:nvPicPr>
          <p:cNvPr id="9" name="图片 8" descr="343435383038363b343532323430383bd3aacffab2bcbed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61050" y="2452370"/>
            <a:ext cx="467995" cy="467995"/>
          </a:xfrm>
          <a:prstGeom prst="rect">
            <a:avLst/>
          </a:prstGeom>
        </p:spPr>
      </p:pic>
      <p:sp>
        <p:nvSpPr>
          <p:cNvPr id="10" name="圆角矩形 9"/>
          <p:cNvSpPr/>
          <p:nvPr>
            <p:custDataLst>
              <p:tags r:id="rId17"/>
            </p:custDataLst>
          </p:nvPr>
        </p:nvSpPr>
        <p:spPr>
          <a:xfrm>
            <a:off x="1562735" y="1801495"/>
            <a:ext cx="1979930" cy="3255645"/>
          </a:xfrm>
          <a:prstGeom prst="roundRect">
            <a:avLst>
              <a:gd name="adj" fmla="val 50000"/>
            </a:avLst>
          </a:prstGeom>
          <a:solidFill>
            <a:srgbClr val="6F4132">
              <a:alpha val="50000"/>
            </a:srgbClr>
          </a:soli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>
            <p:custDataLst>
              <p:tags r:id="rId18"/>
            </p:custDataLst>
          </p:nvPr>
        </p:nvSpPr>
        <p:spPr>
          <a:xfrm>
            <a:off x="1691640" y="2012950"/>
            <a:ext cx="1722755" cy="28327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6F4132"/>
            </a:solidFill>
          </a:ln>
          <a:effectLst>
            <a:outerShdw blurRad="63500" sx="102000" sy="102000" algn="ctr" rotWithShape="0">
              <a:srgbClr val="6F4132">
                <a:alpha val="4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692275" y="2996565"/>
            <a:ext cx="1722120" cy="1387475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品牌拉升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深认知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高曝光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口碑精细生态种草提升转化</a:t>
            </a:r>
            <a:endParaRPr lang="zh-CN" altLang="en-US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pic>
        <p:nvPicPr>
          <p:cNvPr id="15" name="图片 14" descr="343435383038363b343532323339363bd5bdc2d4c4bfb1ea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19020" y="2452370"/>
            <a:ext cx="467995" cy="46799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635" y="2002790"/>
            <a:ext cx="12192000" cy="2695575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09545" y="1421765"/>
            <a:ext cx="864870" cy="793750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41370" y="1019810"/>
            <a:ext cx="574040" cy="645795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副标题 1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4161155"/>
            <a:ext cx="4651375" cy="412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None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Market dynamics and demographic insights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3" name="明月设计5"/>
          <p:cNvSpPr txBox="1"/>
          <p:nvPr>
            <p:custDataLst>
              <p:tags r:id="rId2"/>
            </p:custDataLst>
          </p:nvPr>
        </p:nvSpPr>
        <p:spPr>
          <a:xfrm>
            <a:off x="-9525" y="2144395"/>
            <a:ext cx="6811010" cy="201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fontAlgn="auto"/>
            <a:r>
              <a:rPr lang="en-US" altLang="zh-CN" sz="6000" b="1" i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01.</a:t>
            </a:r>
            <a:endParaRPr lang="en-US" altLang="zh-CN" sz="6000" b="1" i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  <a:p>
            <a:pPr algn="l" fontAlgn="auto"/>
            <a:r>
              <a:rPr lang="zh-CN" altLang="en-US" sz="6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市场环境分析</a:t>
            </a:r>
            <a:endParaRPr lang="zh-CN" altLang="en-US" sz="60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23520" y="3003550"/>
            <a:ext cx="11798300" cy="346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chemeClr val="tx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小红书饮品分享氛围浓厚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种草用户效率高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5629275" y="3107109"/>
            <a:ext cx="6286506" cy="3206061"/>
            <a:chOff x="1204" y="4756"/>
            <a:chExt cx="8862" cy="4520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204" y="4892"/>
              <a:ext cx="7513" cy="4384"/>
            </a:xfrm>
            <a:prstGeom prst="rect">
              <a:avLst/>
            </a:prstGeom>
          </p:spPr>
        </p:pic>
        <p:sp>
          <p:nvSpPr>
            <p:cNvPr id="15" name="圆角矩形标注 14"/>
            <p:cNvSpPr/>
            <p:nvPr/>
          </p:nvSpPr>
          <p:spPr>
            <a:xfrm>
              <a:off x="7658" y="4756"/>
              <a:ext cx="2408" cy="1180"/>
            </a:xfrm>
            <a:prstGeom prst="wedgeRoundRectCallout">
              <a:avLst>
                <a:gd name="adj1" fmla="val -38941"/>
                <a:gd name="adj2" fmla="val 67574"/>
                <a:gd name="adj3" fmla="val 16667"/>
              </a:avLst>
            </a:prstGeom>
            <a:solidFill>
              <a:srgbClr val="6F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/>
                <a:t>82.6%饮料用户看到饮料产品，不超过7次就会对产生购买尝试的想法。</a:t>
              </a:r>
              <a:endParaRPr lang="zh-CN" altLang="en-US" sz="1000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327150" y="1487805"/>
            <a:ext cx="9650095" cy="1250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 altLang="en-US"/>
              <a:t>小红书是了解饮品/饮料新品牌、新产品的重要渠道（75.8%），比线下便利店/超市（46.8%）高出29%，</a:t>
            </a:r>
            <a:r>
              <a:rPr lang="zh-CN" altLang="en-US" b="1" u="sng"/>
              <a:t>是用户认识饮料新品牌、新产品的「核心渠道」</a:t>
            </a:r>
            <a:endParaRPr lang="zh-CN" altLang="en-US" b="1" u="sng"/>
          </a:p>
          <a:p>
            <a:pPr indent="0" fontAlgn="auto">
              <a:spcBef>
                <a:spcPts val="400"/>
              </a:spcBef>
            </a:pPr>
            <a:r>
              <a:rPr lang="zh-CN" altLang="en-US" b="1" u="sng"/>
              <a:t>小红书的种草环境容易激发用户对饮料产品的购买意愿，种草效率高。</a:t>
            </a:r>
            <a:r>
              <a:rPr lang="zh-CN" altLang="en-US"/>
              <a:t>8成以上的用户，看到饮品饮料产品不超过7次，就会产生购买需求。</a:t>
            </a:r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434975" y="3107690"/>
            <a:ext cx="4441825" cy="3205480"/>
            <a:chOff x="685" y="5388"/>
            <a:chExt cx="6548" cy="4733"/>
          </a:xfrm>
        </p:grpSpPr>
        <p:pic>
          <p:nvPicPr>
            <p:cNvPr id="19" name="图片 1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l="6392" t="5389" r="9211" b="6355"/>
            <a:stretch>
              <a:fillRect/>
            </a:stretch>
          </p:blipFill>
          <p:spPr>
            <a:xfrm>
              <a:off x="685" y="5388"/>
              <a:ext cx="5901" cy="473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10650" r="2590" b="11190"/>
            <a:stretch>
              <a:fillRect/>
            </a:stretch>
          </p:blipFill>
          <p:spPr>
            <a:xfrm>
              <a:off x="845" y="6078"/>
              <a:ext cx="6388" cy="492"/>
            </a:xfrm>
            <a:prstGeom prst="rect">
              <a:avLst/>
            </a:prstGeom>
            <a:ln>
              <a:solidFill>
                <a:srgbClr val="52623F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4" name="文本框 23"/>
          <p:cNvSpPr txBox="1"/>
          <p:nvPr/>
        </p:nvSpPr>
        <p:spPr>
          <a:xfrm>
            <a:off x="9265285" y="6195060"/>
            <a:ext cx="27565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zh-CN" sz="1200">
                <a:sym typeface="+mn-ea"/>
              </a:rPr>
              <a:t>* </a:t>
            </a:r>
            <a:r>
              <a:rPr lang="zh-CN" altLang="en-US" sz="1200">
                <a:sym typeface="+mn-ea"/>
              </a:rPr>
              <a:t>数据来源：小红书用研团队</a:t>
            </a:r>
            <a:endParaRPr lang="zh-CN" altLang="en-US" sz="1200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23520" y="3003550"/>
            <a:ext cx="11798300" cy="346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chemeClr val="tx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冲泡饮类目种草热度高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用户更倾向真实感受和创意内容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327150" y="1411605"/>
            <a:ext cx="9650095" cy="1250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 altLang="en-US"/>
              <a:t>近30天内，冲泡相关笔记数达</a:t>
            </a:r>
            <a:r>
              <a:rPr lang="en-US" altLang="zh-CN"/>
              <a:t>10,700</a:t>
            </a:r>
            <a:r>
              <a:rPr lang="zh-CN" altLang="en-US"/>
              <a:t>篇，报备笔记</a:t>
            </a:r>
            <a:r>
              <a:rPr lang="en-US" altLang="zh-CN"/>
              <a:t>1044</a:t>
            </a:r>
            <a:r>
              <a:rPr lang="zh-CN" altLang="en-US"/>
              <a:t>篇，提及品牌数</a:t>
            </a:r>
            <a:r>
              <a:rPr lang="en-US" altLang="zh-CN"/>
              <a:t>203</a:t>
            </a:r>
            <a:r>
              <a:rPr lang="zh-CN" altLang="en-US"/>
              <a:t> 个，</a:t>
            </a:r>
            <a:r>
              <a:rPr lang="zh-CN" altLang="en-US" b="1" u="sng"/>
              <a:t>预计阅读量</a:t>
            </a:r>
            <a:r>
              <a:rPr lang="en-US" altLang="zh-CN" b="1" u="sng"/>
              <a:t>2,696.99</a:t>
            </a:r>
            <a:r>
              <a:rPr lang="zh-CN" altLang="en-US" b="1" u="sng"/>
              <a:t>万，互动量</a:t>
            </a:r>
            <a:r>
              <a:rPr lang="en-US" altLang="zh-CN" b="1" u="sng"/>
              <a:t>104.02</a:t>
            </a:r>
            <a:r>
              <a:rPr lang="zh-CN" altLang="en-US" b="1" u="sng"/>
              <a:t>万；</a:t>
            </a:r>
            <a:endParaRPr lang="zh-CN" altLang="en-US" u="sng"/>
          </a:p>
          <a:p>
            <a:pPr indent="0" fontAlgn="auto">
              <a:spcBef>
                <a:spcPts val="400"/>
              </a:spcBef>
            </a:pPr>
            <a:r>
              <a:rPr lang="zh-CN" altLang="en-US" b="1" u="sng">
                <a:sym typeface="+mn-ea"/>
              </a:rPr>
              <a:t>用户都比较侧重饮料创意内容、饮品/饮料的饮用感受以及产品评测内容</a:t>
            </a:r>
            <a:r>
              <a:rPr lang="zh-CN" altLang="en-US">
                <a:sym typeface="+mn-ea"/>
              </a:rPr>
              <a:t>；</a:t>
            </a:r>
            <a:r>
              <a:rPr lang="zh-CN" altLang="en-US"/>
              <a:t>小红书平台直接搜索关键词</a:t>
            </a:r>
            <a:r>
              <a:rPr lang="en-US" altLang="zh-CN"/>
              <a:t>“</a:t>
            </a:r>
            <a:r>
              <a:rPr lang="zh-CN" altLang="en-US"/>
              <a:t>冲泡饮</a:t>
            </a:r>
            <a:r>
              <a:rPr lang="en-US" altLang="zh-CN"/>
              <a:t>”</a:t>
            </a:r>
            <a:r>
              <a:rPr lang="zh-CN" altLang="en-US"/>
              <a:t>，前5屏均为爆文，万赞爆文数篇，用户会对此口味，创意喝法以展开讨论。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64685" y="3246755"/>
            <a:ext cx="3851275" cy="30619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4975" y="5078095"/>
            <a:ext cx="4020185" cy="123571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34975" y="3253105"/>
            <a:ext cx="3997960" cy="182499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23520" y="3003550"/>
            <a:ext cx="11798300" cy="346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chemeClr val="tx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健康化、品质化、营养化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成为用户的消费新需求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327150" y="1411605"/>
            <a:ext cx="9650095" cy="1527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 altLang="en-US"/>
              <a:t>随着消费者的生活状态更加多元，在饮食方式上的选择也变得更加多样。现阶段消费者对于品质“吃喝“的需求也进一步具象，在选购上更为理智和谨慎，</a:t>
            </a:r>
            <a:r>
              <a:rPr lang="zh-CN" altLang="en-US" b="1" u="sng">
                <a:solidFill>
                  <a:schemeClr val="tx1"/>
                </a:solidFill>
              </a:rPr>
              <a:t>健康绿色、营养价值、产品品质成为消费者在饮食选购中的新需求点</a:t>
            </a:r>
            <a:r>
              <a:rPr lang="zh-CN" altLang="en-US"/>
              <a:t>；</a:t>
            </a:r>
            <a:endParaRPr lang="zh-CN" altLang="en-US"/>
          </a:p>
          <a:p>
            <a:pPr indent="0" fontAlgn="auto">
              <a:spcBef>
                <a:spcPts val="400"/>
              </a:spcBef>
            </a:pPr>
            <a:r>
              <a:rPr lang="zh-CN" altLang="en-US"/>
              <a:t>其中0添加产品、健康低脂产品尤其受到青睐。</a:t>
            </a:r>
            <a:r>
              <a:rPr lang="zh-CN" altLang="en-US" b="1" u="sng">
                <a:solidFill>
                  <a:schemeClr val="tx1"/>
                </a:solidFill>
              </a:rPr>
              <a:t>营养化、品质化、健康化是消费者在饮食上的新追求。</a:t>
            </a:r>
            <a:endParaRPr lang="zh-CN" altLang="en-US" b="1" u="sng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创新吃法成流量密码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不断创造潮流风向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327150" y="1487805"/>
            <a:ext cx="9650095" cy="973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 altLang="en-US"/>
              <a:t>目前在小红书关于美食有超过2400万+笔记发布，饮品超</a:t>
            </a:r>
            <a:r>
              <a:rPr lang="en-US" altLang="zh-CN"/>
              <a:t>380</a:t>
            </a:r>
            <a:r>
              <a:rPr lang="zh-CN" altLang="en-US"/>
              <a:t>万篇笔记，美食博主超1万+，21年搜索最高增长600%+，</a:t>
            </a:r>
            <a:endParaRPr lang="zh-CN" altLang="en-US"/>
          </a:p>
          <a:p>
            <a:pPr indent="0" fontAlgn="auto">
              <a:spcBef>
                <a:spcPts val="400"/>
              </a:spcBef>
            </a:pPr>
            <a:r>
              <a:rPr lang="zh-CN" altLang="en-US"/>
              <a:t>并且持续不断涌现新的“美食潮流趋势”，不断被用户复刻消费，形成曝光裂变。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844550" y="5212080"/>
            <a:ext cx="1496060" cy="276860"/>
          </a:xfrm>
          <a:prstGeom prst="rect">
            <a:avLst/>
          </a:prstGeom>
          <a:solidFill>
            <a:srgbClr val="FF2341"/>
          </a:solidFill>
          <a:ln>
            <a:solidFill>
              <a:srgbClr val="FF2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饮品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DIY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2673985" y="2913380"/>
            <a:ext cx="1496060" cy="276860"/>
          </a:xfrm>
          <a:prstGeom prst="rect">
            <a:avLst/>
          </a:prstGeom>
          <a:solidFill>
            <a:srgbClr val="FF2341"/>
          </a:solidFill>
          <a:ln>
            <a:solidFill>
              <a:srgbClr val="FF2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红薯内卷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4692015" y="4429760"/>
            <a:ext cx="1496060" cy="276860"/>
          </a:xfrm>
          <a:prstGeom prst="rect">
            <a:avLst/>
          </a:prstGeom>
          <a:solidFill>
            <a:srgbClr val="FF2341"/>
          </a:solidFill>
          <a:ln>
            <a:solidFill>
              <a:srgbClr val="FF2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减脂饮料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6829425" y="5048250"/>
            <a:ext cx="1496060" cy="276860"/>
          </a:xfrm>
          <a:prstGeom prst="rect">
            <a:avLst/>
          </a:prstGeom>
          <a:solidFill>
            <a:srgbClr val="FF2341"/>
          </a:solidFill>
          <a:ln>
            <a:solidFill>
              <a:srgbClr val="FF2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猎奇封面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8698865" y="3116580"/>
            <a:ext cx="1496060" cy="276860"/>
          </a:xfrm>
          <a:prstGeom prst="rect">
            <a:avLst/>
          </a:prstGeom>
          <a:solidFill>
            <a:srgbClr val="FF2341"/>
          </a:solidFill>
          <a:ln>
            <a:solidFill>
              <a:srgbClr val="FF2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便利店调酒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583565"/>
            <a:chOff x="1075" y="683"/>
            <a:chExt cx="15390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投放情况对比分析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327150" y="1108710"/>
            <a:ext cx="98132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/>
              <a:t>拉取川宁椰香拿铁、磨豆匠豆乳、一包生活牛乳茶三个品小红书的投放情况进行对比分析</a:t>
            </a:r>
            <a:endParaRPr lang="zh-CN"/>
          </a:p>
        </p:txBody>
      </p:sp>
      <p:graphicFrame>
        <p:nvGraphicFramePr>
          <p:cNvPr id="10" name="表格 9"/>
          <p:cNvGraphicFramePr/>
          <p:nvPr>
            <p:custDataLst>
              <p:tags r:id="rId6"/>
            </p:custDataLst>
          </p:nvPr>
        </p:nvGraphicFramePr>
        <p:xfrm>
          <a:off x="1386840" y="1661160"/>
          <a:ext cx="9889490" cy="472884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2750"/>
                <a:gridCol w="4287520"/>
                <a:gridCol w="3919220"/>
              </a:tblGrid>
              <a:tr h="4559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52623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磨豆匠豆乳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52623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一包生活牛乳茶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52623F"/>
                    </a:solidFill>
                  </a:tcPr>
                </a:tc>
              </a:tr>
              <a:tr h="11950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投放效果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近半年千瓜</a:t>
                      </a:r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收录笔记共计</a:t>
                      </a:r>
                      <a:r>
                        <a:rPr 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294</a:t>
                      </a:r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篇，</a:t>
                      </a:r>
                      <a:r>
                        <a:rPr 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44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篇报备文，</a:t>
                      </a:r>
                      <a:r>
                        <a:rPr lang="zh-CN" alt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总</a:t>
                      </a:r>
                      <a:r>
                        <a:rPr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爆文率仅为</a:t>
                      </a:r>
                      <a:r>
                        <a:rPr 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3.4</a:t>
                      </a:r>
                      <a:r>
                        <a:rPr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%</a:t>
                      </a:r>
                      <a:r>
                        <a:rPr lang="zh-CN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，预计互动量超过</a:t>
                      </a:r>
                      <a:r>
                        <a:rPr lang="en-US" altLang="zh-CN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10w+</a:t>
                      </a:r>
                      <a:r>
                        <a:rPr lang="zh-CN" alt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；</a:t>
                      </a:r>
                      <a:endParaRPr lang="zh-CN" altLang="en-US" sz="1400" b="0" u="sng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近一年千瓜收录笔记攻共计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912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篇，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71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篇报备文。</a:t>
                      </a:r>
                      <a:r>
                        <a:rPr lang="zh-CN" alt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总</a:t>
                      </a:r>
                      <a:r>
                        <a:rPr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爆文率仅为</a:t>
                      </a:r>
                      <a:r>
                        <a:rPr 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5.8</a:t>
                      </a:r>
                      <a:r>
                        <a:rPr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%</a:t>
                      </a:r>
                      <a:r>
                        <a:rPr lang="zh-CN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，预计互动量超</a:t>
                      </a:r>
                      <a:r>
                        <a:rPr 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28.6w</a:t>
                      </a:r>
                      <a:r>
                        <a:rPr lang="zh-CN" alt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；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83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达人布局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报备文以腰部、初级达人居多，除了美食垂类达人，还合作了运动、宝妈、营养师跨圈类人群。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400" b="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达人矩阵较为完善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，报备主要以初级达人为主，美食垂类达人居多。</a:t>
                      </a:r>
                      <a:r>
                        <a:rPr lang="zh-CN" altLang="en-US" sz="1400" b="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官方账号也会转载优质笔记，利用流量工具加推。</a:t>
                      </a:r>
                      <a:endParaRPr lang="zh-CN" altLang="en-US" sz="1400" b="0" u="sng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299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种草形式多样化，除了美食垂类内容分享，还增加了营养科普、运动减脂、孕妈营养补充等内容，</a:t>
                      </a:r>
                      <a:r>
                        <a:rPr lang="zh-CN" altLang="en-US" sz="140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不同的人群匹配不同内容</a:t>
                      </a:r>
                      <a:endParaRPr lang="zh-CN" altLang="en-US" sz="1400" b="0" u="sng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400" b="0" u="sng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分达人圈层各自承担不同种草内容，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尾部达人以输出爆文、创意内容为主，头腰部丰富场景、提高曝光。且非报备内容占比较大。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645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评论口碑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报备笔记都会注重评论区维护，围绕产品的功效、口感、冲泡等展开讨论；部分软植入内容也会存在歪楼情况。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评论区维护参差不齐，不利于扩大曝光；大部分对于产品规格和价格存疑，但会安排相关正向评论进行维护。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583565"/>
            <a:chOff x="1075" y="683"/>
            <a:chExt cx="15390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川宁茶拿铁投放机会点总结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12800" y="2176145"/>
            <a:ext cx="2118995" cy="3162300"/>
            <a:chOff x="405" y="4123"/>
            <a:chExt cx="3337" cy="4980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405" y="4123"/>
              <a:ext cx="3337" cy="4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52623F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23" y="4289"/>
              <a:ext cx="760" cy="553"/>
              <a:chOff x="784" y="4339"/>
              <a:chExt cx="640" cy="434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784" y="4339"/>
                <a:ext cx="640" cy="4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2000">
                    <a:latin typeface="汉仪中黑简" panose="02010609000101010101" charset="-122"/>
                    <a:ea typeface="汉仪中黑简" panose="02010609000101010101" charset="-122"/>
                    <a:cs typeface="微软雅黑" panose="020B0503020204020204" charset="-122"/>
                    <a:sym typeface="+mn-ea"/>
                  </a:rPr>
                  <a:t>01</a:t>
                </a:r>
                <a:endParaRPr lang="en-US" altLang="zh-CN" sz="2000">
                  <a:latin typeface="汉仪中黑简" panose="02010609000101010101" charset="-122"/>
                  <a:ea typeface="汉仪中黑简" panose="02010609000101010101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 flipV="1">
                <a:off x="944" y="4769"/>
                <a:ext cx="319" cy="5"/>
              </a:xfrm>
              <a:prstGeom prst="line">
                <a:avLst/>
              </a:prstGeom>
              <a:ln w="19050">
                <a:solidFill>
                  <a:srgbClr val="52623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本框 15"/>
            <p:cNvSpPr txBox="1"/>
            <p:nvPr/>
          </p:nvSpPr>
          <p:spPr>
            <a:xfrm>
              <a:off x="685" y="5863"/>
              <a:ext cx="2758" cy="25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美食类、饮品类</a:t>
              </a:r>
              <a:r>
                <a:rPr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迎来了增长爆发期，一度超过美妆，成为站内第一大垂直品类。</a:t>
              </a:r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饮品的创意喝法更是引起广大用户跟风复刻。</a:t>
              </a:r>
              <a:endPara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6"/>
              </p:custDataLst>
            </p:nvPr>
          </p:nvSpPr>
          <p:spPr>
            <a:xfrm>
              <a:off x="686" y="5094"/>
              <a:ext cx="2758" cy="6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饮品类热度高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528060" y="2176145"/>
            <a:ext cx="2159635" cy="3182620"/>
            <a:chOff x="405" y="4123"/>
            <a:chExt cx="3401" cy="5012"/>
          </a:xfrm>
        </p:grpSpPr>
        <p:sp>
          <p:nvSpPr>
            <p:cNvPr id="27" name="矩形 26"/>
            <p:cNvSpPr/>
            <p:nvPr>
              <p:custDataLst>
                <p:tags r:id="rId7"/>
              </p:custDataLst>
            </p:nvPr>
          </p:nvSpPr>
          <p:spPr>
            <a:xfrm>
              <a:off x="405" y="4123"/>
              <a:ext cx="3337" cy="4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52623F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623" y="4289"/>
              <a:ext cx="760" cy="553"/>
              <a:chOff x="784" y="4339"/>
              <a:chExt cx="640" cy="434"/>
            </a:xfrm>
          </p:grpSpPr>
          <p:sp>
            <p:nvSpPr>
              <p:cNvPr id="29" name="文本框 2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84" y="4339"/>
                <a:ext cx="640" cy="4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2000">
                    <a:latin typeface="汉仪中黑简" panose="02010609000101010101" charset="-122"/>
                    <a:ea typeface="汉仪中黑简" panose="02010609000101010101" charset="-122"/>
                    <a:cs typeface="微软雅黑" panose="020B0503020204020204" charset="-122"/>
                    <a:sym typeface="+mn-ea"/>
                  </a:rPr>
                  <a:t>02</a:t>
                </a:r>
                <a:endParaRPr lang="en-US" altLang="zh-CN" sz="2000">
                  <a:latin typeface="汉仪中黑简" panose="02010609000101010101" charset="-122"/>
                  <a:ea typeface="汉仪中黑简" panose="02010609000101010101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>
                <p:custDataLst>
                  <p:tags r:id="rId9"/>
                </p:custDataLst>
              </p:nvPr>
            </p:nvCxnSpPr>
            <p:spPr>
              <a:xfrm flipV="1">
                <a:off x="944" y="4769"/>
                <a:ext cx="319" cy="5"/>
              </a:xfrm>
              <a:prstGeom prst="line">
                <a:avLst/>
              </a:prstGeom>
              <a:ln w="19050">
                <a:solidFill>
                  <a:srgbClr val="52623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>
              <a:off x="685" y="5938"/>
              <a:ext cx="2758" cy="31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小红书成为新饮品突破重要平台之一，且</a:t>
              </a:r>
              <a:r>
                <a:rPr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消费观念开放且乐于接受新鲜事物的年轻女性在小红书占多数，新吃法与新场景带动更多消费可能，创造更多的消费空间。</a:t>
              </a:r>
              <a:endPara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686" y="5094"/>
              <a:ext cx="3120" cy="6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平台种草氛围高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900795" y="2176145"/>
            <a:ext cx="2118995" cy="3162300"/>
            <a:chOff x="405" y="4123"/>
            <a:chExt cx="3337" cy="4980"/>
          </a:xfrm>
        </p:grpSpPr>
        <p:sp>
          <p:nvSpPr>
            <p:cNvPr id="34" name="矩形 33"/>
            <p:cNvSpPr/>
            <p:nvPr>
              <p:custDataLst>
                <p:tags r:id="rId12"/>
              </p:custDataLst>
            </p:nvPr>
          </p:nvSpPr>
          <p:spPr>
            <a:xfrm>
              <a:off x="405" y="4123"/>
              <a:ext cx="3337" cy="4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52623F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23" y="4289"/>
              <a:ext cx="760" cy="553"/>
              <a:chOff x="784" y="4339"/>
              <a:chExt cx="640" cy="434"/>
            </a:xfrm>
          </p:grpSpPr>
          <p:sp>
            <p:nvSpPr>
              <p:cNvPr id="36" name="文本框 3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84" y="4339"/>
                <a:ext cx="640" cy="4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2000">
                    <a:latin typeface="汉仪中黑简" panose="02010609000101010101" charset="-122"/>
                    <a:ea typeface="汉仪中黑简" panose="02010609000101010101" charset="-122"/>
                    <a:cs typeface="微软雅黑" panose="020B0503020204020204" charset="-122"/>
                    <a:sym typeface="+mn-ea"/>
                  </a:rPr>
                  <a:t>04</a:t>
                </a:r>
                <a:endParaRPr lang="en-US" altLang="zh-CN" sz="2000">
                  <a:latin typeface="汉仪中黑简" panose="02010609000101010101" charset="-122"/>
                  <a:ea typeface="汉仪中黑简" panose="02010609000101010101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37" name="直接连接符 36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944" y="4769"/>
                <a:ext cx="319" cy="5"/>
              </a:xfrm>
              <a:prstGeom prst="line">
                <a:avLst/>
              </a:prstGeom>
              <a:ln w="19050">
                <a:solidFill>
                  <a:srgbClr val="52623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/>
            <p:cNvSpPr txBox="1"/>
            <p:nvPr>
              <p:custDataLst>
                <p:tags r:id="rId15"/>
              </p:custDataLst>
            </p:nvPr>
          </p:nvSpPr>
          <p:spPr>
            <a:xfrm>
              <a:off x="685" y="5938"/>
              <a:ext cx="2758" cy="21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虽然目前川宁茶拿铁在小红书缺乏热度，但消费人群的认可度高，在购买人群里有一定的口碑。</a:t>
              </a:r>
              <a:endPara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16"/>
              </p:custDataLst>
            </p:nvPr>
          </p:nvSpPr>
          <p:spPr>
            <a:xfrm>
              <a:off x="686" y="5094"/>
              <a:ext cx="2758" cy="6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产品认可度高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145530" y="2176145"/>
            <a:ext cx="2145030" cy="3162300"/>
            <a:chOff x="405" y="4123"/>
            <a:chExt cx="3378" cy="4980"/>
          </a:xfrm>
        </p:grpSpPr>
        <p:sp>
          <p:nvSpPr>
            <p:cNvPr id="41" name="矩形 40"/>
            <p:cNvSpPr/>
            <p:nvPr>
              <p:custDataLst>
                <p:tags r:id="rId17"/>
              </p:custDataLst>
            </p:nvPr>
          </p:nvSpPr>
          <p:spPr>
            <a:xfrm>
              <a:off x="405" y="4123"/>
              <a:ext cx="3337" cy="4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52623F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623" y="4289"/>
              <a:ext cx="760" cy="553"/>
              <a:chOff x="784" y="4339"/>
              <a:chExt cx="640" cy="434"/>
            </a:xfrm>
          </p:grpSpPr>
          <p:sp>
            <p:nvSpPr>
              <p:cNvPr id="43" name="文本框 4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84" y="4339"/>
                <a:ext cx="640" cy="4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2000">
                    <a:latin typeface="汉仪中黑简" panose="02010609000101010101" charset="-122"/>
                    <a:ea typeface="汉仪中黑简" panose="02010609000101010101" charset="-122"/>
                    <a:cs typeface="微软雅黑" panose="020B0503020204020204" charset="-122"/>
                    <a:sym typeface="+mn-ea"/>
                  </a:rPr>
                  <a:t>03</a:t>
                </a:r>
                <a:endParaRPr lang="en-US" altLang="zh-CN" sz="2000">
                  <a:latin typeface="汉仪中黑简" panose="02010609000101010101" charset="-122"/>
                  <a:ea typeface="汉仪中黑简" panose="02010609000101010101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44" name="直接连接符 43"/>
              <p:cNvCxnSpPr/>
              <p:nvPr>
                <p:custDataLst>
                  <p:tags r:id="rId19"/>
                </p:custDataLst>
              </p:nvPr>
            </p:nvCxnSpPr>
            <p:spPr>
              <a:xfrm flipV="1">
                <a:off x="944" y="4769"/>
                <a:ext cx="319" cy="5"/>
              </a:xfrm>
              <a:prstGeom prst="line">
                <a:avLst/>
              </a:prstGeom>
              <a:ln w="19050">
                <a:solidFill>
                  <a:srgbClr val="52623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/>
            <p:cNvSpPr txBox="1"/>
            <p:nvPr>
              <p:custDataLst>
                <p:tags r:id="rId20"/>
              </p:custDataLst>
            </p:nvPr>
          </p:nvSpPr>
          <p:spPr>
            <a:xfrm>
              <a:off x="685" y="5938"/>
              <a:ext cx="2758" cy="285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用户对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吃喝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心智进阶，在追求色香味俱全的同时，重视饮品的健康、成分和营养；川宁茶拿铁的卖点相符合，更能触达人群心智。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21"/>
              </p:custDataLst>
            </p:nvPr>
          </p:nvSpPr>
          <p:spPr>
            <a:xfrm>
              <a:off x="686" y="5094"/>
              <a:ext cx="3097" cy="6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健康饮正流行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  <p:custDataLst>
      <p:tags r:id="rId2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小红书饮品类优秀案例分析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案例一：磨豆匠豆乳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圆角矩形 6"/>
          <p:cNvSpPr/>
          <p:nvPr/>
        </p:nvSpPr>
        <p:spPr>
          <a:xfrm>
            <a:off x="162560" y="2420620"/>
            <a:ext cx="6967855" cy="4078605"/>
          </a:xfrm>
          <a:prstGeom prst="roundRect">
            <a:avLst/>
          </a:prstGeom>
          <a:solidFill>
            <a:srgbClr val="52623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357505" y="2721610"/>
            <a:ext cx="1948180" cy="535940"/>
          </a:xfrm>
          <a:prstGeom prst="round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差异化卖点</a:t>
            </a:r>
            <a:endParaRPr lang="zh-CN" altLang="en-US"/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2571115" y="2729230"/>
            <a:ext cx="2184400" cy="535940"/>
          </a:xfrm>
          <a:prstGeom prst="round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丰富消费人群矩阵</a:t>
            </a:r>
            <a:endParaRPr lang="zh-CN" altLang="en-US"/>
          </a:p>
        </p:txBody>
      </p:sp>
      <p:sp>
        <p:nvSpPr>
          <p:cNvPr id="20" name="圆角矩形 19"/>
          <p:cNvSpPr/>
          <p:nvPr>
            <p:custDataLst>
              <p:tags r:id="rId7"/>
            </p:custDataLst>
          </p:nvPr>
        </p:nvSpPr>
        <p:spPr>
          <a:xfrm>
            <a:off x="357505" y="3546475"/>
            <a:ext cx="1948180" cy="2598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algn="just"/>
            <a:r>
              <a:rPr lang="zh-CN" altLang="en-US" sz="1600">
                <a:solidFill>
                  <a:schemeClr val="tx1"/>
                </a:solidFill>
                <a:sym typeface="+mn-ea"/>
              </a:rPr>
              <a:t>“奶茶健康替代、要好喝不要腹担”的宣传标语击中了年轻消费者的心，在追求健康和享受奶茶美味中找到了新的平衡。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2571115" y="3546475"/>
            <a:ext cx="2186305" cy="2598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just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内容上场景多样化，深耕职场人和学生党的消费场景和卖点；另外拓展健身减脂人群和孕妈营养补充；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形式上注重真实感分享，并且有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DIY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、轻食、测评等植入形式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1327150" y="1411605"/>
            <a:ext cx="9650095" cy="973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t>小厨电跨界豆浆，通过冻干工艺创新、冲泡方式创新、蔗糖0添加配方创新</a:t>
            </a:r>
            <a:r>
              <a:rPr lang="zh-CN"/>
              <a:t>；</a:t>
            </a:r>
            <a:endParaRPr lang="zh-CN"/>
          </a:p>
          <a:p>
            <a:pPr indent="0" fontAlgn="auto">
              <a:spcBef>
                <a:spcPts val="400"/>
              </a:spcBef>
            </a:pPr>
            <a:r>
              <a:rPr lang="zh-CN"/>
              <a:t>种草内容上注重产品的</a:t>
            </a:r>
            <a:r>
              <a:rPr lang="en-US" altLang="zh-CN"/>
              <a:t>“</a:t>
            </a:r>
            <a:r>
              <a:t>更方便、更健康、更好喝</a:t>
            </a:r>
            <a:r>
              <a:rPr lang="zh-CN"/>
              <a:t>、更有营养</a:t>
            </a:r>
            <a:r>
              <a:rPr lang="en-US" altLang="zh-CN"/>
              <a:t>”</a:t>
            </a:r>
            <a:r>
              <a:t>的</a:t>
            </a:r>
            <a:r>
              <a:rPr lang="zh-CN"/>
              <a:t>卖点，</a:t>
            </a:r>
            <a:r>
              <a:t>延展到健身爱好者</a:t>
            </a:r>
            <a:r>
              <a:rPr lang="zh-CN"/>
              <a:t>、健康养生党、学生党、打工人、美食爱好者等人群。</a:t>
            </a:r>
            <a:endParaRPr lang="zh-CN"/>
          </a:p>
        </p:txBody>
      </p:sp>
      <p:sp>
        <p:nvSpPr>
          <p:cNvPr id="34" name="圆角矩形 33"/>
          <p:cNvSpPr/>
          <p:nvPr>
            <p:custDataLst>
              <p:tags r:id="rId10"/>
            </p:custDataLst>
          </p:nvPr>
        </p:nvSpPr>
        <p:spPr>
          <a:xfrm>
            <a:off x="4904740" y="2705735"/>
            <a:ext cx="1948180" cy="535940"/>
          </a:xfrm>
          <a:prstGeom prst="round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创意内容输出</a:t>
            </a:r>
            <a:endParaRPr lang="zh-CN" altLang="en-US"/>
          </a:p>
        </p:txBody>
      </p:sp>
      <p:sp>
        <p:nvSpPr>
          <p:cNvPr id="35" name="圆角矩形 34"/>
          <p:cNvSpPr/>
          <p:nvPr>
            <p:custDataLst>
              <p:tags r:id="rId11"/>
            </p:custDataLst>
          </p:nvPr>
        </p:nvSpPr>
        <p:spPr>
          <a:xfrm>
            <a:off x="4904740" y="3522980"/>
            <a:ext cx="1948180" cy="2598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zh-CN" altLang="en-US" sz="1400">
                <a:solidFill>
                  <a:schemeClr val="tx1"/>
                </a:solidFill>
              </a:rPr>
              <a:t>除了精致美食内容分享外，注重平台内高流量、高曝光内容的输出。</a:t>
            </a:r>
            <a:endParaRPr lang="zh-CN" altLang="en-US" sz="1400">
              <a:solidFill>
                <a:schemeClr val="tx1"/>
              </a:solidFill>
            </a:endParaRPr>
          </a:p>
          <a:p>
            <a:pPr algn="just"/>
            <a:r>
              <a:rPr lang="zh-CN" altLang="en-US" sz="1400">
                <a:solidFill>
                  <a:schemeClr val="tx1"/>
                </a:solidFill>
              </a:rPr>
              <a:t>利用高</a:t>
            </a:r>
            <a:r>
              <a:rPr lang="en-US" altLang="zh-CN" sz="1400">
                <a:solidFill>
                  <a:schemeClr val="tx1"/>
                </a:solidFill>
              </a:rPr>
              <a:t>UGC</a:t>
            </a:r>
            <a:r>
              <a:rPr lang="zh-CN" altLang="en-US" sz="1400">
                <a:solidFill>
                  <a:schemeClr val="tx1"/>
                </a:solidFill>
              </a:rPr>
              <a:t>内容吸引用户点击，提高笔记</a:t>
            </a:r>
            <a:r>
              <a:rPr lang="en-US" altLang="zh-CN" sz="1400">
                <a:solidFill>
                  <a:schemeClr val="tx1"/>
                </a:solidFill>
              </a:rPr>
              <a:t>ctr</a:t>
            </a:r>
            <a:r>
              <a:rPr lang="zh-CN" altLang="en-US" sz="1400">
                <a:solidFill>
                  <a:schemeClr val="tx1"/>
                </a:solidFill>
              </a:rPr>
              <a:t>；在分享上注重体验感弱化卖点硬植入感，形成真实种草氛围。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583565"/>
            <a:chOff x="1075" y="683"/>
            <a:chExt cx="15390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磨豆匠豆乳内容投放分析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198120" y="1209040"/>
            <a:ext cx="3938905" cy="631825"/>
            <a:chOff x="1036" y="2572"/>
            <a:chExt cx="5109" cy="995"/>
          </a:xfrm>
        </p:grpSpPr>
        <p:sp>
          <p:nvSpPr>
            <p:cNvPr id="12" name="文本框 11"/>
            <p:cNvSpPr txBox="1"/>
            <p:nvPr>
              <p:custDataLst>
                <p:tags r:id="rId5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美食种草方向：</a:t>
              </a:r>
              <a:r>
                <a:rPr lang="zh-CN" altLang="en-US" sz="1100" u="sng"/>
                <a:t>以美食、饮料垂类博主为主；</a:t>
              </a:r>
              <a:endParaRPr lang="zh-CN" altLang="en-US" sz="1100" u="sng"/>
            </a:p>
            <a:p>
              <a:r>
                <a:rPr lang="zh-CN" altLang="en-US" sz="1100"/>
                <a:t>种草场景比较丰富，搭配</a:t>
              </a:r>
              <a:r>
                <a:rPr lang="en-US" altLang="zh-CN" sz="1100"/>
                <a:t>“</a:t>
              </a:r>
              <a:r>
                <a:rPr lang="zh-CN" altLang="en-US" sz="1100"/>
                <a:t>养生</a:t>
              </a:r>
              <a:r>
                <a:rPr lang="en-US" altLang="zh-CN" sz="1100"/>
                <a:t>” “</a:t>
              </a:r>
              <a:r>
                <a:rPr lang="zh-CN" altLang="en-US" sz="1100"/>
                <a:t>减脂</a:t>
              </a:r>
              <a:r>
                <a:rPr lang="en-US" altLang="zh-CN" sz="1100"/>
                <a:t>”“</a:t>
              </a:r>
              <a:r>
                <a:rPr lang="zh-CN" altLang="en-US" sz="1100"/>
                <a:t>学生早八</a:t>
              </a:r>
              <a:r>
                <a:rPr lang="en-US" altLang="zh-CN" sz="1100"/>
                <a:t>” “</a:t>
              </a:r>
              <a:r>
                <a:rPr lang="zh-CN" altLang="en-US" sz="1100"/>
                <a:t>饮食不规律</a:t>
              </a:r>
              <a:r>
                <a:rPr lang="en-US" altLang="zh-CN" sz="1100"/>
                <a:t>”</a:t>
              </a:r>
              <a:r>
                <a:rPr lang="zh-CN" altLang="en-US" sz="1100"/>
                <a:t>等进行种草；卖点上则围绕</a:t>
              </a:r>
              <a:r>
                <a:rPr lang="en-US" altLang="zh-CN" sz="1100"/>
                <a:t>“</a:t>
              </a:r>
              <a:r>
                <a:rPr lang="zh-CN" altLang="en-US" sz="1100"/>
                <a:t>低卡</a:t>
              </a:r>
              <a:r>
                <a:rPr lang="en-US" altLang="zh-CN" sz="1100"/>
                <a:t>”“</a:t>
              </a:r>
              <a:r>
                <a:rPr lang="zh-CN" altLang="en-US" sz="1100"/>
                <a:t>配料干净</a:t>
              </a:r>
              <a:r>
                <a:rPr lang="en-US" altLang="zh-CN" sz="1100"/>
                <a:t>”</a:t>
              </a:r>
              <a:r>
                <a:rPr lang="zh-CN" altLang="en-US" sz="1100"/>
                <a:t>进行种草</a:t>
              </a:r>
              <a:endParaRPr lang="zh-CN" altLang="en-US" sz="1100"/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25445" y="4672330"/>
            <a:ext cx="1210945" cy="1901825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 rot="0">
            <a:off x="201295" y="3993515"/>
            <a:ext cx="3938905" cy="631825"/>
            <a:chOff x="1036" y="2572"/>
            <a:chExt cx="5109" cy="995"/>
          </a:xfrm>
        </p:grpSpPr>
        <p:sp>
          <p:nvSpPr>
            <p:cNvPr id="62" name="文本框 61"/>
            <p:cNvSpPr txBox="1"/>
            <p:nvPr>
              <p:custDataLst>
                <p:tags r:id="rId9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试喝测评方向：</a:t>
              </a:r>
              <a:r>
                <a:rPr lang="zh-CN" altLang="en-US" sz="1100" u="sng"/>
                <a:t>以零食测评、美食垂类博主为主；</a:t>
              </a:r>
              <a:endParaRPr lang="zh-CN" altLang="en-US" sz="1100" u="sng"/>
            </a:p>
            <a:p>
              <a:r>
                <a:rPr lang="zh-CN" sz="1100"/>
                <a:t>从个人的试喝感受出发，对产品的成分、口感、冲泡等方面进行</a:t>
              </a:r>
              <a:r>
                <a:rPr lang="zh-CN" sz="1100">
                  <a:sym typeface="+mn-ea"/>
                </a:rPr>
                <a:t>测评，卖点上则是围绕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低卡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高纤维</a:t>
              </a:r>
              <a:r>
                <a:rPr lang="en-US" altLang="zh-CN" sz="1100">
                  <a:sym typeface="+mn-ea"/>
                </a:rPr>
                <a:t>””</a:t>
              </a:r>
              <a:r>
                <a:rPr lang="zh-CN" altLang="en-US" sz="1100">
                  <a:sym typeface="+mn-ea"/>
                </a:rPr>
                <a:t>营养高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进行种草。</a:t>
              </a:r>
              <a:endParaRPr lang="zh-CN" altLang="en-US" sz="1100">
                <a:sym typeface="+mn-ea"/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10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 rot="0">
            <a:off x="4182745" y="1204595"/>
            <a:ext cx="3938905" cy="631825"/>
            <a:chOff x="1036" y="2572"/>
            <a:chExt cx="5109" cy="995"/>
          </a:xfrm>
        </p:grpSpPr>
        <p:sp>
          <p:nvSpPr>
            <p:cNvPr id="65" name="文本框 64"/>
            <p:cNvSpPr txBox="1"/>
            <p:nvPr>
              <p:custDataLst>
                <p:tags r:id="rId11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just" fontAlgn="auto">
                <a:spcBef>
                  <a:spcPts val="600"/>
                </a:spcBef>
              </a:pPr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减肥减脂方向：</a:t>
              </a:r>
              <a:r>
                <a:rPr lang="zh-CN" altLang="en-US" sz="1100" u="sng">
                  <a:sym typeface="+mn-ea"/>
                </a:rPr>
                <a:t>以运动健身类、减脂美食博主为主；</a:t>
              </a:r>
              <a:endParaRPr lang="zh-CN" altLang="en-US" sz="1100" u="sng"/>
            </a:p>
            <a:p>
              <a:pPr algn="just"/>
              <a:r>
                <a:rPr lang="zh-CN" altLang="en-US" sz="1100">
                  <a:sym typeface="+mn-ea"/>
                </a:rPr>
                <a:t>种草场景都围绕减脂内容展开，并植入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刘畊宏种草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明星背书；</a:t>
              </a:r>
              <a:endParaRPr lang="zh-CN" altLang="en-US" sz="1100"/>
            </a:p>
            <a:p>
              <a:pPr algn="just"/>
              <a:r>
                <a:rPr lang="zh-CN" altLang="en-US" sz="1100">
                  <a:sym typeface="+mn-ea"/>
                </a:rPr>
                <a:t>除了口感外，还植入产品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高蛋白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高膳食纤维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的卖点。</a:t>
              </a:r>
              <a:endParaRPr lang="zh-CN" altLang="en-US" sz="1100"/>
            </a:p>
          </p:txBody>
        </p:sp>
        <p:sp>
          <p:nvSpPr>
            <p:cNvPr id="73" name="矩形 72"/>
            <p:cNvSpPr/>
            <p:nvPr>
              <p:custDataLst>
                <p:tags r:id="rId12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>
          <a:xfrm rot="0">
            <a:off x="8196580" y="1209040"/>
            <a:ext cx="3938905" cy="631825"/>
            <a:chOff x="1036" y="2572"/>
            <a:chExt cx="5109" cy="995"/>
          </a:xfrm>
        </p:grpSpPr>
        <p:sp>
          <p:nvSpPr>
            <p:cNvPr id="95" name="文本框 94"/>
            <p:cNvSpPr txBox="1"/>
            <p:nvPr>
              <p:custDataLst>
                <p:tags r:id="rId13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just" fontAlgn="auto">
                <a:spcBef>
                  <a:spcPts val="600"/>
                </a:spcBef>
              </a:pPr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健康养生方向：</a:t>
              </a:r>
              <a:r>
                <a:rPr lang="zh-CN" altLang="en-US" sz="1100" u="sng">
                  <a:sym typeface="+mn-ea"/>
                </a:rPr>
                <a:t>以宝妈、养生美食博主为主；</a:t>
              </a:r>
              <a:endParaRPr lang="zh-CN" altLang="en-US" sz="1100" u="sng"/>
            </a:p>
            <a:p>
              <a:pPr algn="just"/>
              <a:r>
                <a:rPr lang="zh-CN" sz="1100">
                  <a:sym typeface="+mn-ea"/>
                </a:rPr>
                <a:t>深度挖掘产品卖点与潜在人群，介个本身的五谷配料卖点，延伸出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改善气色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孕妈营养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营养代餐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等健康类方向笔记。</a:t>
              </a:r>
              <a:endParaRPr lang="zh-CN" altLang="en-US" sz="1100">
                <a:sym typeface="+mn-ea"/>
              </a:endParaRPr>
            </a:p>
          </p:txBody>
        </p:sp>
        <p:sp>
          <p:nvSpPr>
            <p:cNvPr id="96" name="矩形 95"/>
            <p:cNvSpPr/>
            <p:nvPr>
              <p:custDataLst>
                <p:tags r:id="rId14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 rot="0">
            <a:off x="4182110" y="3999865"/>
            <a:ext cx="3938905" cy="631825"/>
            <a:chOff x="1036" y="2572"/>
            <a:chExt cx="5109" cy="995"/>
          </a:xfrm>
        </p:grpSpPr>
        <p:sp>
          <p:nvSpPr>
            <p:cNvPr id="112" name="文本框 111"/>
            <p:cNvSpPr txBox="1"/>
            <p:nvPr>
              <p:custDataLst>
                <p:tags r:id="rId15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场景痛点方向：</a:t>
              </a:r>
              <a:r>
                <a:rPr lang="zh-CN" altLang="en-US" sz="1100" u="sng"/>
                <a:t>以学生党、职场属性的达人为主；</a:t>
              </a:r>
              <a:endParaRPr lang="zh-CN" altLang="en-US" sz="1100" u="sng"/>
            </a:p>
            <a:p>
              <a:r>
                <a:rPr lang="zh-CN" altLang="en-US" sz="1100">
                  <a:sym typeface="+mn-ea"/>
                </a:rPr>
                <a:t>主要是以融入学生和打工人生活，挖掘场景卖点，例如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早八人早餐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饮食不规律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等，植入产品</a:t>
              </a:r>
              <a:r>
                <a:rPr lang="en-US" altLang="zh-CN" sz="1100">
                  <a:sym typeface="+mn-ea"/>
                </a:rPr>
                <a:t>“</a:t>
              </a:r>
              <a:r>
                <a:rPr lang="zh-CN" altLang="en-US" sz="1100">
                  <a:sym typeface="+mn-ea"/>
                </a:rPr>
                <a:t>高营养</a:t>
              </a:r>
              <a:r>
                <a:rPr lang="en-US" altLang="zh-CN" sz="1100">
                  <a:sym typeface="+mn-ea"/>
                </a:rPr>
                <a:t>”“</a:t>
              </a:r>
              <a:r>
                <a:rPr lang="zh-CN" altLang="en-US" sz="1100">
                  <a:sym typeface="+mn-ea"/>
                </a:rPr>
                <a:t>快手冲泡</a:t>
              </a:r>
              <a:r>
                <a:rPr lang="en-US" altLang="zh-CN" sz="1100">
                  <a:sym typeface="+mn-ea"/>
                </a:rPr>
                <a:t>”</a:t>
              </a:r>
              <a:r>
                <a:rPr lang="zh-CN" altLang="en-US" sz="1100">
                  <a:sym typeface="+mn-ea"/>
                </a:rPr>
                <a:t>等卖点</a:t>
              </a:r>
              <a:endParaRPr lang="zh-CN" altLang="en-US" sz="1100">
                <a:sym typeface="+mn-ea"/>
              </a:endParaRPr>
            </a:p>
          </p:txBody>
        </p:sp>
        <p:sp>
          <p:nvSpPr>
            <p:cNvPr id="113" name="矩形 112"/>
            <p:cNvSpPr/>
            <p:nvPr>
              <p:custDataLst>
                <p:tags r:id="rId16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4" name="组合 113"/>
          <p:cNvGrpSpPr/>
          <p:nvPr/>
        </p:nvGrpSpPr>
        <p:grpSpPr>
          <a:xfrm rot="0">
            <a:off x="8204835" y="3993515"/>
            <a:ext cx="3938905" cy="631825"/>
            <a:chOff x="1036" y="2572"/>
            <a:chExt cx="5109" cy="995"/>
          </a:xfrm>
        </p:grpSpPr>
        <p:sp>
          <p:nvSpPr>
            <p:cNvPr id="115" name="文本框 114"/>
            <p:cNvSpPr txBox="1"/>
            <p:nvPr>
              <p:custDataLst>
                <p:tags r:id="rId17"/>
              </p:custDataLst>
            </p:nvPr>
          </p:nvSpPr>
          <p:spPr>
            <a:xfrm>
              <a:off x="1036" y="2572"/>
              <a:ext cx="5108" cy="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 i="1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美食DIY方向：</a:t>
              </a:r>
              <a:r>
                <a:rPr lang="zh-CN" altLang="en-US" sz="1100" u="sng"/>
                <a:t>以美食垂类博主为主；</a:t>
              </a:r>
              <a:endParaRPr lang="zh-CN" altLang="en-US" sz="1100" u="sng"/>
            </a:p>
            <a:p>
              <a:r>
                <a:rPr lang="zh-CN" sz="1100"/>
                <a:t>从创意</a:t>
              </a:r>
              <a:r>
                <a:rPr lang="en-US" altLang="zh-CN" sz="1100"/>
                <a:t>DIY</a:t>
              </a:r>
              <a:r>
                <a:rPr lang="zh-CN" altLang="en-US" sz="1100"/>
                <a:t>方向切入，侧重在平台较高热度的</a:t>
              </a:r>
              <a:r>
                <a:rPr lang="en-US" altLang="zh-CN" sz="1100"/>
                <a:t>“</a:t>
              </a:r>
              <a:r>
                <a:rPr lang="zh-CN" altLang="en-US" sz="1100"/>
                <a:t>豆乳盒子</a:t>
              </a:r>
              <a:r>
                <a:rPr lang="en-US" altLang="zh-CN" sz="1100"/>
                <a:t>”DIY</a:t>
              </a:r>
              <a:r>
                <a:rPr lang="zh-CN" altLang="en-US" sz="1100"/>
                <a:t>，在教程里植入产品，主打产品</a:t>
              </a:r>
              <a:r>
                <a:rPr lang="en-US" altLang="zh-CN" sz="1100"/>
                <a:t>“</a:t>
              </a:r>
              <a:r>
                <a:rPr lang="zh-CN" altLang="en-US" sz="1100"/>
                <a:t>低卡</a:t>
              </a:r>
              <a:r>
                <a:rPr lang="en-US" altLang="zh-CN" sz="1100"/>
                <a:t>”“</a:t>
              </a:r>
              <a:r>
                <a:rPr lang="zh-CN" altLang="en-US" sz="1100"/>
                <a:t>干净配料</a:t>
              </a:r>
              <a:r>
                <a:rPr lang="en-US" altLang="zh-CN" sz="1100"/>
                <a:t>”</a:t>
              </a:r>
              <a:r>
                <a:rPr lang="zh-CN" altLang="en-US" sz="1100"/>
                <a:t>及</a:t>
              </a:r>
              <a:r>
                <a:rPr lang="en-US" altLang="zh-CN" sz="1100"/>
                <a:t>“</a:t>
              </a:r>
              <a:r>
                <a:rPr lang="zh-CN" altLang="en-US" sz="1100"/>
                <a:t>养生效果</a:t>
              </a:r>
              <a:r>
                <a:rPr lang="en-US" altLang="zh-CN" sz="1100"/>
                <a:t>”</a:t>
              </a:r>
              <a:endParaRPr lang="en-US" altLang="zh-CN" sz="1100">
                <a:sym typeface="+mn-ea"/>
              </a:endParaRPr>
            </a:p>
          </p:txBody>
        </p:sp>
        <p:sp>
          <p:nvSpPr>
            <p:cNvPr id="116" name="矩形 115"/>
            <p:cNvSpPr/>
            <p:nvPr>
              <p:custDataLst>
                <p:tags r:id="rId18"/>
              </p:custDataLst>
            </p:nvPr>
          </p:nvSpPr>
          <p:spPr>
            <a:xfrm>
              <a:off x="1065" y="2572"/>
              <a:ext cx="5080" cy="995"/>
            </a:xfrm>
            <a:prstGeom prst="rect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>
                      <a:alpha val="16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20" name="图片 1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b="5239"/>
          <a:stretch>
            <a:fillRect/>
          </a:stretch>
        </p:blipFill>
        <p:spPr>
          <a:xfrm>
            <a:off x="6650990" y="4684395"/>
            <a:ext cx="1465580" cy="2096135"/>
          </a:xfrm>
          <a:prstGeom prst="rect">
            <a:avLst/>
          </a:prstGeom>
        </p:spPr>
      </p:pic>
      <p:pic>
        <p:nvPicPr>
          <p:cNvPr id="121" name="图片 1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927715" y="4700905"/>
            <a:ext cx="1207770" cy="202311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9772650" cy="1076325"/>
            <a:chOff x="1075" y="683"/>
            <a:chExt cx="15390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142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小红书饮品类优秀案例分析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案例一：一包生活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>
            <a:grpSpLocks noChangeAspect="1"/>
          </p:cNvGrpSpPr>
          <p:nvPr/>
        </p:nvGrpSpPr>
        <p:grpSpPr>
          <a:xfrm>
            <a:off x="311150" y="2434590"/>
            <a:ext cx="11761790" cy="4321156"/>
            <a:chOff x="270" y="3619"/>
            <a:chExt cx="19104" cy="7019"/>
          </a:xfrm>
        </p:grpSpPr>
        <p:grpSp>
          <p:nvGrpSpPr>
            <p:cNvPr id="6" name="组合 5"/>
            <p:cNvGrpSpPr/>
            <p:nvPr/>
          </p:nvGrpSpPr>
          <p:grpSpPr>
            <a:xfrm>
              <a:off x="270" y="3619"/>
              <a:ext cx="8327" cy="7019"/>
              <a:chOff x="3044" y="3804"/>
              <a:chExt cx="8327" cy="7019"/>
            </a:xfrm>
          </p:grpSpPr>
          <p:pic>
            <p:nvPicPr>
              <p:cNvPr id="961" name="picture 961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21600000">
                <a:off x="3044" y="4257"/>
                <a:ext cx="8327" cy="6566"/>
              </a:xfrm>
              <a:prstGeom prst="rect">
                <a:avLst/>
              </a:prstGeom>
            </p:spPr>
          </p:pic>
          <p:sp>
            <p:nvSpPr>
              <p:cNvPr id="973" name="textbox 973"/>
              <p:cNvSpPr/>
              <p:nvPr>
                <p:custDataLst>
                  <p:tags r:id="rId7"/>
                </p:custDataLst>
              </p:nvPr>
            </p:nvSpPr>
            <p:spPr>
              <a:xfrm>
                <a:off x="3824" y="4915"/>
                <a:ext cx="6310" cy="414"/>
              </a:xfrm>
              <a:prstGeom prst="rect">
                <a:avLst/>
              </a:prstGeom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8000"/>
                  </a:lnSpc>
                </a:pPr>
                <a:endParaRPr lang="en-US" altLang="en-US" sz="100" dirty="0"/>
              </a:p>
              <a:p>
                <a:pPr marL="12700" algn="l" rtl="0" eaLnBrk="0">
                  <a:lnSpc>
                    <a:spcPct val="97000"/>
                  </a:lnSpc>
                </a:pPr>
                <a:r>
                  <a:rPr sz="1400" i="1" spc="40" dirty="0">
                    <a:ln w="31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0"/>
                    </a:ln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凭借</a:t>
                </a:r>
                <a:r>
                  <a:rPr sz="1600" i="1" spc="40" dirty="0">
                    <a:ln w="3175" cap="flat" cmpd="sng">
                      <a:solidFill>
                        <a:srgbClr val="BB894D">
                          <a:alpha val="100000"/>
                        </a:srgbClr>
                      </a:solidFill>
                      <a:prstDash val="solid"/>
                      <a:miter lim="0"/>
                    </a:ln>
                    <a:solidFill>
                      <a:srgbClr val="BB894D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不含植脂末牛乳</a:t>
                </a:r>
                <a:r>
                  <a:rPr sz="1400" i="1" spc="40" dirty="0">
                    <a:ln w="31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0"/>
                    </a:ln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，问鼎冲泡奶</a:t>
                </a:r>
                <a:r>
                  <a:rPr sz="1400" i="1" spc="0" dirty="0">
                    <a:ln w="31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miter lim="0"/>
                    </a:ln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茶TOP1</a:t>
                </a:r>
                <a:endParaRPr lang="en-US" altLang="en-US" sz="1400" dirty="0"/>
              </a:p>
            </p:txBody>
          </p:sp>
          <p:pic>
            <p:nvPicPr>
              <p:cNvPr id="974" name="picture 974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21600000">
                <a:off x="5901" y="3804"/>
                <a:ext cx="2155" cy="814"/>
              </a:xfrm>
              <a:prstGeom prst="rect">
                <a:avLst/>
              </a:prstGeom>
            </p:spPr>
          </p:pic>
        </p:grpSp>
        <p:sp>
          <p:nvSpPr>
            <p:cNvPr id="13" name="矩形 12"/>
            <p:cNvSpPr/>
            <p:nvPr>
              <p:custDataLst>
                <p:tags r:id="rId10"/>
              </p:custDataLst>
            </p:nvPr>
          </p:nvSpPr>
          <p:spPr>
            <a:xfrm>
              <a:off x="8711" y="4073"/>
              <a:ext cx="10663" cy="6565"/>
            </a:xfrm>
            <a:prstGeom prst="rect">
              <a:avLst/>
            </a:prstGeom>
            <a:noFill/>
            <a:ln w="19050">
              <a:solidFill>
                <a:srgbClr val="52623F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327150" y="1411605"/>
            <a:ext cx="9650095" cy="973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lang="zh-CN"/>
              <a:t>一包生活</a:t>
            </a:r>
            <a:r>
              <a:rPr lang="en-US" altLang="zh-CN"/>
              <a:t>“</a:t>
            </a:r>
            <a:r>
              <a:rPr lang="zh-CN" altLang="en-US"/>
              <a:t>牛乳茶</a:t>
            </a:r>
            <a:r>
              <a:rPr lang="en-US" altLang="zh-CN"/>
              <a:t>”</a:t>
            </a:r>
            <a:r>
              <a:rPr lang="zh-CN" altLang="en-US"/>
              <a:t>系列，强化不含植脂末牛乳的卖点，</a:t>
            </a:r>
            <a:r>
              <a:rPr lang="zh-CN" altLang="en-US" u="sng"/>
              <a:t>确立「健康冲泡奶茶」的差异化定位</a:t>
            </a:r>
            <a:r>
              <a:rPr lang="zh-CN" altLang="en-US"/>
              <a:t>；</a:t>
            </a:r>
            <a:endParaRPr lang="zh-CN" altLang="en-US"/>
          </a:p>
          <a:p>
            <a:pPr indent="0" fontAlgn="auto">
              <a:spcBef>
                <a:spcPts val="400"/>
              </a:spcBef>
            </a:pPr>
            <a:r>
              <a:rPr lang="zh-CN" altLang="en-US"/>
              <a:t>目标消费者人群以</a:t>
            </a:r>
            <a:r>
              <a:rPr lang="zh-CN" altLang="en-US">
                <a:sym typeface="+mn-ea"/>
              </a:rPr>
              <a:t>一二线城市</a:t>
            </a:r>
            <a:r>
              <a:rPr lang="zh-CN" altLang="en-US"/>
              <a:t>为主，主打办公人群、大学以上学生党消费场景；洞察小红书平台生态，视觉上</a:t>
            </a:r>
            <a:r>
              <a:rPr lang="zh-CN" altLang="en-US">
                <a:sym typeface="+mn-ea"/>
              </a:rPr>
              <a:t>封面精美、吸睛</a:t>
            </a:r>
            <a:r>
              <a:rPr lang="zh-CN" altLang="en-US"/>
              <a:t>，符合平台人群的观看习惯，内容上突出真实分享，种草率高。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92105" y="4443730"/>
            <a:ext cx="1400175" cy="220853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63180" y="4440555"/>
            <a:ext cx="1399540" cy="222250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2640"/>
          <a:stretch>
            <a:fillRect/>
          </a:stretch>
        </p:blipFill>
        <p:spPr>
          <a:xfrm>
            <a:off x="1824355" y="4443095"/>
            <a:ext cx="1367790" cy="219837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95475" y="1609725"/>
            <a:ext cx="1336675" cy="215773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17085" y="1618615"/>
            <a:ext cx="1308100" cy="213487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34975" y="335280"/>
            <a:ext cx="9772650" cy="583565"/>
            <a:chOff x="1075" y="683"/>
            <a:chExt cx="15390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1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>
              <a:off x="3323" y="683"/>
              <a:ext cx="1314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一包生活牛乳茶内容投放分析 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26720" y="981075"/>
            <a:ext cx="5508625" cy="536575"/>
            <a:chOff x="672" y="2707"/>
            <a:chExt cx="8675" cy="628"/>
          </a:xfrm>
        </p:grpSpPr>
        <p:sp>
          <p:nvSpPr>
            <p:cNvPr id="11" name="文本框 10"/>
            <p:cNvSpPr txBox="1"/>
            <p:nvPr>
              <p:custDataLst>
                <p:tags r:id="rId15"/>
              </p:custDataLst>
            </p:nvPr>
          </p:nvSpPr>
          <p:spPr>
            <a:xfrm>
              <a:off x="672" y="2805"/>
              <a:ext cx="2461" cy="4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sz="2000" b="1" i="1" spc="600" dirty="0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美食推荐</a:t>
              </a:r>
              <a:endParaRPr lang="zh-CN" sz="2000" b="1" i="1" spc="600" dirty="0">
                <a:solidFill>
                  <a:srgbClr val="5262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686" y="2707"/>
              <a:ext cx="8661" cy="628"/>
              <a:chOff x="686" y="3187"/>
              <a:chExt cx="8661" cy="628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3004" y="3202"/>
                <a:ext cx="6325" cy="6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r>
                  <a:rPr lang="zh-CN" altLang="en-US" sz="1100"/>
                  <a:t>围绕产品的冲泡、粉质、手持的封面形式为主，比较美食垂类的内容；卖点上主打</a:t>
                </a:r>
                <a:r>
                  <a:rPr lang="en-US" altLang="zh-CN" sz="1100"/>
                  <a:t>“</a:t>
                </a:r>
                <a:r>
                  <a:rPr lang="zh-CN" altLang="en-US" sz="1100"/>
                  <a:t>不含植脂末的奶茶</a:t>
                </a:r>
                <a:r>
                  <a:rPr lang="en-US" altLang="zh-CN" sz="1100"/>
                  <a:t>”</a:t>
                </a:r>
                <a:r>
                  <a:rPr lang="zh-CN" altLang="en-US" sz="1100"/>
                  <a:t>和</a:t>
                </a:r>
                <a:r>
                  <a:rPr lang="en-US" altLang="zh-CN" sz="1100"/>
                  <a:t>“</a:t>
                </a:r>
                <a:r>
                  <a:rPr lang="zh-CN" altLang="en-US" sz="1100"/>
                  <a:t>1个苹果🍎的热量</a:t>
                </a:r>
                <a:r>
                  <a:rPr lang="en-US" altLang="zh-CN" sz="1100"/>
                  <a:t>”</a:t>
                </a:r>
                <a:endParaRPr lang="en-US" altLang="zh-CN" sz="110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86" y="3187"/>
                <a:ext cx="8661" cy="628"/>
              </a:xfrm>
              <a:prstGeom prst="rect">
                <a:avLst/>
              </a:prstGeom>
              <a:noFill/>
              <a:ln w="9525">
                <a:solidFill>
                  <a:srgbClr val="5262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128385" y="965883"/>
            <a:ext cx="5499735" cy="559848"/>
            <a:chOff x="686" y="2713"/>
            <a:chExt cx="8661" cy="655"/>
          </a:xfrm>
        </p:grpSpPr>
        <p:sp>
          <p:nvSpPr>
            <p:cNvPr id="39" name="文本框 38"/>
            <p:cNvSpPr txBox="1"/>
            <p:nvPr>
              <p:custDataLst>
                <p:tags r:id="rId16"/>
              </p:custDataLst>
            </p:nvPr>
          </p:nvSpPr>
          <p:spPr>
            <a:xfrm>
              <a:off x="691" y="2834"/>
              <a:ext cx="2716" cy="4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sz="2000" b="1" i="1" spc="600" dirty="0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创意UGC</a:t>
              </a:r>
              <a:endParaRPr lang="zh-CN" sz="2000" b="1" i="1" spc="600" dirty="0">
                <a:solidFill>
                  <a:srgbClr val="5262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686" y="2713"/>
              <a:ext cx="8661" cy="655"/>
              <a:chOff x="686" y="3193"/>
              <a:chExt cx="8661" cy="655"/>
            </a:xfrm>
          </p:grpSpPr>
          <p:sp>
            <p:nvSpPr>
              <p:cNvPr id="41" name="文本框 40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062" y="3193"/>
                <a:ext cx="6285" cy="62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r>
                  <a:rPr lang="zh-CN" altLang="en-US" sz="1100"/>
                  <a:t>此类型的笔记亮点在于封面和笔记标题的融合，封面以猎奇吸睛向为主；标题上则融入故事感，引发粉丝好奇心。</a:t>
                </a:r>
                <a:endParaRPr lang="zh-CN" altLang="en-US" sz="1100"/>
              </a:p>
            </p:txBody>
          </p:sp>
          <p:sp>
            <p:nvSpPr>
              <p:cNvPr id="42" name="矩形 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686" y="3220"/>
                <a:ext cx="8661" cy="628"/>
              </a:xfrm>
              <a:prstGeom prst="rect">
                <a:avLst/>
              </a:prstGeom>
              <a:noFill/>
              <a:ln w="9525">
                <a:solidFill>
                  <a:srgbClr val="5262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436245" y="3884930"/>
            <a:ext cx="5499735" cy="528320"/>
            <a:chOff x="686" y="2707"/>
            <a:chExt cx="8661" cy="643"/>
          </a:xfrm>
        </p:grpSpPr>
        <p:sp>
          <p:nvSpPr>
            <p:cNvPr id="44" name="文本框 43"/>
            <p:cNvSpPr txBox="1"/>
            <p:nvPr>
              <p:custDataLst>
                <p:tags r:id="rId19"/>
              </p:custDataLst>
            </p:nvPr>
          </p:nvSpPr>
          <p:spPr>
            <a:xfrm>
              <a:off x="686" y="2803"/>
              <a:ext cx="2461" cy="4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sz="2000" b="1" i="1" spc="600" dirty="0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DIY教程</a:t>
              </a:r>
              <a:endParaRPr lang="zh-CN" sz="2000" b="1" i="1" spc="600" dirty="0">
                <a:solidFill>
                  <a:srgbClr val="5262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86" y="2707"/>
              <a:ext cx="8661" cy="643"/>
              <a:chOff x="686" y="3187"/>
              <a:chExt cx="8661" cy="643"/>
            </a:xfrm>
          </p:grpSpPr>
          <p:sp>
            <p:nvSpPr>
              <p:cNvPr id="46" name="文本框 4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3062" y="3190"/>
                <a:ext cx="6267" cy="6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r>
                  <a:rPr lang="zh-CN" altLang="en-US" sz="1100"/>
                  <a:t>主要以美食、饮料垂类博主为主，根据季节特点输出相关的</a:t>
                </a:r>
                <a:r>
                  <a:rPr lang="en-US" altLang="zh-CN" sz="1100"/>
                  <a:t>diy</a:t>
                </a:r>
                <a:r>
                  <a:rPr lang="zh-CN" altLang="en-US" sz="1100"/>
                  <a:t>教程；除了饮品类，也有尝试甜品相关的</a:t>
                </a:r>
                <a:r>
                  <a:rPr lang="en-US" altLang="zh-CN" sz="1100"/>
                  <a:t>diy</a:t>
                </a:r>
                <a:r>
                  <a:rPr lang="zh-CN" altLang="en-US" sz="1100"/>
                  <a:t>；</a:t>
                </a:r>
                <a:endParaRPr lang="zh-CN" altLang="en-US" sz="1100"/>
              </a:p>
            </p:txBody>
          </p:sp>
          <p:sp>
            <p:nvSpPr>
              <p:cNvPr id="47" name="矩形 46"/>
              <p:cNvSpPr/>
              <p:nvPr>
                <p:custDataLst>
                  <p:tags r:id="rId21"/>
                </p:custDataLst>
              </p:nvPr>
            </p:nvSpPr>
            <p:spPr>
              <a:xfrm>
                <a:off x="686" y="3187"/>
                <a:ext cx="8661" cy="628"/>
              </a:xfrm>
              <a:prstGeom prst="rect">
                <a:avLst/>
              </a:prstGeom>
              <a:noFill/>
              <a:ln w="9525">
                <a:solidFill>
                  <a:srgbClr val="5262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6128385" y="3879850"/>
            <a:ext cx="5499735" cy="520686"/>
            <a:chOff x="686" y="2702"/>
            <a:chExt cx="8661" cy="633"/>
          </a:xfrm>
        </p:grpSpPr>
        <p:sp>
          <p:nvSpPr>
            <p:cNvPr id="49" name="文本框 48"/>
            <p:cNvSpPr txBox="1"/>
            <p:nvPr>
              <p:custDataLst>
                <p:tags r:id="rId22"/>
              </p:custDataLst>
            </p:nvPr>
          </p:nvSpPr>
          <p:spPr>
            <a:xfrm>
              <a:off x="686" y="2804"/>
              <a:ext cx="2461" cy="4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sz="2000" b="1" i="1" spc="600" dirty="0">
                  <a:solidFill>
                    <a:srgbClr val="5262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合集测评</a:t>
              </a:r>
              <a:endParaRPr lang="zh-CN" sz="2000" b="1" i="1" spc="600" dirty="0">
                <a:solidFill>
                  <a:srgbClr val="5262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86" y="2702"/>
              <a:ext cx="8661" cy="633"/>
              <a:chOff x="686" y="3182"/>
              <a:chExt cx="8661" cy="633"/>
            </a:xfrm>
          </p:grpSpPr>
          <p:sp>
            <p:nvSpPr>
              <p:cNvPr id="51" name="文本框 5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3063" y="3182"/>
                <a:ext cx="6284" cy="6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r>
                  <a:rPr lang="zh-CN" altLang="en-US" sz="1100"/>
                  <a:t>通过冲泡品类的合集来扩大曝光，主题上除了测评也有紧跟季节特点的合集。合集上会注重口感上的卖点，</a:t>
                </a:r>
                <a:endParaRPr lang="zh-CN" altLang="en-US" sz="1100"/>
              </a:p>
            </p:txBody>
          </p:sp>
          <p:sp>
            <p:nvSpPr>
              <p:cNvPr id="57" name="矩形 56"/>
              <p:cNvSpPr/>
              <p:nvPr>
                <p:custDataLst>
                  <p:tags r:id="rId24"/>
                </p:custDataLst>
              </p:nvPr>
            </p:nvSpPr>
            <p:spPr>
              <a:xfrm>
                <a:off x="686" y="3187"/>
                <a:ext cx="8661" cy="628"/>
              </a:xfrm>
              <a:prstGeom prst="rect">
                <a:avLst/>
              </a:prstGeom>
              <a:noFill/>
              <a:ln w="9525">
                <a:solidFill>
                  <a:srgbClr val="5262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63" name="图片 6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rcRect r="6270"/>
          <a:stretch>
            <a:fillRect/>
          </a:stretch>
        </p:blipFill>
        <p:spPr>
          <a:xfrm>
            <a:off x="10500360" y="1637030"/>
            <a:ext cx="1290955" cy="216217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626610" y="4450080"/>
            <a:ext cx="1412240" cy="2193925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636510" y="1637030"/>
            <a:ext cx="1319530" cy="2113915"/>
          </a:xfrm>
          <a:prstGeom prst="rect">
            <a:avLst/>
          </a:prstGeom>
        </p:spPr>
      </p:pic>
    </p:spTree>
    <p:custDataLst>
      <p:tags r:id="rId3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36015" y="1515745"/>
            <a:ext cx="2021205" cy="2010410"/>
          </a:xfrm>
          <a:prstGeom prst="ellipse">
            <a:avLst/>
          </a:prstGeom>
          <a:noFill/>
          <a:ln w="38100"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136015" y="2231390"/>
            <a:ext cx="2040890" cy="550545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产品层面</a:t>
            </a:r>
            <a:endParaRPr lang="zh-CN" altLang="en-US" sz="2800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82625" y="3636010"/>
            <a:ext cx="2948305" cy="1183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微软雅黑" panose="020B0503020204020204" charset="-122"/>
              </a:rPr>
              <a:t>优秀竞品在产品上都有自己的定位主线，在饮品内卷赛道上打出差异化卖点，迎合目前的消费者关注点，增加产品效果说服力</a:t>
            </a:r>
            <a:endParaRPr lang="zh-CN" altLang="en-US" sz="1200" spc="150"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10785" y="1515745"/>
            <a:ext cx="2021205" cy="2010410"/>
          </a:xfrm>
          <a:prstGeom prst="ellipse">
            <a:avLst/>
          </a:prstGeom>
          <a:noFill/>
          <a:ln w="38100"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5000625" y="2232025"/>
            <a:ext cx="2040890" cy="550545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达人层面</a:t>
            </a:r>
            <a:endParaRPr lang="zh-CN" altLang="en-US" sz="2800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338955" y="3635375"/>
            <a:ext cx="3548380" cy="11849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微软雅黑" panose="020B0503020204020204" charset="-122"/>
              </a:rPr>
              <a:t>全矩阵达人布局，垂类</a:t>
            </a:r>
            <a:r>
              <a:rPr lang="en-US" altLang="zh-CN" sz="1200" spc="150"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微软雅黑" panose="020B0503020204020204" charset="-122"/>
              </a:rPr>
              <a:t>+</a:t>
            </a:r>
            <a:r>
              <a:rPr lang="zh-CN" altLang="en-US" sz="1200" spc="150"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微软雅黑" panose="020B0503020204020204" charset="-122"/>
              </a:rPr>
              <a:t>破圈达人的种草提高产品曝光，堆高产品可信度，尾部真实口碑反馈，实现快速高效转化</a:t>
            </a:r>
            <a:endParaRPr lang="zh-CN" altLang="en-US" sz="1200" spc="150"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865235" y="1515745"/>
            <a:ext cx="2021205" cy="2010410"/>
          </a:xfrm>
          <a:prstGeom prst="ellipse">
            <a:avLst/>
          </a:prstGeom>
          <a:noFill/>
          <a:ln w="38100"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8865235" y="2232025"/>
            <a:ext cx="2040890" cy="550545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内容层面</a:t>
            </a:r>
            <a:endParaRPr lang="zh-CN" altLang="en-US" sz="2800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8183245" y="3635375"/>
            <a:ext cx="3428365" cy="1184275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微软雅黑" panose="020B0503020204020204" charset="-122"/>
              </a:rPr>
              <a:t>多场景、多样化的内容，让优秀竞品获得大量的曝光，爆文率好且素人讨论度高，快速占据用户的消费心智。</a:t>
            </a:r>
            <a:endParaRPr lang="zh-CN" altLang="en-US" sz="1200" spc="150"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9772650" cy="583565"/>
            <a:chOff x="1075" y="683"/>
            <a:chExt cx="15390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7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8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9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10"/>
              </p:custDataLst>
            </p:nvPr>
          </p:nvSpPr>
          <p:spPr>
            <a:xfrm>
              <a:off x="3323" y="683"/>
              <a:ext cx="1314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竞品投放总结及</a:t>
              </a:r>
              <a:r>
                <a:rPr lang="zh-CN" altLang="en-US" sz="3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调整建议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12925" y="4700270"/>
            <a:ext cx="8404225" cy="447675"/>
            <a:chOff x="2855" y="7342"/>
            <a:chExt cx="13235" cy="854"/>
          </a:xfrm>
        </p:grpSpPr>
        <p:sp>
          <p:nvSpPr>
            <p:cNvPr id="8" name="下箭头 7"/>
            <p:cNvSpPr/>
            <p:nvPr/>
          </p:nvSpPr>
          <p:spPr>
            <a:xfrm>
              <a:off x="9075" y="7342"/>
              <a:ext cx="1050" cy="855"/>
            </a:xfrm>
            <a:prstGeom prst="downArrow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>
              <p:custDataLst>
                <p:tags r:id="rId11"/>
              </p:custDataLst>
            </p:nvPr>
          </p:nvSpPr>
          <p:spPr>
            <a:xfrm>
              <a:off x="2855" y="7342"/>
              <a:ext cx="1050" cy="855"/>
            </a:xfrm>
            <a:prstGeom prst="downArrow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下箭头 16"/>
            <p:cNvSpPr/>
            <p:nvPr>
              <p:custDataLst>
                <p:tags r:id="rId12"/>
              </p:custDataLst>
            </p:nvPr>
          </p:nvSpPr>
          <p:spPr>
            <a:xfrm>
              <a:off x="15040" y="7342"/>
              <a:ext cx="1050" cy="855"/>
            </a:xfrm>
            <a:prstGeom prst="downArrow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338955" y="5243830"/>
            <a:ext cx="3547745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建议：各层级达人报备笔记数量占比提高。</a:t>
            </a:r>
            <a:r>
              <a:rPr lang="zh-CN" altLang="en-US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以垂类达人为主进行高效种草，先腰部扩大流量开口，帮助沉淀声量，再利用尾部</a:t>
            </a:r>
            <a:r>
              <a:rPr lang="en-US" altLang="zh-CN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KOC</a:t>
            </a:r>
            <a:r>
              <a:rPr lang="zh-CN" altLang="en-US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多样化内容，抢占用户心智，配合站内搜索引导，完成流量收割，整体提高流量利用率。</a:t>
            </a:r>
            <a:endParaRPr lang="zh-CN" altLang="en-US" sz="1400" spc="150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274955" y="5243830"/>
            <a:ext cx="3547745" cy="1383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建议：树立</a:t>
            </a:r>
            <a:r>
              <a:rPr lang="en-US" altLang="zh-CN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“</a:t>
            </a:r>
            <a:r>
              <a:rPr lang="zh-CN" altLang="en-US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不加咖啡的拿铁，好喝又健康</a:t>
            </a:r>
            <a:r>
              <a:rPr lang="en-US" altLang="zh-CN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“</a:t>
            </a:r>
            <a:r>
              <a:rPr lang="zh-CN" altLang="en-US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产品标签，</a:t>
            </a:r>
            <a:r>
              <a:rPr lang="zh-CN" altLang="en-US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对用户的咖啡</a:t>
            </a:r>
            <a:r>
              <a:rPr lang="en-US" altLang="zh-CN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=</a:t>
            </a:r>
            <a:r>
              <a:rPr lang="zh-CN" altLang="en-US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拿铁的心智教育的同时，输出产品的茶拿铁风味和健康配方的核心卖点。配合品牌背书，让用户形成产品认知。</a:t>
            </a:r>
            <a:endParaRPr lang="zh-CN" altLang="en-US" sz="1400" spc="150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8183245" y="5243830"/>
            <a:ext cx="354774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14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建议：寻找平台热点内容与卖点有效关联</a:t>
            </a:r>
            <a:r>
              <a:rPr lang="zh-CN" altLang="en-US" sz="1400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，多样化的内容输出，去提升用户的兴趣，打破单一形式，配合工具打造爆文，提高用户对产品的认知</a:t>
            </a:r>
            <a:endParaRPr lang="zh-CN" altLang="en-US" sz="1400" spc="150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635" y="2002790"/>
            <a:ext cx="12192000" cy="2695575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09545" y="1421765"/>
            <a:ext cx="864870" cy="793750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41370" y="1019810"/>
            <a:ext cx="574040" cy="645795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副标题 1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4161155"/>
            <a:ext cx="4651375" cy="412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None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Platform launch strategy and product launch strategy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3" name="明月设计5"/>
          <p:cNvSpPr txBox="1"/>
          <p:nvPr>
            <p:custDataLst>
              <p:tags r:id="rId2"/>
            </p:custDataLst>
          </p:nvPr>
        </p:nvSpPr>
        <p:spPr>
          <a:xfrm>
            <a:off x="-9525" y="2144395"/>
            <a:ext cx="6811010" cy="201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fontAlgn="auto"/>
            <a:r>
              <a:rPr lang="en-US" altLang="zh-CN" sz="6000" b="1" i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02.</a:t>
            </a:r>
            <a:endParaRPr lang="en-US" altLang="zh-CN" sz="6000" b="1" i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  <a:p>
            <a:pPr algn="l" fontAlgn="auto"/>
            <a:r>
              <a:rPr lang="zh-CN" altLang="en-US" sz="6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小红书投放策略</a:t>
            </a:r>
            <a:endParaRPr lang="zh-CN" altLang="en-US" sz="60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068705" y="568325"/>
            <a:ext cx="10427970" cy="1336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“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川宁茶拿铁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—— 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产品拉新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 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爆发收割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”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/>
            <a:endParaRPr lang="zh-CN" altLang="en-US" sz="3600" b="1" dirty="0">
              <a:solidFill>
                <a:schemeClr val="accent1"/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6" name="文本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14725" y="3427730"/>
            <a:ext cx="2494280" cy="13608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algn="ctr">
              <a:lnSpc>
                <a:spcPct val="150000"/>
              </a:lnSpc>
              <a:buNone/>
            </a:pPr>
            <a:r>
              <a:rPr lang="zh-CN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小红书</a:t>
            </a: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密集资源投放</a:t>
            </a:r>
            <a:endParaRPr lang="zh-CN" altLang="en-US" sz="2000" b="1" noProof="0">
              <a:ln>
                <a:noFill/>
              </a:ln>
              <a:effectLst/>
              <a:uLnTx/>
              <a:uFillTx/>
              <a:sym typeface="Arial" panose="020B0604020202020204" pitchFamily="34" charset="0"/>
            </a:endParaRPr>
          </a:p>
          <a:p>
            <a:pPr marL="0" lvl="0" algn="ctr">
              <a:lnSpc>
                <a:spcPct val="150000"/>
              </a:lnSpc>
              <a:buNone/>
            </a:pP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配合店铺流量放大</a:t>
            </a:r>
            <a:endParaRPr lang="zh-CN" altLang="en-US" sz="2000" b="1" noProof="0">
              <a:ln>
                <a:noFill/>
              </a:ln>
              <a:effectLst/>
              <a:uLnTx/>
              <a:uFillTx/>
              <a:sym typeface="Arial" panose="020B0604020202020204" pitchFamily="34" charset="0"/>
            </a:endParaRPr>
          </a:p>
        </p:txBody>
      </p:sp>
      <p:sp>
        <p:nvSpPr>
          <p:cNvPr id="49" name="文本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93470" y="3554095"/>
            <a:ext cx="2206625" cy="13608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algn="ctr">
              <a:lnSpc>
                <a:spcPct val="150000"/>
              </a:lnSpc>
            </a:pPr>
            <a:r>
              <a:rPr lang="zh-CN" altLang="en-US" sz="20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精准人群定位</a:t>
            </a:r>
            <a:endParaRPr lang="zh-CN" altLang="en-US" sz="2000" b="1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测试种草方向</a:t>
            </a:r>
            <a:endParaRPr lang="zh-CN" altLang="en-US" sz="2000" b="1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  <a:p>
            <a:pPr marL="0" lvl="0" indent="0" algn="ctr">
              <a:buNone/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94105" y="2599690"/>
            <a:ext cx="2112645" cy="9417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60000"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indent="0" algn="ctr">
              <a:buNone/>
            </a:pPr>
            <a:r>
              <a:rPr lang="zh-CN" altLang="en-US" sz="6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口碑铺垫</a:t>
            </a:r>
            <a:endParaRPr lang="zh-CN" altLang="en-US" sz="60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744595" y="2612390"/>
            <a:ext cx="2034540" cy="9417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60000"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indent="0" algn="ctr">
              <a:buNone/>
            </a:pPr>
            <a:r>
              <a:rPr lang="zh-CN" altLang="en-US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深度种草</a:t>
            </a:r>
            <a:endParaRPr lang="zh-CN" altLang="en-US" sz="6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文本占位符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29370" y="3427730"/>
            <a:ext cx="2373630" cy="13608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algn="ctr">
              <a:lnSpc>
                <a:spcPct val="150000"/>
              </a:lnSpc>
              <a:buNone/>
            </a:pP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引爆流量</a:t>
            </a:r>
            <a:endParaRPr lang="zh-CN" altLang="en-US" sz="2000" b="1" noProof="0">
              <a:ln>
                <a:noFill/>
              </a:ln>
              <a:effectLst/>
              <a:uLnTx/>
              <a:uFillTx/>
              <a:sym typeface="Arial" panose="020B0604020202020204" pitchFamily="34" charset="0"/>
            </a:endParaRPr>
          </a:p>
          <a:p>
            <a:pPr marL="0" lvl="0" algn="ctr">
              <a:lnSpc>
                <a:spcPct val="150000"/>
              </a:lnSpc>
              <a:buNone/>
            </a:pP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完成爆发收割</a:t>
            </a:r>
            <a:endParaRPr lang="zh-CN" altLang="en-US" sz="2000" b="1" noProof="0">
              <a:ln>
                <a:noFill/>
              </a:ln>
              <a:effectLst/>
              <a:uLnTx/>
              <a:uFillTx/>
              <a:sym typeface="Arial" panose="020B0604020202020204" pitchFamily="34" charset="0"/>
            </a:endParaRPr>
          </a:p>
        </p:txBody>
      </p:sp>
      <p:sp>
        <p:nvSpPr>
          <p:cNvPr id="15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83325" y="3427730"/>
            <a:ext cx="2491105" cy="13608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algn="ctr">
              <a:lnSpc>
                <a:spcPct val="150000"/>
              </a:lnSpc>
              <a:buNone/>
            </a:pP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sym typeface="Arial" panose="020B0604020202020204" pitchFamily="34" charset="0"/>
              </a:rPr>
              <a:t>进攻小红书美食行业抢占年轻人生活场景</a:t>
            </a:r>
            <a:endParaRPr lang="zh-CN" altLang="en-US" sz="2000" b="1" noProof="0">
              <a:ln>
                <a:noFill/>
              </a:ln>
              <a:effectLst/>
              <a:uLnTx/>
              <a:uFillTx/>
              <a:sym typeface="Arial" panose="020B0604020202020204" pitchFamily="34" charset="0"/>
            </a:endParaRPr>
          </a:p>
        </p:txBody>
      </p:sp>
      <p:sp>
        <p:nvSpPr>
          <p:cNvPr id="16" name="文本占位符 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61125" y="2612390"/>
            <a:ext cx="2112645" cy="9417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60000"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indent="0" algn="ctr">
              <a:buNone/>
            </a:pPr>
            <a:r>
              <a:rPr lang="zh-CN" altLang="en-US" sz="6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抢占场景</a:t>
            </a:r>
            <a:endParaRPr lang="zh-CN" altLang="en-US" sz="60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文本占位符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16060" y="2581275"/>
            <a:ext cx="2034540" cy="941705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60000" lnSpcReduction="20000"/>
          </a:bodyPr>
          <a:lstStyle>
            <a:lvl1pPr lvl="0">
              <a:buClrTx/>
              <a:buSzTx/>
              <a:buFont typeface="Arial" panose="020B0604020202020204" pitchFamily="34" charset="0"/>
              <a:defRPr sz="2400"/>
            </a:lvl1pPr>
            <a:lvl2pPr lvl="1">
              <a:buClrTx/>
              <a:buSzTx/>
              <a:buFont typeface="Arial" panose="020B0604020202020204" pitchFamily="34" charset="0"/>
              <a:defRPr sz="2000"/>
            </a:lvl2pPr>
            <a:lvl3pPr lvl="2">
              <a:buClrTx/>
              <a:buSzTx/>
              <a:buFont typeface="Arial" panose="020B0604020202020204" pitchFamily="34" charset="0"/>
              <a:defRPr sz="1800"/>
            </a:lvl3pPr>
            <a:lvl4pPr lvl="3">
              <a:buClrTx/>
              <a:buSzTx/>
              <a:buFont typeface="Arial" panose="020B0604020202020204" pitchFamily="34" charset="0"/>
              <a:defRPr sz="1600"/>
            </a:lvl4pPr>
            <a:lvl5pPr lvl="4">
              <a:buClrTx/>
              <a:buSzTx/>
              <a:buFont typeface="Arial" panose="020B0604020202020204" pitchFamily="34" charset="0"/>
              <a:defRPr sz="1600"/>
            </a:lvl5pPr>
          </a:lstStyle>
          <a:p>
            <a:pPr marL="0" lvl="0" indent="0" algn="ctr">
              <a:buNone/>
            </a:pPr>
            <a:r>
              <a:rPr lang="zh-CN" altLang="en-US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转化收割</a:t>
            </a:r>
            <a:endParaRPr lang="zh-CN" altLang="en-US" sz="6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26035" y="2046605"/>
            <a:ext cx="649605" cy="327215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小红书投放逻辑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Freeform 6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019085" y="350851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7" name="Freeform 7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1019085" y="351359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8" name="Freeform 8"/>
          <p:cNvSpPr/>
          <p:nvPr>
            <p:custDataLst>
              <p:tags r:id="rId7"/>
            </p:custDataLst>
          </p:nvPr>
        </p:nvSpPr>
        <p:spPr bwMode="auto">
          <a:xfrm rot="780000">
            <a:off x="2978009" y="3244447"/>
            <a:ext cx="576666" cy="662369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9" name="Oval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03858" y="380026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0" name="Freeform 10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9068324" y="3520578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>
              <a:lumMod val="25000"/>
              <a:lumOff val="75000"/>
            </a:srgb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1" name="Freeform 11"/>
          <p:cNvSpPr/>
          <p:nvPr>
            <p:custDataLst>
              <p:tags r:id="rId10"/>
            </p:custDataLst>
          </p:nvPr>
        </p:nvSpPr>
        <p:spPr bwMode="auto">
          <a:xfrm rot="660000">
            <a:off x="10210856" y="4565163"/>
            <a:ext cx="576666" cy="662369"/>
          </a:xfrm>
          <a:custGeom>
            <a:avLst/>
            <a:gdLst>
              <a:gd name="T0" fmla="*/ 0 w 162"/>
              <a:gd name="T1" fmla="*/ 185 h 185"/>
              <a:gd name="T2" fmla="*/ 66 w 162"/>
              <a:gd name="T3" fmla="*/ 171 h 185"/>
              <a:gd name="T4" fmla="*/ 60 w 162"/>
              <a:gd name="T5" fmla="*/ 160 h 185"/>
              <a:gd name="T6" fmla="*/ 161 w 162"/>
              <a:gd name="T7" fmla="*/ 8 h 185"/>
              <a:gd name="T8" fmla="*/ 156 w 162"/>
              <a:gd name="T9" fmla="*/ 0 h 185"/>
              <a:gd name="T10" fmla="*/ 155 w 162"/>
              <a:gd name="T11" fmla="*/ 0 h 185"/>
              <a:gd name="T12" fmla="*/ 149 w 162"/>
              <a:gd name="T13" fmla="*/ 5 h 185"/>
              <a:gd name="T14" fmla="*/ 54 w 162"/>
              <a:gd name="T15" fmla="*/ 149 h 185"/>
              <a:gd name="T16" fmla="*/ 50 w 162"/>
              <a:gd name="T17" fmla="*/ 140 h 185"/>
              <a:gd name="T18" fmla="*/ 0 w 162"/>
              <a:gd name="T19" fmla="*/ 185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0" y="185"/>
                </a:moveTo>
                <a:cubicBezTo>
                  <a:pt x="66" y="171"/>
                  <a:pt x="66" y="171"/>
                  <a:pt x="66" y="171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111" y="124"/>
                  <a:pt x="147" y="69"/>
                  <a:pt x="161" y="8"/>
                </a:cubicBezTo>
                <a:cubicBezTo>
                  <a:pt x="162" y="4"/>
                  <a:pt x="159" y="1"/>
                  <a:pt x="156" y="0"/>
                </a:cubicBezTo>
                <a:cubicBezTo>
                  <a:pt x="156" y="0"/>
                  <a:pt x="155" y="0"/>
                  <a:pt x="155" y="0"/>
                </a:cubicBezTo>
                <a:cubicBezTo>
                  <a:pt x="152" y="0"/>
                  <a:pt x="150" y="2"/>
                  <a:pt x="149" y="5"/>
                </a:cubicBezTo>
                <a:cubicBezTo>
                  <a:pt x="136" y="63"/>
                  <a:pt x="102" y="114"/>
                  <a:pt x="54" y="149"/>
                </a:cubicBezTo>
                <a:cubicBezTo>
                  <a:pt x="50" y="140"/>
                  <a:pt x="50" y="140"/>
                  <a:pt x="50" y="140"/>
                </a:cubicBezTo>
                <a:lnTo>
                  <a:pt x="0" y="18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>
              <a:solidFill>
                <a:schemeClr val="tx1"/>
              </a:solidFill>
            </a:endParaRP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347383" y="380661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3" name="Freeform 1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3166397" y="354026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>
              <a:lumMod val="25000"/>
              <a:lumOff val="75000"/>
            </a:srgb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4" name="Oval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451171" y="382693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5" name="Freeform 15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4641879" y="354026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>
              <a:lumMod val="25000"/>
              <a:lumOff val="75000"/>
            </a:srgb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6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926653" y="382693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7" name="Freeform 17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6123077" y="353391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>
              <a:lumMod val="25000"/>
              <a:lumOff val="75000"/>
            </a:srgb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8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407849" y="382693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19" name="Freeform 19"/>
          <p:cNvSpPr>
            <a:spLocks noEditPoints="1"/>
          </p:cNvSpPr>
          <p:nvPr>
            <p:custDataLst>
              <p:tags r:id="rId18"/>
            </p:custDataLst>
          </p:nvPr>
        </p:nvSpPr>
        <p:spPr bwMode="auto">
          <a:xfrm>
            <a:off x="7592842" y="3540263"/>
            <a:ext cx="1432767" cy="144225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>
              <a:lumMod val="25000"/>
              <a:lumOff val="75000"/>
            </a:srgbClr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20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877615" y="3826933"/>
            <a:ext cx="863220" cy="868915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21" name="Freeform 21"/>
          <p:cNvSpPr>
            <a:spLocks noEditPoints="1"/>
          </p:cNvSpPr>
          <p:nvPr>
            <p:custDataLst>
              <p:tags r:id="rId20"/>
            </p:custDataLst>
          </p:nvPr>
        </p:nvSpPr>
        <p:spPr bwMode="auto">
          <a:xfrm>
            <a:off x="9620885" y="4070985"/>
            <a:ext cx="340995" cy="387350"/>
          </a:xfrm>
          <a:custGeom>
            <a:avLst/>
            <a:gdLst>
              <a:gd name="T0" fmla="*/ 26 w 90"/>
              <a:gd name="T1" fmla="*/ 19 h 91"/>
              <a:gd name="T2" fmla="*/ 19 w 90"/>
              <a:gd name="T3" fmla="*/ 26 h 91"/>
              <a:gd name="T4" fmla="*/ 18 w 90"/>
              <a:gd name="T5" fmla="*/ 34 h 91"/>
              <a:gd name="T6" fmla="*/ 22 w 90"/>
              <a:gd name="T7" fmla="*/ 29 h 91"/>
              <a:gd name="T8" fmla="*/ 29 w 90"/>
              <a:gd name="T9" fmla="*/ 23 h 91"/>
              <a:gd name="T10" fmla="*/ 33 w 90"/>
              <a:gd name="T11" fmla="*/ 18 h 91"/>
              <a:gd name="T12" fmla="*/ 89 w 90"/>
              <a:gd name="T13" fmla="*/ 84 h 91"/>
              <a:gd name="T14" fmla="*/ 73 w 90"/>
              <a:gd name="T15" fmla="*/ 67 h 91"/>
              <a:gd name="T16" fmla="*/ 82 w 90"/>
              <a:gd name="T17" fmla="*/ 41 h 91"/>
              <a:gd name="T18" fmla="*/ 79 w 90"/>
              <a:gd name="T19" fmla="*/ 25 h 91"/>
              <a:gd name="T20" fmla="*/ 70 w 90"/>
              <a:gd name="T21" fmla="*/ 12 h 91"/>
              <a:gd name="T22" fmla="*/ 41 w 90"/>
              <a:gd name="T23" fmla="*/ 0 h 91"/>
              <a:gd name="T24" fmla="*/ 3 w 90"/>
              <a:gd name="T25" fmla="*/ 25 h 91"/>
              <a:gd name="T26" fmla="*/ 3 w 90"/>
              <a:gd name="T27" fmla="*/ 57 h 91"/>
              <a:gd name="T28" fmla="*/ 12 w 90"/>
              <a:gd name="T29" fmla="*/ 70 h 91"/>
              <a:gd name="T30" fmla="*/ 25 w 90"/>
              <a:gd name="T31" fmla="*/ 79 h 91"/>
              <a:gd name="T32" fmla="*/ 25 w 90"/>
              <a:gd name="T33" fmla="*/ 79 h 91"/>
              <a:gd name="T34" fmla="*/ 57 w 90"/>
              <a:gd name="T35" fmla="*/ 79 h 91"/>
              <a:gd name="T36" fmla="*/ 84 w 90"/>
              <a:gd name="T37" fmla="*/ 89 h 91"/>
              <a:gd name="T38" fmla="*/ 89 w 90"/>
              <a:gd name="T39" fmla="*/ 84 h 91"/>
              <a:gd name="T40" fmla="*/ 65 w 90"/>
              <a:gd name="T41" fmla="*/ 65 h 91"/>
              <a:gd name="T42" fmla="*/ 54 w 90"/>
              <a:gd name="T43" fmla="*/ 72 h 91"/>
              <a:gd name="T44" fmla="*/ 28 w 90"/>
              <a:gd name="T45" fmla="*/ 72 h 91"/>
              <a:gd name="T46" fmla="*/ 17 w 90"/>
              <a:gd name="T47" fmla="*/ 65 h 91"/>
              <a:gd name="T48" fmla="*/ 17 w 90"/>
              <a:gd name="T49" fmla="*/ 65 h 91"/>
              <a:gd name="T50" fmla="*/ 10 w 90"/>
              <a:gd name="T51" fmla="*/ 54 h 91"/>
              <a:gd name="T52" fmla="*/ 10 w 90"/>
              <a:gd name="T53" fmla="*/ 28 h 91"/>
              <a:gd name="T54" fmla="*/ 41 w 90"/>
              <a:gd name="T55" fmla="*/ 7 h 91"/>
              <a:gd name="T56" fmla="*/ 65 w 90"/>
              <a:gd name="T57" fmla="*/ 17 h 91"/>
              <a:gd name="T58" fmla="*/ 72 w 90"/>
              <a:gd name="T59" fmla="*/ 28 h 91"/>
              <a:gd name="T60" fmla="*/ 75 w 90"/>
              <a:gd name="T61" fmla="*/ 41 h 91"/>
              <a:gd name="T62" fmla="*/ 65 w 90"/>
              <a:gd name="T63" fmla="*/ 65 h 91"/>
              <a:gd name="T64" fmla="*/ 65 w 90"/>
              <a:gd name="T65" fmla="*/ 39 h 91"/>
              <a:gd name="T66" fmla="*/ 61 w 90"/>
              <a:gd name="T67" fmla="*/ 50 h 91"/>
              <a:gd name="T68" fmla="*/ 57 w 90"/>
              <a:gd name="T69" fmla="*/ 57 h 91"/>
              <a:gd name="T70" fmla="*/ 41 w 90"/>
              <a:gd name="T71" fmla="*/ 63 h 91"/>
              <a:gd name="T72" fmla="*/ 41 w 90"/>
              <a:gd name="T73" fmla="*/ 68 h 91"/>
              <a:gd name="T74" fmla="*/ 60 w 90"/>
              <a:gd name="T75" fmla="*/ 60 h 91"/>
              <a:gd name="T76" fmla="*/ 66 w 90"/>
              <a:gd name="T77" fmla="*/ 51 h 91"/>
              <a:gd name="T78" fmla="*/ 65 w 90"/>
              <a:gd name="T79" fmla="*/ 39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0" h="91">
                <a:moveTo>
                  <a:pt x="30" y="16"/>
                </a:moveTo>
                <a:cubicBezTo>
                  <a:pt x="29" y="17"/>
                  <a:pt x="27" y="18"/>
                  <a:pt x="26" y="19"/>
                </a:cubicBezTo>
                <a:cubicBezTo>
                  <a:pt x="25" y="20"/>
                  <a:pt x="23" y="21"/>
                  <a:pt x="22" y="22"/>
                </a:cubicBezTo>
                <a:cubicBezTo>
                  <a:pt x="21" y="23"/>
                  <a:pt x="20" y="25"/>
                  <a:pt x="19" y="26"/>
                </a:cubicBezTo>
                <a:cubicBezTo>
                  <a:pt x="18" y="28"/>
                  <a:pt x="17" y="29"/>
                  <a:pt x="16" y="31"/>
                </a:cubicBezTo>
                <a:cubicBezTo>
                  <a:pt x="16" y="32"/>
                  <a:pt x="16" y="33"/>
                  <a:pt x="18" y="34"/>
                </a:cubicBezTo>
                <a:cubicBezTo>
                  <a:pt x="19" y="34"/>
                  <a:pt x="20" y="34"/>
                  <a:pt x="20" y="32"/>
                </a:cubicBezTo>
                <a:cubicBezTo>
                  <a:pt x="21" y="31"/>
                  <a:pt x="22" y="30"/>
                  <a:pt x="22" y="29"/>
                </a:cubicBezTo>
                <a:cubicBezTo>
                  <a:pt x="23" y="28"/>
                  <a:pt x="24" y="26"/>
                  <a:pt x="25" y="25"/>
                </a:cubicBezTo>
                <a:cubicBezTo>
                  <a:pt x="26" y="24"/>
                  <a:pt x="27" y="23"/>
                  <a:pt x="29" y="23"/>
                </a:cubicBezTo>
                <a:cubicBezTo>
                  <a:pt x="30" y="22"/>
                  <a:pt x="31" y="21"/>
                  <a:pt x="32" y="21"/>
                </a:cubicBezTo>
                <a:cubicBezTo>
                  <a:pt x="33" y="20"/>
                  <a:pt x="34" y="19"/>
                  <a:pt x="33" y="18"/>
                </a:cubicBezTo>
                <a:cubicBezTo>
                  <a:pt x="33" y="17"/>
                  <a:pt x="32" y="16"/>
                  <a:pt x="30" y="16"/>
                </a:cubicBezTo>
                <a:close/>
                <a:moveTo>
                  <a:pt x="89" y="84"/>
                </a:moveTo>
                <a:cubicBezTo>
                  <a:pt x="89" y="84"/>
                  <a:pt x="89" y="84"/>
                  <a:pt x="89" y="84"/>
                </a:cubicBezTo>
                <a:cubicBezTo>
                  <a:pt x="73" y="67"/>
                  <a:pt x="73" y="67"/>
                  <a:pt x="73" y="67"/>
                </a:cubicBezTo>
                <a:cubicBezTo>
                  <a:pt x="75" y="64"/>
                  <a:pt x="77" y="61"/>
                  <a:pt x="79" y="57"/>
                </a:cubicBezTo>
                <a:cubicBezTo>
                  <a:pt x="81" y="52"/>
                  <a:pt x="82" y="47"/>
                  <a:pt x="82" y="41"/>
                </a:cubicBezTo>
                <a:cubicBezTo>
                  <a:pt x="82" y="36"/>
                  <a:pt x="81" y="30"/>
                  <a:pt x="79" y="26"/>
                </a:cubicBezTo>
                <a:cubicBezTo>
                  <a:pt x="79" y="25"/>
                  <a:pt x="79" y="25"/>
                  <a:pt x="79" y="25"/>
                </a:cubicBezTo>
                <a:cubicBezTo>
                  <a:pt x="77" y="20"/>
                  <a:pt x="74" y="16"/>
                  <a:pt x="70" y="12"/>
                </a:cubicBezTo>
                <a:cubicBezTo>
                  <a:pt x="70" y="12"/>
                  <a:pt x="70" y="12"/>
                  <a:pt x="70" y="12"/>
                </a:cubicBezTo>
                <a:cubicBezTo>
                  <a:pt x="66" y="8"/>
                  <a:pt x="62" y="5"/>
                  <a:pt x="57" y="3"/>
                </a:cubicBezTo>
                <a:cubicBezTo>
                  <a:pt x="52" y="1"/>
                  <a:pt x="46" y="0"/>
                  <a:pt x="41" y="0"/>
                </a:cubicBezTo>
                <a:cubicBezTo>
                  <a:pt x="29" y="0"/>
                  <a:pt x="19" y="4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6"/>
                  <a:pt x="0" y="41"/>
                </a:cubicBezTo>
                <a:cubicBezTo>
                  <a:pt x="0" y="47"/>
                  <a:pt x="1" y="52"/>
                  <a:pt x="3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5" y="62"/>
                  <a:pt x="8" y="66"/>
                  <a:pt x="12" y="70"/>
                </a:cubicBezTo>
                <a:cubicBezTo>
                  <a:pt x="12" y="70"/>
                  <a:pt x="12" y="70"/>
                  <a:pt x="12" y="70"/>
                </a:cubicBezTo>
                <a:cubicBezTo>
                  <a:pt x="16" y="74"/>
                  <a:pt x="20" y="77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30" y="81"/>
                  <a:pt x="35" y="82"/>
                  <a:pt x="41" y="82"/>
                </a:cubicBezTo>
                <a:cubicBezTo>
                  <a:pt x="46" y="82"/>
                  <a:pt x="52" y="81"/>
                  <a:pt x="57" y="79"/>
                </a:cubicBezTo>
                <a:cubicBezTo>
                  <a:pt x="61" y="78"/>
                  <a:pt x="64" y="75"/>
                  <a:pt x="67" y="73"/>
                </a:cubicBezTo>
                <a:cubicBezTo>
                  <a:pt x="84" y="89"/>
                  <a:pt x="84" y="89"/>
                  <a:pt x="84" y="89"/>
                </a:cubicBezTo>
                <a:cubicBezTo>
                  <a:pt x="85" y="91"/>
                  <a:pt x="88" y="91"/>
                  <a:pt x="89" y="89"/>
                </a:cubicBezTo>
                <a:cubicBezTo>
                  <a:pt x="90" y="88"/>
                  <a:pt x="90" y="85"/>
                  <a:pt x="89" y="84"/>
                </a:cubicBezTo>
                <a:close/>
                <a:moveTo>
                  <a:pt x="65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2" y="68"/>
                  <a:pt x="58" y="71"/>
                  <a:pt x="54" y="72"/>
                </a:cubicBezTo>
                <a:cubicBezTo>
                  <a:pt x="50" y="74"/>
                  <a:pt x="45" y="75"/>
                  <a:pt x="41" y="75"/>
                </a:cubicBezTo>
                <a:cubicBezTo>
                  <a:pt x="36" y="75"/>
                  <a:pt x="32" y="74"/>
                  <a:pt x="28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4" y="71"/>
                  <a:pt x="20" y="68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4" y="62"/>
                  <a:pt x="11" y="58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8" y="50"/>
                  <a:pt x="7" y="46"/>
                  <a:pt x="7" y="41"/>
                </a:cubicBezTo>
                <a:cubicBezTo>
                  <a:pt x="7" y="37"/>
                  <a:pt x="8" y="32"/>
                  <a:pt x="10" y="28"/>
                </a:cubicBezTo>
                <a:cubicBezTo>
                  <a:pt x="11" y="24"/>
                  <a:pt x="14" y="20"/>
                  <a:pt x="17" y="17"/>
                </a:cubicBezTo>
                <a:cubicBezTo>
                  <a:pt x="23" y="11"/>
                  <a:pt x="32" y="7"/>
                  <a:pt x="41" y="7"/>
                </a:cubicBezTo>
                <a:cubicBezTo>
                  <a:pt x="45" y="7"/>
                  <a:pt x="50" y="8"/>
                  <a:pt x="54" y="10"/>
                </a:cubicBezTo>
                <a:cubicBezTo>
                  <a:pt x="58" y="12"/>
                  <a:pt x="62" y="14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8" y="21"/>
                  <a:pt x="70" y="24"/>
                  <a:pt x="72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4" y="32"/>
                  <a:pt x="75" y="37"/>
                  <a:pt x="75" y="41"/>
                </a:cubicBezTo>
                <a:cubicBezTo>
                  <a:pt x="75" y="46"/>
                  <a:pt x="74" y="50"/>
                  <a:pt x="72" y="54"/>
                </a:cubicBezTo>
                <a:cubicBezTo>
                  <a:pt x="70" y="58"/>
                  <a:pt x="68" y="62"/>
                  <a:pt x="65" y="65"/>
                </a:cubicBezTo>
                <a:close/>
                <a:moveTo>
                  <a:pt x="65" y="39"/>
                </a:moveTo>
                <a:cubicBezTo>
                  <a:pt x="65" y="39"/>
                  <a:pt x="65" y="39"/>
                  <a:pt x="65" y="39"/>
                </a:cubicBezTo>
                <a:cubicBezTo>
                  <a:pt x="64" y="39"/>
                  <a:pt x="63" y="40"/>
                  <a:pt x="63" y="41"/>
                </a:cubicBezTo>
                <a:cubicBezTo>
                  <a:pt x="63" y="44"/>
                  <a:pt x="62" y="47"/>
                  <a:pt x="61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0" y="52"/>
                  <a:pt x="59" y="55"/>
                  <a:pt x="57" y="57"/>
                </a:cubicBezTo>
                <a:cubicBezTo>
                  <a:pt x="54" y="59"/>
                  <a:pt x="52" y="60"/>
                  <a:pt x="49" y="62"/>
                </a:cubicBezTo>
                <a:cubicBezTo>
                  <a:pt x="47" y="63"/>
                  <a:pt x="44" y="63"/>
                  <a:pt x="41" y="63"/>
                </a:cubicBezTo>
                <a:cubicBezTo>
                  <a:pt x="40" y="63"/>
                  <a:pt x="39" y="64"/>
                  <a:pt x="39" y="66"/>
                </a:cubicBezTo>
                <a:cubicBezTo>
                  <a:pt x="39" y="67"/>
                  <a:pt x="40" y="68"/>
                  <a:pt x="41" y="68"/>
                </a:cubicBezTo>
                <a:cubicBezTo>
                  <a:pt x="44" y="68"/>
                  <a:pt x="48" y="67"/>
                  <a:pt x="51" y="66"/>
                </a:cubicBezTo>
                <a:cubicBezTo>
                  <a:pt x="54" y="64"/>
                  <a:pt x="57" y="63"/>
                  <a:pt x="60" y="60"/>
                </a:cubicBezTo>
                <a:cubicBezTo>
                  <a:pt x="62" y="58"/>
                  <a:pt x="64" y="55"/>
                  <a:pt x="66" y="51"/>
                </a:cubicBezTo>
                <a:cubicBezTo>
                  <a:pt x="66" y="51"/>
                  <a:pt x="66" y="51"/>
                  <a:pt x="66" y="51"/>
                </a:cubicBezTo>
                <a:cubicBezTo>
                  <a:pt x="67" y="48"/>
                  <a:pt x="68" y="45"/>
                  <a:pt x="68" y="41"/>
                </a:cubicBezTo>
                <a:cubicBezTo>
                  <a:pt x="68" y="40"/>
                  <a:pt x="67" y="39"/>
                  <a:pt x="65" y="39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cxnSp>
        <p:nvCxnSpPr>
          <p:cNvPr id="29" name="直接连接符 28"/>
          <p:cNvCxnSpPr/>
          <p:nvPr>
            <p:custDataLst>
              <p:tags r:id="rId21"/>
            </p:custDataLst>
          </p:nvPr>
        </p:nvCxnSpPr>
        <p:spPr>
          <a:xfrm flipV="1">
            <a:off x="1735467" y="5080167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cxnSp>
        <p:nvCxnSpPr>
          <p:cNvPr id="34" name="直接连接符 33"/>
          <p:cNvCxnSpPr/>
          <p:nvPr>
            <p:custDataLst>
              <p:tags r:id="rId22"/>
            </p:custDataLst>
          </p:nvPr>
        </p:nvCxnSpPr>
        <p:spPr>
          <a:xfrm flipV="1">
            <a:off x="5358263" y="5136047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cxnSp>
        <p:nvCxnSpPr>
          <p:cNvPr id="36" name="直接连接符 35"/>
          <p:cNvCxnSpPr/>
          <p:nvPr>
            <p:custDataLst>
              <p:tags r:id="rId23"/>
            </p:custDataLst>
          </p:nvPr>
        </p:nvCxnSpPr>
        <p:spPr>
          <a:xfrm flipV="1">
            <a:off x="8324680" y="5136047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cxnSp>
        <p:nvCxnSpPr>
          <p:cNvPr id="37" name="直接连接符 36"/>
          <p:cNvCxnSpPr/>
          <p:nvPr>
            <p:custDataLst>
              <p:tags r:id="rId24"/>
            </p:custDataLst>
          </p:nvPr>
        </p:nvCxnSpPr>
        <p:spPr>
          <a:xfrm flipV="1">
            <a:off x="3882778" y="2893071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cxnSp>
        <p:nvCxnSpPr>
          <p:cNvPr id="39" name="直接连接符 38"/>
          <p:cNvCxnSpPr/>
          <p:nvPr>
            <p:custDataLst>
              <p:tags r:id="rId25"/>
            </p:custDataLst>
          </p:nvPr>
        </p:nvCxnSpPr>
        <p:spPr>
          <a:xfrm flipV="1">
            <a:off x="6818719" y="2893071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cxnSp>
        <p:nvCxnSpPr>
          <p:cNvPr id="41" name="直接连接符 40"/>
          <p:cNvCxnSpPr/>
          <p:nvPr>
            <p:custDataLst>
              <p:tags r:id="rId26"/>
            </p:custDataLst>
          </p:nvPr>
        </p:nvCxnSpPr>
        <p:spPr>
          <a:xfrm flipV="1">
            <a:off x="9774977" y="2893071"/>
            <a:ext cx="0" cy="4892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</p:cxnSp>
      <p:sp>
        <p:nvSpPr>
          <p:cNvPr id="45" name="文本框 44"/>
          <p:cNvSpPr txBox="1"/>
          <p:nvPr>
            <p:custDataLst>
              <p:tags r:id="rId27"/>
            </p:custDataLst>
          </p:nvPr>
        </p:nvSpPr>
        <p:spPr>
          <a:xfrm>
            <a:off x="2642196" y="2185065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sz="17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淘内品牌词搜索</a:t>
            </a:r>
            <a:endParaRPr lang="zh-CN" altLang="en-US" sz="1700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>
            <a:off x="5599726" y="2170460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品牌和品类次词</a:t>
            </a:r>
            <a:endParaRPr lang="zh-CN" altLang="en-US" b="1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关联权重加大</a:t>
            </a:r>
            <a:endParaRPr kumimoji="0" lang="zh-CN" altLang="en-US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/>
            <a:endParaRPr kumimoji="0" lang="zh-CN" altLang="en-US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>
            <p:custDataLst>
              <p:tags r:id="rId29"/>
            </p:custDataLst>
          </p:nvPr>
        </p:nvSpPr>
        <p:spPr>
          <a:xfrm>
            <a:off x="8597260" y="2185065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品牌小红书</a:t>
            </a:r>
            <a:endParaRPr lang="zh-CN" altLang="en-US" b="1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搜索流量放大</a:t>
            </a:r>
            <a:endParaRPr lang="zh-CN" altLang="en-US" b="1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0"/>
            </p:custDataLst>
          </p:nvPr>
        </p:nvSpPr>
        <p:spPr>
          <a:xfrm>
            <a:off x="490925" y="5625556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品牌站外搜索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流量达成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1"/>
            </p:custDataLst>
          </p:nvPr>
        </p:nvSpPr>
        <p:spPr>
          <a:xfrm>
            <a:off x="4117623" y="5694136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淘内产品关键词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搜索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2"/>
            </p:custDataLst>
          </p:nvPr>
        </p:nvSpPr>
        <p:spPr>
          <a:xfrm>
            <a:off x="7069951" y="5694136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淘内免费流量反哺</a:t>
            </a:r>
            <a:endParaRPr kumimoji="0" lang="en-US" altLang="zh-CN" sz="72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（搜索</a:t>
            </a:r>
            <a:r>
              <a:rPr lang="en-US" altLang="zh-CN" sz="7200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7200" b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搜索推荐</a:t>
            </a:r>
            <a:r>
              <a:rPr lang="zh-CN" altLang="en-US" sz="720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0" lang="zh-CN" altLang="en-US" sz="7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/>
            <a:endParaRPr lang="zh-CN" altLang="en-US" sz="7200" dirty="0">
              <a:latin typeface="Arial" panose="020B0604020202020204" pitchFamily="34" charset="0"/>
              <a:ea typeface="黑体" panose="02010609060101010101" charset="-122"/>
              <a:cs typeface="+mn-ea"/>
            </a:endParaRPr>
          </a:p>
        </p:txBody>
      </p:sp>
      <p:sp>
        <p:nvSpPr>
          <p:cNvPr id="33" name="加号 32"/>
          <p:cNvSpPr/>
          <p:nvPr>
            <p:custDataLst>
              <p:tags r:id="rId33"/>
            </p:custDataLst>
          </p:nvPr>
        </p:nvSpPr>
        <p:spPr>
          <a:xfrm>
            <a:off x="4428808" y="4060190"/>
            <a:ext cx="382588" cy="388938"/>
          </a:xfrm>
          <a:prstGeom prst="mathPlus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6408068" y="3138896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6F413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转化率稳定</a:t>
            </a:r>
            <a:endParaRPr lang="zh-CN" altLang="en-US" sz="1400" b="1" dirty="0">
              <a:solidFill>
                <a:srgbClr val="6F4132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35"/>
            </p:custDataLst>
          </p:nvPr>
        </p:nvSpPr>
        <p:spPr>
          <a:xfrm>
            <a:off x="7794908" y="3136991"/>
            <a:ext cx="2482433" cy="369332"/>
          </a:xfrm>
          <a:prstGeom prst="rect">
            <a:avLst/>
          </a:prstGeom>
          <a:noFill/>
        </p:spPr>
        <p:txBody>
          <a:bodyPr vert="horz" wrap="square" lIns="90000" tIns="46800" rIns="90000" bIns="46800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6F413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转化率稳定</a:t>
            </a:r>
            <a:endParaRPr lang="zh-CN" altLang="en-US" sz="1400" b="1" dirty="0">
              <a:solidFill>
                <a:srgbClr val="6F4132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0" name="Freeform 8"/>
          <p:cNvSpPr/>
          <p:nvPr>
            <p:custDataLst>
              <p:tags r:id="rId36"/>
            </p:custDataLst>
          </p:nvPr>
        </p:nvSpPr>
        <p:spPr bwMode="auto">
          <a:xfrm rot="3120000">
            <a:off x="5807569" y="3335887"/>
            <a:ext cx="576666" cy="662369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rgbClr val="52623F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42" name="Freeform 8"/>
          <p:cNvSpPr/>
          <p:nvPr>
            <p:custDataLst>
              <p:tags r:id="rId37"/>
            </p:custDataLst>
          </p:nvPr>
        </p:nvSpPr>
        <p:spPr bwMode="auto">
          <a:xfrm rot="3120000">
            <a:off x="8747619" y="3335887"/>
            <a:ext cx="576666" cy="662369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sp>
        <p:nvSpPr>
          <p:cNvPr id="43" name="圆角矩形 42"/>
          <p:cNvSpPr/>
          <p:nvPr>
            <p:custDataLst>
              <p:tags r:id="rId38"/>
            </p:custDataLst>
          </p:nvPr>
        </p:nvSpPr>
        <p:spPr>
          <a:xfrm>
            <a:off x="170180" y="1951355"/>
            <a:ext cx="11743055" cy="4393565"/>
          </a:xfrm>
          <a:prstGeom prst="roundRect">
            <a:avLst>
              <a:gd name="adj" fmla="val 8091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Freeform 8"/>
          <p:cNvSpPr/>
          <p:nvPr>
            <p:custDataLst>
              <p:tags r:id="rId39"/>
            </p:custDataLst>
          </p:nvPr>
        </p:nvSpPr>
        <p:spPr bwMode="auto">
          <a:xfrm rot="3180000">
            <a:off x="7387590" y="3343275"/>
            <a:ext cx="522605" cy="635000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0000" tIns="46800" rIns="90000" bIns="46800" numCol="1" anchor="t" anchorCtr="0" compatLnSpc="1">
            <a:normAutofit/>
          </a:bodyPr>
          <a:lstStyle/>
          <a:p>
            <a:endParaRPr lang="zh-CN" altLang="en-US" sz="1690"/>
          </a:p>
        </p:txBody>
      </p:sp>
      <p:pic>
        <p:nvPicPr>
          <p:cNvPr id="47" name="图片 46" descr="32303038313138363b32303039303531343bd1adbbb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076565" y="4046220"/>
            <a:ext cx="469900" cy="469900"/>
          </a:xfrm>
          <a:prstGeom prst="rect">
            <a:avLst/>
          </a:prstGeom>
        </p:spPr>
      </p:pic>
      <p:pic>
        <p:nvPicPr>
          <p:cNvPr id="49" name="图片 48" descr="32303038313138363b32303039303531333bc9f9d2f4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640195" y="4030980"/>
            <a:ext cx="429895" cy="429895"/>
          </a:xfrm>
          <a:prstGeom prst="rect">
            <a:avLst/>
          </a:prstGeom>
        </p:spPr>
      </p:pic>
      <p:pic>
        <p:nvPicPr>
          <p:cNvPr id="51" name="图片 50" descr="32303038313138363b32303039303532353bcffbcfa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196205" y="4088130"/>
            <a:ext cx="372745" cy="372745"/>
          </a:xfrm>
          <a:prstGeom prst="rect">
            <a:avLst/>
          </a:prstGeom>
        </p:spPr>
      </p:pic>
      <p:pic>
        <p:nvPicPr>
          <p:cNvPr id="23" name="图片 22" descr="32303038313138363b32303039303532323bb2a5b7c5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528445" y="4022090"/>
            <a:ext cx="414020" cy="414020"/>
          </a:xfrm>
          <a:prstGeom prst="rect">
            <a:avLst/>
          </a:prstGeom>
        </p:spPr>
      </p:pic>
      <p:pic>
        <p:nvPicPr>
          <p:cNvPr id="24" name="图片 23" descr="32303038313138363b32303039303531373bcad6bbfa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679190" y="4051300"/>
            <a:ext cx="407035" cy="40703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55"/>
            </p:custDataLst>
          </p:nvPr>
        </p:nvSpPr>
        <p:spPr>
          <a:xfrm>
            <a:off x="1327150" y="1268730"/>
            <a:ext cx="9650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t>高效率的小红书投放，能给站内带来稳定的搜索效果，从而获得淘内的免费流量反补。</a:t>
            </a:r>
          </a:p>
        </p:txBody>
      </p:sp>
    </p:spTree>
    <p:custDataLst>
      <p:tags r:id="rId5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小红书投放策略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94535" y="1657985"/>
            <a:ext cx="7856855" cy="4363720"/>
            <a:chOff x="6232" y="2970"/>
            <a:chExt cx="12373" cy="6872"/>
          </a:xfrm>
        </p:grpSpPr>
        <p:sp>
          <p:nvSpPr>
            <p:cNvPr id="11" name="椭圆 10"/>
            <p:cNvSpPr/>
            <p:nvPr>
              <p:custDataLst>
                <p:tags r:id="rId5"/>
              </p:custDataLst>
            </p:nvPr>
          </p:nvSpPr>
          <p:spPr>
            <a:xfrm>
              <a:off x="6980" y="3913"/>
              <a:ext cx="2620" cy="2620"/>
            </a:xfrm>
            <a:prstGeom prst="ellipse">
              <a:avLst/>
            </a:prstGeom>
            <a:noFill/>
            <a:ln w="38100">
              <a:solidFill>
                <a:srgbClr val="6F413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博主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3766" y="3938"/>
              <a:ext cx="2620" cy="2620"/>
            </a:xfrm>
            <a:prstGeom prst="ellipse">
              <a:avLst/>
            </a:prstGeom>
            <a:noFill/>
            <a:ln w="38100">
              <a:solidFill>
                <a:srgbClr val="6F413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>
                <a:solidFill>
                  <a:srgbClr val="D294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8" name="直接连接符 17"/>
            <p:cNvCxnSpPr>
              <a:stCxn id="11" idx="6"/>
              <a:endCxn id="16" idx="2"/>
            </p:cNvCxnSpPr>
            <p:nvPr>
              <p:custDataLst>
                <p:tags r:id="rId7"/>
              </p:custDataLst>
            </p:nvPr>
          </p:nvCxnSpPr>
          <p:spPr>
            <a:xfrm>
              <a:off x="9600" y="5223"/>
              <a:ext cx="4166" cy="25"/>
            </a:xfrm>
            <a:prstGeom prst="line">
              <a:avLst/>
            </a:prstGeom>
            <a:ln w="28575">
              <a:solidFill>
                <a:srgbClr val="6F413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>
              <p:custDataLst>
                <p:tags r:id="rId8"/>
              </p:custDataLst>
            </p:nvPr>
          </p:nvSpPr>
          <p:spPr>
            <a:xfrm>
              <a:off x="7418" y="6990"/>
              <a:ext cx="174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浏览场</a:t>
              </a:r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9"/>
              </p:custDataLst>
            </p:nvPr>
          </p:nvSpPr>
          <p:spPr>
            <a:xfrm>
              <a:off x="14260" y="6990"/>
              <a:ext cx="174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搜索场</a:t>
              </a:r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0"/>
              </p:custDataLst>
            </p:nvPr>
          </p:nvSpPr>
          <p:spPr>
            <a:xfrm>
              <a:off x="13960" y="4776"/>
              <a:ext cx="22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信息流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1"/>
              </p:custDataLst>
            </p:nvPr>
          </p:nvSpPr>
          <p:spPr>
            <a:xfrm>
              <a:off x="6981" y="2970"/>
              <a:ext cx="2619" cy="5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内容策略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2"/>
              </p:custDataLst>
            </p:nvPr>
          </p:nvSpPr>
          <p:spPr>
            <a:xfrm>
              <a:off x="12959" y="2970"/>
              <a:ext cx="4234" cy="5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投放策略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等腰三角形 27"/>
            <p:cNvSpPr/>
            <p:nvPr>
              <p:custDataLst>
                <p:tags r:id="rId13"/>
              </p:custDataLst>
            </p:nvPr>
          </p:nvSpPr>
          <p:spPr>
            <a:xfrm flipV="1">
              <a:off x="7485" y="7717"/>
              <a:ext cx="1590" cy="525"/>
            </a:xfrm>
            <a:prstGeom prst="triangle">
              <a:avLst/>
            </a:prstGeom>
            <a:gradFill>
              <a:gsLst>
                <a:gs pos="50000">
                  <a:srgbClr val="84AF7F"/>
                </a:gs>
                <a:gs pos="0">
                  <a:srgbClr val="ADCAAA"/>
                </a:gs>
                <a:gs pos="100000">
                  <a:srgbClr val="5B9454"/>
                </a:gs>
              </a:gsLst>
              <a:lin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rgbClr val="FF9FA6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8100000" scaled="0"/>
                </a:gradFill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4"/>
              </p:custDataLst>
            </p:nvPr>
          </p:nvSpPr>
          <p:spPr>
            <a:xfrm>
              <a:off x="6232" y="8535"/>
              <a:ext cx="423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科学圈定KOL池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优质内容助推产品爆点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等腰三角形 31"/>
            <p:cNvSpPr/>
            <p:nvPr>
              <p:custDataLst>
                <p:tags r:id="rId15"/>
              </p:custDataLst>
            </p:nvPr>
          </p:nvSpPr>
          <p:spPr>
            <a:xfrm flipV="1">
              <a:off x="14281" y="7717"/>
              <a:ext cx="1590" cy="525"/>
            </a:xfrm>
            <a:prstGeom prst="triangle">
              <a:avLst/>
            </a:prstGeom>
            <a:gradFill>
              <a:gsLst>
                <a:gs pos="50000">
                  <a:srgbClr val="84AF7F"/>
                </a:gs>
                <a:gs pos="0">
                  <a:srgbClr val="ADCAAA"/>
                </a:gs>
                <a:gs pos="100000">
                  <a:srgbClr val="5B9454"/>
                </a:gs>
              </a:gsLst>
              <a:lin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rgbClr val="FF9FA6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8100000" scaled="0"/>
                </a:gradFill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6"/>
              </p:custDataLst>
            </p:nvPr>
          </p:nvSpPr>
          <p:spPr>
            <a:xfrm>
              <a:off x="12415" y="8535"/>
              <a:ext cx="619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提效触达投放目标人群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优质内容扩大曝光，加速爆文打造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放大内容价值，拉长笔记生命周期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703195" y="1718945"/>
            <a:ext cx="1365250" cy="389890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b="1" strike="noStrike" noProof="1">
                <a:solidFill>
                  <a:schemeClr val="bg1"/>
                </a:solidFill>
              </a:rPr>
              <a:t>达人矩阵</a:t>
            </a:r>
            <a:endParaRPr lang="zh-CN" altLang="en-US" b="1" strike="noStrike" noProof="1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68900" y="1718945"/>
            <a:ext cx="1365250" cy="389890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b="1" strike="noStrike" noProof="1">
                <a:solidFill>
                  <a:schemeClr val="bg1"/>
                </a:solidFill>
              </a:rPr>
              <a:t>内容方向</a:t>
            </a:r>
            <a:endParaRPr lang="zh-CN" altLang="en-US" b="1" strike="noStrike" noProof="1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51110" y="1718945"/>
            <a:ext cx="1426845" cy="389890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b="1" strike="noStrike" noProof="1">
                <a:solidFill>
                  <a:schemeClr val="bg1"/>
                </a:solidFill>
              </a:rPr>
              <a:t>投放目的</a:t>
            </a:r>
            <a:endParaRPr lang="zh-CN" altLang="en-US" b="1" strike="noStrike" noProof="1">
              <a:solidFill>
                <a:schemeClr val="bg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88580" y="1718945"/>
            <a:ext cx="1365250" cy="389890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b="1" strike="noStrike" noProof="1">
                <a:solidFill>
                  <a:schemeClr val="bg1"/>
                </a:solidFill>
              </a:rPr>
              <a:t>工具</a:t>
            </a:r>
            <a:endParaRPr lang="zh-CN" altLang="en-US" b="1" strike="noStrike" noProof="1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67563" y="2342048"/>
            <a:ext cx="1800000" cy="1800000"/>
          </a:xfrm>
          <a:prstGeom prst="ellipse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微软雅黑" panose="020B0503020204020204" charset="-122"/>
                <a:ea typeface="微软雅黑" panose="020B0503020204020204" charset="-122"/>
              </a:rPr>
              <a:t>M1</a:t>
            </a:r>
            <a:endParaRPr 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600" b="1" dirty="0">
                <a:latin typeface="微软雅黑" panose="020B0503020204020204" charset="-122"/>
                <a:ea typeface="微软雅黑" panose="020B0503020204020204" charset="-122"/>
              </a:rPr>
              <a:t>单品加热</a:t>
            </a:r>
            <a:endParaRPr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（执行测试期）</a:t>
            </a:r>
            <a:endParaRPr 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67336" y="4692319"/>
            <a:ext cx="1800000" cy="1800000"/>
          </a:xfrm>
          <a:prstGeom prst="ellipse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M2-M3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引爆转化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（放量期）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473325" y="2263156"/>
            <a:ext cx="1717040" cy="1717040"/>
          </a:xfrm>
          <a:prstGeom prst="ellipse">
            <a:avLst/>
          </a:prstGeom>
          <a:noFill/>
          <a:ln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E69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993005" y="2263156"/>
            <a:ext cx="1717040" cy="1717040"/>
          </a:xfrm>
          <a:prstGeom prst="ellipse">
            <a:avLst/>
          </a:prstGeom>
          <a:noFill/>
          <a:ln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512685" y="2263156"/>
            <a:ext cx="1717040" cy="1717040"/>
          </a:xfrm>
          <a:prstGeom prst="ellipse">
            <a:avLst/>
          </a:prstGeom>
          <a:noFill/>
          <a:ln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五边形 38"/>
          <p:cNvSpPr/>
          <p:nvPr/>
        </p:nvSpPr>
        <p:spPr>
          <a:xfrm>
            <a:off x="2430262" y="3527458"/>
            <a:ext cx="2007349" cy="516551"/>
          </a:xfrm>
          <a:prstGeom prst="homePlate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全矩阵素材铺量测试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五边形 21"/>
          <p:cNvSpPr/>
          <p:nvPr/>
        </p:nvSpPr>
        <p:spPr>
          <a:xfrm>
            <a:off x="4968067" y="3527458"/>
            <a:ext cx="2007349" cy="516552"/>
          </a:xfrm>
          <a:prstGeom prst="homePlate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垂类种草/美食合集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五边形 22"/>
          <p:cNvSpPr/>
          <p:nvPr/>
        </p:nvSpPr>
        <p:spPr>
          <a:xfrm>
            <a:off x="7505872" y="3527457"/>
            <a:ext cx="2007349" cy="516551"/>
          </a:xfrm>
          <a:prstGeom prst="homePlate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信息流低价引流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SEM覆盖不同人群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2473325" y="4565023"/>
            <a:ext cx="1717040" cy="1717040"/>
          </a:xfrm>
          <a:prstGeom prst="ellipse">
            <a:avLst/>
          </a:prstGeom>
          <a:noFill/>
          <a:ln>
            <a:solidFill>
              <a:srgbClr val="7E7E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993005" y="4565023"/>
            <a:ext cx="1717040" cy="1717040"/>
          </a:xfrm>
          <a:prstGeom prst="ellipse">
            <a:avLst/>
          </a:prstGeom>
          <a:noFill/>
          <a:ln>
            <a:solidFill>
              <a:srgbClr val="7E7E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7512685" y="4565023"/>
            <a:ext cx="1717040" cy="1717040"/>
          </a:xfrm>
          <a:prstGeom prst="ellipse">
            <a:avLst/>
          </a:prstGeom>
          <a:noFill/>
          <a:ln>
            <a:solidFill>
              <a:srgbClr val="7E7E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五边形 23"/>
          <p:cNvSpPr/>
          <p:nvPr/>
        </p:nvSpPr>
        <p:spPr>
          <a:xfrm>
            <a:off x="2430262" y="5829323"/>
            <a:ext cx="2007349" cy="516551"/>
          </a:xfrm>
          <a:prstGeom prst="homePlate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优质素材放量期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五边形 52"/>
          <p:cNvSpPr/>
          <p:nvPr/>
        </p:nvSpPr>
        <p:spPr>
          <a:xfrm>
            <a:off x="4968067" y="5829323"/>
            <a:ext cx="2007349" cy="516552"/>
          </a:xfrm>
          <a:prstGeom prst="homePlate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优质内容复制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五边形 53"/>
          <p:cNvSpPr/>
          <p:nvPr/>
        </p:nvSpPr>
        <p:spPr>
          <a:xfrm>
            <a:off x="7505872" y="5829322"/>
            <a:ext cx="2007349" cy="516551"/>
          </a:xfrm>
          <a:prstGeom prst="homePlate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信息流爆文打造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多频触达/搜索抢量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12685" y="2624455"/>
            <a:ext cx="174434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构建产品相关关键词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覆盖不同用户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79035" y="2623820"/>
            <a:ext cx="174434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热门内容方向测试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513330" y="2623820"/>
            <a:ext cx="174434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腰部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koc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9803130" y="2341880"/>
            <a:ext cx="2124710" cy="170307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以小红书站内投放</a:t>
            </a: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流量工具加推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同步测试站内流量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9809480" y="4643120"/>
            <a:ext cx="2192020" cy="170307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集中爆文打造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优化品牌搜索内容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提高产品曝光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571105" y="4925695"/>
            <a:ext cx="1643380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高净值人群通投，放大优质内容价值和延长周期，快速低成本爆文打造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486025" y="4925695"/>
            <a:ext cx="174434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腰部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初级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koc60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999355" y="4834255"/>
            <a:ext cx="174434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复制优质素材、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根据用户评论区反馈新增热门场景或话题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2" name="椭圆 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椭圆 4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椭圆 5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川宁茶拿铁投放策略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7237095" cy="1076325"/>
            <a:chOff x="1075" y="683"/>
            <a:chExt cx="11397" cy="1695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投放关键词选取策略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最新热搜词+长期流量词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1184275" y="1411605"/>
            <a:ext cx="9945370" cy="1301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 b="1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最新热搜词</a:t>
            </a:r>
            <a:r>
              <a:rPr lang="zh-CN" b="1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小红书用户某一段时间内最为关心的内容，布局最新热搜词能够快速获得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u="sng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较高的短期曝光和互动ROI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，特别是排名上升速度飞快的最新热搜词。 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400"/>
              </a:spcBef>
            </a:pPr>
            <a:r>
              <a:rPr b="1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长期流量词：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则是稳定排名在TOP10的热搜词，布局这些热搜词更</a:t>
            </a:r>
            <a:r>
              <a:rPr u="sng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有利于获得小红书的长尾流量。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400"/>
              </a:spcBef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通过选词定期调整推广brief，</a:t>
            </a:r>
            <a:r>
              <a:rPr u="sng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有利于提升笔记收录概率及排名权重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，从而增加笔记的曝光及点击。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41020" y="3025140"/>
            <a:ext cx="3365603" cy="3301365"/>
            <a:chOff x="910" y="3133"/>
            <a:chExt cx="5016" cy="4713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026" y="3199"/>
              <a:ext cx="3478" cy="4647"/>
            </a:xfrm>
            <a:prstGeom prst="rect">
              <a:avLst/>
            </a:prstGeom>
          </p:spPr>
        </p:pic>
        <p:sp>
          <p:nvSpPr>
            <p:cNvPr id="8" name="矩形 7"/>
            <p:cNvSpPr/>
            <p:nvPr>
              <p:custDataLst>
                <p:tags r:id="rId8"/>
              </p:custDataLst>
            </p:nvPr>
          </p:nvSpPr>
          <p:spPr>
            <a:xfrm>
              <a:off x="910" y="3133"/>
              <a:ext cx="3671" cy="4713"/>
            </a:xfrm>
            <a:prstGeom prst="rect">
              <a:avLst/>
            </a:prstGeom>
            <a:noFill/>
            <a:ln w="19050">
              <a:solidFill>
                <a:srgbClr val="52623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/>
            <p:cNvCxnSpPr/>
            <p:nvPr>
              <p:custDataLst>
                <p:tags r:id="rId9"/>
              </p:custDataLst>
            </p:nvPr>
          </p:nvCxnSpPr>
          <p:spPr>
            <a:xfrm flipV="1">
              <a:off x="4581" y="5733"/>
              <a:ext cx="626" cy="1"/>
            </a:xfrm>
            <a:prstGeom prst="straightConnector1">
              <a:avLst/>
            </a:prstGeom>
            <a:ln w="28575">
              <a:solidFill>
                <a:srgbClr val="5262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5035" y="4488"/>
              <a:ext cx="891" cy="24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spc="300" dirty="0">
                  <a:solidFill>
                    <a:srgbClr val="52623F"/>
                  </a:solidFill>
                  <a:latin typeface="微软雅黑" panose="020B0503020204020204" charset="-122"/>
                  <a:ea typeface="微软雅黑" panose="020B0503020204020204" charset="-122"/>
                </a:rPr>
                <a:t>长期热搜词</a:t>
              </a:r>
              <a:endParaRPr lang="zh-CN" altLang="en-US" b="1" spc="300" dirty="0">
                <a:solidFill>
                  <a:srgbClr val="5262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37305" y="3067050"/>
            <a:ext cx="4348784" cy="3256280"/>
            <a:chOff x="8366" y="5401"/>
            <a:chExt cx="6848" cy="5128"/>
          </a:xfrm>
        </p:grpSpPr>
        <p:grpSp>
          <p:nvGrpSpPr>
            <p:cNvPr id="5" name="组合 4"/>
            <p:cNvGrpSpPr/>
            <p:nvPr/>
          </p:nvGrpSpPr>
          <p:grpSpPr>
            <a:xfrm>
              <a:off x="8366" y="5401"/>
              <a:ext cx="6848" cy="5128"/>
              <a:chOff x="-124" y="7149"/>
              <a:chExt cx="6481" cy="4648"/>
            </a:xfrm>
          </p:grpSpPr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2"/>
              <a:srcRect r="9391"/>
              <a:stretch>
                <a:fillRect/>
              </a:stretch>
            </p:blipFill>
            <p:spPr>
              <a:xfrm>
                <a:off x="-21" y="7250"/>
                <a:ext cx="4921" cy="4383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2841" y="7217"/>
                <a:ext cx="2119" cy="4356"/>
              </a:xfrm>
              <a:prstGeom prst="rect">
                <a:avLst/>
              </a:prstGeom>
            </p:spPr>
          </p:pic>
          <p:sp>
            <p:nvSpPr>
              <p:cNvPr id="12" name="矩形 11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-124" y="7149"/>
                <a:ext cx="5112" cy="4648"/>
              </a:xfrm>
              <a:prstGeom prst="rect">
                <a:avLst/>
              </a:prstGeom>
              <a:noFill/>
              <a:ln w="19050">
                <a:solidFill>
                  <a:srgbClr val="52623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535" y="8438"/>
                <a:ext cx="822" cy="2574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spc="300" dirty="0">
                    <a:solidFill>
                      <a:srgbClr val="52623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最新热搜词</a:t>
                </a:r>
                <a:endParaRPr lang="zh-CN" altLang="en-US" b="1" spc="300" dirty="0">
                  <a:solidFill>
                    <a:srgbClr val="52623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7" name="直接箭头连接符 6"/>
            <p:cNvCxnSpPr/>
            <p:nvPr>
              <p:custDataLst>
                <p:tags r:id="rId17"/>
              </p:custDataLst>
            </p:nvPr>
          </p:nvCxnSpPr>
          <p:spPr>
            <a:xfrm>
              <a:off x="13818" y="8204"/>
              <a:ext cx="600" cy="0"/>
            </a:xfrm>
            <a:prstGeom prst="straightConnector1">
              <a:avLst/>
            </a:prstGeom>
            <a:ln w="28575">
              <a:solidFill>
                <a:srgbClr val="5262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046720" y="3137535"/>
            <a:ext cx="4126230" cy="6115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046085" y="3749040"/>
            <a:ext cx="4126865" cy="5695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100060" y="4318635"/>
            <a:ext cx="4072890" cy="577215"/>
          </a:xfrm>
          <a:prstGeom prst="rect">
            <a:avLst/>
          </a:prstGeom>
        </p:spPr>
      </p:pic>
      <p:sp>
        <p:nvSpPr>
          <p:cNvPr id="19" name="矩形 18"/>
          <p:cNvSpPr>
            <a:spLocks noChangeAspect="1"/>
          </p:cNvSpPr>
          <p:nvPr>
            <p:custDataLst>
              <p:tags r:id="rId24"/>
            </p:custDataLst>
          </p:nvPr>
        </p:nvSpPr>
        <p:spPr>
          <a:xfrm>
            <a:off x="8100695" y="3517900"/>
            <a:ext cx="4010660" cy="231775"/>
          </a:xfrm>
          <a:prstGeom prst="rect">
            <a:avLst/>
          </a:prstGeom>
          <a:noFill/>
          <a:ln w="19050">
            <a:solidFill>
              <a:srgbClr val="52623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>
            <a:off x="8100695" y="4086860"/>
            <a:ext cx="4010660" cy="231775"/>
          </a:xfrm>
          <a:prstGeom prst="rect">
            <a:avLst/>
          </a:prstGeom>
          <a:noFill/>
          <a:ln w="19050">
            <a:solidFill>
              <a:srgbClr val="52623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>
            <a:off x="8100695" y="4655820"/>
            <a:ext cx="4010660" cy="231775"/>
          </a:xfrm>
          <a:prstGeom prst="rect">
            <a:avLst/>
          </a:prstGeom>
          <a:noFill/>
          <a:ln w="19050">
            <a:solidFill>
              <a:srgbClr val="52623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058785" y="4887595"/>
            <a:ext cx="4052570" cy="561975"/>
          </a:xfrm>
          <a:prstGeom prst="rect">
            <a:avLst/>
          </a:prstGeom>
        </p:spPr>
      </p:pic>
      <p:sp>
        <p:nvSpPr>
          <p:cNvPr id="26" name="矩形 25"/>
          <p:cNvSpPr>
            <a:spLocks noChangeAspect="1"/>
          </p:cNvSpPr>
          <p:nvPr>
            <p:custDataLst>
              <p:tags r:id="rId29"/>
            </p:custDataLst>
          </p:nvPr>
        </p:nvSpPr>
        <p:spPr>
          <a:xfrm>
            <a:off x="8100695" y="5224780"/>
            <a:ext cx="4010660" cy="231775"/>
          </a:xfrm>
          <a:prstGeom prst="rect">
            <a:avLst/>
          </a:prstGeom>
          <a:noFill/>
          <a:ln w="19050">
            <a:solidFill>
              <a:srgbClr val="52623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100695" y="5464810"/>
            <a:ext cx="4010660" cy="563880"/>
          </a:xfrm>
          <a:prstGeom prst="rect">
            <a:avLst/>
          </a:prstGeom>
        </p:spPr>
      </p:pic>
      <p:sp>
        <p:nvSpPr>
          <p:cNvPr id="28" name="矩形 27"/>
          <p:cNvSpPr>
            <a:spLocks noChangeAspect="1"/>
          </p:cNvSpPr>
          <p:nvPr>
            <p:custDataLst>
              <p:tags r:id="rId32"/>
            </p:custDataLst>
          </p:nvPr>
        </p:nvSpPr>
        <p:spPr>
          <a:xfrm>
            <a:off x="8100695" y="5793740"/>
            <a:ext cx="4010660" cy="231775"/>
          </a:xfrm>
          <a:prstGeom prst="rect">
            <a:avLst/>
          </a:prstGeom>
          <a:noFill/>
          <a:ln w="19050">
            <a:solidFill>
              <a:srgbClr val="52623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434975" y="335280"/>
            <a:ext cx="9735820" cy="583565"/>
            <a:chOff x="1075" y="683"/>
            <a:chExt cx="15332" cy="919"/>
          </a:xfrm>
        </p:grpSpPr>
        <p:grpSp>
          <p:nvGrpSpPr>
            <p:cNvPr id="6" name="组合 5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椭圆 7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0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产品定位</a:t>
              </a:r>
              <a:r>
                <a:rPr 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message house</a:t>
              </a:r>
              <a:endParaRPr 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60400" y="1040765"/>
            <a:ext cx="11212195" cy="5699125"/>
            <a:chOff x="1040" y="1758"/>
            <a:chExt cx="17657" cy="9066"/>
          </a:xfrm>
        </p:grpSpPr>
        <p:grpSp>
          <p:nvGrpSpPr>
            <p:cNvPr id="21" name="组合 20"/>
            <p:cNvGrpSpPr/>
            <p:nvPr/>
          </p:nvGrpSpPr>
          <p:grpSpPr>
            <a:xfrm>
              <a:off x="1040" y="1758"/>
              <a:ext cx="17657" cy="9066"/>
              <a:chOff x="1095" y="1758"/>
              <a:chExt cx="17602" cy="906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1095" y="1758"/>
                <a:ext cx="17602" cy="9066"/>
                <a:chOff x="1095" y="1758"/>
                <a:chExt cx="17602" cy="906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rot="0">
                  <a:off x="1095" y="1758"/>
                  <a:ext cx="17602" cy="9066"/>
                  <a:chOff x="1095" y="1758"/>
                  <a:chExt cx="17602" cy="9066"/>
                </a:xfrm>
              </p:grpSpPr>
              <p:grpSp>
                <p:nvGrpSpPr>
                  <p:cNvPr id="68" name="组合 67"/>
                  <p:cNvGrpSpPr/>
                  <p:nvPr/>
                </p:nvGrpSpPr>
                <p:grpSpPr>
                  <a:xfrm>
                    <a:off x="1095" y="1758"/>
                    <a:ext cx="17602" cy="9066"/>
                    <a:chOff x="1095" y="1806"/>
                    <a:chExt cx="17602" cy="9066"/>
                  </a:xfrm>
                </p:grpSpPr>
                <p:sp>
                  <p:nvSpPr>
                    <p:cNvPr id="3" name="等腰三角形 2"/>
                    <p:cNvSpPr/>
                    <p:nvPr/>
                  </p:nvSpPr>
                  <p:spPr>
                    <a:xfrm>
                      <a:off x="1095" y="1806"/>
                      <a:ext cx="17602" cy="2098"/>
                    </a:xfrm>
                    <a:prstGeom prst="triangle">
                      <a:avLst/>
                    </a:prstGeom>
                    <a:solidFill>
                      <a:srgbClr val="52623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" name="文本框 3"/>
                    <p:cNvSpPr txBox="1"/>
                    <p:nvPr/>
                  </p:nvSpPr>
                  <p:spPr>
                    <a:xfrm>
                      <a:off x="6639" y="2034"/>
                      <a:ext cx="6400" cy="187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传播话术：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喝不腻的茶拿铁！好喝还不加咖啡！</a:t>
                      </a:r>
                      <a:endParaRPr lang="zh-CN" altLang="en-US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i="1" u="sng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备选话术：茶拿铁yyds！不加咖啡好喝到飞起！</a:t>
                      </a:r>
                      <a:endParaRPr lang="zh-CN" altLang="en-US" sz="1000" i="1" u="sng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一口浓郁香醇，一口丝滑清甜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25" name="矩形 24"/>
                    <p:cNvSpPr/>
                    <p:nvPr/>
                  </p:nvSpPr>
                  <p:spPr>
                    <a:xfrm>
                      <a:off x="10093" y="6010"/>
                      <a:ext cx="8254" cy="2999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6F4132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1277" y="9095"/>
                      <a:ext cx="17071" cy="836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6F4132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场景：追剧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营养早餐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加班伴侣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朋友聚会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出行游玩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下午茶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打游戏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运动健身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备考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看书学习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户外露营等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......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p:txBody>
                </p:sp>
                <p:sp>
                  <p:nvSpPr>
                    <p:cNvPr id="64" name="矩形 63"/>
                    <p:cNvSpPr/>
                    <p:nvPr/>
                  </p:nvSpPr>
                  <p:spPr>
                    <a:xfrm>
                      <a:off x="1271" y="10036"/>
                      <a:ext cx="17076" cy="836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6F4132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简单三步骤：①加入川宁椰香拿铁，②使用200ml温奶冲泡，③使用川宁定制</a:t>
                      </a:r>
                      <a:r>
                        <a:rPr lang="zh-CN" altLang="en-US" sz="1600" b="1">
                          <a:solidFill>
                            <a:srgbClr val="52623F"/>
                          </a:solidFill>
                        </a:rPr>
                        <a:t>【摇摇棒】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搅拌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均匀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，加冰块也美味哦！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5" name="矩形 4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271" y="5952"/>
                    <a:ext cx="8436" cy="3009"/>
                  </a:xfrm>
                  <a:prstGeom prst="rect">
                    <a:avLst/>
                  </a:prstGeom>
                  <a:noFill/>
                  <a:ln w="19050">
                    <a:solidFill>
                      <a:srgbClr val="6F4132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" name="矩形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271" y="4054"/>
                  <a:ext cx="17071" cy="1735"/>
                </a:xfrm>
                <a:prstGeom prst="rect">
                  <a:avLst/>
                </a:prstGeom>
                <a:noFill/>
                <a:ln w="19050">
                  <a:solidFill>
                    <a:srgbClr val="6F413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indent="0" algn="ctr" fontAlgn="auto">
                    <a:spcAft>
                      <a:spcPts val="600"/>
                    </a:spcAft>
                  </a:pPr>
                  <a:r>
                    <a:rPr lang="zh-CN" altLang="en-US">
                      <a:solidFill>
                        <a:schemeClr val="tx1"/>
                      </a:solidFill>
                    </a:rPr>
                    <a:t>核心传播重点：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zh-CN" altLang="en-US" b="1" u="sng">
                      <a:solidFill>
                        <a:srgbClr val="52623F"/>
                      </a:solidFill>
                    </a:rPr>
                    <a:t>真·拿铁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不加咖啡的拿铁</a:t>
                  </a:r>
                  <a:r>
                    <a:rPr lang="zh-CN" altLang="en-US">
                      <a:solidFill>
                        <a:schemeClr val="tx1"/>
                      </a:solidFill>
                    </a:rPr>
                    <a:t>、</a:t>
                  </a:r>
                  <a:r>
                    <a:rPr lang="zh-CN" altLang="en-US" b="1" u="sng">
                      <a:solidFill>
                        <a:srgbClr val="52623F"/>
                      </a:solidFill>
                    </a:rPr>
                    <a:t>好</a:t>
                  </a:r>
                  <a:r>
                    <a:rPr lang="en-US" altLang="zh-CN" b="1" u="sng">
                      <a:solidFill>
                        <a:srgbClr val="52623F"/>
                      </a:solidFill>
                    </a:rPr>
                    <a:t>·</a:t>
                  </a:r>
                  <a:r>
                    <a:rPr lang="zh-CN" altLang="en-US" b="1" u="sng">
                      <a:solidFill>
                        <a:srgbClr val="52623F"/>
                      </a:solidFill>
                    </a:rPr>
                    <a:t>原料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天然植物萃取，醇香回甘</a:t>
                  </a:r>
                  <a:r>
                    <a:rPr lang="en-US" altLang="zh-CN">
                      <a:solidFill>
                        <a:schemeClr val="tx1"/>
                      </a:solidFill>
                    </a:rPr>
                    <a:t> </a:t>
                  </a:r>
                  <a:r>
                    <a:rPr lang="zh-CN" altLang="en-US" b="1" u="sng">
                      <a:solidFill>
                        <a:srgbClr val="52623F"/>
                      </a:solidFill>
                    </a:rPr>
                    <a:t>醇·口感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馥郁浓醇 极致丝滑口感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zh-CN" altLang="en-US" b="1" u="sng">
                      <a:solidFill>
                        <a:srgbClr val="52623F"/>
                      </a:solidFill>
                    </a:rPr>
                    <a:t>好喝又健康</a:t>
                  </a:r>
                  <a:r>
                    <a:rPr lang="en-US" altLang="zh-CN" baseline="30000">
                      <a:solidFill>
                        <a:schemeClr val="tx1"/>
                      </a:solidFill>
                    </a:rPr>
                    <a:t>0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反式脂肪酸、</a:t>
                  </a:r>
                  <a:r>
                    <a:rPr lang="en-US" altLang="zh-CN" baseline="30000">
                      <a:solidFill>
                        <a:schemeClr val="tx1"/>
                      </a:solidFill>
                    </a:rPr>
                    <a:t>0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代可可脂、</a:t>
                  </a:r>
                  <a:r>
                    <a:rPr lang="en-US" altLang="zh-CN" baseline="30000">
                      <a:solidFill>
                        <a:schemeClr val="tx1"/>
                      </a:solidFill>
                    </a:rPr>
                    <a:t>0</a:t>
                  </a:r>
                  <a:r>
                    <a:rPr lang="zh-CN" altLang="en-US" baseline="30000">
                      <a:solidFill>
                        <a:schemeClr val="tx1"/>
                      </a:solidFill>
                    </a:rPr>
                    <a:t>植脂末</a:t>
                  </a:r>
                  <a:endParaRPr lang="zh-CN" altLang="en-US" baseline="30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3655" y="5957"/>
                <a:ext cx="6052" cy="298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285750" indent="-285750">
                  <a:buFont typeface="Wingdings" panose="05000000000000000000" charset="0"/>
                  <a:buChar char="ü"/>
                </a:pPr>
                <a:r>
                  <a:rPr lang="zh-CN" altLang="en-US" sz="1600"/>
                  <a:t>100%西非加纳可可豆+北纬30度黄金产茶地</a:t>
                </a:r>
                <a:endParaRPr lang="zh-CN" altLang="en-US" sz="1600"/>
              </a:p>
              <a:p>
                <a:pPr marL="285750" indent="-285750">
                  <a:buFont typeface="Wingdings" panose="05000000000000000000" charset="0"/>
                  <a:buChar char="ü"/>
                </a:pPr>
                <a:r>
                  <a:rPr lang="zh-CN" altLang="en-US" sz="1600"/>
                  <a:t>无反式脂肪酸、无可可脂、无色素</a:t>
                </a:r>
                <a:endParaRPr lang="zh-CN" altLang="en-US" sz="1600"/>
              </a:p>
              <a:p>
                <a:pPr marL="285750" indent="-285750">
                  <a:buFont typeface="Wingdings" panose="05000000000000000000" charset="0"/>
                  <a:buChar char="ü"/>
                </a:pPr>
                <a:r>
                  <a:rPr lang="zh-CN" altLang="en-US" sz="1600"/>
                  <a:t>天然植物原料 健康本真风味</a:t>
                </a:r>
                <a:endParaRPr lang="zh-CN" altLang="en-US" sz="1600"/>
              </a:p>
              <a:p>
                <a:endParaRPr lang="zh-CN" altLang="en-US" sz="1600"/>
              </a:p>
              <a:p>
                <a:r>
                  <a:rPr lang="zh-CN" altLang="en-US" sz="1600">
                    <a:sym typeface="+mn-ea"/>
                  </a:rPr>
                  <a:t>口感描述：</a:t>
                </a:r>
                <a:endParaRPr lang="zh-CN" altLang="en-US" sz="1600">
                  <a:sym typeface="+mn-ea"/>
                </a:endParaRPr>
              </a:p>
              <a:p>
                <a:r>
                  <a:rPr lang="zh-CN" altLang="en-US" sz="1600">
                    <a:sym typeface="+mn-ea"/>
                  </a:rPr>
                  <a:t>浓郁可可香气中夹杂着椰子的香甜</a:t>
                </a:r>
                <a:endParaRPr lang="zh-CN" altLang="en-US" sz="1600">
                  <a:sym typeface="+mn-ea"/>
                </a:endParaRPr>
              </a:p>
              <a:p>
                <a:endParaRPr lang="zh-CN" altLang="en-US" sz="1600"/>
              </a:p>
            </p:txBody>
          </p:sp>
        </p:grpSp>
        <p:sp>
          <p:nvSpPr>
            <p:cNvPr id="27" name="文本框 26"/>
            <p:cNvSpPr txBox="1"/>
            <p:nvPr>
              <p:custDataLst>
                <p:tags r:id="rId7"/>
              </p:custDataLst>
            </p:nvPr>
          </p:nvSpPr>
          <p:spPr>
            <a:xfrm>
              <a:off x="12473" y="5980"/>
              <a:ext cx="5868" cy="32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>
                <a:buFont typeface="Wingdings" panose="05000000000000000000" charset="0"/>
                <a:buChar char="ü"/>
              </a:pPr>
              <a:r>
                <a:rPr lang="zh-CN" altLang="en-US" sz="1600"/>
                <a:t>源自北纬30度黄金产茶地带，原叶萃取</a:t>
              </a:r>
              <a:endParaRPr lang="zh-CN" altLang="en-US" sz="1600"/>
            </a:p>
            <a:p>
              <a:pPr marL="285750" indent="-285750">
                <a:buFont typeface="Wingdings" panose="05000000000000000000" charset="0"/>
                <a:buChar char="ü"/>
              </a:pPr>
              <a:r>
                <a:rPr lang="zh-CN" altLang="en-US" sz="1600"/>
                <a:t>传统研磨抹茶，粉质细腻，茶香纯正</a:t>
              </a:r>
              <a:endParaRPr lang="zh-CN" altLang="en-US" sz="1600"/>
            </a:p>
            <a:p>
              <a:endParaRPr lang="zh-CN" altLang="en-US" sz="1600"/>
            </a:p>
            <a:p>
              <a:r>
                <a:rPr lang="zh-CN" altLang="en-US" sz="1600"/>
                <a:t>口感描述：</a:t>
              </a:r>
              <a:endParaRPr lang="zh-CN" altLang="en-US" sz="1600"/>
            </a:p>
            <a:p>
              <a:r>
                <a:rPr lang="zh-CN" altLang="en-US" sz="1600"/>
                <a:t>入口是醇厚的奶香味，抹茶的微苦和椰子的香甜融合的刚刚好</a:t>
              </a:r>
              <a:endParaRPr lang="zh-CN" altLang="en-US" sz="1600"/>
            </a:p>
            <a:p>
              <a:endParaRPr lang="zh-CN" altLang="en-US" sz="160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"/>
            <a:ext cx="12192000" cy="409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lumMod val="50000"/>
                    <a:lumOff val="50000"/>
                    <a:alpha val="56000"/>
                  </a:srgbClr>
                </a:solidFill>
              </a14:hiddenFill>
            </a:ext>
          </a:extLst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</a:p>
        </p:txBody>
      </p:sp>
      <p:grpSp>
        <p:nvGrpSpPr>
          <p:cNvPr id="23" name="组合 22"/>
          <p:cNvGrpSpPr/>
          <p:nvPr/>
        </p:nvGrpSpPr>
        <p:grpSpPr>
          <a:xfrm>
            <a:off x="86907" y="1656889"/>
            <a:ext cx="12156309" cy="3205296"/>
            <a:chOff x="57" y="2587"/>
            <a:chExt cx="19349" cy="5270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10915" y="3455"/>
              <a:ext cx="2447" cy="4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0851" y="3854"/>
              <a:ext cx="2482" cy="144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sz="4800">
                  <a:solidFill>
                    <a:srgbClr val="FF0000"/>
                  </a:solidFill>
                </a:rPr>
                <a:t>50%</a:t>
              </a:r>
              <a:endParaRPr lang="en-US" altLang="zh-CN" sz="4800">
                <a:solidFill>
                  <a:srgbClr val="FF0000"/>
                </a:solidFill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 flipV="1">
              <a:off x="11213" y="5296"/>
              <a:ext cx="1807" cy="1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11008" y="5554"/>
              <a:ext cx="2325" cy="2007"/>
            </a:xfrm>
            <a:prstGeom prst="rect">
              <a:avLst/>
            </a:prstGeom>
          </p:spPr>
          <p:txBody>
            <a:bodyPr wrap="none">
              <a:normAutofit lnSpcReduction="20000"/>
            </a:bodyPr>
            <a:lstStyle/>
            <a:p>
              <a:pPr algn="ctr" defTabSz="913765">
                <a:lnSpc>
                  <a:spcPct val="110000"/>
                </a:lnSpc>
                <a:buClrTx/>
                <a:buSzTx/>
                <a:buNone/>
                <a:defRPr/>
              </a:pP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lnSpc>
                  <a:spcPct val="110000"/>
                </a:lnSpc>
                <a:buClrTx/>
                <a:buSz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美食泛人群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lnSpc>
                  <a:spcPct val="110000"/>
                </a:lnSpc>
                <a:buClrTx/>
                <a:buSz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喜欢吃各种美食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lnSpc>
                  <a:spcPct val="110000"/>
                </a:lnSpc>
                <a:buClrTx/>
                <a:buSz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对美食有追求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lnSpc>
                  <a:spcPct val="110000"/>
                </a:lnSpc>
                <a:buClrTx/>
                <a:buSz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有品位的美食爱好者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17383" y="4404"/>
              <a:ext cx="1926" cy="3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  <a:p>
              <a:pPr algn="ctr" defTabSz="913765">
                <a:buClrTx/>
                <a:buSzTx/>
                <a:buNone/>
                <a:defRPr/>
              </a:pP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3765">
                <a:buClrTx/>
                <a:buSzTx/>
                <a:buNone/>
                <a:defRPr/>
              </a:pP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buClrTx/>
                <a:buSzTx/>
                <a:buNone/>
                <a:defRPr/>
              </a:pPr>
              <a:r>
                <a:rPr 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尝鲜爱好者</a:t>
              </a:r>
              <a:endPara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buClrTx/>
                <a:buSzTx/>
                <a:buNone/>
                <a:defRPr/>
              </a:pPr>
              <a:r>
                <a:rPr 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热爱速食</a:t>
              </a:r>
              <a:endPara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913765">
                <a:buClrTx/>
                <a:buSzTx/>
                <a:buNone/>
                <a:defRPr/>
              </a:pPr>
              <a:r>
                <a:rPr 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快手懒人饮品</a:t>
              </a:r>
              <a:endPara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7"/>
              </p:custDataLst>
            </p:nvPr>
          </p:nvSpPr>
          <p:spPr>
            <a:xfrm>
              <a:off x="17452" y="4641"/>
              <a:ext cx="1954" cy="112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sz="3600">
                  <a:ln>
                    <a:noFill/>
                  </a:ln>
                  <a:solidFill>
                    <a:schemeClr val="tx1"/>
                  </a:solidFill>
                </a:rPr>
                <a:t>20%</a:t>
              </a:r>
              <a:endParaRPr lang="en-US" altLang="zh-CN" sz="3600">
                <a:ln>
                  <a:noFill/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/>
            <p:cNvCxnSpPr/>
            <p:nvPr>
              <p:custDataLst>
                <p:tags r:id="rId8"/>
              </p:custDataLst>
            </p:nvPr>
          </p:nvCxnSpPr>
          <p:spPr>
            <a:xfrm>
              <a:off x="17659" y="5763"/>
              <a:ext cx="15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>
              <p:custDataLst>
                <p:tags r:id="rId9"/>
              </p:custDataLst>
            </p:nvPr>
          </p:nvSpPr>
          <p:spPr>
            <a:xfrm>
              <a:off x="4000" y="4404"/>
              <a:ext cx="1926" cy="3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4105" y="4836"/>
              <a:ext cx="1954" cy="112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sz="3600">
                  <a:solidFill>
                    <a:schemeClr val="tx1"/>
                  </a:solidFill>
                </a:rPr>
                <a:t>30%</a:t>
              </a:r>
              <a:endParaRPr lang="en-US" altLang="zh-CN" sz="3600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11"/>
              </p:custDataLst>
            </p:nvPr>
          </p:nvCxnSpPr>
          <p:spPr>
            <a:xfrm>
              <a:off x="4311" y="6116"/>
              <a:ext cx="15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4194" y="6202"/>
              <a:ext cx="1697" cy="1438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pPr lvl="0" algn="ctr" defTabSz="913765"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追求精致饮食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913765"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节省时间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913765"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追求健康低卡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3"/>
              </p:custDataLst>
            </p:nvPr>
          </p:nvSpPr>
          <p:spPr>
            <a:xfrm>
              <a:off x="57" y="3575"/>
              <a:ext cx="5860" cy="829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椭圆 45"/>
            <p:cNvSpPr/>
            <p:nvPr>
              <p:custDataLst>
                <p:tags r:id="rId14"/>
              </p:custDataLst>
            </p:nvPr>
          </p:nvSpPr>
          <p:spPr>
            <a:xfrm>
              <a:off x="251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7" name="椭圆 46"/>
            <p:cNvSpPr/>
            <p:nvPr>
              <p:custDataLst>
                <p:tags r:id="rId15"/>
              </p:custDataLst>
            </p:nvPr>
          </p:nvSpPr>
          <p:spPr>
            <a:xfrm>
              <a:off x="574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8" name="椭圆 47"/>
            <p:cNvSpPr/>
            <p:nvPr>
              <p:custDataLst>
                <p:tags r:id="rId16"/>
              </p:custDataLst>
            </p:nvPr>
          </p:nvSpPr>
          <p:spPr>
            <a:xfrm>
              <a:off x="896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9" name="矩形 38"/>
            <p:cNvSpPr/>
            <p:nvPr>
              <p:custDataLst>
                <p:tags r:id="rId17"/>
              </p:custDataLst>
            </p:nvPr>
          </p:nvSpPr>
          <p:spPr>
            <a:xfrm>
              <a:off x="5914" y="2587"/>
              <a:ext cx="7436" cy="871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1" name="椭圆 40"/>
            <p:cNvSpPr/>
            <p:nvPr>
              <p:custDataLst>
                <p:tags r:id="rId18"/>
              </p:custDataLst>
            </p:nvPr>
          </p:nvSpPr>
          <p:spPr>
            <a:xfrm>
              <a:off x="6160" y="3198"/>
              <a:ext cx="178" cy="178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2" name="椭圆 41"/>
            <p:cNvSpPr/>
            <p:nvPr>
              <p:custDataLst>
                <p:tags r:id="rId19"/>
              </p:custDataLst>
            </p:nvPr>
          </p:nvSpPr>
          <p:spPr>
            <a:xfrm>
              <a:off x="6569" y="3198"/>
              <a:ext cx="178" cy="178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3" name="椭圆 42"/>
            <p:cNvSpPr/>
            <p:nvPr>
              <p:custDataLst>
                <p:tags r:id="rId20"/>
              </p:custDataLst>
            </p:nvPr>
          </p:nvSpPr>
          <p:spPr>
            <a:xfrm>
              <a:off x="6979" y="3198"/>
              <a:ext cx="178" cy="178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4" name="矩形 33"/>
            <p:cNvSpPr/>
            <p:nvPr>
              <p:custDataLst>
                <p:tags r:id="rId21"/>
              </p:custDataLst>
            </p:nvPr>
          </p:nvSpPr>
          <p:spPr>
            <a:xfrm>
              <a:off x="13348" y="3575"/>
              <a:ext cx="5860" cy="829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6" name="椭圆 35"/>
            <p:cNvSpPr/>
            <p:nvPr>
              <p:custDataLst>
                <p:tags r:id="rId22"/>
              </p:custDataLst>
            </p:nvPr>
          </p:nvSpPr>
          <p:spPr>
            <a:xfrm>
              <a:off x="13541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7" name="椭圆 36"/>
            <p:cNvSpPr/>
            <p:nvPr>
              <p:custDataLst>
                <p:tags r:id="rId23"/>
              </p:custDataLst>
            </p:nvPr>
          </p:nvSpPr>
          <p:spPr>
            <a:xfrm>
              <a:off x="13864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8" name="椭圆 37"/>
            <p:cNvSpPr/>
            <p:nvPr>
              <p:custDataLst>
                <p:tags r:id="rId24"/>
              </p:custDataLst>
            </p:nvPr>
          </p:nvSpPr>
          <p:spPr>
            <a:xfrm>
              <a:off x="14186" y="4198"/>
              <a:ext cx="140" cy="14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style>
            <a:lnRef idx="2">
              <a:srgbClr val="4276AA">
                <a:shade val="50000"/>
              </a:srgbClr>
            </a:lnRef>
            <a:fillRef idx="1">
              <a:srgbClr val="4276AA"/>
            </a:fillRef>
            <a:effectRef idx="0">
              <a:srgbClr val="4276AA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25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6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27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28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核心人群定位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16610" y="2306320"/>
            <a:ext cx="2552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913765">
              <a:defRPr/>
            </a:pPr>
            <a:r>
              <a:rPr 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职场一族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4826635" y="1737995"/>
            <a:ext cx="2552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913765">
              <a:defRPr/>
            </a:pPr>
            <a:r>
              <a:rPr 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吃货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美食爱好者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9258935" y="2306320"/>
            <a:ext cx="2552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913765">
              <a:defRPr/>
            </a:pPr>
            <a:r>
              <a:rPr 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学生党</a:t>
            </a:r>
            <a:endParaRPr 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12" name="组合 1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小红书KOL投放策略</a:t>
              </a:r>
              <a:endParaRPr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225550" y="1569085"/>
            <a:ext cx="2912110" cy="2693670"/>
            <a:chOff x="2127" y="3484"/>
            <a:chExt cx="4586" cy="4242"/>
          </a:xfrm>
        </p:grpSpPr>
        <p:sp>
          <p:nvSpPr>
            <p:cNvPr id="6" name="椭圆 5"/>
            <p:cNvSpPr/>
            <p:nvPr>
              <p:custDataLst>
                <p:tags r:id="rId5"/>
              </p:custDataLst>
            </p:nvPr>
          </p:nvSpPr>
          <p:spPr>
            <a:xfrm>
              <a:off x="2210" y="3484"/>
              <a:ext cx="4352" cy="4212"/>
            </a:xfrm>
            <a:prstGeom prst="ellipse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>
              <p:custDataLst>
                <p:tags r:id="rId6"/>
              </p:custDataLst>
            </p:nvPr>
          </p:nvSpPr>
          <p:spPr>
            <a:xfrm>
              <a:off x="2281" y="6879"/>
              <a:ext cx="4130" cy="847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/>
                <a:t>指标</a:t>
              </a:r>
              <a:r>
                <a:rPr lang="en-US" altLang="zh-CN" sz="2000"/>
                <a:t>1</a:t>
              </a:r>
              <a:r>
                <a:rPr lang="zh-CN" altLang="en-US" sz="2000"/>
                <a:t>：</a:t>
              </a:r>
              <a:r>
                <a:rPr lang="en-US" altLang="zh-CN" sz="2000" b="1"/>
                <a:t>kol</a:t>
              </a:r>
              <a:r>
                <a:rPr lang="zh-CN" altLang="en-US" sz="2000" b="1"/>
                <a:t>适配性</a:t>
              </a:r>
              <a:endParaRPr lang="zh-CN" altLang="en-US" sz="2000" b="1"/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2127" y="4545"/>
              <a:ext cx="4586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en-US" altLang="zh-CN" sz="1600" b="1"/>
                <a:t>kol</a:t>
              </a:r>
              <a:r>
                <a:rPr lang="zh-CN" altLang="en-US" sz="1600" b="1"/>
                <a:t>调性需符合</a:t>
              </a:r>
              <a:endParaRPr lang="zh-CN" altLang="en-US" sz="1600" b="1"/>
            </a:p>
            <a:p>
              <a:pPr algn="ctr" fontAlgn="auto">
                <a:lnSpc>
                  <a:spcPct val="150000"/>
                </a:lnSpc>
              </a:pPr>
              <a:r>
                <a:rPr lang="zh-CN" altLang="en-US" sz="1600" b="1"/>
                <a:t>川宁的市场认知</a:t>
              </a:r>
              <a:endParaRPr lang="zh-CN" altLang="en-US" sz="1600" b="1"/>
            </a:p>
            <a:p>
              <a:pPr algn="ctr" fontAlgn="auto">
                <a:lnSpc>
                  <a:spcPct val="150000"/>
                </a:lnSpc>
              </a:pPr>
              <a:r>
                <a:rPr lang="zh-CN" altLang="en-US" sz="1600" b="1"/>
                <a:t>且能够进一步拉动品牌认知</a:t>
              </a:r>
              <a:endParaRPr lang="zh-CN" altLang="en-US" sz="1600" b="1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834255" y="1569085"/>
            <a:ext cx="2912110" cy="2693670"/>
            <a:chOff x="2093" y="3484"/>
            <a:chExt cx="4586" cy="4242"/>
          </a:xfrm>
        </p:grpSpPr>
        <p:sp>
          <p:nvSpPr>
            <p:cNvPr id="17" name="椭圆 16"/>
            <p:cNvSpPr/>
            <p:nvPr>
              <p:custDataLst>
                <p:tags r:id="rId8"/>
              </p:custDataLst>
            </p:nvPr>
          </p:nvSpPr>
          <p:spPr>
            <a:xfrm>
              <a:off x="2210" y="3484"/>
              <a:ext cx="4352" cy="4212"/>
            </a:xfrm>
            <a:prstGeom prst="ellipse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9"/>
              </p:custDataLst>
            </p:nvPr>
          </p:nvSpPr>
          <p:spPr>
            <a:xfrm>
              <a:off x="2281" y="6879"/>
              <a:ext cx="4130" cy="847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/>
                <a:t>指标</a:t>
              </a:r>
              <a:r>
                <a:rPr lang="en-US" altLang="zh-CN" sz="2000"/>
                <a:t>2</a:t>
              </a:r>
              <a:r>
                <a:rPr lang="zh-CN" altLang="en-US" sz="2000"/>
                <a:t>：</a:t>
              </a:r>
              <a:r>
                <a:rPr lang="en-US" altLang="zh-CN" sz="2000" b="1"/>
                <a:t>kol</a:t>
              </a:r>
              <a:r>
                <a:rPr lang="zh-CN" altLang="en-US" sz="2000" b="1"/>
                <a:t>影响力</a:t>
              </a:r>
              <a:endParaRPr lang="zh-CN" altLang="en-US" sz="2000" b="1"/>
            </a:p>
          </p:txBody>
        </p:sp>
        <p:sp>
          <p:nvSpPr>
            <p:cNvPr id="34" name="文本框 33"/>
            <p:cNvSpPr txBox="1"/>
            <p:nvPr>
              <p:custDataLst>
                <p:tags r:id="rId10"/>
              </p:custDataLst>
            </p:nvPr>
          </p:nvSpPr>
          <p:spPr>
            <a:xfrm>
              <a:off x="2093" y="4861"/>
              <a:ext cx="458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en-US" sz="1600" b="1"/>
                <a:t>kol</a:t>
              </a:r>
              <a:r>
                <a:rPr lang="zh-CN" altLang="en-US" sz="1600" b="1"/>
                <a:t>能够最大化覆盖粉丝</a:t>
              </a:r>
              <a:endParaRPr lang="zh-CN" altLang="en-US" sz="1600" b="1"/>
            </a:p>
            <a:p>
              <a:pPr algn="ctr" fontAlgn="auto">
                <a:lnSpc>
                  <a:spcPct val="150000"/>
                </a:lnSpc>
              </a:pPr>
              <a:r>
                <a:rPr lang="zh-CN" altLang="en-US" sz="1600" b="1"/>
                <a:t>实现信息最大化曝光</a:t>
              </a:r>
              <a:endParaRPr lang="zh-CN" altLang="en-US" sz="1600" b="1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368665" y="1569085"/>
            <a:ext cx="2912110" cy="2693670"/>
            <a:chOff x="2093" y="3484"/>
            <a:chExt cx="4586" cy="4242"/>
          </a:xfrm>
        </p:grpSpPr>
        <p:sp>
          <p:nvSpPr>
            <p:cNvPr id="38" name="椭圆 37"/>
            <p:cNvSpPr/>
            <p:nvPr>
              <p:custDataLst>
                <p:tags r:id="rId11"/>
              </p:custDataLst>
            </p:nvPr>
          </p:nvSpPr>
          <p:spPr>
            <a:xfrm>
              <a:off x="2210" y="3484"/>
              <a:ext cx="4352" cy="4212"/>
            </a:xfrm>
            <a:prstGeom prst="ellipse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12"/>
              </p:custDataLst>
            </p:nvPr>
          </p:nvSpPr>
          <p:spPr>
            <a:xfrm>
              <a:off x="2281" y="6879"/>
              <a:ext cx="4130" cy="847"/>
            </a:xfrm>
            <a:prstGeom prst="rect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/>
                <a:t>指标</a:t>
              </a:r>
              <a:r>
                <a:rPr lang="en-US" altLang="zh-CN" sz="2000"/>
                <a:t>3</a:t>
              </a:r>
              <a:r>
                <a:rPr lang="zh-CN" altLang="en-US" sz="2000"/>
                <a:t>：</a:t>
              </a:r>
              <a:r>
                <a:rPr lang="en-US" altLang="zh-CN" sz="2000" b="1"/>
                <a:t>kol</a:t>
              </a:r>
              <a:r>
                <a:rPr lang="zh-CN" altLang="en-US" sz="2000" b="1"/>
                <a:t>粉丝粘性</a:t>
              </a:r>
              <a:endParaRPr lang="zh-CN" altLang="en-US" sz="2000" b="1"/>
            </a:p>
          </p:txBody>
        </p:sp>
        <p:sp>
          <p:nvSpPr>
            <p:cNvPr id="40" name="文本框 39"/>
            <p:cNvSpPr txBox="1"/>
            <p:nvPr>
              <p:custDataLst>
                <p:tags r:id="rId13"/>
              </p:custDataLst>
            </p:nvPr>
          </p:nvSpPr>
          <p:spPr>
            <a:xfrm>
              <a:off x="2093" y="4861"/>
              <a:ext cx="458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en-US" sz="1600" b="1"/>
                <a:t>kol</a:t>
              </a:r>
              <a:r>
                <a:rPr lang="zh-CN" altLang="en-US" sz="1600" b="1"/>
                <a:t>粉丝数量需呈上升期</a:t>
              </a:r>
              <a:endParaRPr lang="zh-CN" altLang="en-US" sz="1600" b="1"/>
            </a:p>
            <a:p>
              <a:pPr algn="ctr" fontAlgn="auto">
                <a:lnSpc>
                  <a:spcPct val="150000"/>
                </a:lnSpc>
              </a:pPr>
              <a:r>
                <a:rPr lang="zh-CN" altLang="en-US" sz="1600" b="1"/>
                <a:t>粉丝粘性高，互动积极</a:t>
              </a:r>
              <a:endParaRPr lang="zh-CN" altLang="en-US" sz="1600" b="1"/>
            </a:p>
          </p:txBody>
        </p:sp>
      </p:grpSp>
      <p:sp>
        <p:nvSpPr>
          <p:cNvPr id="41" name="文本框 40"/>
          <p:cNvSpPr txBox="1"/>
          <p:nvPr>
            <p:custDataLst>
              <p:tags r:id="rId14"/>
            </p:custDataLst>
          </p:nvPr>
        </p:nvSpPr>
        <p:spPr>
          <a:xfrm>
            <a:off x="1086485" y="4626610"/>
            <a:ext cx="3190240" cy="141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kol人设匹配：对标美食垂类、精致生活标签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粉丝画像兴趣：达人粉丝主要集中年龄段、性别和兴趣标签要与品牌相符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商业适用性高（有合作过饮料品牌、美食品牌的，且内容数据优质）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5"/>
            </p:custDataLst>
          </p:nvPr>
        </p:nvSpPr>
        <p:spPr>
          <a:xfrm>
            <a:off x="4834255" y="4512310"/>
            <a:ext cx="3132455" cy="1196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粉丝量符合品牌传播要求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sz="120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KOL活跃度高，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视频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发文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频率高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互动率（周均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月均）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内容爆款率高（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30/60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天内）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具有一定带货能力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8282305" y="4512310"/>
            <a:ext cx="3484880" cy="1196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KOL粉丝评论70%的真实度 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粉丝评论均为正向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作品互动率大于5%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活跃粉丝数不低于70%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近30日无明显掉粉情况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17"/>
            </p:custDataLst>
          </p:nvPr>
        </p:nvSpPr>
        <p:spPr>
          <a:xfrm>
            <a:off x="1278255" y="6057265"/>
            <a:ext cx="2667000" cy="352425"/>
          </a:xfrm>
          <a:prstGeom prst="roundRect">
            <a:avLst/>
          </a:prstGeom>
          <a:noFill/>
          <a:ln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37F8D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隐性画像判断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>
            <p:custDataLst>
              <p:tags r:id="rId18"/>
            </p:custDataLst>
          </p:nvPr>
        </p:nvSpPr>
        <p:spPr>
          <a:xfrm>
            <a:off x="4907280" y="6057265"/>
            <a:ext cx="6298565" cy="352425"/>
          </a:xfrm>
          <a:prstGeom prst="roundRect">
            <a:avLst/>
          </a:prstGeom>
          <a:noFill/>
          <a:ln>
            <a:solidFill>
              <a:srgbClr val="5262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37F8D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显性数据判断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7" name="文本框 46"/>
          <p:cNvSpPr txBox="1"/>
          <p:nvPr>
            <p:custDataLst>
              <p:tags r:id="rId20"/>
            </p:custDataLst>
          </p:nvPr>
        </p:nvSpPr>
        <p:spPr>
          <a:xfrm>
            <a:off x="1165225" y="1059815"/>
            <a:ext cx="9945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400"/>
              </a:spcBef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圈定符合品牌调性的kol能够提高品牌声量，进一步帮助品牌拉动认知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>
            <p:custDataLst>
              <p:tags r:id="rId1"/>
            </p:custDataLst>
          </p:nvPr>
        </p:nvSpPr>
        <p:spPr>
          <a:xfrm>
            <a:off x="277495" y="4741545"/>
            <a:ext cx="338328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跟风购买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自发种草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sz="1600" b="1">
                <a:solidFill>
                  <a:srgbClr val="FF23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口碑沉淀</a:t>
            </a:r>
            <a:endParaRPr lang="zh-CN" sz="1600" b="1">
              <a:solidFill>
                <a:srgbClr val="FF23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解锁新场景使用突出痛点，触达潜在用户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12" name="组合 1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2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3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4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推广策略</a:t>
              </a:r>
              <a:r>
                <a:rPr lang="en-US" altLang="zh-CN" sz="3200" b="1" spc="600" dirty="0">
                  <a:latin typeface="微软雅黑" panose="020B0503020204020204" charset="-122"/>
                  <a:ea typeface="微软雅黑" panose="020B0503020204020204" charset="-122"/>
                </a:rPr>
                <a:t>·</a:t>
              </a:r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种草达人矩阵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01541" y="1991995"/>
            <a:ext cx="5228644" cy="3898900"/>
            <a:chOff x="5394" y="3532"/>
            <a:chExt cx="7855" cy="5614"/>
          </a:xfrm>
        </p:grpSpPr>
        <p:sp>
          <p:nvSpPr>
            <p:cNvPr id="3" name="Freeform 2"/>
            <p:cNvSpPr/>
            <p:nvPr>
              <p:custDataLst>
                <p:tags r:id="rId6"/>
              </p:custDataLst>
            </p:nvPr>
          </p:nvSpPr>
          <p:spPr bwMode="auto">
            <a:xfrm>
              <a:off x="7846" y="3914"/>
              <a:ext cx="2659" cy="2173"/>
            </a:xfrm>
            <a:custGeom>
              <a:avLst/>
              <a:gdLst>
                <a:gd name="T0" fmla="*/ 182 w 678"/>
                <a:gd name="T1" fmla="*/ 554 h 554"/>
                <a:gd name="T2" fmla="*/ 678 w 678"/>
                <a:gd name="T3" fmla="*/ 218 h 554"/>
                <a:gd name="T4" fmla="*/ 541 w 678"/>
                <a:gd name="T5" fmla="*/ 0 h 554"/>
                <a:gd name="T6" fmla="*/ 0 w 678"/>
                <a:gd name="T7" fmla="*/ 365 h 554"/>
                <a:gd name="T8" fmla="*/ 182 w 678"/>
                <a:gd name="T9" fmla="*/ 554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8" h="554">
                  <a:moveTo>
                    <a:pt x="182" y="554"/>
                  </a:moveTo>
                  <a:lnTo>
                    <a:pt x="678" y="218"/>
                  </a:lnTo>
                  <a:lnTo>
                    <a:pt x="541" y="0"/>
                  </a:lnTo>
                  <a:lnTo>
                    <a:pt x="0" y="365"/>
                  </a:lnTo>
                  <a:lnTo>
                    <a:pt x="182" y="554"/>
                  </a:lnTo>
                  <a:close/>
                </a:path>
              </a:pathLst>
            </a:custGeom>
            <a:solidFill>
              <a:srgbClr val="52533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id-ID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Freeform 4"/>
            <p:cNvSpPr/>
            <p:nvPr>
              <p:custDataLst>
                <p:tags r:id="rId7"/>
              </p:custDataLst>
            </p:nvPr>
          </p:nvSpPr>
          <p:spPr bwMode="auto">
            <a:xfrm>
              <a:off x="5551" y="5346"/>
              <a:ext cx="6205" cy="3801"/>
            </a:xfrm>
            <a:custGeom>
              <a:avLst/>
              <a:gdLst>
                <a:gd name="T0" fmla="*/ 1352 w 1582"/>
                <a:gd name="T1" fmla="*/ 0 h 969"/>
                <a:gd name="T2" fmla="*/ 226 w 1582"/>
                <a:gd name="T3" fmla="*/ 594 h 969"/>
                <a:gd name="T4" fmla="*/ 0 w 1582"/>
                <a:gd name="T5" fmla="*/ 969 h 969"/>
                <a:gd name="T6" fmla="*/ 1582 w 1582"/>
                <a:gd name="T7" fmla="*/ 379 h 969"/>
                <a:gd name="T8" fmla="*/ 1352 w 1582"/>
                <a:gd name="T9" fmla="*/ 0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2" h="969">
                  <a:moveTo>
                    <a:pt x="1352" y="0"/>
                  </a:moveTo>
                  <a:lnTo>
                    <a:pt x="226" y="594"/>
                  </a:lnTo>
                  <a:lnTo>
                    <a:pt x="0" y="969"/>
                  </a:lnTo>
                  <a:lnTo>
                    <a:pt x="1582" y="37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52533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id-ID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Freeform 6"/>
            <p:cNvSpPr/>
            <p:nvPr>
              <p:custDataLst>
                <p:tags r:id="rId8"/>
              </p:custDataLst>
            </p:nvPr>
          </p:nvSpPr>
          <p:spPr bwMode="auto">
            <a:xfrm>
              <a:off x="6944" y="5346"/>
              <a:ext cx="4813" cy="1487"/>
            </a:xfrm>
            <a:custGeom>
              <a:avLst/>
              <a:gdLst>
                <a:gd name="T0" fmla="*/ 1227 w 1227"/>
                <a:gd name="T1" fmla="*/ 379 h 379"/>
                <a:gd name="T2" fmla="*/ 997 w 1227"/>
                <a:gd name="T3" fmla="*/ 0 h 379"/>
                <a:gd name="T4" fmla="*/ 230 w 1227"/>
                <a:gd name="T5" fmla="*/ 0 h 379"/>
                <a:gd name="T6" fmla="*/ 0 w 1227"/>
                <a:gd name="T7" fmla="*/ 379 h 379"/>
                <a:gd name="T8" fmla="*/ 1227 w 1227"/>
                <a:gd name="T9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7" h="379">
                  <a:moveTo>
                    <a:pt x="1227" y="379"/>
                  </a:moveTo>
                  <a:lnTo>
                    <a:pt x="997" y="0"/>
                  </a:lnTo>
                  <a:lnTo>
                    <a:pt x="230" y="0"/>
                  </a:lnTo>
                  <a:lnTo>
                    <a:pt x="0" y="379"/>
                  </a:lnTo>
                  <a:lnTo>
                    <a:pt x="1227" y="379"/>
                  </a:lnTo>
                  <a:close/>
                </a:path>
              </a:pathLst>
            </a:custGeom>
            <a:solidFill>
              <a:srgbClr val="52623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id-ID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Freeform 7"/>
            <p:cNvSpPr/>
            <p:nvPr>
              <p:custDataLst>
                <p:tags r:id="rId9"/>
              </p:custDataLst>
            </p:nvPr>
          </p:nvSpPr>
          <p:spPr bwMode="auto">
            <a:xfrm>
              <a:off x="5549" y="7675"/>
              <a:ext cx="7602" cy="1471"/>
            </a:xfrm>
            <a:custGeom>
              <a:avLst/>
              <a:gdLst>
                <a:gd name="T0" fmla="*/ 226 w 1938"/>
                <a:gd name="T1" fmla="*/ 0 h 375"/>
                <a:gd name="T2" fmla="*/ 0 w 1938"/>
                <a:gd name="T3" fmla="*/ 375 h 375"/>
                <a:gd name="T4" fmla="*/ 1938 w 1938"/>
                <a:gd name="T5" fmla="*/ 375 h 375"/>
                <a:gd name="T6" fmla="*/ 1712 w 1938"/>
                <a:gd name="T7" fmla="*/ 0 h 375"/>
                <a:gd name="T8" fmla="*/ 226 w 1938"/>
                <a:gd name="T9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8" h="375">
                  <a:moveTo>
                    <a:pt x="226" y="0"/>
                  </a:moveTo>
                  <a:lnTo>
                    <a:pt x="0" y="375"/>
                  </a:lnTo>
                  <a:lnTo>
                    <a:pt x="1938" y="375"/>
                  </a:lnTo>
                  <a:lnTo>
                    <a:pt x="1712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52623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id-ID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Freeform 8"/>
            <p:cNvSpPr/>
            <p:nvPr>
              <p:custDataLst>
                <p:tags r:id="rId10"/>
              </p:custDataLst>
            </p:nvPr>
          </p:nvSpPr>
          <p:spPr bwMode="auto">
            <a:xfrm>
              <a:off x="7847" y="3532"/>
              <a:ext cx="2958" cy="1237"/>
            </a:xfrm>
            <a:custGeom>
              <a:avLst/>
              <a:gdLst>
                <a:gd name="connsiteX0" fmla="*/ 0 w 2958"/>
                <a:gd name="connsiteY0" fmla="*/ 1237 h 1237"/>
                <a:gd name="connsiteX1" fmla="*/ 628 w 2958"/>
                <a:gd name="connsiteY1" fmla="*/ 0 h 1237"/>
                <a:gd name="connsiteX2" fmla="*/ 2308 w 2958"/>
                <a:gd name="connsiteY2" fmla="*/ 0 h 1237"/>
                <a:gd name="connsiteX3" fmla="*/ 2958 w 2958"/>
                <a:gd name="connsiteY3" fmla="*/ 1237 h 1237"/>
                <a:gd name="connsiteX4" fmla="*/ 0 w 2958"/>
                <a:gd name="connsiteY4" fmla="*/ 1237 h 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" h="1237">
                  <a:moveTo>
                    <a:pt x="0" y="1237"/>
                  </a:moveTo>
                  <a:lnTo>
                    <a:pt x="628" y="0"/>
                  </a:lnTo>
                  <a:lnTo>
                    <a:pt x="2308" y="0"/>
                  </a:lnTo>
                  <a:lnTo>
                    <a:pt x="2958" y="1237"/>
                  </a:lnTo>
                  <a:lnTo>
                    <a:pt x="0" y="1237"/>
                  </a:lnTo>
                  <a:close/>
                </a:path>
              </a:pathLst>
            </a:custGeom>
            <a:solidFill>
              <a:srgbClr val="52623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id-ID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 rot="10800000">
              <a:off x="7419" y="3868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燕尾形 18"/>
            <p:cNvSpPr/>
            <p:nvPr>
              <p:custDataLst>
                <p:tags r:id="rId11"/>
              </p:custDataLst>
            </p:nvPr>
          </p:nvSpPr>
          <p:spPr>
            <a:xfrm rot="10800000">
              <a:off x="6823" y="5346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燕尾形 19"/>
            <p:cNvSpPr/>
            <p:nvPr>
              <p:custDataLst>
                <p:tags r:id="rId12"/>
              </p:custDataLst>
            </p:nvPr>
          </p:nvSpPr>
          <p:spPr>
            <a:xfrm rot="10800000">
              <a:off x="5394" y="7675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燕尾形 20"/>
            <p:cNvSpPr/>
            <p:nvPr>
              <p:custDataLst>
                <p:tags r:id="rId13"/>
              </p:custDataLst>
            </p:nvPr>
          </p:nvSpPr>
          <p:spPr>
            <a:xfrm>
              <a:off x="10813" y="3869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燕尾形 21"/>
            <p:cNvSpPr/>
            <p:nvPr>
              <p:custDataLst>
                <p:tags r:id="rId14"/>
              </p:custDataLst>
            </p:nvPr>
          </p:nvSpPr>
          <p:spPr>
            <a:xfrm>
              <a:off x="11370" y="5346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燕尾形 22"/>
            <p:cNvSpPr/>
            <p:nvPr>
              <p:custDataLst>
                <p:tags r:id="rId15"/>
              </p:custDataLst>
            </p:nvPr>
          </p:nvSpPr>
          <p:spPr>
            <a:xfrm>
              <a:off x="12799" y="7675"/>
              <a:ext cx="450" cy="450"/>
            </a:xfrm>
            <a:prstGeom prst="chevron">
              <a:avLst/>
            </a:prstGeom>
            <a:noFill/>
            <a:ln>
              <a:solidFill>
                <a:srgbClr val="5262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2623F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846" y="3785"/>
              <a:ext cx="2967" cy="84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腰部达人</a:t>
              </a:r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精致时尚、美食类</a:t>
              </a:r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6"/>
              </p:custDataLst>
            </p:nvPr>
          </p:nvSpPr>
          <p:spPr>
            <a:xfrm>
              <a:off x="7419" y="5509"/>
              <a:ext cx="3805" cy="110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初级达人</a:t>
              </a:r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热衷尝鲜、好物种草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高颜值、跨圈层达人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7419" y="7859"/>
              <a:ext cx="3805" cy="110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优质</a:t>
              </a:r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KOC</a:t>
              </a:r>
              <a:endPara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注重口碑、跟风粉丝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学生党、创意型达人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647700" y="1526540"/>
            <a:ext cx="2838450" cy="393065"/>
          </a:xfrm>
          <a:prstGeom prst="round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「口碑传播中扮演的角色」</a:t>
            </a:r>
            <a:endParaRPr lang="zh-CN" altLang="en-US"/>
          </a:p>
        </p:txBody>
      </p:sp>
      <p:sp>
        <p:nvSpPr>
          <p:cNvPr id="29" name="圆角矩形 28"/>
          <p:cNvSpPr/>
          <p:nvPr>
            <p:custDataLst>
              <p:tags r:id="rId18"/>
            </p:custDataLst>
          </p:nvPr>
        </p:nvSpPr>
        <p:spPr>
          <a:xfrm>
            <a:off x="8655685" y="1526540"/>
            <a:ext cx="2838450" cy="393065"/>
          </a:xfrm>
          <a:prstGeom prst="round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沟通重点</a:t>
            </a:r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276860" y="1991995"/>
            <a:ext cx="391668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美食教程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品牌科普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深度种草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sz="1600" b="1">
                <a:solidFill>
                  <a:srgbClr val="FF23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提高声量</a:t>
            </a:r>
            <a:endParaRPr lang="zh-CN" altLang="en-US" sz="1600">
              <a:solidFill>
                <a:srgbClr val="FF23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关注美食教程、推荐测评、追求高性价比的人群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0"/>
            </p:custDataLst>
          </p:nvPr>
        </p:nvSpPr>
        <p:spPr>
          <a:xfrm>
            <a:off x="270510" y="3272790"/>
            <a:ext cx="39243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产品拓圈层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年轻人关注内容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sz="1600" b="1">
                <a:solidFill>
                  <a:srgbClr val="FF23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曝光扩散</a:t>
            </a:r>
            <a:endParaRPr lang="zh-CN" altLang="en-US" sz="1600">
              <a:solidFill>
                <a:srgbClr val="FF23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关注美食、喜欢购物、热衷尝鲜等年轻人群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8325485" y="1915795"/>
            <a:ext cx="3866515" cy="101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新品兴趣种草</a:t>
            </a:r>
            <a:endParaRPr 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垂类达人进行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产品种草，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激发粉丝群体注意力和兴趣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2"/>
            </p:custDataLst>
          </p:nvPr>
        </p:nvSpPr>
        <p:spPr>
          <a:xfrm>
            <a:off x="8325485" y="3225165"/>
            <a:ext cx="3847465" cy="101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圈层内容深耕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垂类达人测评、创意DIY类等形式进行内容深耕，迅速积攒声量促破圈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3"/>
            </p:custDataLst>
          </p:nvPr>
        </p:nvSpPr>
        <p:spPr>
          <a:xfrm>
            <a:off x="8971280" y="4745355"/>
            <a:ext cx="3202305" cy="101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细分场景植入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真实体验感分享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/加强新品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种草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氛围感配合平台节点渠道引流促进转化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内容话题传播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7303770" y="2171700"/>
            <a:ext cx="945515" cy="928370"/>
          </a:xfrm>
          <a:prstGeom prst="ellipse">
            <a:avLst/>
          </a:prstGeom>
          <a:gradFill>
            <a:gsLst>
              <a:gs pos="0">
                <a:srgbClr val="99A3B0"/>
              </a:gs>
              <a:gs pos="100000">
                <a:srgbClr val="505358"/>
              </a:gs>
            </a:gsLst>
            <a:lin ang="5400000" scaled="1"/>
          </a:gra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007600" y="2172335"/>
            <a:ext cx="945515" cy="928370"/>
          </a:xfrm>
          <a:prstGeom prst="ellipse">
            <a:avLst/>
          </a:prstGeom>
          <a:gradFill>
            <a:gsLst>
              <a:gs pos="44000">
                <a:srgbClr val="B4BEC5"/>
              </a:gs>
              <a:gs pos="0">
                <a:srgbClr val="CDD4D8"/>
              </a:gs>
              <a:gs pos="100000">
                <a:srgbClr val="9BA8B1"/>
              </a:gs>
            </a:gsLst>
            <a:lin ang="5400000" scaled="1"/>
          </a:gra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1803400" y="2172335"/>
            <a:ext cx="945515" cy="928370"/>
          </a:xfrm>
          <a:prstGeom prst="ellipse">
            <a:avLst/>
          </a:prstGeom>
          <a:gradFill>
            <a:gsLst>
              <a:gs pos="0">
                <a:srgbClr val="A0B7A5"/>
              </a:gs>
              <a:gs pos="94000">
                <a:srgbClr val="6AA18E"/>
              </a:gs>
            </a:gsLst>
            <a:lin ang="5400000" scaled="1"/>
          </a:gra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>
            <p:custDataLst>
              <p:tags r:id="rId8"/>
            </p:custDataLst>
          </p:nvPr>
        </p:nvSpPr>
        <p:spPr>
          <a:xfrm>
            <a:off x="9142730" y="2219960"/>
            <a:ext cx="334645" cy="371284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sx="97000" sy="97000" algn="l" rotWithShape="0">
              <a:srgbClr val="FFFFFF">
                <a:lumMod val="50000"/>
                <a:alpha val="90000"/>
              </a:srgbClr>
            </a:outerShdw>
            <a:reflection stA="45000" endPos="0" dist="50800" dir="5400000" sy="-100000" algn="bl" rotWithShape="0"/>
          </a:effectLst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7" name="等腰三角形 36"/>
          <p:cNvSpPr/>
          <p:nvPr>
            <p:custDataLst>
              <p:tags r:id="rId9"/>
            </p:custDataLst>
          </p:nvPr>
        </p:nvSpPr>
        <p:spPr>
          <a:xfrm rot="5400000">
            <a:off x="9356725" y="3744595"/>
            <a:ext cx="495300" cy="254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8" name="等腰三角形 37"/>
          <p:cNvSpPr/>
          <p:nvPr>
            <p:custDataLst>
              <p:tags r:id="rId10"/>
            </p:custDataLst>
          </p:nvPr>
        </p:nvSpPr>
        <p:spPr>
          <a:xfrm rot="5400000">
            <a:off x="9244330" y="3744595"/>
            <a:ext cx="495300" cy="254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11"/>
            </p:custDataLst>
          </p:nvPr>
        </p:nvSpPr>
        <p:spPr>
          <a:xfrm flipH="1">
            <a:off x="9646285" y="3197225"/>
            <a:ext cx="1670050" cy="42164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lstStyle/>
          <a:p>
            <a:pPr algn="ctr"/>
            <a:r>
              <a:rPr lang="zh-CN" altLang="en-US" sz="2000" b="1" spc="300">
                <a:solidFill>
                  <a:srgbClr val="52623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场景植入</a:t>
            </a:r>
            <a:endParaRPr lang="zh-CN" altLang="en-US" sz="2000" b="1" spc="300">
              <a:solidFill>
                <a:srgbClr val="52623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2"/>
            </p:custDataLst>
          </p:nvPr>
        </p:nvSpPr>
        <p:spPr>
          <a:xfrm flipH="1">
            <a:off x="9720580" y="3642360"/>
            <a:ext cx="2113280" cy="2019300"/>
          </a:xfrm>
          <a:prstGeom prst="rect">
            <a:avLst/>
          </a:prstGeom>
          <a:noFill/>
        </p:spPr>
        <p:txBody>
          <a:bodyPr wrap="square" bIns="4699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打工人的快乐下午茶</a:t>
            </a:r>
            <a:endParaRPr lang="en-US" altLang="zh-CN" sz="1200" spc="1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拒绝奶茶的第</a:t>
            </a: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n</a:t>
            </a:r>
            <a:r>
              <a:rPr lang="zh-CN" altLang="en-US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天</a:t>
            </a:r>
            <a:endParaRPr lang="en-US" altLang="zh-CN" sz="1200" spc="1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挑战每天一杯早八饮品</a:t>
            </a:r>
            <a:endParaRPr lang="zh-CN" altLang="en-US" sz="1200" spc="1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减脂期的解馋饮品</a:t>
            </a:r>
            <a:r>
              <a:rPr lang="en-US" altLang="zh-CN" sz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...</a:t>
            </a:r>
            <a:endParaRPr lang="en-US" altLang="zh-CN" sz="1200" spc="1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65" name="图片 64" descr="32313538313534373b32313538313534313bbde2bef6b7bdb0b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07955" y="2456180"/>
            <a:ext cx="347980" cy="347980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6474460" y="2219960"/>
            <a:ext cx="334645" cy="371284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sx="97000" sy="97000" algn="l" rotWithShape="0">
              <a:srgbClr val="FFFFFF">
                <a:lumMod val="50000"/>
                <a:alpha val="90000"/>
              </a:srgbClr>
            </a:outerShdw>
            <a:reflection stA="45000" endPos="0" dist="50800" dir="5400000" sy="-100000" algn="bl" rotWithShape="0"/>
          </a:effectLst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等腰三角形 14"/>
          <p:cNvSpPr/>
          <p:nvPr>
            <p:custDataLst>
              <p:tags r:id="rId17"/>
            </p:custDataLst>
          </p:nvPr>
        </p:nvSpPr>
        <p:spPr>
          <a:xfrm rot="5400000">
            <a:off x="6688455" y="3744595"/>
            <a:ext cx="495300" cy="254000"/>
          </a:xfrm>
          <a:prstGeom prst="triangle">
            <a:avLst/>
          </a:prstGeom>
          <a:solidFill>
            <a:srgbClr val="7E7E7E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等腰三角形 15"/>
          <p:cNvSpPr/>
          <p:nvPr>
            <p:custDataLst>
              <p:tags r:id="rId18"/>
            </p:custDataLst>
          </p:nvPr>
        </p:nvSpPr>
        <p:spPr>
          <a:xfrm rot="5400000">
            <a:off x="6576060" y="3744595"/>
            <a:ext cx="495300" cy="254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 flipH="1">
            <a:off x="6941820" y="3202305"/>
            <a:ext cx="1670050" cy="42164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lstStyle/>
          <a:p>
            <a:pPr algn="ctr"/>
            <a:r>
              <a:rPr lang="zh-CN" altLang="en-US" sz="2000" b="1" spc="300">
                <a:solidFill>
                  <a:srgbClr val="52623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口感味道</a:t>
            </a:r>
            <a:endParaRPr lang="zh-CN" altLang="en-US" sz="2000" b="1" spc="300">
              <a:solidFill>
                <a:srgbClr val="52623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0"/>
            </p:custDataLst>
          </p:nvPr>
        </p:nvSpPr>
        <p:spPr>
          <a:xfrm flipH="1">
            <a:off x="7016115" y="3647440"/>
            <a:ext cx="2113280" cy="2019300"/>
          </a:xfrm>
          <a:prstGeom prst="rect">
            <a:avLst/>
          </a:prstGeom>
          <a:noFill/>
        </p:spPr>
        <p:txBody>
          <a:bodyPr wrap="square" bIns="46990" rtlCol="0">
            <a:normAutofit fontScale="90000" lnSpcReduction="20000"/>
          </a:bodyPr>
          <a:lstStyle/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浓郁椰香撞上香醇可可</a:t>
            </a:r>
            <a:r>
              <a:rPr lang="en-US" altLang="zh-CN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清甜抹茶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可可的浓郁带着海南椰子的香甜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椰子的香甜口感加上抹茶的茶香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抹茶的微苦和椰子的香甜融合的刚刚好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" name="图片 60" descr="32313538313534373b32313538313532363bb7d6cef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03490" y="2461260"/>
            <a:ext cx="347980" cy="34798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24"/>
            </p:custDataLst>
          </p:nvPr>
        </p:nvSpPr>
        <p:spPr>
          <a:xfrm>
            <a:off x="932180" y="2219960"/>
            <a:ext cx="334645" cy="371284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sx="97000" sy="97000" algn="l" rotWithShape="0">
              <a:srgbClr val="FFFFFF">
                <a:lumMod val="50000"/>
                <a:alpha val="90000"/>
              </a:srgbClr>
            </a:outerShdw>
            <a:reflection stA="45000" endPos="0" dist="50800" dir="5400000" sy="-100000" algn="bl" rotWithShape="0"/>
          </a:effectLst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等腰三角形 26"/>
          <p:cNvSpPr/>
          <p:nvPr>
            <p:custDataLst>
              <p:tags r:id="rId25"/>
            </p:custDataLst>
          </p:nvPr>
        </p:nvSpPr>
        <p:spPr>
          <a:xfrm rot="5400000">
            <a:off x="1146175" y="3744595"/>
            <a:ext cx="495300" cy="254000"/>
          </a:xfrm>
          <a:prstGeom prst="triangle">
            <a:avLst/>
          </a:prstGeom>
          <a:solidFill>
            <a:srgbClr val="52623F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等腰三角形 27"/>
          <p:cNvSpPr/>
          <p:nvPr>
            <p:custDataLst>
              <p:tags r:id="rId26"/>
            </p:custDataLst>
          </p:nvPr>
        </p:nvSpPr>
        <p:spPr>
          <a:xfrm rot="5400000">
            <a:off x="1033780" y="3744595"/>
            <a:ext cx="495300" cy="254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27"/>
            </p:custDataLst>
          </p:nvPr>
        </p:nvSpPr>
        <p:spPr>
          <a:xfrm flipH="1">
            <a:off x="1510665" y="3642360"/>
            <a:ext cx="2113280" cy="2019300"/>
          </a:xfrm>
          <a:prstGeom prst="rect">
            <a:avLst/>
          </a:prstGeom>
          <a:noFill/>
        </p:spPr>
        <p:txBody>
          <a:bodyPr wrap="square" bIns="46990" rtlCol="0">
            <a:norm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百年传承茶品牌，口碑广流传</a:t>
            </a:r>
            <a:endParaRPr lang="zh-CN" altLang="en-US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风靡全球的经典茶配方</a:t>
            </a:r>
            <a:endParaRPr lang="zh-CN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严选优质好茶，对得起百年口碑</a:t>
            </a:r>
            <a:endParaRPr lang="zh-CN" altLang="en-US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英国皇室御用茶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endParaRPr lang="zh-CN" altLang="en-US" sz="1200" b="1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28"/>
            </p:custDataLst>
          </p:nvPr>
        </p:nvSpPr>
        <p:spPr>
          <a:xfrm flipH="1">
            <a:off x="1436370" y="3197225"/>
            <a:ext cx="1670050" cy="42164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lstStyle/>
          <a:p>
            <a:pPr algn="ctr"/>
            <a:r>
              <a:rPr lang="zh-CN" altLang="en-US" sz="2000" b="1" spc="300">
                <a:solidFill>
                  <a:srgbClr val="52623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品牌背书</a:t>
            </a:r>
            <a:endParaRPr lang="zh-CN" altLang="en-US" sz="2000" b="1" spc="300">
              <a:solidFill>
                <a:srgbClr val="52623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62" name="图片 61" descr="32313538313534373b32313538313533333bbdb1b1ad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03120" y="2461895"/>
            <a:ext cx="347980" cy="347980"/>
          </a:xfrm>
          <a:prstGeom prst="rect">
            <a:avLst/>
          </a:prstGeom>
        </p:spPr>
      </p:pic>
      <p:sp>
        <p:nvSpPr>
          <p:cNvPr id="29" name="椭圆 28"/>
          <p:cNvSpPr/>
          <p:nvPr>
            <p:custDataLst>
              <p:tags r:id="rId32"/>
            </p:custDataLst>
          </p:nvPr>
        </p:nvSpPr>
        <p:spPr>
          <a:xfrm>
            <a:off x="4599305" y="2219960"/>
            <a:ext cx="945515" cy="928370"/>
          </a:xfrm>
          <a:prstGeom prst="ellipse">
            <a:avLst/>
          </a:prstGeom>
          <a:gradFill>
            <a:gsLst>
              <a:gs pos="0">
                <a:srgbClr val="C09D87"/>
              </a:gs>
              <a:gs pos="100000">
                <a:srgbClr val="8D512F"/>
              </a:gs>
            </a:gsLst>
            <a:lin ang="5400000" scaled="1"/>
          </a:gra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33"/>
            </p:custDataLst>
          </p:nvPr>
        </p:nvSpPr>
        <p:spPr>
          <a:xfrm>
            <a:off x="3733165" y="2238375"/>
            <a:ext cx="334645" cy="371284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50800" sx="97000" sy="97000" algn="l" rotWithShape="0">
              <a:srgbClr val="FFFFFF">
                <a:lumMod val="50000"/>
                <a:alpha val="90000"/>
              </a:srgbClr>
            </a:outerShdw>
            <a:reflection stA="45000" endPos="0" dist="50800" dir="5400000" sy="-100000" algn="bl" rotWithShape="0"/>
          </a:effectLst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等腰三角形 30"/>
          <p:cNvSpPr/>
          <p:nvPr>
            <p:custDataLst>
              <p:tags r:id="rId34"/>
            </p:custDataLst>
          </p:nvPr>
        </p:nvSpPr>
        <p:spPr>
          <a:xfrm rot="5400000">
            <a:off x="3947160" y="3763010"/>
            <a:ext cx="495300" cy="254000"/>
          </a:xfrm>
          <a:prstGeom prst="triangle">
            <a:avLst/>
          </a:prstGeom>
          <a:solidFill>
            <a:srgbClr val="6F4132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等腰三角形 31"/>
          <p:cNvSpPr/>
          <p:nvPr>
            <p:custDataLst>
              <p:tags r:id="rId35"/>
            </p:custDataLst>
          </p:nvPr>
        </p:nvSpPr>
        <p:spPr>
          <a:xfrm rot="5400000">
            <a:off x="3834765" y="3763010"/>
            <a:ext cx="495300" cy="254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A8024">
              <a:shade val="50000"/>
            </a:srgbClr>
          </a:lnRef>
          <a:fillRef idx="1">
            <a:srgbClr val="FA8024"/>
          </a:fillRef>
          <a:effectRef idx="0">
            <a:srgbClr val="FA8024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36"/>
            </p:custDataLst>
          </p:nvPr>
        </p:nvSpPr>
        <p:spPr>
          <a:xfrm flipH="1">
            <a:off x="4237355" y="3215640"/>
            <a:ext cx="1670050" cy="42164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lstStyle/>
          <a:p>
            <a:pPr algn="ctr"/>
            <a:r>
              <a:rPr lang="zh-CN" altLang="en-US" sz="2000" b="1" spc="300">
                <a:solidFill>
                  <a:srgbClr val="52623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人群种草</a:t>
            </a:r>
            <a:endParaRPr lang="zh-CN" altLang="en-US" sz="2000" b="1" spc="300">
              <a:solidFill>
                <a:srgbClr val="52623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 flipH="1">
            <a:off x="4311650" y="3660775"/>
            <a:ext cx="2113280" cy="2019300"/>
          </a:xfrm>
          <a:prstGeom prst="rect">
            <a:avLst/>
          </a:prstGeom>
          <a:noFill/>
        </p:spPr>
        <p:txBody>
          <a:bodyPr wrap="square" bIns="46990" rtlCol="0">
            <a:normAutofit/>
          </a:bodyPr>
          <a:lstStyle/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-可可控/抹茶控不能错过的拿铁</a:t>
            </a:r>
            <a:endParaRPr lang="en-US" altLang="zh-CN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-打工人的健康版拿铁</a:t>
            </a:r>
            <a:endParaRPr lang="en-US" altLang="zh-CN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457200" algn="just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-一分钟快手饮品，学生党早八必备</a:t>
            </a:r>
            <a:endParaRPr lang="en-US" altLang="zh-CN" sz="1200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图片 63" descr="32313538313534373b32313538313533383bc4bfb1ea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899025" y="2480310"/>
            <a:ext cx="347980" cy="347980"/>
          </a:xfrm>
          <a:prstGeom prst="rect">
            <a:avLst/>
          </a:prstGeom>
        </p:spPr>
      </p:pic>
    </p:spTree>
    <p:custDataLst>
      <p:tags r:id="rId41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爆文赛马机制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252095" y="2674620"/>
            <a:ext cx="8783320" cy="3611880"/>
            <a:chOff x="213" y="2911"/>
            <a:chExt cx="13832" cy="5688"/>
          </a:xfrm>
        </p:grpSpPr>
        <p:grpSp>
          <p:nvGrpSpPr>
            <p:cNvPr id="20" name="组合 19"/>
            <p:cNvGrpSpPr/>
            <p:nvPr/>
          </p:nvGrpSpPr>
          <p:grpSpPr>
            <a:xfrm>
              <a:off x="1407" y="5356"/>
              <a:ext cx="5012" cy="2461"/>
              <a:chOff x="1858" y="5356"/>
              <a:chExt cx="5012" cy="2461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1858" y="6585"/>
                <a:ext cx="1300" cy="1230"/>
                <a:chOff x="2171" y="5252"/>
                <a:chExt cx="1300" cy="1230"/>
              </a:xfrm>
            </p:grpSpPr>
            <p:sp>
              <p:nvSpPr>
                <p:cNvPr id="2" name="椭圆 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171" y="5252"/>
                  <a:ext cx="1300" cy="1230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文本框 5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2188" y="5626"/>
                  <a:ext cx="1283" cy="4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测评向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5570" y="6586"/>
                <a:ext cx="1300" cy="1230"/>
                <a:chOff x="2171" y="5252"/>
                <a:chExt cx="1300" cy="1230"/>
              </a:xfrm>
            </p:grpSpPr>
            <p:sp>
              <p:nvSpPr>
                <p:cNvPr id="9" name="椭圆 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171" y="5252"/>
                  <a:ext cx="1300" cy="1230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文本框 9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2188" y="5626"/>
                  <a:ext cx="1283" cy="4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>
                      <a:latin typeface="微软雅黑" panose="020B0503020204020204" charset="-122"/>
                      <a:ea typeface="微软雅黑" panose="020B0503020204020204" charset="-122"/>
                    </a:rPr>
                    <a:t>DIY</a:t>
                  </a:r>
                  <a:endParaRPr lang="en-US" altLang="zh-CN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3714" y="6587"/>
                <a:ext cx="1300" cy="1230"/>
                <a:chOff x="2171" y="5252"/>
                <a:chExt cx="1300" cy="1230"/>
              </a:xfrm>
            </p:grpSpPr>
            <p:sp>
              <p:nvSpPr>
                <p:cNvPr id="12" name="椭圆 11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171" y="5252"/>
                  <a:ext cx="1300" cy="1230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文本框 12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188" y="5456"/>
                  <a:ext cx="1283" cy="8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合集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种草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4581" y="5357"/>
                <a:ext cx="1300" cy="1230"/>
                <a:chOff x="2171" y="5252"/>
                <a:chExt cx="1300" cy="1230"/>
              </a:xfrm>
            </p:grpSpPr>
            <p:sp>
              <p:nvSpPr>
                <p:cNvPr id="15" name="椭圆 1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2171" y="5252"/>
                  <a:ext cx="1300" cy="1230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文本框 15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2188" y="5457"/>
                  <a:ext cx="1283" cy="8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单品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种草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2673" y="5356"/>
                <a:ext cx="1300" cy="1230"/>
                <a:chOff x="2171" y="5252"/>
                <a:chExt cx="1300" cy="1230"/>
              </a:xfrm>
            </p:grpSpPr>
            <p:sp>
              <p:nvSpPr>
                <p:cNvPr id="18" name="椭圆 1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171" y="5252"/>
                  <a:ext cx="1300" cy="1230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文本框 18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2188" y="5457"/>
                  <a:ext cx="1283" cy="8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创意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400">
                      <a:latin typeface="微软雅黑" panose="020B0503020204020204" charset="-122"/>
                      <a:ea typeface="微软雅黑" panose="020B0503020204020204" charset="-122"/>
                    </a:rPr>
                    <a:t>内容</a:t>
                  </a:r>
                  <a:endParaRPr lang="zh-CN" altLang="en-US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1" name="弧形 20"/>
            <p:cNvSpPr/>
            <p:nvPr>
              <p:custDataLst>
                <p:tags r:id="rId15"/>
              </p:custDataLst>
            </p:nvPr>
          </p:nvSpPr>
          <p:spPr>
            <a:xfrm rot="9960000">
              <a:off x="213" y="2911"/>
              <a:ext cx="13832" cy="4978"/>
            </a:xfrm>
            <a:prstGeom prst="arc">
              <a:avLst>
                <a:gd name="adj1" fmla="val 18016200"/>
                <a:gd name="adj2" fmla="val 21038316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2707" y="8019"/>
              <a:ext cx="2101" cy="580"/>
            </a:xfrm>
            <a:prstGeom prst="rect">
              <a:avLst/>
            </a:prstGeom>
            <a:solidFill>
              <a:srgbClr val="6F4132"/>
            </a:solidFill>
            <a:ln>
              <a:solidFill>
                <a:srgbClr val="000000">
                  <a:alpha val="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信息流测试</a:t>
              </a:r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203200" y="2468245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在前期匹配内容形式环节中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每类中挑选多篇表现较好的笔记，作为种子笔记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①发布后2~3天自然流量表现（ctr/c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达人历史爆文情况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18"/>
            </p:custDataLst>
          </p:nvPr>
        </p:nvSpPr>
        <p:spPr>
          <a:xfrm>
            <a:off x="8322945" y="1815465"/>
            <a:ext cx="3604260" cy="429260"/>
          </a:xfrm>
          <a:prstGeom prst="round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放大爆文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4384130" y="2468024"/>
            <a:ext cx="1427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按分类预埋词：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4384130" y="3694365"/>
            <a:ext cx="21602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以ctr和回搜考核标准赛马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4330065" y="2803525"/>
            <a:ext cx="38982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功效词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其他动态热搜词，根据数据效果动态调整词条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2"/>
            </p:custDataLst>
          </p:nvPr>
        </p:nvSpPr>
        <p:spPr>
          <a:xfrm>
            <a:off x="4384040" y="4154805"/>
            <a:ext cx="4064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基于测试反馈，筛选具有种草力的潜力爆文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笔记数据表现TOP+ 用户反馈正向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右箭头 30"/>
          <p:cNvSpPr/>
          <p:nvPr>
            <p:custDataLst>
              <p:tags r:id="rId23"/>
            </p:custDataLst>
          </p:nvPr>
        </p:nvSpPr>
        <p:spPr>
          <a:xfrm>
            <a:off x="7970520" y="1881505"/>
            <a:ext cx="572135" cy="307975"/>
          </a:xfrm>
          <a:prstGeom prst="rightArrow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4"/>
            </p:custDataLst>
          </p:nvPr>
        </p:nvSpPr>
        <p:spPr>
          <a:xfrm>
            <a:off x="8448040" y="2468245"/>
            <a:ext cx="4064000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在潜力爆文内容中「优中择优」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笔记当前已积累互动总数（赞+藏+评）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数据增长趋势表现（CPE、CTR波动）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明确内容爆文属性后，品牌进一步提高预算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同时抢占信息流靠前位置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更大范围拦截意向用户，放大爆文价值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4384040" y="1815465"/>
            <a:ext cx="3694430" cy="429260"/>
          </a:xfrm>
          <a:prstGeom prst="round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测试潜力爆文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右箭头 29"/>
          <p:cNvSpPr/>
          <p:nvPr>
            <p:custDataLst>
              <p:tags r:id="rId26"/>
            </p:custDataLst>
          </p:nvPr>
        </p:nvSpPr>
        <p:spPr>
          <a:xfrm>
            <a:off x="4018280" y="1882140"/>
            <a:ext cx="572135" cy="307975"/>
          </a:xfrm>
          <a:prstGeom prst="rightArrow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27"/>
            </p:custDataLst>
          </p:nvPr>
        </p:nvSpPr>
        <p:spPr>
          <a:xfrm>
            <a:off x="330200" y="1815465"/>
            <a:ext cx="3809365" cy="429260"/>
          </a:xfrm>
          <a:prstGeom prst="round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选择种子笔记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635" y="2002790"/>
            <a:ext cx="12192000" cy="2695575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09545" y="1421765"/>
            <a:ext cx="864870" cy="793750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41370" y="1019810"/>
            <a:ext cx="574040" cy="645795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副标题 1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4161155"/>
            <a:ext cx="4651375" cy="412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None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Specific planning of project implementation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3" name="明月设计5"/>
          <p:cNvSpPr txBox="1"/>
          <p:nvPr>
            <p:custDataLst>
              <p:tags r:id="rId2"/>
            </p:custDataLst>
          </p:nvPr>
        </p:nvSpPr>
        <p:spPr>
          <a:xfrm>
            <a:off x="-9525" y="2144395"/>
            <a:ext cx="6811010" cy="201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fontAlgn="auto"/>
            <a:r>
              <a:rPr lang="en-US" altLang="zh-CN" sz="6000" b="1" i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03.</a:t>
            </a:r>
            <a:endParaRPr lang="en-US" altLang="zh-CN" sz="6000" b="1" i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  <a:p>
            <a:pPr algn="l" fontAlgn="auto"/>
            <a:r>
              <a:rPr lang="zh-CN" altLang="en-US" sz="60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雅酷黑 75W" panose="020B0804020202020204" charset="-122"/>
              </a:rPr>
              <a:t>小红书执行规划</a:t>
            </a:r>
            <a:endParaRPr lang="zh-CN" altLang="en-US" sz="60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雅酷黑 75W" panose="020B0804020202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/>
          <p:cNvSpPr/>
          <p:nvPr>
            <p:custDataLst>
              <p:tags r:id="rId1"/>
            </p:custDataLst>
          </p:nvPr>
        </p:nvSpPr>
        <p:spPr bwMode="auto">
          <a:xfrm>
            <a:off x="762039" y="3589045"/>
            <a:ext cx="3478022" cy="693738"/>
          </a:xfrm>
          <a:custGeom>
            <a:avLst/>
            <a:gdLst>
              <a:gd name="T0" fmla="*/ 2475377 w 577"/>
              <a:gd name="T1" fmla="*/ 226883 h 159"/>
              <a:gd name="T2" fmla="*/ 1459950 w 577"/>
              <a:gd name="T3" fmla="*/ 226883 h 159"/>
              <a:gd name="T4" fmla="*/ 1359714 w 577"/>
              <a:gd name="T5" fmla="*/ 113441 h 159"/>
              <a:gd name="T6" fmla="*/ 1259479 w 577"/>
              <a:gd name="T7" fmla="*/ 0 h 159"/>
              <a:gd name="T8" fmla="*/ 1154886 w 577"/>
              <a:gd name="T9" fmla="*/ 113441 h 159"/>
              <a:gd name="T10" fmla="*/ 1054650 w 577"/>
              <a:gd name="T11" fmla="*/ 226883 h 159"/>
              <a:gd name="T12" fmla="*/ 39223 w 577"/>
              <a:gd name="T13" fmla="*/ 226883 h 159"/>
              <a:gd name="T14" fmla="*/ 0 w 577"/>
              <a:gd name="T15" fmla="*/ 266151 h 159"/>
              <a:gd name="T16" fmla="*/ 0 w 577"/>
              <a:gd name="T17" fmla="*/ 654469 h 159"/>
              <a:gd name="T18" fmla="*/ 39223 w 577"/>
              <a:gd name="T19" fmla="*/ 693737 h 159"/>
              <a:gd name="T20" fmla="*/ 2475377 w 577"/>
              <a:gd name="T21" fmla="*/ 693737 h 159"/>
              <a:gd name="T22" fmla="*/ 2514600 w 577"/>
              <a:gd name="T23" fmla="*/ 654469 h 159"/>
              <a:gd name="T24" fmla="*/ 2514600 w 577"/>
              <a:gd name="T25" fmla="*/ 266151 h 159"/>
              <a:gd name="T26" fmla="*/ 2475377 w 577"/>
              <a:gd name="T27" fmla="*/ 226883 h 1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77" h="159">
                <a:moveTo>
                  <a:pt x="568" y="52"/>
                </a:moveTo>
                <a:cubicBezTo>
                  <a:pt x="335" y="52"/>
                  <a:pt x="335" y="52"/>
                  <a:pt x="335" y="52"/>
                </a:cubicBezTo>
                <a:cubicBezTo>
                  <a:pt x="312" y="26"/>
                  <a:pt x="312" y="26"/>
                  <a:pt x="312" y="26"/>
                </a:cubicBezTo>
                <a:cubicBezTo>
                  <a:pt x="289" y="0"/>
                  <a:pt x="289" y="0"/>
                  <a:pt x="289" y="0"/>
                </a:cubicBezTo>
                <a:cubicBezTo>
                  <a:pt x="265" y="26"/>
                  <a:pt x="265" y="26"/>
                  <a:pt x="265" y="26"/>
                </a:cubicBezTo>
                <a:cubicBezTo>
                  <a:pt x="242" y="52"/>
                  <a:pt x="242" y="52"/>
                  <a:pt x="242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4" y="52"/>
                  <a:pt x="0" y="56"/>
                  <a:pt x="0" y="61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59"/>
                  <a:pt x="9" y="159"/>
                </a:cubicBezTo>
                <a:cubicBezTo>
                  <a:pt x="568" y="159"/>
                  <a:pt x="568" y="159"/>
                  <a:pt x="568" y="159"/>
                </a:cubicBezTo>
                <a:cubicBezTo>
                  <a:pt x="573" y="159"/>
                  <a:pt x="577" y="155"/>
                  <a:pt x="577" y="150"/>
                </a:cubicBezTo>
                <a:cubicBezTo>
                  <a:pt x="577" y="61"/>
                  <a:pt x="577" y="61"/>
                  <a:pt x="577" y="61"/>
                </a:cubicBezTo>
                <a:cubicBezTo>
                  <a:pt x="577" y="56"/>
                  <a:pt x="573" y="52"/>
                  <a:pt x="568" y="52"/>
                </a:cubicBez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wrap="square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Box 9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77645" y="3863975"/>
            <a:ext cx="2045970" cy="43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ru-RU"/>
            </a:defPPr>
            <a:lvl1pPr marL="0" marR="0" lvl="0" indent="0" algn="ctr" defTabSz="914400" latinLnBrk="0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sz="2000" b="0" i="0" u="none" strike="noStrike" cap="none" spc="200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点击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有效曝光</a:t>
            </a:r>
            <a:endParaRPr lang="zh-CN" altLang="en-US" sz="1600" b="1" spc="300" dirty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Freeform 8"/>
          <p:cNvSpPr/>
          <p:nvPr>
            <p:custDataLst>
              <p:tags r:id="rId3"/>
            </p:custDataLst>
          </p:nvPr>
        </p:nvSpPr>
        <p:spPr bwMode="auto">
          <a:xfrm>
            <a:off x="4352823" y="3588827"/>
            <a:ext cx="3478022" cy="693738"/>
          </a:xfrm>
          <a:custGeom>
            <a:avLst/>
            <a:gdLst>
              <a:gd name="T0" fmla="*/ 2475377 w 577"/>
              <a:gd name="T1" fmla="*/ 226883 h 159"/>
              <a:gd name="T2" fmla="*/ 1459950 w 577"/>
              <a:gd name="T3" fmla="*/ 226883 h 159"/>
              <a:gd name="T4" fmla="*/ 1359714 w 577"/>
              <a:gd name="T5" fmla="*/ 113441 h 159"/>
              <a:gd name="T6" fmla="*/ 1259479 w 577"/>
              <a:gd name="T7" fmla="*/ 0 h 159"/>
              <a:gd name="T8" fmla="*/ 1154886 w 577"/>
              <a:gd name="T9" fmla="*/ 113441 h 159"/>
              <a:gd name="T10" fmla="*/ 1054650 w 577"/>
              <a:gd name="T11" fmla="*/ 226883 h 159"/>
              <a:gd name="T12" fmla="*/ 39223 w 577"/>
              <a:gd name="T13" fmla="*/ 226883 h 159"/>
              <a:gd name="T14" fmla="*/ 0 w 577"/>
              <a:gd name="T15" fmla="*/ 266151 h 159"/>
              <a:gd name="T16" fmla="*/ 0 w 577"/>
              <a:gd name="T17" fmla="*/ 654469 h 159"/>
              <a:gd name="T18" fmla="*/ 39223 w 577"/>
              <a:gd name="T19" fmla="*/ 693737 h 159"/>
              <a:gd name="T20" fmla="*/ 2475377 w 577"/>
              <a:gd name="T21" fmla="*/ 693737 h 159"/>
              <a:gd name="T22" fmla="*/ 2514600 w 577"/>
              <a:gd name="T23" fmla="*/ 654469 h 159"/>
              <a:gd name="T24" fmla="*/ 2514600 w 577"/>
              <a:gd name="T25" fmla="*/ 266151 h 159"/>
              <a:gd name="T26" fmla="*/ 2475377 w 577"/>
              <a:gd name="T27" fmla="*/ 226883 h 1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77" h="159">
                <a:moveTo>
                  <a:pt x="568" y="52"/>
                </a:moveTo>
                <a:cubicBezTo>
                  <a:pt x="335" y="52"/>
                  <a:pt x="335" y="52"/>
                  <a:pt x="335" y="52"/>
                </a:cubicBezTo>
                <a:cubicBezTo>
                  <a:pt x="312" y="26"/>
                  <a:pt x="312" y="26"/>
                  <a:pt x="312" y="26"/>
                </a:cubicBezTo>
                <a:cubicBezTo>
                  <a:pt x="289" y="0"/>
                  <a:pt x="289" y="0"/>
                  <a:pt x="289" y="0"/>
                </a:cubicBezTo>
                <a:cubicBezTo>
                  <a:pt x="265" y="26"/>
                  <a:pt x="265" y="26"/>
                  <a:pt x="265" y="26"/>
                </a:cubicBezTo>
                <a:cubicBezTo>
                  <a:pt x="242" y="52"/>
                  <a:pt x="242" y="52"/>
                  <a:pt x="242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4" y="52"/>
                  <a:pt x="0" y="56"/>
                  <a:pt x="0" y="61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59"/>
                  <a:pt x="9" y="159"/>
                </a:cubicBezTo>
                <a:cubicBezTo>
                  <a:pt x="568" y="159"/>
                  <a:pt x="568" y="159"/>
                  <a:pt x="568" y="159"/>
                </a:cubicBezTo>
                <a:cubicBezTo>
                  <a:pt x="573" y="159"/>
                  <a:pt x="577" y="155"/>
                  <a:pt x="577" y="150"/>
                </a:cubicBezTo>
                <a:cubicBezTo>
                  <a:pt x="577" y="61"/>
                  <a:pt x="577" y="61"/>
                  <a:pt x="577" y="61"/>
                </a:cubicBezTo>
                <a:cubicBezTo>
                  <a:pt x="577" y="56"/>
                  <a:pt x="573" y="52"/>
                  <a:pt x="568" y="52"/>
                </a:cubicBez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wrap="square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Freeform 8"/>
          <p:cNvSpPr/>
          <p:nvPr>
            <p:custDataLst>
              <p:tags r:id="rId4"/>
            </p:custDataLst>
          </p:nvPr>
        </p:nvSpPr>
        <p:spPr bwMode="auto">
          <a:xfrm>
            <a:off x="7952498" y="3589045"/>
            <a:ext cx="3478022" cy="693738"/>
          </a:xfrm>
          <a:custGeom>
            <a:avLst/>
            <a:gdLst>
              <a:gd name="T0" fmla="*/ 2475377 w 577"/>
              <a:gd name="T1" fmla="*/ 226883 h 159"/>
              <a:gd name="T2" fmla="*/ 1459950 w 577"/>
              <a:gd name="T3" fmla="*/ 226883 h 159"/>
              <a:gd name="T4" fmla="*/ 1359714 w 577"/>
              <a:gd name="T5" fmla="*/ 113441 h 159"/>
              <a:gd name="T6" fmla="*/ 1259479 w 577"/>
              <a:gd name="T7" fmla="*/ 0 h 159"/>
              <a:gd name="T8" fmla="*/ 1154886 w 577"/>
              <a:gd name="T9" fmla="*/ 113441 h 159"/>
              <a:gd name="T10" fmla="*/ 1054650 w 577"/>
              <a:gd name="T11" fmla="*/ 226883 h 159"/>
              <a:gd name="T12" fmla="*/ 39223 w 577"/>
              <a:gd name="T13" fmla="*/ 226883 h 159"/>
              <a:gd name="T14" fmla="*/ 0 w 577"/>
              <a:gd name="T15" fmla="*/ 266151 h 159"/>
              <a:gd name="T16" fmla="*/ 0 w 577"/>
              <a:gd name="T17" fmla="*/ 654469 h 159"/>
              <a:gd name="T18" fmla="*/ 39223 w 577"/>
              <a:gd name="T19" fmla="*/ 693737 h 159"/>
              <a:gd name="T20" fmla="*/ 2475377 w 577"/>
              <a:gd name="T21" fmla="*/ 693737 h 159"/>
              <a:gd name="T22" fmla="*/ 2514600 w 577"/>
              <a:gd name="T23" fmla="*/ 654469 h 159"/>
              <a:gd name="T24" fmla="*/ 2514600 w 577"/>
              <a:gd name="T25" fmla="*/ 266151 h 159"/>
              <a:gd name="T26" fmla="*/ 2475377 w 577"/>
              <a:gd name="T27" fmla="*/ 226883 h 1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77" h="159">
                <a:moveTo>
                  <a:pt x="568" y="52"/>
                </a:moveTo>
                <a:cubicBezTo>
                  <a:pt x="335" y="52"/>
                  <a:pt x="335" y="52"/>
                  <a:pt x="335" y="52"/>
                </a:cubicBezTo>
                <a:cubicBezTo>
                  <a:pt x="312" y="26"/>
                  <a:pt x="312" y="26"/>
                  <a:pt x="312" y="26"/>
                </a:cubicBezTo>
                <a:cubicBezTo>
                  <a:pt x="289" y="0"/>
                  <a:pt x="289" y="0"/>
                  <a:pt x="289" y="0"/>
                </a:cubicBezTo>
                <a:cubicBezTo>
                  <a:pt x="265" y="26"/>
                  <a:pt x="265" y="26"/>
                  <a:pt x="265" y="26"/>
                </a:cubicBezTo>
                <a:cubicBezTo>
                  <a:pt x="242" y="52"/>
                  <a:pt x="242" y="52"/>
                  <a:pt x="242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4" y="52"/>
                  <a:pt x="0" y="56"/>
                  <a:pt x="0" y="61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59"/>
                  <a:pt x="9" y="159"/>
                </a:cubicBezTo>
                <a:cubicBezTo>
                  <a:pt x="568" y="159"/>
                  <a:pt x="568" y="159"/>
                  <a:pt x="568" y="159"/>
                </a:cubicBezTo>
                <a:cubicBezTo>
                  <a:pt x="573" y="159"/>
                  <a:pt x="577" y="155"/>
                  <a:pt x="577" y="150"/>
                </a:cubicBezTo>
                <a:cubicBezTo>
                  <a:pt x="577" y="61"/>
                  <a:pt x="577" y="61"/>
                  <a:pt x="577" y="61"/>
                </a:cubicBezTo>
                <a:cubicBezTo>
                  <a:pt x="577" y="56"/>
                  <a:pt x="573" y="52"/>
                  <a:pt x="568" y="52"/>
                </a:cubicBez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wrap="square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TextBox 9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768080" y="3863975"/>
            <a:ext cx="1845945" cy="43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ru-RU"/>
            </a:defPPr>
            <a:lvl1pPr marL="0" marR="0" lvl="0" indent="0" algn="ctr" defTabSz="914400" latinLnBrk="0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sz="2000" b="0" i="0" u="none" strike="noStrike" cap="none" spc="200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评论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搜索指引</a:t>
            </a:r>
            <a:endParaRPr lang="zh-CN" altLang="en-US" sz="1500" b="1" spc="300" dirty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20950" y="1378585"/>
            <a:ext cx="7232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600" dirty="0">
                <a:latin typeface="微软雅黑" panose="020B0503020204020204" charset="-122"/>
                <a:ea typeface="微软雅黑" panose="020B0503020204020204" charset="-122"/>
              </a:rPr>
              <a:t>以搜索指数为导向，投放过程中的</a:t>
            </a:r>
            <a:r>
              <a:rPr lang="en-US" altLang="zh-CN" sz="2000" b="1" spc="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 spc="600" dirty="0">
                <a:latin typeface="微软雅黑" panose="020B0503020204020204" charset="-122"/>
                <a:ea typeface="微软雅黑" panose="020B0503020204020204" charset="-122"/>
              </a:rPr>
              <a:t>个关键指标</a:t>
            </a:r>
            <a:endParaRPr lang="zh-CN" altLang="en-US" sz="2000" b="1" spc="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483225" y="2397125"/>
            <a:ext cx="7207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cpe</a:t>
            </a:r>
            <a:endParaRPr lang="en-US" altLang="zh-CN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9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933950" y="3863975"/>
            <a:ext cx="2324735" cy="43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ru-RU"/>
            </a:defPPr>
            <a:lvl1pPr marL="0" marR="0" lvl="0" indent="0" algn="ctr" defTabSz="914400" latinLnBrk="0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sz="2000" b="0" i="0" u="none" strike="noStrike" cap="none" spc="200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互动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维持热度</a:t>
            </a:r>
            <a:endParaRPr lang="zh-CN" altLang="en-US" sz="1600" b="1" spc="300" dirty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541702" y="4852965"/>
            <a:ext cx="233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封面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标题优化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845953" y="4853600"/>
            <a:ext cx="249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内容方向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关键词更新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03803" y="4853600"/>
            <a:ext cx="277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评论区维护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聚焦品牌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左大括号 34"/>
          <p:cNvSpPr/>
          <p:nvPr/>
        </p:nvSpPr>
        <p:spPr>
          <a:xfrm rot="16200000">
            <a:off x="4006850" y="3769995"/>
            <a:ext cx="292100" cy="3434080"/>
          </a:xfrm>
          <a:prstGeom prst="leftBrace">
            <a:avLst>
              <a:gd name="adj1" fmla="val 0"/>
              <a:gd name="adj2" fmla="val 50000"/>
            </a:avLst>
          </a:prstGeom>
          <a:ln w="28575" cmpd="sng">
            <a:solidFill>
              <a:srgbClr val="6F413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55287" y="5793097"/>
            <a:ext cx="2744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信息流投放数据指导调整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左大括号 36"/>
          <p:cNvSpPr/>
          <p:nvPr/>
        </p:nvSpPr>
        <p:spPr>
          <a:xfrm rot="16200000">
            <a:off x="8132445" y="4144010"/>
            <a:ext cx="292100" cy="2684780"/>
          </a:xfrm>
          <a:prstGeom prst="leftBrace">
            <a:avLst/>
          </a:prstGeom>
          <a:ln w="28575" cmpd="sng">
            <a:solidFill>
              <a:srgbClr val="6F413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53654" y="5793732"/>
            <a:ext cx="2744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搜索指数正相关影响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2434612" y="4449868"/>
            <a:ext cx="0" cy="2849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6082687" y="4450503"/>
            <a:ext cx="0" cy="2849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9730762" y="4435263"/>
            <a:ext cx="0" cy="2849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2182495" y="2219960"/>
            <a:ext cx="1593850" cy="1134745"/>
          </a:xfrm>
          <a:custGeom>
            <a:avLst/>
            <a:gdLst>
              <a:gd name="connsiteX0" fmla="*/ 1 w 2647951"/>
              <a:gd name="connsiteY0" fmla="*/ 0 h 1743075"/>
              <a:gd name="connsiteX1" fmla="*/ 2647951 w 2647951"/>
              <a:gd name="connsiteY1" fmla="*/ 0 h 1743075"/>
              <a:gd name="connsiteX2" fmla="*/ 2647951 w 2647951"/>
              <a:gd name="connsiteY2" fmla="*/ 1266825 h 1743075"/>
              <a:gd name="connsiteX3" fmla="*/ 297057 w 2647951"/>
              <a:gd name="connsiteY3" fmla="*/ 1266825 h 1743075"/>
              <a:gd name="connsiteX4" fmla="*/ 233437 w 2647951"/>
              <a:gd name="connsiteY4" fmla="*/ 1329240 h 1743075"/>
              <a:gd name="connsiteX5" fmla="*/ 0 w 2647951"/>
              <a:gd name="connsiteY5" fmla="*/ 1743075 h 1743075"/>
              <a:gd name="connsiteX6" fmla="*/ 0 w 2647951"/>
              <a:gd name="connsiteY6" fmla="*/ 1114425 h 1743075"/>
              <a:gd name="connsiteX7" fmla="*/ 1 w 2647951"/>
              <a:gd name="connsiteY7" fmla="*/ 1114425 h 1743075"/>
              <a:gd name="connsiteX0-1" fmla="*/ 1 w 2647951"/>
              <a:gd name="connsiteY0-2" fmla="*/ 0 h 1743075"/>
              <a:gd name="connsiteX1-3" fmla="*/ 2647951 w 2647951"/>
              <a:gd name="connsiteY1-4" fmla="*/ 0 h 1743075"/>
              <a:gd name="connsiteX2-5" fmla="*/ 2647951 w 2647951"/>
              <a:gd name="connsiteY2-6" fmla="*/ 1266825 h 1743075"/>
              <a:gd name="connsiteX3-7" fmla="*/ 297057 w 2647951"/>
              <a:gd name="connsiteY3-8" fmla="*/ 1266825 h 1743075"/>
              <a:gd name="connsiteX4-9" fmla="*/ 233437 w 2647951"/>
              <a:gd name="connsiteY4-10" fmla="*/ 1329240 h 1743075"/>
              <a:gd name="connsiteX5-11" fmla="*/ 0 w 2647951"/>
              <a:gd name="connsiteY5-12" fmla="*/ 1743075 h 1743075"/>
              <a:gd name="connsiteX6-13" fmla="*/ 0 w 2647951"/>
              <a:gd name="connsiteY6-14" fmla="*/ 1114425 h 1743075"/>
              <a:gd name="connsiteX7-15" fmla="*/ 1 w 2647951"/>
              <a:gd name="connsiteY7-16" fmla="*/ 1114425 h 1743075"/>
              <a:gd name="connsiteX8" fmla="*/ 1 w 2647951"/>
              <a:gd name="connsiteY8" fmla="*/ 0 h 1743075"/>
              <a:gd name="connsiteX0-17" fmla="*/ 1 w 2647951"/>
              <a:gd name="connsiteY0-18" fmla="*/ 0 h 1743075"/>
              <a:gd name="connsiteX1-19" fmla="*/ 2647951 w 2647951"/>
              <a:gd name="connsiteY1-20" fmla="*/ 0 h 1743075"/>
              <a:gd name="connsiteX2-21" fmla="*/ 2647951 w 2647951"/>
              <a:gd name="connsiteY2-22" fmla="*/ 1266825 h 1743075"/>
              <a:gd name="connsiteX3-23" fmla="*/ 516132 w 2647951"/>
              <a:gd name="connsiteY3-24" fmla="*/ 1323975 h 1743075"/>
              <a:gd name="connsiteX4-25" fmla="*/ 233437 w 2647951"/>
              <a:gd name="connsiteY4-26" fmla="*/ 1329240 h 1743075"/>
              <a:gd name="connsiteX5-27" fmla="*/ 0 w 2647951"/>
              <a:gd name="connsiteY5-28" fmla="*/ 1743075 h 1743075"/>
              <a:gd name="connsiteX6-29" fmla="*/ 0 w 2647951"/>
              <a:gd name="connsiteY6-30" fmla="*/ 1114425 h 1743075"/>
              <a:gd name="connsiteX7-31" fmla="*/ 1 w 2647951"/>
              <a:gd name="connsiteY7-32" fmla="*/ 1114425 h 1743075"/>
              <a:gd name="connsiteX8-33" fmla="*/ 1 w 2647951"/>
              <a:gd name="connsiteY8-34" fmla="*/ 0 h 1743075"/>
              <a:gd name="connsiteX0-35" fmla="*/ 1 w 2647951"/>
              <a:gd name="connsiteY0-36" fmla="*/ 0 h 1743075"/>
              <a:gd name="connsiteX1-37" fmla="*/ 2647951 w 2647951"/>
              <a:gd name="connsiteY1-38" fmla="*/ 0 h 1743075"/>
              <a:gd name="connsiteX2-39" fmla="*/ 2647951 w 2647951"/>
              <a:gd name="connsiteY2-40" fmla="*/ 1266825 h 1743075"/>
              <a:gd name="connsiteX3-41" fmla="*/ 516132 w 2647951"/>
              <a:gd name="connsiteY3-42" fmla="*/ 1323975 h 1743075"/>
              <a:gd name="connsiteX4-43" fmla="*/ 233437 w 2647951"/>
              <a:gd name="connsiteY4-44" fmla="*/ 1329240 h 1743075"/>
              <a:gd name="connsiteX5-45" fmla="*/ 0 w 2647951"/>
              <a:gd name="connsiteY5-46" fmla="*/ 1743075 h 1743075"/>
              <a:gd name="connsiteX6-47" fmla="*/ 0 w 2647951"/>
              <a:gd name="connsiteY6-48" fmla="*/ 1114425 h 1743075"/>
              <a:gd name="connsiteX7-49" fmla="*/ 1 w 2647951"/>
              <a:gd name="connsiteY7-50" fmla="*/ 1114425 h 1743075"/>
              <a:gd name="connsiteX8-51" fmla="*/ 1 w 2647951"/>
              <a:gd name="connsiteY8-52" fmla="*/ 0 h 1743075"/>
              <a:gd name="connsiteX0-53" fmla="*/ 1 w 2647951"/>
              <a:gd name="connsiteY0-54" fmla="*/ 0 h 1745366"/>
              <a:gd name="connsiteX1-55" fmla="*/ 2647951 w 2647951"/>
              <a:gd name="connsiteY1-56" fmla="*/ 0 h 1745366"/>
              <a:gd name="connsiteX2-57" fmla="*/ 2647951 w 2647951"/>
              <a:gd name="connsiteY2-58" fmla="*/ 1266825 h 1745366"/>
              <a:gd name="connsiteX3-59" fmla="*/ 516132 w 2647951"/>
              <a:gd name="connsiteY3-60" fmla="*/ 1323975 h 1745366"/>
              <a:gd name="connsiteX4-61" fmla="*/ 0 w 2647951"/>
              <a:gd name="connsiteY4-62" fmla="*/ 1743075 h 1745366"/>
              <a:gd name="connsiteX5-63" fmla="*/ 0 w 2647951"/>
              <a:gd name="connsiteY5-64" fmla="*/ 1114425 h 1745366"/>
              <a:gd name="connsiteX6-65" fmla="*/ 1 w 2647951"/>
              <a:gd name="connsiteY6-66" fmla="*/ 1114425 h 1745366"/>
              <a:gd name="connsiteX7-67" fmla="*/ 1 w 2647951"/>
              <a:gd name="connsiteY7-68" fmla="*/ 0 h 1745366"/>
              <a:gd name="connsiteX0-69" fmla="*/ 1 w 2647951"/>
              <a:gd name="connsiteY0-70" fmla="*/ 0 h 1745305"/>
              <a:gd name="connsiteX1-71" fmla="*/ 2647951 w 2647951"/>
              <a:gd name="connsiteY1-72" fmla="*/ 0 h 1745305"/>
              <a:gd name="connsiteX2-73" fmla="*/ 2638426 w 2647951"/>
              <a:gd name="connsiteY2-74" fmla="*/ 1333500 h 1745305"/>
              <a:gd name="connsiteX3-75" fmla="*/ 516132 w 2647951"/>
              <a:gd name="connsiteY3-76" fmla="*/ 1323975 h 1745305"/>
              <a:gd name="connsiteX4-77" fmla="*/ 0 w 2647951"/>
              <a:gd name="connsiteY4-78" fmla="*/ 1743075 h 1745305"/>
              <a:gd name="connsiteX5-79" fmla="*/ 0 w 2647951"/>
              <a:gd name="connsiteY5-80" fmla="*/ 1114425 h 1745305"/>
              <a:gd name="connsiteX6-81" fmla="*/ 1 w 2647951"/>
              <a:gd name="connsiteY6-82" fmla="*/ 1114425 h 1745305"/>
              <a:gd name="connsiteX7-83" fmla="*/ 1 w 2647951"/>
              <a:gd name="connsiteY7-84" fmla="*/ 0 h 1745305"/>
            </a:gdLst>
            <a:ahLst/>
            <a:cxnLst>
              <a:cxn ang="0">
                <a:pos x="connsiteX0-69" y="connsiteY0-70"/>
              </a:cxn>
              <a:cxn ang="0">
                <a:pos x="connsiteX1-71" y="connsiteY1-72"/>
              </a:cxn>
              <a:cxn ang="0">
                <a:pos x="connsiteX2-73" y="connsiteY2-74"/>
              </a:cxn>
              <a:cxn ang="0">
                <a:pos x="connsiteX3-75" y="connsiteY3-76"/>
              </a:cxn>
              <a:cxn ang="0">
                <a:pos x="connsiteX4-77" y="connsiteY4-78"/>
              </a:cxn>
              <a:cxn ang="0">
                <a:pos x="connsiteX5-79" y="connsiteY5-80"/>
              </a:cxn>
              <a:cxn ang="0">
                <a:pos x="connsiteX6-81" y="connsiteY6-82"/>
              </a:cxn>
              <a:cxn ang="0">
                <a:pos x="connsiteX7-83" y="connsiteY7-84"/>
              </a:cxn>
            </a:cxnLst>
            <a:rect l="l" t="t" r="r" b="b"/>
            <a:pathLst>
              <a:path w="2647951" h="1745305">
                <a:moveTo>
                  <a:pt x="1" y="0"/>
                </a:moveTo>
                <a:lnTo>
                  <a:pt x="2647951" y="0"/>
                </a:lnTo>
                <a:lnTo>
                  <a:pt x="2638426" y="1333500"/>
                </a:lnTo>
                <a:cubicBezTo>
                  <a:pt x="2246610" y="1544638"/>
                  <a:pt x="955870" y="1255713"/>
                  <a:pt x="516132" y="1323975"/>
                </a:cubicBezTo>
                <a:cubicBezTo>
                  <a:pt x="76394" y="1392237"/>
                  <a:pt x="86022" y="1778000"/>
                  <a:pt x="0" y="1743075"/>
                </a:cubicBezTo>
                <a:lnTo>
                  <a:pt x="0" y="1114425"/>
                </a:lnTo>
                <a:lnTo>
                  <a:pt x="1" y="1114425"/>
                </a:lnTo>
                <a:lnTo>
                  <a:pt x="1" y="0"/>
                </a:lnTo>
                <a:close/>
              </a:path>
            </a:pathLst>
          </a:custGeom>
          <a:solidFill>
            <a:srgbClr val="52623F"/>
          </a:solidFill>
          <a:ln>
            <a:noFill/>
          </a:ln>
        </p:spPr>
        <p:style>
          <a:lnRef idx="2">
            <a:srgbClr val="70CFE2">
              <a:shade val="50000"/>
            </a:srgbClr>
          </a:lnRef>
          <a:fillRef idx="1">
            <a:srgbClr val="70CFE2"/>
          </a:fillRef>
          <a:effectRef idx="0">
            <a:srgbClr val="70CFE2"/>
          </a:effectRef>
          <a:fontRef idx="minor">
            <a:srgbClr val="FFFFFF"/>
          </a:fontRef>
        </p:style>
        <p:txBody>
          <a:bodyPr bIns="504000" rtlCol="0" anchor="ctr">
            <a:normAutofit/>
          </a:bodyPr>
          <a:lstStyle/>
          <a:p>
            <a:pPr algn="ctr" fontAlgn="auto">
              <a:lnSpc>
                <a:spcPct val="120000"/>
              </a:lnSpc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4602374" y="4240229"/>
            <a:ext cx="406192" cy="315205"/>
          </a:xfrm>
          <a:prstGeom prst="rect">
            <a:avLst/>
          </a:prstGeom>
          <a:noFill/>
        </p:spPr>
        <p:txBody>
          <a:bodyPr wrap="square" rtlCol="0" anchor="ctr">
            <a:normAutofit fontScale="77500" lnSpcReduction="20000"/>
          </a:bodyPr>
          <a:lstStyle/>
          <a:p>
            <a:pPr algn="ctr" fontAlgn="auto"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2079402" y="2211282"/>
            <a:ext cx="1800244" cy="7869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 fontAlgn="auto">
              <a:lnSpc>
                <a:spcPct val="120000"/>
              </a:lnSpc>
            </a:pPr>
            <a:r>
              <a:rPr lang="en-US" altLang="zh-CN" sz="3200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ctr</a:t>
            </a:r>
            <a:endParaRPr lang="en-US" altLang="zh-CN" sz="3200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10289065" y="4240229"/>
            <a:ext cx="406192" cy="315205"/>
          </a:xfrm>
          <a:prstGeom prst="rect">
            <a:avLst/>
          </a:prstGeom>
          <a:noFill/>
        </p:spPr>
        <p:txBody>
          <a:bodyPr wrap="square" rtlCol="0" anchor="ctr">
            <a:normAutofit fontScale="77500" lnSpcReduction="20000"/>
          </a:bodyPr>
          <a:lstStyle/>
          <a:p>
            <a:pPr algn="ctr" fontAlgn="auto">
              <a:lnSpc>
                <a:spcPct val="120000"/>
              </a:lnSpc>
            </a:pP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5" name="任意多边形 44"/>
          <p:cNvSpPr/>
          <p:nvPr>
            <p:custDataLst>
              <p:tags r:id="rId11"/>
            </p:custDataLst>
          </p:nvPr>
        </p:nvSpPr>
        <p:spPr>
          <a:xfrm>
            <a:off x="5765800" y="2213610"/>
            <a:ext cx="1593850" cy="1134745"/>
          </a:xfrm>
          <a:custGeom>
            <a:avLst/>
            <a:gdLst>
              <a:gd name="connsiteX0" fmla="*/ 1 w 2647951"/>
              <a:gd name="connsiteY0" fmla="*/ 0 h 1743075"/>
              <a:gd name="connsiteX1" fmla="*/ 2647951 w 2647951"/>
              <a:gd name="connsiteY1" fmla="*/ 0 h 1743075"/>
              <a:gd name="connsiteX2" fmla="*/ 2647951 w 2647951"/>
              <a:gd name="connsiteY2" fmla="*/ 1266825 h 1743075"/>
              <a:gd name="connsiteX3" fmla="*/ 297057 w 2647951"/>
              <a:gd name="connsiteY3" fmla="*/ 1266825 h 1743075"/>
              <a:gd name="connsiteX4" fmla="*/ 233437 w 2647951"/>
              <a:gd name="connsiteY4" fmla="*/ 1329240 h 1743075"/>
              <a:gd name="connsiteX5" fmla="*/ 0 w 2647951"/>
              <a:gd name="connsiteY5" fmla="*/ 1743075 h 1743075"/>
              <a:gd name="connsiteX6" fmla="*/ 0 w 2647951"/>
              <a:gd name="connsiteY6" fmla="*/ 1114425 h 1743075"/>
              <a:gd name="connsiteX7" fmla="*/ 1 w 2647951"/>
              <a:gd name="connsiteY7" fmla="*/ 1114425 h 1743075"/>
              <a:gd name="connsiteX0-1" fmla="*/ 1 w 2647951"/>
              <a:gd name="connsiteY0-2" fmla="*/ 0 h 1743075"/>
              <a:gd name="connsiteX1-3" fmla="*/ 2647951 w 2647951"/>
              <a:gd name="connsiteY1-4" fmla="*/ 0 h 1743075"/>
              <a:gd name="connsiteX2-5" fmla="*/ 2647951 w 2647951"/>
              <a:gd name="connsiteY2-6" fmla="*/ 1266825 h 1743075"/>
              <a:gd name="connsiteX3-7" fmla="*/ 297057 w 2647951"/>
              <a:gd name="connsiteY3-8" fmla="*/ 1266825 h 1743075"/>
              <a:gd name="connsiteX4-9" fmla="*/ 233437 w 2647951"/>
              <a:gd name="connsiteY4-10" fmla="*/ 1329240 h 1743075"/>
              <a:gd name="connsiteX5-11" fmla="*/ 0 w 2647951"/>
              <a:gd name="connsiteY5-12" fmla="*/ 1743075 h 1743075"/>
              <a:gd name="connsiteX6-13" fmla="*/ 0 w 2647951"/>
              <a:gd name="connsiteY6-14" fmla="*/ 1114425 h 1743075"/>
              <a:gd name="connsiteX7-15" fmla="*/ 1 w 2647951"/>
              <a:gd name="connsiteY7-16" fmla="*/ 1114425 h 1743075"/>
              <a:gd name="connsiteX8" fmla="*/ 1 w 2647951"/>
              <a:gd name="connsiteY8" fmla="*/ 0 h 1743075"/>
              <a:gd name="connsiteX0-17" fmla="*/ 1 w 2647951"/>
              <a:gd name="connsiteY0-18" fmla="*/ 0 h 1743075"/>
              <a:gd name="connsiteX1-19" fmla="*/ 2647951 w 2647951"/>
              <a:gd name="connsiteY1-20" fmla="*/ 0 h 1743075"/>
              <a:gd name="connsiteX2-21" fmla="*/ 2647951 w 2647951"/>
              <a:gd name="connsiteY2-22" fmla="*/ 1266825 h 1743075"/>
              <a:gd name="connsiteX3-23" fmla="*/ 516132 w 2647951"/>
              <a:gd name="connsiteY3-24" fmla="*/ 1323975 h 1743075"/>
              <a:gd name="connsiteX4-25" fmla="*/ 233437 w 2647951"/>
              <a:gd name="connsiteY4-26" fmla="*/ 1329240 h 1743075"/>
              <a:gd name="connsiteX5-27" fmla="*/ 0 w 2647951"/>
              <a:gd name="connsiteY5-28" fmla="*/ 1743075 h 1743075"/>
              <a:gd name="connsiteX6-29" fmla="*/ 0 w 2647951"/>
              <a:gd name="connsiteY6-30" fmla="*/ 1114425 h 1743075"/>
              <a:gd name="connsiteX7-31" fmla="*/ 1 w 2647951"/>
              <a:gd name="connsiteY7-32" fmla="*/ 1114425 h 1743075"/>
              <a:gd name="connsiteX8-33" fmla="*/ 1 w 2647951"/>
              <a:gd name="connsiteY8-34" fmla="*/ 0 h 1743075"/>
              <a:gd name="connsiteX0-35" fmla="*/ 1 w 2647951"/>
              <a:gd name="connsiteY0-36" fmla="*/ 0 h 1743075"/>
              <a:gd name="connsiteX1-37" fmla="*/ 2647951 w 2647951"/>
              <a:gd name="connsiteY1-38" fmla="*/ 0 h 1743075"/>
              <a:gd name="connsiteX2-39" fmla="*/ 2647951 w 2647951"/>
              <a:gd name="connsiteY2-40" fmla="*/ 1266825 h 1743075"/>
              <a:gd name="connsiteX3-41" fmla="*/ 516132 w 2647951"/>
              <a:gd name="connsiteY3-42" fmla="*/ 1323975 h 1743075"/>
              <a:gd name="connsiteX4-43" fmla="*/ 233437 w 2647951"/>
              <a:gd name="connsiteY4-44" fmla="*/ 1329240 h 1743075"/>
              <a:gd name="connsiteX5-45" fmla="*/ 0 w 2647951"/>
              <a:gd name="connsiteY5-46" fmla="*/ 1743075 h 1743075"/>
              <a:gd name="connsiteX6-47" fmla="*/ 0 w 2647951"/>
              <a:gd name="connsiteY6-48" fmla="*/ 1114425 h 1743075"/>
              <a:gd name="connsiteX7-49" fmla="*/ 1 w 2647951"/>
              <a:gd name="connsiteY7-50" fmla="*/ 1114425 h 1743075"/>
              <a:gd name="connsiteX8-51" fmla="*/ 1 w 2647951"/>
              <a:gd name="connsiteY8-52" fmla="*/ 0 h 1743075"/>
              <a:gd name="connsiteX0-53" fmla="*/ 1 w 2647951"/>
              <a:gd name="connsiteY0-54" fmla="*/ 0 h 1745366"/>
              <a:gd name="connsiteX1-55" fmla="*/ 2647951 w 2647951"/>
              <a:gd name="connsiteY1-56" fmla="*/ 0 h 1745366"/>
              <a:gd name="connsiteX2-57" fmla="*/ 2647951 w 2647951"/>
              <a:gd name="connsiteY2-58" fmla="*/ 1266825 h 1745366"/>
              <a:gd name="connsiteX3-59" fmla="*/ 516132 w 2647951"/>
              <a:gd name="connsiteY3-60" fmla="*/ 1323975 h 1745366"/>
              <a:gd name="connsiteX4-61" fmla="*/ 0 w 2647951"/>
              <a:gd name="connsiteY4-62" fmla="*/ 1743075 h 1745366"/>
              <a:gd name="connsiteX5-63" fmla="*/ 0 w 2647951"/>
              <a:gd name="connsiteY5-64" fmla="*/ 1114425 h 1745366"/>
              <a:gd name="connsiteX6-65" fmla="*/ 1 w 2647951"/>
              <a:gd name="connsiteY6-66" fmla="*/ 1114425 h 1745366"/>
              <a:gd name="connsiteX7-67" fmla="*/ 1 w 2647951"/>
              <a:gd name="connsiteY7-68" fmla="*/ 0 h 1745366"/>
              <a:gd name="connsiteX0-69" fmla="*/ 1 w 2647951"/>
              <a:gd name="connsiteY0-70" fmla="*/ 0 h 1745305"/>
              <a:gd name="connsiteX1-71" fmla="*/ 2647951 w 2647951"/>
              <a:gd name="connsiteY1-72" fmla="*/ 0 h 1745305"/>
              <a:gd name="connsiteX2-73" fmla="*/ 2638426 w 2647951"/>
              <a:gd name="connsiteY2-74" fmla="*/ 1333500 h 1745305"/>
              <a:gd name="connsiteX3-75" fmla="*/ 516132 w 2647951"/>
              <a:gd name="connsiteY3-76" fmla="*/ 1323975 h 1745305"/>
              <a:gd name="connsiteX4-77" fmla="*/ 0 w 2647951"/>
              <a:gd name="connsiteY4-78" fmla="*/ 1743075 h 1745305"/>
              <a:gd name="connsiteX5-79" fmla="*/ 0 w 2647951"/>
              <a:gd name="connsiteY5-80" fmla="*/ 1114425 h 1745305"/>
              <a:gd name="connsiteX6-81" fmla="*/ 1 w 2647951"/>
              <a:gd name="connsiteY6-82" fmla="*/ 1114425 h 1745305"/>
              <a:gd name="connsiteX7-83" fmla="*/ 1 w 2647951"/>
              <a:gd name="connsiteY7-84" fmla="*/ 0 h 1745305"/>
            </a:gdLst>
            <a:ahLst/>
            <a:cxnLst>
              <a:cxn ang="0">
                <a:pos x="connsiteX0-69" y="connsiteY0-70"/>
              </a:cxn>
              <a:cxn ang="0">
                <a:pos x="connsiteX1-71" y="connsiteY1-72"/>
              </a:cxn>
              <a:cxn ang="0">
                <a:pos x="connsiteX2-73" y="connsiteY2-74"/>
              </a:cxn>
              <a:cxn ang="0">
                <a:pos x="connsiteX3-75" y="connsiteY3-76"/>
              </a:cxn>
              <a:cxn ang="0">
                <a:pos x="connsiteX4-77" y="connsiteY4-78"/>
              </a:cxn>
              <a:cxn ang="0">
                <a:pos x="connsiteX5-79" y="connsiteY5-80"/>
              </a:cxn>
              <a:cxn ang="0">
                <a:pos x="connsiteX6-81" y="connsiteY6-82"/>
              </a:cxn>
              <a:cxn ang="0">
                <a:pos x="connsiteX7-83" y="connsiteY7-84"/>
              </a:cxn>
            </a:cxnLst>
            <a:rect l="l" t="t" r="r" b="b"/>
            <a:pathLst>
              <a:path w="2647951" h="1745305">
                <a:moveTo>
                  <a:pt x="1" y="0"/>
                </a:moveTo>
                <a:lnTo>
                  <a:pt x="2647951" y="0"/>
                </a:lnTo>
                <a:lnTo>
                  <a:pt x="2638426" y="1333500"/>
                </a:lnTo>
                <a:cubicBezTo>
                  <a:pt x="2246610" y="1544638"/>
                  <a:pt x="955870" y="1255713"/>
                  <a:pt x="516132" y="1323975"/>
                </a:cubicBezTo>
                <a:cubicBezTo>
                  <a:pt x="76394" y="1392237"/>
                  <a:pt x="86022" y="1778000"/>
                  <a:pt x="0" y="1743075"/>
                </a:cubicBezTo>
                <a:lnTo>
                  <a:pt x="0" y="1114425"/>
                </a:lnTo>
                <a:lnTo>
                  <a:pt x="1" y="1114425"/>
                </a:lnTo>
                <a:lnTo>
                  <a:pt x="1" y="0"/>
                </a:lnTo>
                <a:close/>
              </a:path>
            </a:pathLst>
          </a:custGeom>
          <a:solidFill>
            <a:srgbClr val="52623F"/>
          </a:solidFill>
          <a:ln>
            <a:noFill/>
          </a:ln>
        </p:spPr>
        <p:style>
          <a:lnRef idx="2">
            <a:srgbClr val="70CFE2">
              <a:shade val="50000"/>
            </a:srgbClr>
          </a:lnRef>
          <a:fillRef idx="1">
            <a:srgbClr val="70CFE2"/>
          </a:fillRef>
          <a:effectRef idx="0">
            <a:srgbClr val="70CFE2"/>
          </a:effectRef>
          <a:fontRef idx="minor">
            <a:srgbClr val="FFFFFF"/>
          </a:fontRef>
        </p:style>
        <p:txBody>
          <a:bodyPr bIns="504000" rtlCol="0" anchor="ctr">
            <a:normAutofit/>
          </a:bodyPr>
          <a:lstStyle/>
          <a:p>
            <a:pPr algn="ctr" fontAlgn="auto">
              <a:lnSpc>
                <a:spcPct val="120000"/>
              </a:lnSpc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2"/>
            </p:custDataLst>
          </p:nvPr>
        </p:nvSpPr>
        <p:spPr>
          <a:xfrm>
            <a:off x="5616352" y="2233507"/>
            <a:ext cx="1800244" cy="7869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 fontAlgn="auto">
              <a:lnSpc>
                <a:spcPct val="120000"/>
              </a:lnSpc>
            </a:pPr>
            <a:r>
              <a:rPr lang="en-US" altLang="zh-CN" sz="3200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cpe</a:t>
            </a:r>
            <a:endParaRPr lang="en-US" altLang="zh-CN" sz="3200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13"/>
            </p:custDataLst>
          </p:nvPr>
        </p:nvSpPr>
        <p:spPr>
          <a:xfrm>
            <a:off x="9441815" y="2246630"/>
            <a:ext cx="1593850" cy="1134745"/>
          </a:xfrm>
          <a:custGeom>
            <a:avLst/>
            <a:gdLst>
              <a:gd name="connsiteX0" fmla="*/ 1 w 2647951"/>
              <a:gd name="connsiteY0" fmla="*/ 0 h 1743075"/>
              <a:gd name="connsiteX1" fmla="*/ 2647951 w 2647951"/>
              <a:gd name="connsiteY1" fmla="*/ 0 h 1743075"/>
              <a:gd name="connsiteX2" fmla="*/ 2647951 w 2647951"/>
              <a:gd name="connsiteY2" fmla="*/ 1266825 h 1743075"/>
              <a:gd name="connsiteX3" fmla="*/ 297057 w 2647951"/>
              <a:gd name="connsiteY3" fmla="*/ 1266825 h 1743075"/>
              <a:gd name="connsiteX4" fmla="*/ 233437 w 2647951"/>
              <a:gd name="connsiteY4" fmla="*/ 1329240 h 1743075"/>
              <a:gd name="connsiteX5" fmla="*/ 0 w 2647951"/>
              <a:gd name="connsiteY5" fmla="*/ 1743075 h 1743075"/>
              <a:gd name="connsiteX6" fmla="*/ 0 w 2647951"/>
              <a:gd name="connsiteY6" fmla="*/ 1114425 h 1743075"/>
              <a:gd name="connsiteX7" fmla="*/ 1 w 2647951"/>
              <a:gd name="connsiteY7" fmla="*/ 1114425 h 1743075"/>
              <a:gd name="connsiteX0-1" fmla="*/ 1 w 2647951"/>
              <a:gd name="connsiteY0-2" fmla="*/ 0 h 1743075"/>
              <a:gd name="connsiteX1-3" fmla="*/ 2647951 w 2647951"/>
              <a:gd name="connsiteY1-4" fmla="*/ 0 h 1743075"/>
              <a:gd name="connsiteX2-5" fmla="*/ 2647951 w 2647951"/>
              <a:gd name="connsiteY2-6" fmla="*/ 1266825 h 1743075"/>
              <a:gd name="connsiteX3-7" fmla="*/ 297057 w 2647951"/>
              <a:gd name="connsiteY3-8" fmla="*/ 1266825 h 1743075"/>
              <a:gd name="connsiteX4-9" fmla="*/ 233437 w 2647951"/>
              <a:gd name="connsiteY4-10" fmla="*/ 1329240 h 1743075"/>
              <a:gd name="connsiteX5-11" fmla="*/ 0 w 2647951"/>
              <a:gd name="connsiteY5-12" fmla="*/ 1743075 h 1743075"/>
              <a:gd name="connsiteX6-13" fmla="*/ 0 w 2647951"/>
              <a:gd name="connsiteY6-14" fmla="*/ 1114425 h 1743075"/>
              <a:gd name="connsiteX7-15" fmla="*/ 1 w 2647951"/>
              <a:gd name="connsiteY7-16" fmla="*/ 1114425 h 1743075"/>
              <a:gd name="connsiteX8" fmla="*/ 1 w 2647951"/>
              <a:gd name="connsiteY8" fmla="*/ 0 h 1743075"/>
              <a:gd name="connsiteX0-17" fmla="*/ 1 w 2647951"/>
              <a:gd name="connsiteY0-18" fmla="*/ 0 h 1743075"/>
              <a:gd name="connsiteX1-19" fmla="*/ 2647951 w 2647951"/>
              <a:gd name="connsiteY1-20" fmla="*/ 0 h 1743075"/>
              <a:gd name="connsiteX2-21" fmla="*/ 2647951 w 2647951"/>
              <a:gd name="connsiteY2-22" fmla="*/ 1266825 h 1743075"/>
              <a:gd name="connsiteX3-23" fmla="*/ 516132 w 2647951"/>
              <a:gd name="connsiteY3-24" fmla="*/ 1323975 h 1743075"/>
              <a:gd name="connsiteX4-25" fmla="*/ 233437 w 2647951"/>
              <a:gd name="connsiteY4-26" fmla="*/ 1329240 h 1743075"/>
              <a:gd name="connsiteX5-27" fmla="*/ 0 w 2647951"/>
              <a:gd name="connsiteY5-28" fmla="*/ 1743075 h 1743075"/>
              <a:gd name="connsiteX6-29" fmla="*/ 0 w 2647951"/>
              <a:gd name="connsiteY6-30" fmla="*/ 1114425 h 1743075"/>
              <a:gd name="connsiteX7-31" fmla="*/ 1 w 2647951"/>
              <a:gd name="connsiteY7-32" fmla="*/ 1114425 h 1743075"/>
              <a:gd name="connsiteX8-33" fmla="*/ 1 w 2647951"/>
              <a:gd name="connsiteY8-34" fmla="*/ 0 h 1743075"/>
              <a:gd name="connsiteX0-35" fmla="*/ 1 w 2647951"/>
              <a:gd name="connsiteY0-36" fmla="*/ 0 h 1743075"/>
              <a:gd name="connsiteX1-37" fmla="*/ 2647951 w 2647951"/>
              <a:gd name="connsiteY1-38" fmla="*/ 0 h 1743075"/>
              <a:gd name="connsiteX2-39" fmla="*/ 2647951 w 2647951"/>
              <a:gd name="connsiteY2-40" fmla="*/ 1266825 h 1743075"/>
              <a:gd name="connsiteX3-41" fmla="*/ 516132 w 2647951"/>
              <a:gd name="connsiteY3-42" fmla="*/ 1323975 h 1743075"/>
              <a:gd name="connsiteX4-43" fmla="*/ 233437 w 2647951"/>
              <a:gd name="connsiteY4-44" fmla="*/ 1329240 h 1743075"/>
              <a:gd name="connsiteX5-45" fmla="*/ 0 w 2647951"/>
              <a:gd name="connsiteY5-46" fmla="*/ 1743075 h 1743075"/>
              <a:gd name="connsiteX6-47" fmla="*/ 0 w 2647951"/>
              <a:gd name="connsiteY6-48" fmla="*/ 1114425 h 1743075"/>
              <a:gd name="connsiteX7-49" fmla="*/ 1 w 2647951"/>
              <a:gd name="connsiteY7-50" fmla="*/ 1114425 h 1743075"/>
              <a:gd name="connsiteX8-51" fmla="*/ 1 w 2647951"/>
              <a:gd name="connsiteY8-52" fmla="*/ 0 h 1743075"/>
              <a:gd name="connsiteX0-53" fmla="*/ 1 w 2647951"/>
              <a:gd name="connsiteY0-54" fmla="*/ 0 h 1745366"/>
              <a:gd name="connsiteX1-55" fmla="*/ 2647951 w 2647951"/>
              <a:gd name="connsiteY1-56" fmla="*/ 0 h 1745366"/>
              <a:gd name="connsiteX2-57" fmla="*/ 2647951 w 2647951"/>
              <a:gd name="connsiteY2-58" fmla="*/ 1266825 h 1745366"/>
              <a:gd name="connsiteX3-59" fmla="*/ 516132 w 2647951"/>
              <a:gd name="connsiteY3-60" fmla="*/ 1323975 h 1745366"/>
              <a:gd name="connsiteX4-61" fmla="*/ 0 w 2647951"/>
              <a:gd name="connsiteY4-62" fmla="*/ 1743075 h 1745366"/>
              <a:gd name="connsiteX5-63" fmla="*/ 0 w 2647951"/>
              <a:gd name="connsiteY5-64" fmla="*/ 1114425 h 1745366"/>
              <a:gd name="connsiteX6-65" fmla="*/ 1 w 2647951"/>
              <a:gd name="connsiteY6-66" fmla="*/ 1114425 h 1745366"/>
              <a:gd name="connsiteX7-67" fmla="*/ 1 w 2647951"/>
              <a:gd name="connsiteY7-68" fmla="*/ 0 h 1745366"/>
              <a:gd name="connsiteX0-69" fmla="*/ 1 w 2647951"/>
              <a:gd name="connsiteY0-70" fmla="*/ 0 h 1745305"/>
              <a:gd name="connsiteX1-71" fmla="*/ 2647951 w 2647951"/>
              <a:gd name="connsiteY1-72" fmla="*/ 0 h 1745305"/>
              <a:gd name="connsiteX2-73" fmla="*/ 2638426 w 2647951"/>
              <a:gd name="connsiteY2-74" fmla="*/ 1333500 h 1745305"/>
              <a:gd name="connsiteX3-75" fmla="*/ 516132 w 2647951"/>
              <a:gd name="connsiteY3-76" fmla="*/ 1323975 h 1745305"/>
              <a:gd name="connsiteX4-77" fmla="*/ 0 w 2647951"/>
              <a:gd name="connsiteY4-78" fmla="*/ 1743075 h 1745305"/>
              <a:gd name="connsiteX5-79" fmla="*/ 0 w 2647951"/>
              <a:gd name="connsiteY5-80" fmla="*/ 1114425 h 1745305"/>
              <a:gd name="connsiteX6-81" fmla="*/ 1 w 2647951"/>
              <a:gd name="connsiteY6-82" fmla="*/ 1114425 h 1745305"/>
              <a:gd name="connsiteX7-83" fmla="*/ 1 w 2647951"/>
              <a:gd name="connsiteY7-84" fmla="*/ 0 h 1745305"/>
            </a:gdLst>
            <a:ahLst/>
            <a:cxnLst>
              <a:cxn ang="0">
                <a:pos x="connsiteX0-69" y="connsiteY0-70"/>
              </a:cxn>
              <a:cxn ang="0">
                <a:pos x="connsiteX1-71" y="connsiteY1-72"/>
              </a:cxn>
              <a:cxn ang="0">
                <a:pos x="connsiteX2-73" y="connsiteY2-74"/>
              </a:cxn>
              <a:cxn ang="0">
                <a:pos x="connsiteX3-75" y="connsiteY3-76"/>
              </a:cxn>
              <a:cxn ang="0">
                <a:pos x="connsiteX4-77" y="connsiteY4-78"/>
              </a:cxn>
              <a:cxn ang="0">
                <a:pos x="connsiteX5-79" y="connsiteY5-80"/>
              </a:cxn>
              <a:cxn ang="0">
                <a:pos x="connsiteX6-81" y="connsiteY6-82"/>
              </a:cxn>
              <a:cxn ang="0">
                <a:pos x="connsiteX7-83" y="connsiteY7-84"/>
              </a:cxn>
            </a:cxnLst>
            <a:rect l="l" t="t" r="r" b="b"/>
            <a:pathLst>
              <a:path w="2647951" h="1745305">
                <a:moveTo>
                  <a:pt x="1" y="0"/>
                </a:moveTo>
                <a:lnTo>
                  <a:pt x="2647951" y="0"/>
                </a:lnTo>
                <a:lnTo>
                  <a:pt x="2638426" y="1333500"/>
                </a:lnTo>
                <a:cubicBezTo>
                  <a:pt x="2246610" y="1544638"/>
                  <a:pt x="955870" y="1255713"/>
                  <a:pt x="516132" y="1323975"/>
                </a:cubicBezTo>
                <a:cubicBezTo>
                  <a:pt x="76394" y="1392237"/>
                  <a:pt x="86022" y="1778000"/>
                  <a:pt x="0" y="1743075"/>
                </a:cubicBezTo>
                <a:lnTo>
                  <a:pt x="0" y="1114425"/>
                </a:lnTo>
                <a:lnTo>
                  <a:pt x="1" y="1114425"/>
                </a:lnTo>
                <a:lnTo>
                  <a:pt x="1" y="0"/>
                </a:lnTo>
                <a:close/>
              </a:path>
            </a:pathLst>
          </a:custGeom>
          <a:solidFill>
            <a:srgbClr val="52623F"/>
          </a:solidFill>
          <a:ln>
            <a:noFill/>
          </a:ln>
        </p:spPr>
        <p:style>
          <a:lnRef idx="2">
            <a:srgbClr val="70CFE2">
              <a:shade val="50000"/>
            </a:srgbClr>
          </a:lnRef>
          <a:fillRef idx="1">
            <a:srgbClr val="70CFE2"/>
          </a:fillRef>
          <a:effectRef idx="0">
            <a:srgbClr val="70CFE2"/>
          </a:effectRef>
          <a:fontRef idx="minor">
            <a:srgbClr val="FFFFFF"/>
          </a:fontRef>
        </p:style>
        <p:txBody>
          <a:bodyPr bIns="504000" rtlCol="0" anchor="ctr">
            <a:normAutofit/>
          </a:bodyPr>
          <a:lstStyle/>
          <a:p>
            <a:pPr algn="ctr" fontAlgn="auto">
              <a:lnSpc>
                <a:spcPct val="120000"/>
              </a:lnSpc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14"/>
            </p:custDataLst>
          </p:nvPr>
        </p:nvSpPr>
        <p:spPr>
          <a:xfrm>
            <a:off x="9348882" y="2255097"/>
            <a:ext cx="1800244" cy="7869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 fontAlgn="auto">
              <a:lnSpc>
                <a:spcPct val="120000"/>
              </a:lnSpc>
            </a:pPr>
            <a:r>
              <a:rPr lang="zh-CN" altLang="en-US" sz="2220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爆文内容</a:t>
            </a:r>
            <a:endParaRPr lang="zh-CN" altLang="en-US" sz="2220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4975" y="335280"/>
            <a:ext cx="10272395" cy="583565"/>
            <a:chOff x="1075" y="683"/>
            <a:chExt cx="1617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16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17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>
              <a:off x="3323" y="683"/>
              <a:ext cx="1392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人群有效曝光关键因素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9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34975" y="335280"/>
            <a:ext cx="10272395" cy="583565"/>
            <a:chOff x="1075" y="683"/>
            <a:chExt cx="1617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92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分象限差异化触点把控爆文数据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81150" y="1492885"/>
            <a:ext cx="8703310" cy="4705350"/>
            <a:chOff x="2378" y="2477"/>
            <a:chExt cx="13706" cy="741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右箭头 8"/>
            <p:cNvSpPr/>
            <p:nvPr>
              <p:custDataLst>
                <p:tags r:id="rId5"/>
              </p:custDataLst>
            </p:nvPr>
          </p:nvSpPr>
          <p:spPr>
            <a:xfrm>
              <a:off x="2378" y="5730"/>
              <a:ext cx="13706" cy="241"/>
            </a:xfrm>
            <a:prstGeom prst="rightArrow">
              <a:avLst/>
            </a:prstGeom>
            <a:solidFill>
              <a:srgbClr val="7E7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右箭头 33"/>
            <p:cNvSpPr/>
            <p:nvPr>
              <p:custDataLst>
                <p:tags r:id="rId6"/>
              </p:custDataLst>
            </p:nvPr>
          </p:nvSpPr>
          <p:spPr>
            <a:xfrm rot="16200000">
              <a:off x="5526" y="6062"/>
              <a:ext cx="7410" cy="240"/>
            </a:xfrm>
            <a:prstGeom prst="rightArrow">
              <a:avLst/>
            </a:prstGeom>
            <a:solidFill>
              <a:srgbClr val="7E7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>
            <p:custDataLst>
              <p:tags r:id="rId7"/>
            </p:custDataLst>
          </p:nvPr>
        </p:nvSpPr>
        <p:spPr>
          <a:xfrm>
            <a:off x="5739765" y="6271895"/>
            <a:ext cx="38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低</a:t>
            </a:r>
            <a:endParaRPr lang="zh-CN" altLang="en-US" sz="1600"/>
          </a:p>
        </p:txBody>
      </p:sp>
      <p:sp>
        <p:nvSpPr>
          <p:cNvPr id="36" name="文本框 35"/>
          <p:cNvSpPr txBox="1"/>
          <p:nvPr>
            <p:custDataLst>
              <p:tags r:id="rId8"/>
            </p:custDataLst>
          </p:nvPr>
        </p:nvSpPr>
        <p:spPr>
          <a:xfrm>
            <a:off x="10579100" y="3443605"/>
            <a:ext cx="38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高</a:t>
            </a:r>
            <a:endParaRPr lang="zh-CN" altLang="en-US" sz="1600"/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4874260" y="129095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2341"/>
                </a:solidFill>
              </a:rPr>
              <a:t>回搜率</a:t>
            </a:r>
            <a:endParaRPr lang="zh-CN" altLang="en-US" b="1">
              <a:solidFill>
                <a:srgbClr val="FF234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0096500" y="307530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2341"/>
                </a:solidFill>
              </a:rPr>
              <a:t>互动率</a:t>
            </a:r>
            <a:endParaRPr lang="zh-CN" altLang="en-US" b="1">
              <a:solidFill>
                <a:srgbClr val="FF2341"/>
              </a:solidFill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7124065" y="5187950"/>
            <a:ext cx="3413760" cy="796290"/>
          </a:xfrm>
          <a:prstGeom prst="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有爆文潜质但有歪楼风险</a:t>
            </a:r>
            <a:endParaRPr lang="zh-CN" altLang="en-US" sz="2000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优化内容，落地产品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>
            <p:custDataLst>
              <p:tags r:id="rId12"/>
            </p:custDataLst>
          </p:nvPr>
        </p:nvSpPr>
        <p:spPr>
          <a:xfrm>
            <a:off x="1282065" y="5095875"/>
            <a:ext cx="3319780" cy="806450"/>
          </a:xfrm>
          <a:prstGeom prst="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文章没有爆文潜质</a:t>
            </a:r>
            <a:endParaRPr lang="zh-CN" altLang="en-US" sz="2000" b="1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可放弃及时止损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>
            <p:custDataLst>
              <p:tags r:id="rId13"/>
            </p:custDataLst>
          </p:nvPr>
        </p:nvSpPr>
        <p:spPr>
          <a:xfrm>
            <a:off x="1270635" y="1428750"/>
            <a:ext cx="3331210" cy="806450"/>
          </a:xfrm>
          <a:prstGeom prst="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  <a:effectLst>
            <a:outerShdw blurRad="50800" dist="38100" dir="5400000" algn="t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种草性强但不易打爆</a:t>
            </a:r>
            <a:endParaRPr lang="zh-CN" altLang="en-US" sz="2000" b="1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增强内容的干货性或互动性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矩形 47"/>
          <p:cNvSpPr/>
          <p:nvPr>
            <p:custDataLst>
              <p:tags r:id="rId14"/>
            </p:custDataLst>
          </p:nvPr>
        </p:nvSpPr>
        <p:spPr>
          <a:xfrm>
            <a:off x="7121525" y="1428750"/>
            <a:ext cx="3416300" cy="806450"/>
          </a:xfrm>
          <a:prstGeom prst="rect">
            <a:avLst/>
          </a:prstGeom>
          <a:solidFill>
            <a:srgbClr val="52623F"/>
          </a:solidFill>
          <a:ln>
            <a:solidFill>
              <a:srgbClr val="000000">
                <a:alpha val="0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有种草性爆文潜质</a:t>
            </a:r>
            <a:endParaRPr lang="zh-CN" altLang="en-US" sz="2000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加大预算打造爆文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5742940" y="1091565"/>
            <a:ext cx="38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高</a:t>
            </a:r>
            <a:endParaRPr lang="zh-CN" altLang="en-US" sz="1600"/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970915" y="3443605"/>
            <a:ext cx="38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低</a:t>
            </a:r>
            <a:endParaRPr lang="zh-CN" altLang="en-US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 rot="0">
            <a:off x="6647180" y="2779395"/>
            <a:ext cx="5201285" cy="3850640"/>
            <a:chOff x="10742" y="4894"/>
            <a:chExt cx="6622" cy="5022"/>
          </a:xfrm>
        </p:grpSpPr>
        <p:sp>
          <p:nvSpPr>
            <p:cNvPr id="40" name="Freeform 11"/>
            <p:cNvSpPr/>
            <p:nvPr/>
          </p:nvSpPr>
          <p:spPr bwMode="auto">
            <a:xfrm>
              <a:off x="12416" y="7520"/>
              <a:ext cx="4174" cy="637"/>
            </a:xfrm>
            <a:custGeom>
              <a:avLst/>
              <a:gdLst>
                <a:gd name="T0" fmla="*/ 0 w 480"/>
                <a:gd name="T1" fmla="*/ 0 h 50"/>
                <a:gd name="T2" fmla="*/ 333 w 480"/>
                <a:gd name="T3" fmla="*/ 0 h 50"/>
                <a:gd name="T4" fmla="*/ 480 w 480"/>
                <a:gd name="T5" fmla="*/ 50 h 50"/>
                <a:gd name="T6" fmla="*/ 146 w 480"/>
                <a:gd name="T7" fmla="*/ 50 h 50"/>
                <a:gd name="T8" fmla="*/ 0 w 480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50">
                  <a:moveTo>
                    <a:pt x="0" y="0"/>
                  </a:moveTo>
                  <a:lnTo>
                    <a:pt x="333" y="0"/>
                  </a:lnTo>
                  <a:lnTo>
                    <a:pt x="480" y="50"/>
                  </a:lnTo>
                  <a:lnTo>
                    <a:pt x="146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68564" tIns="34282" rIns="68564" bIns="34282" numCol="1" anchor="t" anchorCtr="0" compatLnSpc="1"/>
            <a:p>
              <a:endParaRPr lang="zh-CN" altLang="en-US" sz="1000" dirty="0">
                <a:latin typeface="Avant GardeBook" pitchFamily="50" charset="0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12425" y="4894"/>
              <a:ext cx="3275" cy="1088"/>
            </a:xfrm>
            <a:custGeom>
              <a:avLst/>
              <a:gdLst>
                <a:gd name="T0" fmla="*/ 0 w 451"/>
                <a:gd name="T1" fmla="*/ 109 h 109"/>
                <a:gd name="T2" fmla="*/ 64 w 451"/>
                <a:gd name="T3" fmla="*/ 0 h 109"/>
                <a:gd name="T4" fmla="*/ 387 w 451"/>
                <a:gd name="T5" fmla="*/ 0 h 109"/>
                <a:gd name="T6" fmla="*/ 451 w 451"/>
                <a:gd name="T7" fmla="*/ 109 h 109"/>
                <a:gd name="T8" fmla="*/ 0 w 451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1" h="109">
                  <a:moveTo>
                    <a:pt x="0" y="109"/>
                  </a:moveTo>
                  <a:lnTo>
                    <a:pt x="64" y="0"/>
                  </a:lnTo>
                  <a:lnTo>
                    <a:pt x="387" y="0"/>
                  </a:lnTo>
                  <a:lnTo>
                    <a:pt x="451" y="109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52623F"/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68564" tIns="34282" rIns="68564" bIns="34282" numCol="1" anchor="ctr" anchorCtr="0" compatLnSpc="1"/>
            <a:p>
              <a:pPr algn="ctr"/>
              <a:endPara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12416" y="5980"/>
              <a:ext cx="3485" cy="495"/>
            </a:xfrm>
            <a:custGeom>
              <a:avLst/>
              <a:gdLst>
                <a:gd name="T0" fmla="*/ 0 w 480"/>
                <a:gd name="T1" fmla="*/ 0 h 50"/>
                <a:gd name="T2" fmla="*/ 333 w 480"/>
                <a:gd name="T3" fmla="*/ 0 h 50"/>
                <a:gd name="T4" fmla="*/ 480 w 480"/>
                <a:gd name="T5" fmla="*/ 50 h 50"/>
                <a:gd name="T6" fmla="*/ 146 w 480"/>
                <a:gd name="T7" fmla="*/ 50 h 50"/>
                <a:gd name="T8" fmla="*/ 0 w 480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50">
                  <a:moveTo>
                    <a:pt x="0" y="0"/>
                  </a:moveTo>
                  <a:lnTo>
                    <a:pt x="333" y="0"/>
                  </a:lnTo>
                  <a:lnTo>
                    <a:pt x="480" y="50"/>
                  </a:lnTo>
                  <a:lnTo>
                    <a:pt x="146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68564" tIns="34282" rIns="68564" bIns="34282" numCol="1" anchor="t" anchorCtr="0" compatLnSpc="1"/>
            <a:p>
              <a:endParaRPr lang="zh-CN" altLang="en-US" sz="1000" dirty="0">
                <a:latin typeface="Avant GardeBook" pitchFamily="50" charset="0"/>
              </a:endParaRPr>
            </a:p>
          </p:txBody>
        </p:sp>
        <p:sp>
          <p:nvSpPr>
            <p:cNvPr id="19" name="Freeform 8"/>
            <p:cNvSpPr/>
            <p:nvPr/>
          </p:nvSpPr>
          <p:spPr bwMode="auto">
            <a:xfrm>
              <a:off x="11762" y="6470"/>
              <a:ext cx="4596" cy="1060"/>
            </a:xfrm>
            <a:custGeom>
              <a:avLst/>
              <a:gdLst>
                <a:gd name="T0" fmla="*/ 0 w 633"/>
                <a:gd name="T1" fmla="*/ 108 h 108"/>
                <a:gd name="T2" fmla="*/ 62 w 633"/>
                <a:gd name="T3" fmla="*/ 0 h 108"/>
                <a:gd name="T4" fmla="*/ 570 w 633"/>
                <a:gd name="T5" fmla="*/ 0 h 108"/>
                <a:gd name="T6" fmla="*/ 633 w 633"/>
                <a:gd name="T7" fmla="*/ 108 h 108"/>
                <a:gd name="T8" fmla="*/ 0 w 633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08">
                  <a:moveTo>
                    <a:pt x="0" y="108"/>
                  </a:moveTo>
                  <a:lnTo>
                    <a:pt x="62" y="0"/>
                  </a:lnTo>
                  <a:lnTo>
                    <a:pt x="570" y="0"/>
                  </a:lnTo>
                  <a:lnTo>
                    <a:pt x="633" y="108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52623F"/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68564" tIns="34282" rIns="68564" bIns="34282" numCol="1" anchor="ctr" anchorCtr="0" compatLnSpc="1"/>
            <a:p>
              <a:pPr algn="ctr"/>
              <a:endPara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10742" y="8156"/>
              <a:ext cx="6622" cy="1760"/>
            </a:xfrm>
            <a:custGeom>
              <a:avLst/>
              <a:gdLst>
                <a:gd name="T0" fmla="*/ 0 w 912"/>
                <a:gd name="T1" fmla="*/ 192 h 192"/>
                <a:gd name="T2" fmla="*/ 111 w 912"/>
                <a:gd name="T3" fmla="*/ 0 h 192"/>
                <a:gd name="T4" fmla="*/ 801 w 912"/>
                <a:gd name="T5" fmla="*/ 0 h 192"/>
                <a:gd name="T6" fmla="*/ 912 w 912"/>
                <a:gd name="T7" fmla="*/ 192 h 192"/>
                <a:gd name="T8" fmla="*/ 0 w 912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192">
                  <a:moveTo>
                    <a:pt x="0" y="192"/>
                  </a:moveTo>
                  <a:lnTo>
                    <a:pt x="111" y="0"/>
                  </a:lnTo>
                  <a:lnTo>
                    <a:pt x="801" y="0"/>
                  </a:lnTo>
                  <a:lnTo>
                    <a:pt x="912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52623F"/>
            </a:solidFill>
            <a:ln w="12700" cap="flat" cmpd="sng">
              <a:noFill/>
              <a:prstDash val="solid"/>
              <a:miter lim="800000"/>
            </a:ln>
          </p:spPr>
          <p:txBody>
            <a:bodyPr vert="horz" wrap="square" lIns="68564" tIns="34282" rIns="68564" bIns="34282" numCol="1" anchor="ctr" anchorCtr="0" compatLnSpc="1"/>
            <a:p>
              <a:pPr algn="ctr"/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593" y="4997"/>
              <a:ext cx="3094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腰部 </a:t>
              </a:r>
              <a:endParaRPr lang="zh-C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bg1"/>
                  </a:solidFill>
                  <a:sym typeface="+mn-ea"/>
                </a:rPr>
                <a:t>美食垂类类达人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453" y="6572"/>
              <a:ext cx="3400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尾部</a:t>
              </a:r>
              <a:endParaRPr lang="zh-C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bg1"/>
                  </a:solidFill>
                  <a:sym typeface="+mn-ea"/>
                </a:rPr>
                <a:t>美食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vlog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类、跨圈层达人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2581" y="8432"/>
              <a:ext cx="3384" cy="1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KOC</a:t>
              </a: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注重口碑、跟风粉丝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创意型达人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465195" y="3051810"/>
            <a:ext cx="1172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小五喝半杯</a:t>
            </a:r>
            <a:endParaRPr lang="zh-CN" altLang="en-US" sz="1000" b="1"/>
          </a:p>
          <a:p>
            <a:pPr algn="ctr"/>
            <a:r>
              <a:rPr lang="zh-CN" altLang="en-US" sz="1000"/>
              <a:t>美食类达人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10.6</a:t>
            </a:r>
            <a:r>
              <a:rPr lang="en-US" altLang="zh-CN" sz="1000"/>
              <a:t>w</a:t>
            </a:r>
            <a:endParaRPr lang="en-US" altLang="zh-CN" sz="1000"/>
          </a:p>
        </p:txBody>
      </p:sp>
      <p:sp>
        <p:nvSpPr>
          <p:cNvPr id="22" name="文本框 21"/>
          <p:cNvSpPr txBox="1"/>
          <p:nvPr/>
        </p:nvSpPr>
        <p:spPr>
          <a:xfrm>
            <a:off x="5892165" y="3061335"/>
            <a:ext cx="15760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啦啦今天又喝啥</a:t>
            </a:r>
            <a:endParaRPr lang="zh-CN" altLang="en-US" sz="1000" b="1"/>
          </a:p>
          <a:p>
            <a:pPr algn="ctr"/>
            <a:r>
              <a:rPr lang="zh-CN" altLang="en-US" sz="1000"/>
              <a:t>创意饮品</a:t>
            </a:r>
            <a:r>
              <a:rPr lang="en-US" sz="1000"/>
              <a:t>DIY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23.8</a:t>
            </a:r>
            <a:r>
              <a:rPr lang="en-US" altLang="zh-CN" sz="1000"/>
              <a:t>w</a:t>
            </a:r>
            <a:endParaRPr lang="en-US" altLang="zh-CN" sz="1000"/>
          </a:p>
        </p:txBody>
      </p:sp>
      <p:sp>
        <p:nvSpPr>
          <p:cNvPr id="23" name="文本框 22"/>
          <p:cNvSpPr txBox="1"/>
          <p:nvPr/>
        </p:nvSpPr>
        <p:spPr>
          <a:xfrm>
            <a:off x="1355725" y="4244975"/>
            <a:ext cx="1172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一块肉winn</a:t>
            </a:r>
            <a:endParaRPr lang="zh-CN" altLang="en-US" sz="1000" b="1"/>
          </a:p>
          <a:p>
            <a:pPr algn="ctr"/>
            <a:r>
              <a:rPr lang="zh-CN" altLang="en-US" sz="1000">
                <a:sym typeface="+mn-ea"/>
              </a:rPr>
              <a:t>美食</a:t>
            </a:r>
            <a:r>
              <a:rPr lang="en-US" altLang="zh-CN" sz="1000"/>
              <a:t>vlog</a:t>
            </a:r>
            <a:r>
              <a:rPr lang="zh-CN" altLang="en-US" sz="1000"/>
              <a:t>类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2.07w</a:t>
            </a:r>
            <a:endParaRPr lang="en-US" altLang="zh-CN" sz="1000"/>
          </a:p>
        </p:txBody>
      </p:sp>
      <p:sp>
        <p:nvSpPr>
          <p:cNvPr id="27" name="文本框 26"/>
          <p:cNvSpPr txBox="1"/>
          <p:nvPr/>
        </p:nvSpPr>
        <p:spPr>
          <a:xfrm>
            <a:off x="3384550" y="4244975"/>
            <a:ext cx="1172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>
                <a:sym typeface="+mn-ea"/>
              </a:rPr>
              <a:t>小凉吃糖</a:t>
            </a:r>
            <a:endParaRPr lang="zh-CN" altLang="en-US" sz="1000" b="1">
              <a:sym typeface="+mn-ea"/>
            </a:endParaRPr>
          </a:p>
          <a:p>
            <a:pPr algn="ctr"/>
            <a:r>
              <a:rPr lang="zh-CN" altLang="en-US" sz="1000">
                <a:sym typeface="+mn-ea"/>
              </a:rPr>
              <a:t>学生</a:t>
            </a:r>
            <a:r>
              <a:rPr lang="en-US" altLang="zh-CN" sz="1000">
                <a:sym typeface="+mn-ea"/>
              </a:rPr>
              <a:t>ip</a:t>
            </a:r>
            <a:r>
              <a:rPr lang="zh-CN" altLang="en-US" sz="1000">
                <a:sym typeface="+mn-ea"/>
              </a:rPr>
              <a:t>达人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3</a:t>
            </a:r>
            <a:r>
              <a:rPr lang="en-US" altLang="zh-CN" sz="1000"/>
              <a:t>.3</a:t>
            </a:r>
            <a:r>
              <a:rPr lang="en-US" altLang="zh-CN" sz="1000"/>
              <a:t>w</a:t>
            </a:r>
            <a:endParaRPr lang="en-US" altLang="zh-CN" sz="1000"/>
          </a:p>
        </p:txBody>
      </p:sp>
      <p:sp>
        <p:nvSpPr>
          <p:cNvPr id="29" name="文本框 28"/>
          <p:cNvSpPr txBox="1"/>
          <p:nvPr/>
        </p:nvSpPr>
        <p:spPr>
          <a:xfrm>
            <a:off x="5634355" y="4220210"/>
            <a:ext cx="1172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AJIMA</a:t>
            </a:r>
            <a:endParaRPr lang="zh-CN" altLang="en-US" sz="1000" b="1"/>
          </a:p>
          <a:p>
            <a:pPr algn="ctr"/>
            <a:r>
              <a:rPr lang="zh-CN" altLang="en-US" sz="1000"/>
              <a:t>职场</a:t>
            </a:r>
            <a:r>
              <a:rPr lang="en-US" altLang="zh-CN" sz="1000"/>
              <a:t>ip</a:t>
            </a:r>
            <a:r>
              <a:rPr lang="zh-CN" altLang="en-US" sz="1000"/>
              <a:t>达人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1.6</a:t>
            </a:r>
            <a:r>
              <a:rPr lang="en-US" altLang="zh-CN" sz="1000"/>
              <a:t>w</a:t>
            </a:r>
            <a:endParaRPr lang="en-US" altLang="zh-CN" sz="1000"/>
          </a:p>
        </p:txBody>
      </p:sp>
      <p:sp>
        <p:nvSpPr>
          <p:cNvPr id="30" name="文本框 29"/>
          <p:cNvSpPr txBox="1"/>
          <p:nvPr/>
        </p:nvSpPr>
        <p:spPr>
          <a:xfrm>
            <a:off x="3300095" y="5725795"/>
            <a:ext cx="12573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火车狂吃狂吃狂吃</a:t>
            </a:r>
            <a:endParaRPr lang="zh-CN" altLang="en-US" sz="1000" b="1"/>
          </a:p>
          <a:p>
            <a:pPr algn="ctr"/>
            <a:r>
              <a:rPr lang="zh-CN" altLang="en-US" sz="1000"/>
              <a:t>零食测评达人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8371</a:t>
            </a:r>
            <a:endParaRPr lang="en-US" altLang="zh-CN" sz="1000"/>
          </a:p>
        </p:txBody>
      </p:sp>
      <p:sp>
        <p:nvSpPr>
          <p:cNvPr id="32" name="文本框 31"/>
          <p:cNvSpPr txBox="1"/>
          <p:nvPr/>
        </p:nvSpPr>
        <p:spPr>
          <a:xfrm>
            <a:off x="5413375" y="5725795"/>
            <a:ext cx="1172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小新班长</a:t>
            </a:r>
            <a:endParaRPr lang="zh-CN" altLang="en-US" sz="1000" b="1"/>
          </a:p>
          <a:p>
            <a:pPr algn="ctr"/>
            <a:r>
              <a:rPr lang="zh-CN" altLang="en-US" sz="1000"/>
              <a:t>创意类达人</a:t>
            </a:r>
            <a:endParaRPr lang="zh-CN" altLang="en-US" sz="1000"/>
          </a:p>
          <a:p>
            <a:pPr algn="ctr"/>
            <a:r>
              <a:rPr lang="zh-CN" altLang="en-US" sz="1000"/>
              <a:t>粉丝量：</a:t>
            </a:r>
            <a:r>
              <a:rPr lang="en-US" altLang="zh-CN" sz="1000"/>
              <a:t>1.4w</a:t>
            </a:r>
            <a:endParaRPr lang="en-US" altLang="zh-CN" sz="1000"/>
          </a:p>
        </p:txBody>
      </p:sp>
      <p:grpSp>
        <p:nvGrpSpPr>
          <p:cNvPr id="3" name="组合 2"/>
          <p:cNvGrpSpPr/>
          <p:nvPr/>
        </p:nvGrpSpPr>
        <p:grpSpPr>
          <a:xfrm>
            <a:off x="434975" y="335280"/>
            <a:ext cx="10272395" cy="583565"/>
            <a:chOff x="1075" y="683"/>
            <a:chExt cx="1617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4" name="椭圆 3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椭圆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椭圆 15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92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小红书达人建议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1862455" y="911860"/>
            <a:ext cx="6532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1219200">
              <a:buClrTx/>
              <a:buSzTx/>
              <a:buFontTx/>
              <a:defRPr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Noto Sans S Chinese Light" panose="020B0300000000000000" pitchFamily="34" charset="-122"/>
              </a:rPr>
              <a:t>小红书以爆文素材，和生态内真实口碑背书为核心定向开发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Noto Sans S Chinese Light" panose="020B0300000000000000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6"/>
            </p:custDataLst>
          </p:nvPr>
        </p:nvSpPr>
        <p:spPr>
          <a:xfrm>
            <a:off x="321945" y="1422400"/>
            <a:ext cx="11707495" cy="989965"/>
          </a:xfrm>
          <a:prstGeom prst="rect">
            <a:avLst/>
          </a:prstGeom>
          <a:ln>
            <a:solidFill>
              <a:srgbClr val="491B0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①腰部适当的选择更多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美食类、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DIY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教程类达人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向粉丝输出品牌相关内容和产品口味、做法、食用感受、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传递种草内容，小红书平台抢占广式冲泡饮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，宣传产品【不加咖啡的拿铁】标签。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②尾部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&amp;KOC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则致力于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多场景多维度打造口碑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，选择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好物类分享达人、美食类创意向、人群属性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IP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达人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，蹭热点承接搜索流量，帮助拓展消费人群。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224790" y="1365250"/>
            <a:ext cx="11611610" cy="5387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91465" y="1355090"/>
            <a:ext cx="365760" cy="354266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点击环节</a:t>
            </a:r>
            <a:endParaRPr lang="zh-CN" altLang="en-US" sz="1200"/>
          </a:p>
        </p:txBody>
      </p:sp>
      <p:sp>
        <p:nvSpPr>
          <p:cNvPr id="67" name="矩形 66"/>
          <p:cNvSpPr/>
          <p:nvPr/>
        </p:nvSpPr>
        <p:spPr>
          <a:xfrm>
            <a:off x="721995" y="1354455"/>
            <a:ext cx="1173480" cy="5543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ym typeface="+mn-ea"/>
              </a:rPr>
              <a:t>封面效果关键词（功效、极致效果</a:t>
            </a:r>
            <a:endParaRPr lang="zh-CN" altLang="en-US" sz="1200">
              <a:sym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21995" y="1966595"/>
            <a:ext cx="1173480" cy="2654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可视化卖点</a:t>
            </a:r>
            <a:endParaRPr lang="zh-CN" altLang="en-US" sz="1200"/>
          </a:p>
        </p:txBody>
      </p:sp>
      <p:sp>
        <p:nvSpPr>
          <p:cNvPr id="69" name="矩形 68"/>
          <p:cNvSpPr/>
          <p:nvPr/>
        </p:nvSpPr>
        <p:spPr>
          <a:xfrm>
            <a:off x="721995" y="2289810"/>
            <a:ext cx="1173480" cy="124269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高ctr封面</a:t>
            </a:r>
            <a:endParaRPr lang="zh-CN" altLang="en-US" sz="1200"/>
          </a:p>
        </p:txBody>
      </p:sp>
      <p:sp>
        <p:nvSpPr>
          <p:cNvPr id="76" name="矩形 75"/>
          <p:cNvSpPr/>
          <p:nvPr/>
        </p:nvSpPr>
        <p:spPr>
          <a:xfrm>
            <a:off x="290830" y="978535"/>
            <a:ext cx="160401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各环节流量点</a:t>
            </a:r>
            <a:endParaRPr lang="zh-CN" altLang="en-US" sz="1200"/>
          </a:p>
        </p:txBody>
      </p:sp>
      <p:cxnSp>
        <p:nvCxnSpPr>
          <p:cNvPr id="88" name="直接连接符 87"/>
          <p:cNvCxnSpPr/>
          <p:nvPr/>
        </p:nvCxnSpPr>
        <p:spPr>
          <a:xfrm>
            <a:off x="1960245" y="1012825"/>
            <a:ext cx="0" cy="5332095"/>
          </a:xfrm>
          <a:prstGeom prst="lin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/>
          <p:cNvSpPr/>
          <p:nvPr/>
        </p:nvSpPr>
        <p:spPr>
          <a:xfrm>
            <a:off x="2025650" y="1955165"/>
            <a:ext cx="9786620" cy="27241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粉质细腻易冲泡、浓郁醇厚的椰香可可味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抹茶味，一口上头！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1995" y="3662045"/>
            <a:ext cx="1173480" cy="123571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UGC</a:t>
            </a:r>
            <a:r>
              <a:rPr lang="zh-CN" altLang="en-US" sz="1200"/>
              <a:t>创意封面</a:t>
            </a:r>
            <a:endParaRPr lang="zh-CN" altLang="en-US" sz="1200"/>
          </a:p>
        </p:txBody>
      </p:sp>
      <p:sp>
        <p:nvSpPr>
          <p:cNvPr id="71" name="矩形 70"/>
          <p:cNvSpPr/>
          <p:nvPr/>
        </p:nvSpPr>
        <p:spPr>
          <a:xfrm>
            <a:off x="9893300" y="1335405"/>
            <a:ext cx="1942465" cy="5740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提高幸福感的椰香可可拿铁！打工人必喝！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911465" y="1355090"/>
            <a:ext cx="1885950" cy="555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倔强大学生！早八人挑战1分钟做拿铁！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973445" y="1354455"/>
            <a:ext cx="1838960" cy="555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每天1r...自制可可风味拿铁！卷起来！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980815" y="1365250"/>
            <a:ext cx="1885950" cy="555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总喝这个...被同学误会了！！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035175" y="1354455"/>
            <a:ext cx="1857375" cy="555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思路打开！被好喝又健康的可可拿铁拿捏住了！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7911465" y="978535"/>
            <a:ext cx="185928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sym typeface="+mn-ea"/>
              </a:rPr>
              <a:t>④人群痛点切入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9887585" y="978535"/>
            <a:ext cx="185928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sym typeface="+mn-ea"/>
              </a:rPr>
              <a:t>⑤美食好物合集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980180" y="978535"/>
            <a:ext cx="185928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sym typeface="+mn-ea"/>
              </a:rPr>
              <a:t>②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UGC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创意方向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5973445" y="978535"/>
            <a:ext cx="185928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sym typeface="+mn-ea"/>
              </a:rPr>
              <a:t>③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DIY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教程方向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2025650" y="978535"/>
            <a:ext cx="1859280" cy="268605"/>
          </a:xfrm>
          <a:prstGeom prst="rect">
            <a:avLst/>
          </a:prstGeom>
          <a:solidFill>
            <a:srgbClr val="5262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sym typeface="+mn-ea"/>
              </a:rPr>
              <a:t>①好喝健康拿铁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1995170" y="2300605"/>
            <a:ext cx="9826625" cy="25355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zh-CN" altLang="en-US" sz="1200" dirty="0">
              <a:solidFill>
                <a:schemeClr val="bg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cxnSp>
        <p:nvCxnSpPr>
          <p:cNvPr id="163" name="直接连接符 162"/>
          <p:cNvCxnSpPr/>
          <p:nvPr/>
        </p:nvCxnSpPr>
        <p:spPr>
          <a:xfrm flipV="1">
            <a:off x="2025650" y="3596640"/>
            <a:ext cx="9806305" cy="16510"/>
          </a:xfrm>
          <a:prstGeom prst="line">
            <a:avLst/>
          </a:prstGeom>
          <a:ln w="28575" cmpd="sng"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291465" y="4932680"/>
            <a:ext cx="365760" cy="17932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内容可读性</a:t>
            </a:r>
            <a:endParaRPr lang="zh-CN" altLang="en-US" sz="1200"/>
          </a:p>
        </p:txBody>
      </p:sp>
      <p:sp>
        <p:nvSpPr>
          <p:cNvPr id="165" name="矩形 164"/>
          <p:cNvSpPr/>
          <p:nvPr/>
        </p:nvSpPr>
        <p:spPr>
          <a:xfrm>
            <a:off x="721995" y="4982845"/>
            <a:ext cx="117348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人群场景</a:t>
            </a:r>
            <a:endParaRPr lang="zh-CN" altLang="en-US" sz="1200"/>
          </a:p>
        </p:txBody>
      </p:sp>
      <p:sp>
        <p:nvSpPr>
          <p:cNvPr id="168" name="矩形 167"/>
          <p:cNvSpPr/>
          <p:nvPr/>
        </p:nvSpPr>
        <p:spPr>
          <a:xfrm>
            <a:off x="721995" y="5448300"/>
            <a:ext cx="1173480" cy="381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文案重点</a:t>
            </a:r>
            <a:endParaRPr lang="zh-CN" altLang="en-US" sz="1200"/>
          </a:p>
        </p:txBody>
      </p:sp>
      <p:sp>
        <p:nvSpPr>
          <p:cNvPr id="169" name="矩形 168"/>
          <p:cNvSpPr/>
          <p:nvPr/>
        </p:nvSpPr>
        <p:spPr>
          <a:xfrm>
            <a:off x="721995" y="5904230"/>
            <a:ext cx="1173480" cy="8216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模拟达人和消费者购买动机</a:t>
            </a:r>
            <a:endParaRPr lang="zh-CN" altLang="en-US" sz="1200"/>
          </a:p>
        </p:txBody>
      </p:sp>
      <p:sp>
        <p:nvSpPr>
          <p:cNvPr id="170" name="矩形 169"/>
          <p:cNvSpPr/>
          <p:nvPr/>
        </p:nvSpPr>
        <p:spPr>
          <a:xfrm>
            <a:off x="2035175" y="4982845"/>
            <a:ext cx="9786620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营养早餐/早八上课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饮食不规律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加班伴侣/朋友聚会/出行游玩/下午茶/运动健身/备考/看书学习......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2038985" y="5448300"/>
            <a:ext cx="9786620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ea typeface="微软雅黑" panose="020B0503020204020204" charset="-122"/>
                <a:sym typeface="+mn-ea"/>
              </a:rPr>
              <a:t>缩短全文篇幅，侧重个人真实分享感，用高度UGC化的文案巧妙展示了产品卖点+口感+推荐口味，减少推广痕迹，以获取用户互动信任</a:t>
            </a:r>
            <a:endParaRPr lang="zh-CN" altLang="en-US" sz="12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9893300" y="5885180"/>
            <a:ext cx="1942465" cy="875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endParaRPr lang="zh-CN" altLang="en-US" sz="10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7911465" y="5904865"/>
            <a:ext cx="1885950" cy="847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endParaRPr lang="zh-CN" altLang="en-US" sz="10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5973445" y="5904230"/>
            <a:ext cx="1838960" cy="847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endParaRPr lang="zh-CN" altLang="en-US" sz="10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3980815" y="5915025"/>
            <a:ext cx="1885950" cy="847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endParaRPr lang="zh-CN" altLang="en-US" sz="10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2035175" y="5904230"/>
            <a:ext cx="1857375" cy="847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None/>
            </a:pPr>
            <a:endParaRPr lang="zh-CN" altLang="en-US" sz="1600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2035175" y="5904230"/>
            <a:ext cx="1858010" cy="859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拿铁爱好者，注重植脂末和反式脂肪酸，追求健康好喝的饮品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3990340" y="5923280"/>
            <a:ext cx="18656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000">
                <a:solidFill>
                  <a:schemeClr val="tx1"/>
                </a:solidFill>
              </a:rPr>
              <a:t>可可类、抹茶类饮品爱好者，喜欢跟风，易被猎奇封面种草，更注重真实分享和饮品口感</a:t>
            </a:r>
            <a:endParaRPr lang="zh-CN" sz="1000">
              <a:solidFill>
                <a:schemeClr val="tx1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9893300" y="5892800"/>
            <a:ext cx="1853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追求高性价比的冲泡饮，对口感和价格敏感，易被评论区口碑打动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929880" y="5904230"/>
            <a:ext cx="18656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以学生党和打工人场景为主，看中饮品的快手冲泡和口感，也会注重性价比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5955030" y="5904230"/>
            <a:ext cx="18186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tx1"/>
                </a:solidFill>
                <a:sym typeface="+mn-ea"/>
              </a:rPr>
              <a:t>喜欢动手</a:t>
            </a:r>
            <a:r>
              <a:rPr lang="en-US" altLang="zh-CN" sz="1000">
                <a:solidFill>
                  <a:schemeClr val="tx1"/>
                </a:solidFill>
                <a:sym typeface="+mn-ea"/>
              </a:rPr>
              <a:t>diy</a:t>
            </a:r>
            <a:r>
              <a:rPr lang="zh-CN" altLang="en-US" sz="1000">
                <a:solidFill>
                  <a:schemeClr val="tx1"/>
                </a:solidFill>
                <a:sym typeface="+mn-ea"/>
              </a:rPr>
              <a:t>，乐于尝试各种新奇的饮品</a:t>
            </a:r>
            <a:r>
              <a:rPr lang="en-US" altLang="zh-CN" sz="1000">
                <a:solidFill>
                  <a:schemeClr val="tx1"/>
                </a:solidFill>
                <a:sym typeface="+mn-ea"/>
              </a:rPr>
              <a:t>or</a:t>
            </a:r>
            <a:r>
              <a:rPr lang="zh-CN" altLang="en-US" sz="1000">
                <a:solidFill>
                  <a:schemeClr val="tx1"/>
                </a:solidFill>
                <a:sym typeface="+mn-ea"/>
              </a:rPr>
              <a:t>甜品</a:t>
            </a:r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34975" y="335280"/>
            <a:ext cx="10272395" cy="583565"/>
            <a:chOff x="1075" y="683"/>
            <a:chExt cx="1617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1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2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3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4"/>
              </p:custDataLst>
            </p:nvPr>
          </p:nvSpPr>
          <p:spPr>
            <a:xfrm>
              <a:off x="3323" y="683"/>
              <a:ext cx="1392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种草各环节流量点（</a:t>
              </a:r>
              <a:r>
                <a:rPr lang="en-US" altLang="zh-CN" sz="3200" b="1" spc="600" dirty="0">
                  <a:latin typeface="微软雅黑" panose="020B0503020204020204" charset="-122"/>
                  <a:ea typeface="微软雅黑" panose="020B0503020204020204" charset="-122"/>
                </a:rPr>
                <a:t>CTR</a:t>
              </a:r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点击率）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>
            <a:grpSpLocks noChangeAspect="1"/>
          </p:cNvGrpSpPr>
          <p:nvPr/>
        </p:nvGrpSpPr>
        <p:grpSpPr>
          <a:xfrm>
            <a:off x="2032000" y="3666490"/>
            <a:ext cx="4549140" cy="1143000"/>
            <a:chOff x="3877" y="3340"/>
            <a:chExt cx="16398" cy="4119"/>
          </a:xfrm>
        </p:grpSpPr>
        <p:grpSp>
          <p:nvGrpSpPr>
            <p:cNvPr id="24" name="组合 23"/>
            <p:cNvGrpSpPr>
              <a:grpSpLocks noChangeAspect="1"/>
            </p:cNvGrpSpPr>
            <p:nvPr/>
          </p:nvGrpSpPr>
          <p:grpSpPr>
            <a:xfrm>
              <a:off x="3877" y="3343"/>
              <a:ext cx="13157" cy="4116"/>
              <a:chOff x="9075" y="2753"/>
              <a:chExt cx="8469" cy="2649"/>
            </a:xfrm>
          </p:grpSpPr>
          <p:pic>
            <p:nvPicPr>
              <p:cNvPr id="25" name="attachment-1671523672485-51ef557e71714118" descr="attachment-1671523672485-51ef557e71714118"/>
              <p:cNvPicPr/>
              <p:nvPr>
                <p:custDataLst>
                  <p:tags r:id="rId5"/>
                </p:custDataLst>
              </p:nvPr>
            </p:nvPicPr>
            <p:blipFill>
              <a:blip r:embed="rId6" cstate="print"/>
              <a:srcRect/>
              <a:stretch>
                <a:fillRect/>
              </a:stretch>
            </p:blipFill>
            <p:spPr>
              <a:xfrm>
                <a:off x="9075" y="2753"/>
                <a:ext cx="2057" cy="2648"/>
              </a:xfrm>
              <a:prstGeom prst="rect">
                <a:avLst/>
              </a:prstGeom>
              <a:noFill/>
            </p:spPr>
          </p:pic>
          <p:pic>
            <p:nvPicPr>
              <p:cNvPr id="27" name="图片 26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11275" y="2753"/>
                <a:ext cx="1975" cy="2649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13393" y="2753"/>
                <a:ext cx="1984" cy="2647"/>
              </a:xfrm>
              <a:prstGeom prst="rect">
                <a:avLst/>
              </a:prstGeom>
            </p:spPr>
          </p:pic>
          <p:pic>
            <p:nvPicPr>
              <p:cNvPr id="29" name="图片 28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15558" y="2753"/>
                <a:ext cx="1986" cy="2649"/>
              </a:xfrm>
              <a:prstGeom prst="rect">
                <a:avLst/>
              </a:prstGeom>
            </p:spPr>
          </p:pic>
        </p:grpSp>
        <p:pic>
          <p:nvPicPr>
            <p:cNvPr id="30" name="图片 2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7179" y="3340"/>
              <a:ext cx="3096" cy="4115"/>
            </a:xfrm>
            <a:prstGeom prst="rect">
              <a:avLst/>
            </a:prstGeom>
          </p:spPr>
        </p:pic>
      </p:grpSp>
      <p:pic>
        <p:nvPicPr>
          <p:cNvPr id="100" name="图片 9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654800" y="3667125"/>
            <a:ext cx="856615" cy="11423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81265" y="3666490"/>
            <a:ext cx="855345" cy="1141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500110" y="3662045"/>
            <a:ext cx="859790" cy="11468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9429750" y="3667125"/>
            <a:ext cx="846455" cy="11290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317480" y="3667125"/>
            <a:ext cx="855345" cy="11410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009775" y="2321560"/>
            <a:ext cx="923290" cy="125476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3" name="图片 3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2955925" y="2321560"/>
            <a:ext cx="922020" cy="125476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980180" y="2321560"/>
            <a:ext cx="921385" cy="124841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4930140" y="2332355"/>
            <a:ext cx="917575" cy="1235075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6" name="图片 35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896860" y="2300605"/>
            <a:ext cx="915035" cy="123571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8820150" y="2289810"/>
            <a:ext cx="915670" cy="1235075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5973445" y="2332355"/>
            <a:ext cx="912495" cy="1236345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39" name="图片 3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906895" y="2321560"/>
            <a:ext cx="905510" cy="123571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10832465" y="2333625"/>
            <a:ext cx="917575" cy="12255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41" name="图片 40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9893300" y="2332355"/>
            <a:ext cx="906780" cy="1224915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</p:spTree>
    <p:custDataLst>
      <p:tags r:id="rId4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49410" y="5322570"/>
            <a:ext cx="1244600" cy="120078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2223770" y="1892300"/>
            <a:ext cx="8580755" cy="485140"/>
            <a:chOff x="2842" y="2860"/>
            <a:chExt cx="13513" cy="764"/>
          </a:xfrm>
        </p:grpSpPr>
        <p:sp>
          <p:nvSpPr>
            <p:cNvPr id="14" name="五边形 13"/>
            <p:cNvSpPr/>
            <p:nvPr>
              <p:custDataLst>
                <p:tags r:id="rId3"/>
              </p:custDataLst>
            </p:nvPr>
          </p:nvSpPr>
          <p:spPr>
            <a:xfrm>
              <a:off x="11137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达人匹配</a:t>
              </a:r>
              <a:endParaRPr lang="zh-CN" altLang="en-US"/>
            </a:p>
          </p:txBody>
        </p:sp>
        <p:sp>
          <p:nvSpPr>
            <p:cNvPr id="10" name="五边形 9"/>
            <p:cNvSpPr/>
            <p:nvPr/>
          </p:nvSpPr>
          <p:spPr>
            <a:xfrm rot="10800000">
              <a:off x="2842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65" y="2860"/>
              <a:ext cx="4796" cy="7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内容方向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42265" y="2369185"/>
            <a:ext cx="4722495" cy="3811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DIY教程引入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200" b="1" u="sng">
                <a:solidFill>
                  <a:srgbClr val="52623F"/>
                </a:solidFill>
                <a:sym typeface="+mn-ea"/>
              </a:rPr>
              <a:t>爆文公式：产品卖点 x 干货教程=高实用价值=更易被「收藏+点赞」</a:t>
            </a:r>
            <a:endParaRPr lang="zh-CN" altLang="en-US" sz="12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从创意自制饮品</a:t>
            </a:r>
            <a:r>
              <a:rPr lang="en-US" altLang="zh-CN" sz="1400">
                <a:sym typeface="+mn-ea"/>
              </a:rPr>
              <a:t>or</a:t>
            </a:r>
            <a:r>
              <a:rPr lang="zh-CN" altLang="en-US" sz="1400">
                <a:sym typeface="+mn-ea"/>
              </a:rPr>
              <a:t>甜品教程出发，需要植入产品，放大产品的参与性；</a:t>
            </a:r>
            <a:r>
              <a:rPr sz="1400">
                <a:sym typeface="+mn-ea"/>
              </a:rPr>
              <a:t>减脂人自制饮品/瑞幸生椰拿铁复刻/自制春日第一杯拿铁/懒人版抹茶厚乳拿铁等（可让达人自由发挥）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sz="1400">
                <a:sym typeface="+mn-ea"/>
              </a:rPr>
              <a:t>例①：每天1r...自制可可风味拿铁！卷起来！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创意UGC方向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200" b="1" u="sng">
                <a:solidFill>
                  <a:srgbClr val="52623F"/>
                </a:solidFill>
                <a:sym typeface="+mn-ea"/>
              </a:rPr>
              <a:t>爆文公式：</a:t>
            </a:r>
            <a:r>
              <a:rPr lang="zh-CN" altLang="en-US" sz="1200" b="1" u="sng">
                <a:solidFill>
                  <a:srgbClr val="52623F"/>
                </a:solidFill>
                <a:sym typeface="+mn-ea"/>
              </a:rPr>
              <a:t>创意封面 x 高UGC文案=高种草氛围=激发用户兴趣</a:t>
            </a:r>
            <a:endParaRPr lang="zh-CN" altLang="en-US" sz="12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利用平台内的高热度猎奇封面，并结合故事感标题，能满足小红书用户的猎奇心理，</a:t>
            </a:r>
            <a:r>
              <a:rPr lang="en-US" altLang="zh-CN" sz="1400">
                <a:sym typeface="+mn-ea"/>
              </a:rPr>
              <a:t>ctr</a:t>
            </a:r>
            <a:r>
              <a:rPr lang="zh-CN" altLang="en-US" sz="1400">
                <a:sym typeface="+mn-ea"/>
              </a:rPr>
              <a:t>点击率高，利于产品的扩大曝光；</a:t>
            </a:r>
            <a:endParaRPr lang="zh-CN" altLang="en-US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例①：总喝这个...被我妈误会了！！</a:t>
            </a:r>
            <a:endParaRPr lang="zh-CN" altLang="en-US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lang="zh-CN" altLang="en-US" sz="1600">
              <a:sym typeface="+mn-ea"/>
            </a:endParaRPr>
          </a:p>
          <a:p>
            <a:pPr marL="112395" algn="l" rtl="0" eaLnBrk="0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3、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品牌品类推荐/测评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600">
                <a:sym typeface="+mn-ea"/>
              </a:rPr>
              <a:t>以品牌作为背书，以爆款产品拉动茶拿铁的曝光增长；</a:t>
            </a:r>
            <a:endParaRPr lang="zh-CN" altLang="en-US" sz="16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600">
                <a:sym typeface="+mn-ea"/>
              </a:rPr>
              <a:t>例：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川宁必买大盘点！回购不下五次的心头爱！！</a:t>
            </a:r>
            <a:endParaRPr lang="zh-CN" altLang="en-US" sz="1600"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7726045" cy="583565"/>
            <a:chOff x="1075" y="683"/>
            <a:chExt cx="1216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5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6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7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8"/>
              </p:custDataLst>
            </p:nvPr>
          </p:nvSpPr>
          <p:spPr>
            <a:xfrm>
              <a:off x="3323" y="683"/>
              <a:ext cx="99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美食爱好人群种草内容建议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492375" y="1138555"/>
            <a:ext cx="7232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12395" indent="0" algn="ctr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“</a:t>
            </a:r>
            <a:r>
              <a:rPr lang="zh-CN" sz="2000">
                <a:sym typeface="+mn-ea"/>
              </a:rPr>
              <a:t>深耕平台内高热度美食内容，匹配垂类达人进行创作</a:t>
            </a:r>
            <a:r>
              <a:rPr lang="en-US" altLang="zh-CN" sz="2000">
                <a:sym typeface="+mn-ea"/>
              </a:rPr>
              <a:t>”</a:t>
            </a:r>
            <a:endParaRPr lang="en-US" altLang="zh-CN" sz="2000">
              <a:sym typeface="+mn-ea"/>
            </a:endParaRPr>
          </a:p>
        </p:txBody>
      </p:sp>
      <p:sp>
        <p:nvSpPr>
          <p:cNvPr id="29" name="任意多边形 28"/>
          <p:cNvSpPr/>
          <p:nvPr>
            <p:custDataLst>
              <p:tags r:id="rId9"/>
            </p:custDataLst>
          </p:nvPr>
        </p:nvSpPr>
        <p:spPr>
          <a:xfrm>
            <a:off x="7654925" y="2787650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饮品/甜品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DIY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教程类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任意多边形 19"/>
          <p:cNvSpPr/>
          <p:nvPr>
            <p:custDataLst>
              <p:tags r:id="rId10"/>
            </p:custDataLst>
          </p:nvPr>
        </p:nvSpPr>
        <p:spPr>
          <a:xfrm>
            <a:off x="7654925" y="4283710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饮品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零食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垂类达人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8505" r="8505"/>
          <a:stretch>
            <a:fillRect/>
          </a:stretch>
        </p:blipFill>
        <p:spPr>
          <a:xfrm>
            <a:off x="9249410" y="3987800"/>
            <a:ext cx="1118235" cy="111823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123680" y="5106035"/>
            <a:ext cx="13703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木瓜顶呱呱</a:t>
            </a:r>
            <a:endParaRPr lang="zh-CN" altLang="en-US" sz="1400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16379" r="16379"/>
          <a:stretch>
            <a:fillRect/>
          </a:stretch>
        </p:blipFill>
        <p:spPr>
          <a:xfrm>
            <a:off x="9249410" y="2552700"/>
            <a:ext cx="1064260" cy="1064260"/>
          </a:xfrm>
          <a:prstGeom prst="ellipse">
            <a:avLst/>
          </a:prstGeom>
        </p:spPr>
      </p:pic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9204960" y="3616960"/>
            <a:ext cx="13703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大阔落</a:t>
            </a:r>
            <a:endParaRPr lang="zh-CN" altLang="en-US" sz="1400">
              <a:sym typeface="+mn-ea"/>
            </a:endParaRPr>
          </a:p>
        </p:txBody>
      </p:sp>
      <p:sp>
        <p:nvSpPr>
          <p:cNvPr id="30" name="任意多边形 29"/>
          <p:cNvSpPr/>
          <p:nvPr>
            <p:custDataLst>
              <p:tags r:id="rId16"/>
            </p:custDataLst>
          </p:nvPr>
        </p:nvSpPr>
        <p:spPr>
          <a:xfrm>
            <a:off x="7654925" y="5634355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美食测评类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9123045" y="6541135"/>
            <a:ext cx="14522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等我吃完这一口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223770" y="1787525"/>
            <a:ext cx="8580755" cy="485140"/>
            <a:chOff x="2842" y="2860"/>
            <a:chExt cx="13513" cy="764"/>
          </a:xfrm>
        </p:grpSpPr>
        <p:sp>
          <p:nvSpPr>
            <p:cNvPr id="14" name="五边形 13"/>
            <p:cNvSpPr/>
            <p:nvPr>
              <p:custDataLst>
                <p:tags r:id="rId1"/>
              </p:custDataLst>
            </p:nvPr>
          </p:nvSpPr>
          <p:spPr>
            <a:xfrm>
              <a:off x="11137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达人匹配</a:t>
              </a:r>
              <a:endParaRPr lang="zh-CN" altLang="en-US"/>
            </a:p>
          </p:txBody>
        </p:sp>
        <p:sp>
          <p:nvSpPr>
            <p:cNvPr id="10" name="五边形 9"/>
            <p:cNvSpPr/>
            <p:nvPr/>
          </p:nvSpPr>
          <p:spPr>
            <a:xfrm rot="10800000">
              <a:off x="2842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65" y="2860"/>
              <a:ext cx="4796" cy="7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内容方向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4975" y="335280"/>
            <a:ext cx="7726045" cy="583565"/>
            <a:chOff x="1075" y="683"/>
            <a:chExt cx="1216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2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3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4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5"/>
              </p:custDataLst>
            </p:nvPr>
          </p:nvSpPr>
          <p:spPr>
            <a:xfrm>
              <a:off x="3323" y="683"/>
              <a:ext cx="99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职场人群种草内容建议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2492375" y="1138555"/>
            <a:ext cx="7232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12395" indent="0" algn="ctr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“</a:t>
            </a:r>
            <a:r>
              <a:rPr lang="zh-CN" sz="2000">
                <a:sym typeface="+mn-ea"/>
              </a:rPr>
              <a:t>渲染消费者痛点场景+个人使用感分享+建立产品口碑</a:t>
            </a:r>
            <a:r>
              <a:rPr lang="en-US" altLang="zh-CN" sz="2000">
                <a:sym typeface="+mn-ea"/>
              </a:rPr>
              <a:t>”</a:t>
            </a:r>
            <a:endParaRPr lang="en-US" altLang="zh-CN" sz="2000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42265" y="2283460"/>
            <a:ext cx="4722495" cy="3811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人群场景融入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200" b="1" u="sng">
                <a:solidFill>
                  <a:srgbClr val="52623F"/>
                </a:solidFill>
                <a:sym typeface="+mn-ea"/>
              </a:rPr>
              <a:t>爆文公式：痛点场景 x 真实分享=更易激发尝试欲望</a:t>
            </a:r>
            <a:endParaRPr lang="zh-CN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从职场打工人的消费场景和痛点出发</a:t>
            </a:r>
            <a:r>
              <a:rPr sz="1400">
                <a:sym typeface="+mn-ea"/>
              </a:rPr>
              <a:t>，</a:t>
            </a:r>
            <a:r>
              <a:rPr lang="zh-CN" sz="1400">
                <a:sym typeface="+mn-ea"/>
              </a:rPr>
              <a:t>例如：饮食不规律、营养早餐、下午茶、加班伴侣等场景突出产品的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好喝又健康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和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不加咖啡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两个核心种草点，以及</a:t>
            </a:r>
            <a:r>
              <a:rPr lang="zh-CN" sz="1400">
                <a:sym typeface="+mn-ea"/>
              </a:rPr>
              <a:t>快手冲泡特点以及和</a:t>
            </a:r>
            <a:r>
              <a:rPr sz="1400">
                <a:sym typeface="+mn-ea"/>
              </a:rPr>
              <a:t>牛奶的搭配</a:t>
            </a:r>
            <a:r>
              <a:rPr lang="zh-CN" sz="1400">
                <a:sym typeface="+mn-ea"/>
              </a:rPr>
              <a:t>卖点等</a:t>
            </a:r>
            <a:r>
              <a:rPr lang="en-US" altLang="zh-CN" sz="1400">
                <a:sym typeface="+mn-ea"/>
              </a:rPr>
              <a:t>...</a:t>
            </a:r>
            <a:endParaRPr lang="en-US" altLang="zh-CN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sz="1400">
                <a:sym typeface="+mn-ea"/>
              </a:rPr>
              <a:t>例①：</a:t>
            </a:r>
            <a:r>
              <a:rPr lang="zh-CN" sz="1400">
                <a:sym typeface="+mn-ea"/>
              </a:rPr>
              <a:t>不敢在办公室喝</a:t>
            </a:r>
            <a:r>
              <a:rPr lang="en-US" altLang="zh-CN" sz="1400">
                <a:sym typeface="+mn-ea"/>
              </a:rPr>
              <a:t>....</a:t>
            </a:r>
            <a:r>
              <a:rPr lang="zh-CN" altLang="en-US" sz="1400">
                <a:sym typeface="+mn-ea"/>
              </a:rPr>
              <a:t>根本活不过</a:t>
            </a:r>
            <a:r>
              <a:rPr lang="en-US" altLang="zh-CN" sz="1400">
                <a:sym typeface="+mn-ea"/>
              </a:rPr>
              <a:t>5</a:t>
            </a:r>
            <a:r>
              <a:rPr lang="zh-CN" altLang="en-US" sz="1400">
                <a:sym typeface="+mn-ea"/>
              </a:rPr>
              <a:t>分钟</a:t>
            </a:r>
            <a:r>
              <a:rPr lang="en-US" altLang="zh-CN" sz="1400">
                <a:sym typeface="+mn-ea"/>
              </a:rPr>
              <a:t>!</a:t>
            </a:r>
            <a:r>
              <a:rPr sz="1400">
                <a:sym typeface="+mn-ea"/>
              </a:rPr>
              <a:t>！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sz="1400">
              <a:sym typeface="+mn-ea"/>
            </a:endParaRPr>
          </a:p>
          <a:p>
            <a:pPr marL="112395" algn="l" rtl="0" eaLnBrk="0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2、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热门话题软植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从平台内打工人的兴趣主题进行植入，将产品融入真实生活，配合各类场景简单记录做法、植入产品。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例如：</a:t>
            </a:r>
            <a:r>
              <a:rPr sz="1400">
                <a:sym typeface="+mn-ea"/>
              </a:rPr>
              <a:t>打工人带饭</a:t>
            </a:r>
            <a:r>
              <a:rPr lang="zh-CN" sz="1400">
                <a:sym typeface="+mn-ea"/>
              </a:rPr>
              <a:t>日常</a:t>
            </a:r>
            <a:r>
              <a:rPr sz="1400">
                <a:sym typeface="+mn-ea"/>
              </a:rPr>
              <a:t>、上班</a:t>
            </a:r>
            <a:r>
              <a:rPr lang="en-US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下班</a:t>
            </a:r>
            <a:r>
              <a:rPr sz="1400">
                <a:sym typeface="+mn-ea"/>
              </a:rPr>
              <a:t>vlog、早餐vlog等</a:t>
            </a:r>
            <a:r>
              <a:rPr lang="en-US" sz="1400">
                <a:sym typeface="+mn-ea"/>
              </a:rPr>
              <a:t>...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好物分享合集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以办公室、职场、打工人为主要背景</a:t>
            </a:r>
            <a:r>
              <a:rPr sz="1400">
                <a:sym typeface="+mn-ea"/>
              </a:rPr>
              <a:t>，从不同</a:t>
            </a:r>
            <a:r>
              <a:rPr lang="zh-CN" sz="1400">
                <a:sym typeface="+mn-ea"/>
              </a:rPr>
              <a:t>主题</a:t>
            </a:r>
            <a:r>
              <a:rPr sz="1400">
                <a:sym typeface="+mn-ea"/>
              </a:rPr>
              <a:t>内容植入产品，</a:t>
            </a:r>
            <a:r>
              <a:rPr lang="zh-CN" sz="1400">
                <a:sym typeface="+mn-ea"/>
              </a:rPr>
              <a:t>贴合消费买点，</a:t>
            </a:r>
            <a:r>
              <a:rPr sz="1400">
                <a:sym typeface="+mn-ea"/>
              </a:rPr>
              <a:t>体现产品的香醇口感和原料背书，并突出高性价比和品牌背书；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例如：办公室茶水间；打工人的上班快乐水</a:t>
            </a:r>
            <a:r>
              <a:rPr lang="en-US" altLang="zh-CN" sz="1400">
                <a:sym typeface="+mn-ea"/>
              </a:rPr>
              <a:t>.....</a:t>
            </a:r>
            <a:endParaRPr lang="en-US" altLang="zh-CN" sz="1400">
              <a:sym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647940" y="2740025"/>
            <a:ext cx="2971800" cy="3939540"/>
            <a:chOff x="12044" y="4390"/>
            <a:chExt cx="4680" cy="6204"/>
          </a:xfrm>
        </p:grpSpPr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12055" y="4390"/>
              <a:ext cx="2433" cy="1080"/>
            </a:xfrm>
            <a:custGeom>
              <a:avLst/>
              <a:gdLst>
                <a:gd name="connsiteX0" fmla="*/ 0 w 2433"/>
                <a:gd name="connsiteY0" fmla="*/ 0 h 1080"/>
                <a:gd name="connsiteX1" fmla="*/ 1702 w 2433"/>
                <a:gd name="connsiteY1" fmla="*/ 0 h 1080"/>
                <a:gd name="connsiteX2" fmla="*/ 1702 w 2433"/>
                <a:gd name="connsiteY2" fmla="*/ 405 h 1080"/>
                <a:gd name="connsiteX3" fmla="*/ 1989 w 2433"/>
                <a:gd name="connsiteY3" fmla="*/ 405 h 1080"/>
                <a:gd name="connsiteX4" fmla="*/ 1989 w 2433"/>
                <a:gd name="connsiteY4" fmla="*/ 255 h 1080"/>
                <a:gd name="connsiteX5" fmla="*/ 2433 w 2433"/>
                <a:gd name="connsiteY5" fmla="*/ 537 h 1080"/>
                <a:gd name="connsiteX6" fmla="*/ 1989 w 2433"/>
                <a:gd name="connsiteY6" fmla="*/ 825 h 1080"/>
                <a:gd name="connsiteX7" fmla="*/ 1989 w 2433"/>
                <a:gd name="connsiteY7" fmla="*/ 675 h 1080"/>
                <a:gd name="connsiteX8" fmla="*/ 1702 w 2433"/>
                <a:gd name="connsiteY8" fmla="*/ 675 h 1080"/>
                <a:gd name="connsiteX9" fmla="*/ 1702 w 2433"/>
                <a:gd name="connsiteY9" fmla="*/ 1080 h 1080"/>
                <a:gd name="connsiteX10" fmla="*/ 0 w 2433"/>
                <a:gd name="connsiteY10" fmla="*/ 1080 h 1080"/>
                <a:gd name="connsiteX11" fmla="*/ 0 w 2433"/>
                <a:gd name="connsiteY11" fmla="*/ 0 h 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3" h="1080">
                  <a:moveTo>
                    <a:pt x="0" y="0"/>
                  </a:moveTo>
                  <a:lnTo>
                    <a:pt x="1702" y="0"/>
                  </a:lnTo>
                  <a:lnTo>
                    <a:pt x="1702" y="405"/>
                  </a:lnTo>
                  <a:lnTo>
                    <a:pt x="1989" y="405"/>
                  </a:lnTo>
                  <a:lnTo>
                    <a:pt x="1989" y="255"/>
                  </a:lnTo>
                  <a:lnTo>
                    <a:pt x="2433" y="537"/>
                  </a:lnTo>
                  <a:lnTo>
                    <a:pt x="1989" y="825"/>
                  </a:lnTo>
                  <a:lnTo>
                    <a:pt x="1989" y="675"/>
                  </a:lnTo>
                  <a:lnTo>
                    <a:pt x="1702" y="675"/>
                  </a:lnTo>
                  <a:lnTo>
                    <a:pt x="1702" y="1080"/>
                  </a:lnTo>
                  <a:lnTo>
                    <a:pt x="0" y="1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美食垂类</a:t>
              </a:r>
              <a:endPara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/>
              <a:r>
                <a:rPr 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达人</a:t>
              </a:r>
              <a:endPara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2044" y="8909"/>
              <a:ext cx="2433" cy="1080"/>
            </a:xfrm>
            <a:custGeom>
              <a:avLst/>
              <a:gdLst>
                <a:gd name="connsiteX0" fmla="*/ 0 w 2433"/>
                <a:gd name="connsiteY0" fmla="*/ 0 h 1080"/>
                <a:gd name="connsiteX1" fmla="*/ 1702 w 2433"/>
                <a:gd name="connsiteY1" fmla="*/ 0 h 1080"/>
                <a:gd name="connsiteX2" fmla="*/ 1702 w 2433"/>
                <a:gd name="connsiteY2" fmla="*/ 405 h 1080"/>
                <a:gd name="connsiteX3" fmla="*/ 1989 w 2433"/>
                <a:gd name="connsiteY3" fmla="*/ 405 h 1080"/>
                <a:gd name="connsiteX4" fmla="*/ 1989 w 2433"/>
                <a:gd name="connsiteY4" fmla="*/ 255 h 1080"/>
                <a:gd name="connsiteX5" fmla="*/ 2433 w 2433"/>
                <a:gd name="connsiteY5" fmla="*/ 537 h 1080"/>
                <a:gd name="connsiteX6" fmla="*/ 1989 w 2433"/>
                <a:gd name="connsiteY6" fmla="*/ 825 h 1080"/>
                <a:gd name="connsiteX7" fmla="*/ 1989 w 2433"/>
                <a:gd name="connsiteY7" fmla="*/ 675 h 1080"/>
                <a:gd name="connsiteX8" fmla="*/ 1702 w 2433"/>
                <a:gd name="connsiteY8" fmla="*/ 675 h 1080"/>
                <a:gd name="connsiteX9" fmla="*/ 1702 w 2433"/>
                <a:gd name="connsiteY9" fmla="*/ 1080 h 1080"/>
                <a:gd name="connsiteX10" fmla="*/ 0 w 2433"/>
                <a:gd name="connsiteY10" fmla="*/ 1080 h 1080"/>
                <a:gd name="connsiteX11" fmla="*/ 0 w 2433"/>
                <a:gd name="connsiteY11" fmla="*/ 0 h 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3" h="1080">
                  <a:moveTo>
                    <a:pt x="0" y="0"/>
                  </a:moveTo>
                  <a:lnTo>
                    <a:pt x="1702" y="0"/>
                  </a:lnTo>
                  <a:lnTo>
                    <a:pt x="1702" y="405"/>
                  </a:lnTo>
                  <a:lnTo>
                    <a:pt x="1989" y="405"/>
                  </a:lnTo>
                  <a:lnTo>
                    <a:pt x="1989" y="255"/>
                  </a:lnTo>
                  <a:lnTo>
                    <a:pt x="2433" y="537"/>
                  </a:lnTo>
                  <a:lnTo>
                    <a:pt x="1989" y="825"/>
                  </a:lnTo>
                  <a:lnTo>
                    <a:pt x="1989" y="675"/>
                  </a:lnTo>
                  <a:lnTo>
                    <a:pt x="1702" y="675"/>
                  </a:lnTo>
                  <a:lnTo>
                    <a:pt x="1702" y="1080"/>
                  </a:lnTo>
                  <a:lnTo>
                    <a:pt x="0" y="1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好物分享类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达人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14566" y="10111"/>
              <a:ext cx="2158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半吨饭量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14496" y="5696"/>
              <a:ext cx="2158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亿点没少吃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18" name="任意多边形 17"/>
            <p:cNvSpPr/>
            <p:nvPr>
              <p:custDataLst>
                <p:tags r:id="rId12"/>
              </p:custDataLst>
            </p:nvPr>
          </p:nvSpPr>
          <p:spPr>
            <a:xfrm>
              <a:off x="12044" y="6814"/>
              <a:ext cx="2433" cy="1080"/>
            </a:xfrm>
            <a:custGeom>
              <a:avLst/>
              <a:gdLst>
                <a:gd name="connsiteX0" fmla="*/ 0 w 2433"/>
                <a:gd name="connsiteY0" fmla="*/ 0 h 1080"/>
                <a:gd name="connsiteX1" fmla="*/ 1702 w 2433"/>
                <a:gd name="connsiteY1" fmla="*/ 0 h 1080"/>
                <a:gd name="connsiteX2" fmla="*/ 1702 w 2433"/>
                <a:gd name="connsiteY2" fmla="*/ 405 h 1080"/>
                <a:gd name="connsiteX3" fmla="*/ 1989 w 2433"/>
                <a:gd name="connsiteY3" fmla="*/ 405 h 1080"/>
                <a:gd name="connsiteX4" fmla="*/ 1989 w 2433"/>
                <a:gd name="connsiteY4" fmla="*/ 255 h 1080"/>
                <a:gd name="connsiteX5" fmla="*/ 2433 w 2433"/>
                <a:gd name="connsiteY5" fmla="*/ 537 h 1080"/>
                <a:gd name="connsiteX6" fmla="*/ 1989 w 2433"/>
                <a:gd name="connsiteY6" fmla="*/ 825 h 1080"/>
                <a:gd name="connsiteX7" fmla="*/ 1989 w 2433"/>
                <a:gd name="connsiteY7" fmla="*/ 675 h 1080"/>
                <a:gd name="connsiteX8" fmla="*/ 1702 w 2433"/>
                <a:gd name="connsiteY8" fmla="*/ 675 h 1080"/>
                <a:gd name="connsiteX9" fmla="*/ 1702 w 2433"/>
                <a:gd name="connsiteY9" fmla="*/ 1080 h 1080"/>
                <a:gd name="connsiteX10" fmla="*/ 0 w 2433"/>
                <a:gd name="connsiteY10" fmla="*/ 1080 h 1080"/>
                <a:gd name="connsiteX11" fmla="*/ 0 w 2433"/>
                <a:gd name="connsiteY11" fmla="*/ 0 h 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3" h="1080">
                  <a:moveTo>
                    <a:pt x="0" y="0"/>
                  </a:moveTo>
                  <a:lnTo>
                    <a:pt x="1702" y="0"/>
                  </a:lnTo>
                  <a:lnTo>
                    <a:pt x="1702" y="405"/>
                  </a:lnTo>
                  <a:lnTo>
                    <a:pt x="1989" y="405"/>
                  </a:lnTo>
                  <a:lnTo>
                    <a:pt x="1989" y="255"/>
                  </a:lnTo>
                  <a:lnTo>
                    <a:pt x="2433" y="537"/>
                  </a:lnTo>
                  <a:lnTo>
                    <a:pt x="1989" y="825"/>
                  </a:lnTo>
                  <a:lnTo>
                    <a:pt x="1989" y="675"/>
                  </a:lnTo>
                  <a:lnTo>
                    <a:pt x="1702" y="675"/>
                  </a:lnTo>
                  <a:lnTo>
                    <a:pt x="1702" y="1080"/>
                  </a:lnTo>
                  <a:lnTo>
                    <a:pt x="0" y="1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职场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IP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达人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3"/>
              </p:custDataLst>
            </p:nvPr>
          </p:nvSpPr>
          <p:spPr>
            <a:xfrm>
              <a:off x="14566" y="8004"/>
              <a:ext cx="2158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小茶吨吨吨</a:t>
              </a:r>
              <a:endParaRPr lang="zh-CN" altLang="en-US" sz="1400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223770" y="1892300"/>
            <a:ext cx="8580755" cy="485140"/>
            <a:chOff x="2842" y="2860"/>
            <a:chExt cx="13513" cy="764"/>
          </a:xfrm>
        </p:grpSpPr>
        <p:sp>
          <p:nvSpPr>
            <p:cNvPr id="14" name="五边形 13"/>
            <p:cNvSpPr/>
            <p:nvPr>
              <p:custDataLst>
                <p:tags r:id="rId1"/>
              </p:custDataLst>
            </p:nvPr>
          </p:nvSpPr>
          <p:spPr>
            <a:xfrm>
              <a:off x="11137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达人匹配</a:t>
              </a:r>
              <a:endParaRPr lang="zh-CN" altLang="en-US"/>
            </a:p>
          </p:txBody>
        </p:sp>
        <p:sp>
          <p:nvSpPr>
            <p:cNvPr id="10" name="五边形 9"/>
            <p:cNvSpPr/>
            <p:nvPr/>
          </p:nvSpPr>
          <p:spPr>
            <a:xfrm rot="10800000">
              <a:off x="2842" y="2860"/>
              <a:ext cx="5219" cy="765"/>
            </a:xfrm>
            <a:prstGeom prst="homePlate">
              <a:avLst/>
            </a:prstGeom>
            <a:solidFill>
              <a:srgbClr val="5262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65" y="2860"/>
              <a:ext cx="4796" cy="7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内容方向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42265" y="2397760"/>
            <a:ext cx="4722495" cy="3811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人群场景融入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200" b="1" u="sng">
                <a:solidFill>
                  <a:srgbClr val="52623F"/>
                </a:solidFill>
                <a:sym typeface="+mn-ea"/>
              </a:rPr>
              <a:t>爆文公式：痛点场景 x 真实分享=更易激发尝试欲望</a:t>
            </a:r>
            <a:endParaRPr lang="zh-CN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洞察学生党的消费场景和痛点</a:t>
            </a:r>
            <a:r>
              <a:rPr sz="1400">
                <a:sym typeface="+mn-ea"/>
              </a:rPr>
              <a:t>，</a:t>
            </a:r>
            <a:r>
              <a:rPr lang="zh-CN" sz="1400">
                <a:sym typeface="+mn-ea"/>
              </a:rPr>
              <a:t>例如：早八来不及买早餐、实现拿铁自由、宿舍囤货等场景突出产品的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好喝又健康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和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不加咖啡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两个核心种草点，以及</a:t>
            </a:r>
            <a:r>
              <a:rPr lang="zh-CN" sz="1400">
                <a:sym typeface="+mn-ea"/>
              </a:rPr>
              <a:t>快手冲泡特点以及和</a:t>
            </a:r>
            <a:r>
              <a:rPr sz="1400">
                <a:sym typeface="+mn-ea"/>
              </a:rPr>
              <a:t>牛奶的搭配</a:t>
            </a:r>
            <a:r>
              <a:rPr lang="zh-CN" sz="1400">
                <a:sym typeface="+mn-ea"/>
              </a:rPr>
              <a:t>卖点等</a:t>
            </a:r>
            <a:r>
              <a:rPr lang="en-US" altLang="zh-CN" sz="1400">
                <a:sym typeface="+mn-ea"/>
              </a:rPr>
              <a:t>...</a:t>
            </a:r>
            <a:endParaRPr lang="en-US" altLang="zh-CN"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sz="1400">
                <a:sym typeface="+mn-ea"/>
              </a:rPr>
              <a:t>例①：</a:t>
            </a:r>
            <a:r>
              <a:rPr lang="zh-CN" sz="1400">
                <a:sym typeface="+mn-ea"/>
              </a:rPr>
              <a:t>拿铁脑袋太爱了！整个寝室找我要链接</a:t>
            </a:r>
            <a:r>
              <a:rPr lang="en-US" altLang="zh-CN" sz="1400">
                <a:sym typeface="+mn-ea"/>
              </a:rPr>
              <a:t>!</a:t>
            </a:r>
            <a:r>
              <a:rPr sz="1400">
                <a:sym typeface="+mn-ea"/>
              </a:rPr>
              <a:t>！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sz="1400">
              <a:sym typeface="+mn-ea"/>
            </a:endParaRPr>
          </a:p>
          <a:p>
            <a:pPr marL="112395" algn="l" rtl="0" eaLnBrk="0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2、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热门话题软植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sz="1400">
                <a:sym typeface="+mn-ea"/>
              </a:rPr>
              <a:t>利用平台内学生党较为关注的</a:t>
            </a:r>
            <a:r>
              <a:rPr lang="en-US" altLang="zh-CN" sz="1400">
                <a:sym typeface="+mn-ea"/>
              </a:rPr>
              <a:t>vlog</a:t>
            </a:r>
            <a:r>
              <a:rPr lang="zh-CN" altLang="en-US" sz="1400">
                <a:sym typeface="+mn-ea"/>
              </a:rPr>
              <a:t>或者</a:t>
            </a:r>
            <a:r>
              <a:rPr lang="en-US" altLang="zh-CN" sz="1400">
                <a:sym typeface="+mn-ea"/>
              </a:rPr>
              <a:t>Plog</a:t>
            </a:r>
            <a:r>
              <a:rPr lang="zh-CN" sz="1400">
                <a:sym typeface="+mn-ea"/>
              </a:rPr>
              <a:t>形式</a:t>
            </a:r>
            <a:r>
              <a:rPr lang="zh-CN" sz="1400">
                <a:sym typeface="+mn-ea"/>
              </a:rPr>
              <a:t>进行植入，将产品融入真实生活，配合各类场景简单记录做法、植入产品。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例如：一天在校记录</a:t>
            </a:r>
            <a:r>
              <a:rPr lang="en-US" altLang="zh-CN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自律学习备考等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 u="sng">
                <a:solidFill>
                  <a:srgbClr val="52623F"/>
                </a:solidFill>
                <a:sym typeface="+mn-ea"/>
              </a:rPr>
              <a:t>好物分享合集</a:t>
            </a:r>
            <a:endParaRPr lang="zh-CN" altLang="en-US" sz="2000" b="1" u="sng">
              <a:solidFill>
                <a:srgbClr val="52623F"/>
              </a:solidFill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sz="1400">
                <a:sym typeface="+mn-ea"/>
              </a:rPr>
              <a:t>学生党相关好物合集形式，从不同主题的内容植入产品，体现产品的香醇口感和原料背书，并突出高性价比和品牌背书；</a:t>
            </a:r>
            <a:endParaRPr sz="1400">
              <a:sym typeface="+mn-ea"/>
            </a:endParaRPr>
          </a:p>
          <a:p>
            <a:pPr marL="112395" indent="0" algn="l" rtl="0" eaLnBrk="0" fontAlgn="auto">
              <a:lnSpc>
                <a:spcPct val="100000"/>
              </a:lnSpc>
            </a:pPr>
            <a:r>
              <a:rPr lang="zh-CN" altLang="en-US" sz="1400">
                <a:sym typeface="+mn-ea"/>
              </a:rPr>
              <a:t>例如：减脂养生冲泡饮合集；适合学生常囤的好物分享！</a:t>
            </a:r>
            <a:endParaRPr lang="zh-CN" altLang="en-US" sz="1600"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7726045" cy="583565"/>
            <a:chOff x="1075" y="683"/>
            <a:chExt cx="1216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3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4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5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6"/>
              </p:custDataLst>
            </p:nvPr>
          </p:nvSpPr>
          <p:spPr>
            <a:xfrm>
              <a:off x="3323" y="683"/>
              <a:ext cx="99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美食爱好人群种草内容建议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492375" y="1138555"/>
            <a:ext cx="7232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12395" indent="0" algn="ctr" rtl="0" eaLnBrk="0" fontAlgn="auto">
              <a:lnSpc>
                <a:spcPct val="100000"/>
              </a:lnSpc>
            </a:pPr>
            <a:r>
              <a:rPr lang="en-US" altLang="zh-CN" sz="2000">
                <a:sym typeface="+mn-ea"/>
              </a:rPr>
              <a:t>“</a:t>
            </a:r>
            <a:r>
              <a:rPr lang="zh-CN" sz="2000">
                <a:sym typeface="+mn-ea"/>
              </a:rPr>
              <a:t>渲染消费者痛点场景+个人使用感分享+建立品牌口碑</a:t>
            </a:r>
            <a:r>
              <a:rPr lang="en-US" altLang="zh-CN" sz="2000">
                <a:sym typeface="+mn-ea"/>
              </a:rPr>
              <a:t>”</a:t>
            </a:r>
            <a:endParaRPr lang="en-US" altLang="zh-CN" sz="2000">
              <a:sym typeface="+mn-ea"/>
            </a:endParaRPr>
          </a:p>
        </p:txBody>
      </p:sp>
      <p:sp>
        <p:nvSpPr>
          <p:cNvPr id="29" name="任意多边形 28"/>
          <p:cNvSpPr/>
          <p:nvPr>
            <p:custDataLst>
              <p:tags r:id="rId7"/>
            </p:custDataLst>
          </p:nvPr>
        </p:nvSpPr>
        <p:spPr>
          <a:xfrm>
            <a:off x="7654925" y="2787650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美食垂类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达人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任意多边形 19"/>
          <p:cNvSpPr/>
          <p:nvPr>
            <p:custDataLst>
              <p:tags r:id="rId8"/>
            </p:custDataLst>
          </p:nvPr>
        </p:nvSpPr>
        <p:spPr>
          <a:xfrm>
            <a:off x="7647940" y="5657215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学生类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好物分享类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达人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49410" y="6420485"/>
            <a:ext cx="13703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小熊莓头脑</a:t>
            </a:r>
            <a:endParaRPr lang="zh-CN" altLang="en-US" sz="1400"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9204960" y="3616960"/>
            <a:ext cx="13703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小可の日常</a:t>
            </a:r>
            <a:endParaRPr lang="zh-CN" altLang="en-US" sz="1400">
              <a:sym typeface="+mn-ea"/>
            </a:endParaRPr>
          </a:p>
        </p:txBody>
      </p:sp>
      <p:sp>
        <p:nvSpPr>
          <p:cNvPr id="5" name="任意多边形 4"/>
          <p:cNvSpPr/>
          <p:nvPr>
            <p:custDataLst>
              <p:tags r:id="rId10"/>
            </p:custDataLst>
          </p:nvPr>
        </p:nvSpPr>
        <p:spPr>
          <a:xfrm>
            <a:off x="7647940" y="4326890"/>
            <a:ext cx="1544955" cy="685800"/>
          </a:xfrm>
          <a:custGeom>
            <a:avLst/>
            <a:gdLst>
              <a:gd name="connsiteX0" fmla="*/ 0 w 2433"/>
              <a:gd name="connsiteY0" fmla="*/ 0 h 1080"/>
              <a:gd name="connsiteX1" fmla="*/ 1702 w 2433"/>
              <a:gd name="connsiteY1" fmla="*/ 0 h 1080"/>
              <a:gd name="connsiteX2" fmla="*/ 1702 w 2433"/>
              <a:gd name="connsiteY2" fmla="*/ 405 h 1080"/>
              <a:gd name="connsiteX3" fmla="*/ 1989 w 2433"/>
              <a:gd name="connsiteY3" fmla="*/ 405 h 1080"/>
              <a:gd name="connsiteX4" fmla="*/ 1989 w 2433"/>
              <a:gd name="connsiteY4" fmla="*/ 255 h 1080"/>
              <a:gd name="connsiteX5" fmla="*/ 2433 w 2433"/>
              <a:gd name="connsiteY5" fmla="*/ 537 h 1080"/>
              <a:gd name="connsiteX6" fmla="*/ 1989 w 2433"/>
              <a:gd name="connsiteY6" fmla="*/ 825 h 1080"/>
              <a:gd name="connsiteX7" fmla="*/ 1989 w 2433"/>
              <a:gd name="connsiteY7" fmla="*/ 675 h 1080"/>
              <a:gd name="connsiteX8" fmla="*/ 1702 w 2433"/>
              <a:gd name="connsiteY8" fmla="*/ 675 h 1080"/>
              <a:gd name="connsiteX9" fmla="*/ 1702 w 2433"/>
              <a:gd name="connsiteY9" fmla="*/ 1080 h 1080"/>
              <a:gd name="connsiteX10" fmla="*/ 0 w 2433"/>
              <a:gd name="connsiteY10" fmla="*/ 1080 h 1080"/>
              <a:gd name="connsiteX11" fmla="*/ 0 w 2433"/>
              <a:gd name="connsiteY11" fmla="*/ 0 h 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3" h="1080">
                <a:moveTo>
                  <a:pt x="0" y="0"/>
                </a:moveTo>
                <a:lnTo>
                  <a:pt x="1702" y="0"/>
                </a:lnTo>
                <a:lnTo>
                  <a:pt x="1702" y="405"/>
                </a:lnTo>
                <a:lnTo>
                  <a:pt x="1989" y="405"/>
                </a:lnTo>
                <a:lnTo>
                  <a:pt x="1989" y="255"/>
                </a:lnTo>
                <a:lnTo>
                  <a:pt x="2433" y="537"/>
                </a:lnTo>
                <a:lnTo>
                  <a:pt x="1989" y="825"/>
                </a:lnTo>
                <a:lnTo>
                  <a:pt x="1989" y="675"/>
                </a:lnTo>
                <a:lnTo>
                  <a:pt x="1702" y="675"/>
                </a:lnTo>
                <a:lnTo>
                  <a:pt x="1702" y="1080"/>
                </a:lnTo>
                <a:lnTo>
                  <a:pt x="0" y="1080"/>
                </a:lnTo>
                <a:lnTo>
                  <a:pt x="0" y="0"/>
                </a:lnTo>
                <a:close/>
              </a:path>
            </a:pathLst>
          </a:cu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学生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IP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达人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9249410" y="5082540"/>
            <a:ext cx="13703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敲敲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4"/>
          <p:cNvSpPr txBox="1">
            <a:spLocks noChangeArrowheads="1"/>
          </p:cNvSpPr>
          <p:nvPr/>
        </p:nvSpPr>
        <p:spPr bwMode="auto">
          <a:xfrm>
            <a:off x="506994" y="929298"/>
            <a:ext cx="9664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基于小红书搜索逻辑，在笔记中植入热门关键词，有助于笔记的权重提升，达成长尾流量效应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7760" y="1800671"/>
          <a:ext cx="338685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25"/>
                <a:gridCol w="1693425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热搜关键词（产品相关）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23F"/>
                    </a:solidFill>
                  </a:tcPr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好喝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第一梯队关键词</a:t>
                      </a:r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拿铁咖啡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自制拿铁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饮品教程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aseline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抹茶拿铁</a:t>
                      </a:r>
                      <a:endParaRPr lang="zh-CN" altLang="en-US" sz="1600" baseline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可可粉</a:t>
                      </a:r>
                      <a:endParaRPr 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生椰拿铁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第二梯队关键词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燕麦拿铁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无糖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提神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厚乳拿铁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000875" y="1790700"/>
          <a:ext cx="3900170" cy="263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090"/>
                <a:gridCol w="1402080"/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产品流量推荐词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23F"/>
                    </a:solidFill>
                  </a:tcPr>
                </a:tc>
                <a:tc hMerge="1"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自制拿铁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小红书</a:t>
                      </a:r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搜索推荐</a:t>
                      </a:r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瑞幸生椰拿铁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01955">
                <a:tc>
                  <a:txBody>
                    <a:bodyPr/>
                    <a:lstStyle/>
                    <a:p>
                      <a:r>
                        <a:rPr 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天天喝奶茶</a:t>
                      </a:r>
                      <a:endParaRPr 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02590">
                <a:tc>
                  <a:txBody>
                    <a:bodyPr/>
                    <a:lstStyle/>
                    <a:p>
                      <a:r>
                        <a:rPr 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居家自制饮品</a:t>
                      </a:r>
                      <a:endParaRPr 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1955">
                <a:tc>
                  <a:txBody>
                    <a:bodyPr/>
                    <a:lstStyle/>
                    <a:p>
                      <a:r>
                        <a:rPr 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可可粉哪个品牌好</a:t>
                      </a:r>
                      <a:endParaRPr 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59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抹茶粉推荐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422437" y="1784839"/>
          <a:ext cx="2329585" cy="341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635"/>
                <a:gridCol w="1058950"/>
              </a:tblGrid>
              <a:tr h="338322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美食相关热搜词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23F"/>
                    </a:solidFill>
                  </a:tcPr>
                </a:tc>
                <a:tc hMerge="1"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周榜单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月榜单</a:t>
                      </a:r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爆款美食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咖啡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3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春天第一杯奶茶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甜品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今日便当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饮品教程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冰饮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美食打卡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下午茶推荐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小红书爆款美食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零食低卡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咖啡拿铁</a:t>
                      </a:r>
                      <a:endParaRPr lang="zh-CN" altLang="en-US" sz="1600" kern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6915785" y="4428490"/>
            <a:ext cx="5276215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必带关键词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川宁椰香拿铁、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川宁椰香可可拿铁、川宁椰香抹茶拿铁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热门话题类型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饮料日常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#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小红书爆款美食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#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自制神仙饮品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#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一起嚯奶茶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办公室好物推荐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#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今天早餐长这样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4"/>
          <p:cNvSpPr txBox="1">
            <a:spLocks noChangeArrowheads="1"/>
          </p:cNvSpPr>
          <p:nvPr/>
        </p:nvSpPr>
        <p:spPr bwMode="auto">
          <a:xfrm>
            <a:off x="7883115" y="6366588"/>
            <a:ext cx="508287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备注：执行阶段每天根据实时热搜词情况调整笔记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2" name="组合 51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3" name="椭圆 52"/>
              <p:cNvSpPr/>
              <p:nvPr>
                <p:custDataLst>
                  <p:tags r:id="rId4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椭圆 53"/>
              <p:cNvSpPr/>
              <p:nvPr>
                <p:custDataLst>
                  <p:tags r:id="rId5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7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小红书关键词策略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box 517"/>
          <p:cNvSpPr/>
          <p:nvPr/>
        </p:nvSpPr>
        <p:spPr>
          <a:xfrm>
            <a:off x="3062384" y="5856531"/>
            <a:ext cx="1766570" cy="8934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lang="en-US" altLang="en-US" sz="100" dirty="0"/>
          </a:p>
          <a:p>
            <a:pPr marL="12700" indent="0" algn="l" rtl="0" eaLnBrk="0">
              <a:lnSpc>
                <a:spcPct val="102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 </a:t>
            </a:r>
            <a:r>
              <a:rPr lang="zh-CN"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抹茶拿铁口感是真的好，清甜又不会腻，而且粉质细腻，特别容易冲泡！</a:t>
            </a:r>
            <a:endParaRPr lang="zh-CN" sz="1400" dirty="0"/>
          </a:p>
        </p:txBody>
      </p:sp>
      <p:sp>
        <p:nvSpPr>
          <p:cNvPr id="520" name="textbox 520"/>
          <p:cNvSpPr/>
          <p:nvPr/>
        </p:nvSpPr>
        <p:spPr>
          <a:xfrm>
            <a:off x="8582182" y="5856531"/>
            <a:ext cx="1818004" cy="7029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33000"/>
              </a:lnSpc>
            </a:pPr>
            <a:endParaRPr lang="en-US" altLang="en-US" sz="100" dirty="0"/>
          </a:p>
          <a:p>
            <a:pPr marL="12700" indent="1270" algn="l" rtl="0" eaLnBrk="0">
              <a:lnSpc>
                <a:spcPct val="107000"/>
              </a:lnSpc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r>
              <a:rPr lang="zh-CN"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真的大爱川宁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！！</a:t>
            </a:r>
            <a:r>
              <a:rPr lang="zh-CN"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茶做的好喝就算了！怎么做拿铁都能戳中我的心</a:t>
            </a:r>
            <a:endParaRPr lang="zh-CN" sz="1400" spc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1" name="textbox 521"/>
          <p:cNvSpPr/>
          <p:nvPr/>
        </p:nvSpPr>
        <p:spPr>
          <a:xfrm>
            <a:off x="4951688" y="5856531"/>
            <a:ext cx="1768475" cy="700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7000"/>
              </a:lnSpc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r>
              <a:rPr lang="zh-CN"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同款可可拿铁，办公室下午茶必须来一杯！</a:t>
            </a:r>
            <a:endParaRPr lang="zh-CN" sz="1400" spc="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5" name="textbox 525"/>
          <p:cNvSpPr/>
          <p:nvPr/>
        </p:nvSpPr>
        <p:spPr>
          <a:xfrm>
            <a:off x="1083268" y="5853355"/>
            <a:ext cx="1768475" cy="4876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7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r>
              <a:rPr lang="zh-CN"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r>
              <a:rPr lang="zh-CN"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抹茶控实名制推荐！跟奶茶店喝到的一模一样！</a:t>
            </a:r>
            <a:endParaRPr lang="en-US" altLang="en-US" sz="1400" dirty="0"/>
          </a:p>
        </p:txBody>
      </p:sp>
      <p:sp>
        <p:nvSpPr>
          <p:cNvPr id="526" name="textbox 526"/>
          <p:cNvSpPr/>
          <p:nvPr/>
        </p:nvSpPr>
        <p:spPr>
          <a:xfrm>
            <a:off x="6741752" y="5855896"/>
            <a:ext cx="1706245" cy="4870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3335" indent="-635" algn="l" rtl="0" eaLnBrk="0">
              <a:lnSpc>
                <a:spcPct val="108000"/>
              </a:lnSpc>
            </a:pPr>
            <a:r>
              <a:rPr sz="14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 ：什么牌子？  </a:t>
            </a: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里买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en-US" altLang="en-US" sz="1400" dirty="0"/>
          </a:p>
        </p:txBody>
      </p:sp>
      <p:grpSp>
        <p:nvGrpSpPr>
          <p:cNvPr id="39" name="组合 38"/>
          <p:cNvGrpSpPr/>
          <p:nvPr/>
        </p:nvGrpSpPr>
        <p:grpSpPr>
          <a:xfrm>
            <a:off x="1139825" y="1182370"/>
            <a:ext cx="9912985" cy="4648835"/>
            <a:chOff x="1509" y="2332"/>
            <a:chExt cx="15611" cy="7321"/>
          </a:xfrm>
        </p:grpSpPr>
        <p:grpSp>
          <p:nvGrpSpPr>
            <p:cNvPr id="33" name="组合 32"/>
            <p:cNvGrpSpPr/>
            <p:nvPr/>
          </p:nvGrpSpPr>
          <p:grpSpPr>
            <a:xfrm>
              <a:off x="1509" y="2332"/>
              <a:ext cx="15611" cy="6521"/>
              <a:chOff x="1497" y="2549"/>
              <a:chExt cx="16429" cy="6809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1497" y="2549"/>
                <a:ext cx="16429" cy="6809"/>
                <a:chOff x="-895" y="1502"/>
                <a:chExt cx="18332" cy="7837"/>
              </a:xfrm>
            </p:grpSpPr>
            <p:sp>
              <p:nvSpPr>
                <p:cNvPr id="12" name="任意多边形 11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-874" y="1502"/>
                  <a:ext cx="18311" cy="1506"/>
                </a:xfrm>
                <a:custGeom>
                  <a:avLst/>
                  <a:gdLst>
                    <a:gd name="connsiteX0" fmla="*/ 0 w 18311"/>
                    <a:gd name="connsiteY0" fmla="*/ 377 h 1506"/>
                    <a:gd name="connsiteX1" fmla="*/ 17227 w 18311"/>
                    <a:gd name="connsiteY1" fmla="*/ 377 h 1506"/>
                    <a:gd name="connsiteX2" fmla="*/ 17227 w 18311"/>
                    <a:gd name="connsiteY2" fmla="*/ 0 h 1506"/>
                    <a:gd name="connsiteX3" fmla="*/ 18311 w 18311"/>
                    <a:gd name="connsiteY3" fmla="*/ 803 h 1506"/>
                    <a:gd name="connsiteX4" fmla="*/ 17227 w 18311"/>
                    <a:gd name="connsiteY4" fmla="*/ 1506 h 1506"/>
                    <a:gd name="connsiteX5" fmla="*/ 17227 w 18311"/>
                    <a:gd name="connsiteY5" fmla="*/ 1130 h 1506"/>
                    <a:gd name="connsiteX6" fmla="*/ 0 w 18311"/>
                    <a:gd name="connsiteY6" fmla="*/ 1130 h 1506"/>
                    <a:gd name="connsiteX7" fmla="*/ 0 w 18311"/>
                    <a:gd name="connsiteY7" fmla="*/ 377 h 1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311" h="1506">
                      <a:moveTo>
                        <a:pt x="0" y="377"/>
                      </a:moveTo>
                      <a:lnTo>
                        <a:pt x="17227" y="377"/>
                      </a:lnTo>
                      <a:lnTo>
                        <a:pt x="17227" y="0"/>
                      </a:lnTo>
                      <a:lnTo>
                        <a:pt x="18311" y="803"/>
                      </a:lnTo>
                      <a:lnTo>
                        <a:pt x="17227" y="1506"/>
                      </a:lnTo>
                      <a:lnTo>
                        <a:pt x="17227" y="1130"/>
                      </a:lnTo>
                      <a:lnTo>
                        <a:pt x="0" y="1130"/>
                      </a:lnTo>
                      <a:lnTo>
                        <a:pt x="0" y="377"/>
                      </a:lnTo>
                      <a:close/>
                    </a:path>
                  </a:pathLst>
                </a:custGeom>
                <a:gradFill>
                  <a:gsLst>
                    <a:gs pos="47000">
                      <a:srgbClr val="A0B7A5"/>
                    </a:gs>
                    <a:gs pos="94000">
                      <a:srgbClr val="6AA18E"/>
                    </a:gs>
                  </a:gsLst>
                  <a:lin ang="17460000" scaled="1"/>
                </a:gradFill>
                <a:ln w="9525">
                  <a:solidFill>
                    <a:schemeClr val="bg1">
                      <a:alpha val="47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6" name="组合 25"/>
                <p:cNvGrpSpPr/>
                <p:nvPr/>
              </p:nvGrpSpPr>
              <p:grpSpPr>
                <a:xfrm>
                  <a:off x="-895" y="1900"/>
                  <a:ext cx="18297" cy="7439"/>
                  <a:chOff x="-895" y="1900"/>
                  <a:chExt cx="18297" cy="7439"/>
                </a:xfrm>
              </p:grpSpPr>
              <p:grpSp>
                <p:nvGrpSpPr>
                  <p:cNvPr id="22" name="组合 21"/>
                  <p:cNvGrpSpPr/>
                  <p:nvPr/>
                </p:nvGrpSpPr>
                <p:grpSpPr>
                  <a:xfrm>
                    <a:off x="2595" y="2241"/>
                    <a:ext cx="14807" cy="7098"/>
                    <a:chOff x="2090" y="1939"/>
                    <a:chExt cx="14807" cy="7267"/>
                  </a:xfrm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2090" y="1939"/>
                      <a:ext cx="14807" cy="7267"/>
                      <a:chOff x="933" y="2421"/>
                      <a:chExt cx="15421" cy="7540"/>
                    </a:xfrm>
                  </p:grpSpPr>
                  <p:grpSp>
                    <p:nvGrpSpPr>
                      <p:cNvPr id="13" name="组合 12"/>
                      <p:cNvGrpSpPr/>
                      <p:nvPr/>
                    </p:nvGrpSpPr>
                    <p:grpSpPr>
                      <a:xfrm>
                        <a:off x="933" y="2421"/>
                        <a:ext cx="15421" cy="3998"/>
                        <a:chOff x="1789" y="6372"/>
                        <a:chExt cx="13912" cy="3031"/>
                      </a:xfrm>
                    </p:grpSpPr>
                    <p:sp>
                      <p:nvSpPr>
                        <p:cNvPr id="14" name="任意多边形 13"/>
                        <p:cNvSpPr/>
                        <p:nvPr>
                          <p:custDataLst>
                            <p:tags r:id="rId2"/>
                          </p:custDataLst>
                        </p:nvPr>
                      </p:nvSpPr>
                      <p:spPr>
                        <a:xfrm>
                          <a:off x="1789" y="6372"/>
                          <a:ext cx="13912" cy="1213"/>
                        </a:xfrm>
                        <a:custGeom>
                          <a:avLst/>
                          <a:gdLst>
                            <a:gd name="connsiteX0" fmla="*/ 0 w 12138"/>
                            <a:gd name="connsiteY0" fmla="*/ 265 h 1058"/>
                            <a:gd name="connsiteX1" fmla="*/ 11271 w 12138"/>
                            <a:gd name="connsiteY1" fmla="*/ 265 h 1058"/>
                            <a:gd name="connsiteX2" fmla="*/ 11271 w 12138"/>
                            <a:gd name="connsiteY2" fmla="*/ 0 h 1058"/>
                            <a:gd name="connsiteX3" fmla="*/ 12138 w 12138"/>
                            <a:gd name="connsiteY3" fmla="*/ 553 h 1058"/>
                            <a:gd name="connsiteX4" fmla="*/ 11271 w 12138"/>
                            <a:gd name="connsiteY4" fmla="*/ 1058 h 1058"/>
                            <a:gd name="connsiteX5" fmla="*/ 11271 w 12138"/>
                            <a:gd name="connsiteY5" fmla="*/ 794 h 1058"/>
                            <a:gd name="connsiteX6" fmla="*/ 0 w 12138"/>
                            <a:gd name="connsiteY6" fmla="*/ 794 h 1058"/>
                            <a:gd name="connsiteX7" fmla="*/ 0 w 12138"/>
                            <a:gd name="connsiteY7" fmla="*/ 265 h 105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2138" h="1058">
                              <a:moveTo>
                                <a:pt x="0" y="265"/>
                              </a:moveTo>
                              <a:lnTo>
                                <a:pt x="11271" y="265"/>
                              </a:lnTo>
                              <a:lnTo>
                                <a:pt x="11271" y="0"/>
                              </a:lnTo>
                              <a:lnTo>
                                <a:pt x="12138" y="553"/>
                              </a:lnTo>
                              <a:lnTo>
                                <a:pt x="11271" y="1058"/>
                              </a:lnTo>
                              <a:lnTo>
                                <a:pt x="11271" y="794"/>
                              </a:lnTo>
                              <a:lnTo>
                                <a:pt x="0" y="794"/>
                              </a:lnTo>
                              <a:lnTo>
                                <a:pt x="0" y="265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7000">
                              <a:srgbClr val="A0B7A5"/>
                            </a:gs>
                            <a:gs pos="94000">
                              <a:srgbClr val="6AA18E"/>
                            </a:gs>
                          </a:gsLst>
                          <a:lin ang="17460000" scaled="1"/>
                        </a:gradFill>
                        <a:ln w="9525">
                          <a:solidFill>
                            <a:schemeClr val="bg1">
                              <a:alpha val="47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" name="任意多边形 14"/>
                        <p:cNvSpPr/>
                        <p:nvPr>
                          <p:custDataLst>
                            <p:tags r:id="rId3"/>
                          </p:custDataLst>
                        </p:nvPr>
                      </p:nvSpPr>
                      <p:spPr>
                        <a:xfrm>
                          <a:off x="4992" y="6988"/>
                          <a:ext cx="10590" cy="1213"/>
                        </a:xfrm>
                        <a:custGeom>
                          <a:avLst/>
                          <a:gdLst>
                            <a:gd name="connsiteX0" fmla="*/ 0 w 11972"/>
                            <a:gd name="connsiteY0" fmla="*/ 304 h 1213"/>
                            <a:gd name="connsiteX1" fmla="*/ 10992 w 11972"/>
                            <a:gd name="connsiteY1" fmla="*/ 304 h 1213"/>
                            <a:gd name="connsiteX2" fmla="*/ 10992 w 11972"/>
                            <a:gd name="connsiteY2" fmla="*/ 0 h 1213"/>
                            <a:gd name="connsiteX3" fmla="*/ 11972 w 11972"/>
                            <a:gd name="connsiteY3" fmla="*/ 635 h 1213"/>
                            <a:gd name="connsiteX4" fmla="*/ 10992 w 11972"/>
                            <a:gd name="connsiteY4" fmla="*/ 1213 h 1213"/>
                            <a:gd name="connsiteX5" fmla="*/ 10992 w 11972"/>
                            <a:gd name="connsiteY5" fmla="*/ 910 h 1213"/>
                            <a:gd name="connsiteX6" fmla="*/ 0 w 11972"/>
                            <a:gd name="connsiteY6" fmla="*/ 910 h 1213"/>
                            <a:gd name="connsiteX7" fmla="*/ 0 w 11972"/>
                            <a:gd name="connsiteY7" fmla="*/ 304 h 12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1972" h="1213">
                              <a:moveTo>
                                <a:pt x="0" y="304"/>
                              </a:moveTo>
                              <a:lnTo>
                                <a:pt x="10992" y="304"/>
                              </a:lnTo>
                              <a:lnTo>
                                <a:pt x="10992" y="0"/>
                              </a:lnTo>
                              <a:lnTo>
                                <a:pt x="11972" y="635"/>
                              </a:lnTo>
                              <a:lnTo>
                                <a:pt x="10992" y="1213"/>
                              </a:lnTo>
                              <a:lnTo>
                                <a:pt x="10992" y="910"/>
                              </a:lnTo>
                              <a:lnTo>
                                <a:pt x="0" y="910"/>
                              </a:lnTo>
                              <a:lnTo>
                                <a:pt x="0" y="304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7000">
                              <a:srgbClr val="A0B7A5"/>
                            </a:gs>
                            <a:gs pos="94000">
                              <a:srgbClr val="6AA18E"/>
                            </a:gs>
                          </a:gsLst>
                          <a:lin ang="17460000" scaled="1"/>
                        </a:gradFill>
                        <a:ln w="9525">
                          <a:solidFill>
                            <a:schemeClr val="bg1">
                              <a:alpha val="47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vertOverflow="overflow" horzOverflow="overflow" vert="horz" wrap="square" numCol="1" spcCol="0" rtlCol="0" fromWordArt="0" anchor="ctr" anchorCtr="0" forceAA="0" compatLnSpc="1">
                          <a:noAutofit/>
                        </a:bodyPr>
                        <a:lstStyle/>
                        <a:p>
                          <a:pPr lvl="0" algn="ctr">
                            <a:buClrTx/>
                            <a:buSzTx/>
                            <a:buFontTx/>
                          </a:pPr>
                          <a:endParaRPr lang="zh-CN" altLang="en-US">
                            <a:sym typeface="+mn-ea"/>
                          </a:endParaRPr>
                        </a:p>
                      </p:txBody>
                    </p:sp>
                    <p:sp>
                      <p:nvSpPr>
                        <p:cNvPr id="16" name="任意多边形 15"/>
                        <p:cNvSpPr/>
                        <p:nvPr>
                          <p:custDataLst>
                            <p:tags r:id="rId4"/>
                          </p:custDataLst>
                        </p:nvPr>
                      </p:nvSpPr>
                      <p:spPr>
                        <a:xfrm>
                          <a:off x="7657" y="7594"/>
                          <a:ext cx="7941" cy="1213"/>
                        </a:xfrm>
                        <a:custGeom>
                          <a:avLst/>
                          <a:gdLst>
                            <a:gd name="connsiteX0" fmla="*/ 0 w 8802"/>
                            <a:gd name="connsiteY0" fmla="*/ 401 h 1600"/>
                            <a:gd name="connsiteX1" fmla="*/ 7807 w 8802"/>
                            <a:gd name="connsiteY1" fmla="*/ 401 h 1600"/>
                            <a:gd name="connsiteX2" fmla="*/ 7807 w 8802"/>
                            <a:gd name="connsiteY2" fmla="*/ 0 h 1600"/>
                            <a:gd name="connsiteX3" fmla="*/ 8802 w 8802"/>
                            <a:gd name="connsiteY3" fmla="*/ 824 h 1600"/>
                            <a:gd name="connsiteX4" fmla="*/ 7807 w 8802"/>
                            <a:gd name="connsiteY4" fmla="*/ 1600 h 1600"/>
                            <a:gd name="connsiteX5" fmla="*/ 7807 w 8802"/>
                            <a:gd name="connsiteY5" fmla="*/ 1200 h 1600"/>
                            <a:gd name="connsiteX6" fmla="*/ 0 w 8802"/>
                            <a:gd name="connsiteY6" fmla="*/ 1200 h 1600"/>
                            <a:gd name="connsiteX7" fmla="*/ 0 w 8802"/>
                            <a:gd name="connsiteY7" fmla="*/ 401 h 16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8802" h="1600">
                              <a:moveTo>
                                <a:pt x="0" y="401"/>
                              </a:moveTo>
                              <a:lnTo>
                                <a:pt x="7807" y="401"/>
                              </a:lnTo>
                              <a:lnTo>
                                <a:pt x="7807" y="0"/>
                              </a:lnTo>
                              <a:lnTo>
                                <a:pt x="8802" y="824"/>
                              </a:lnTo>
                              <a:lnTo>
                                <a:pt x="7807" y="1600"/>
                              </a:lnTo>
                              <a:lnTo>
                                <a:pt x="7807" y="1200"/>
                              </a:lnTo>
                              <a:lnTo>
                                <a:pt x="0" y="1200"/>
                              </a:lnTo>
                              <a:lnTo>
                                <a:pt x="0" y="401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7000">
                              <a:srgbClr val="A0B7A5"/>
                            </a:gs>
                            <a:gs pos="94000">
                              <a:srgbClr val="6AA18E"/>
                            </a:gs>
                          </a:gsLst>
                          <a:lin ang="17460000" scaled="1"/>
                        </a:gradFill>
                        <a:ln w="9525">
                          <a:solidFill>
                            <a:schemeClr val="bg1">
                              <a:alpha val="47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vertOverflow="overflow" horzOverflow="overflow" vert="horz" wrap="square" numCol="1" spcCol="0" rtlCol="0" fromWordArt="0" anchor="ctr" anchorCtr="0" forceAA="0" compatLnSpc="1">
                          <a:noAutofit/>
                        </a:bodyPr>
                        <a:lstStyle/>
                        <a:p>
                          <a:pPr lvl="0" algn="ctr">
                            <a:buClrTx/>
                            <a:buSzTx/>
                            <a:buFontTx/>
                          </a:pPr>
                          <a:endParaRPr lang="zh-CN" altLang="en-US">
                            <a:sym typeface="+mn-ea"/>
                          </a:endParaRPr>
                        </a:p>
                      </p:txBody>
                    </p:sp>
                    <p:sp>
                      <p:nvSpPr>
                        <p:cNvPr id="18" name="任意多边形 17"/>
                        <p:cNvSpPr/>
                        <p:nvPr>
                          <p:custDataLst>
                            <p:tags r:id="rId5"/>
                          </p:custDataLst>
                        </p:nvPr>
                      </p:nvSpPr>
                      <p:spPr>
                        <a:xfrm>
                          <a:off x="10387" y="8190"/>
                          <a:ext cx="5200" cy="1213"/>
                        </a:xfrm>
                        <a:custGeom>
                          <a:avLst/>
                          <a:gdLst>
                            <a:gd name="connsiteX0" fmla="*/ 0 w 5764"/>
                            <a:gd name="connsiteY0" fmla="*/ 401 h 1600"/>
                            <a:gd name="connsiteX1" fmla="*/ 4840 w 5764"/>
                            <a:gd name="connsiteY1" fmla="*/ 401 h 1600"/>
                            <a:gd name="connsiteX2" fmla="*/ 4840 w 5764"/>
                            <a:gd name="connsiteY2" fmla="*/ 0 h 1600"/>
                            <a:gd name="connsiteX3" fmla="*/ 5764 w 5764"/>
                            <a:gd name="connsiteY3" fmla="*/ 819 h 1600"/>
                            <a:gd name="connsiteX4" fmla="*/ 4840 w 5764"/>
                            <a:gd name="connsiteY4" fmla="*/ 1600 h 1600"/>
                            <a:gd name="connsiteX5" fmla="*/ 4840 w 5764"/>
                            <a:gd name="connsiteY5" fmla="*/ 1200 h 1600"/>
                            <a:gd name="connsiteX6" fmla="*/ 0 w 5764"/>
                            <a:gd name="connsiteY6" fmla="*/ 1200 h 1600"/>
                            <a:gd name="connsiteX7" fmla="*/ 0 w 5764"/>
                            <a:gd name="connsiteY7" fmla="*/ 401 h 16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5764" h="1600">
                              <a:moveTo>
                                <a:pt x="0" y="401"/>
                              </a:moveTo>
                              <a:lnTo>
                                <a:pt x="4840" y="401"/>
                              </a:lnTo>
                              <a:lnTo>
                                <a:pt x="4840" y="0"/>
                              </a:lnTo>
                              <a:lnTo>
                                <a:pt x="5764" y="819"/>
                              </a:lnTo>
                              <a:lnTo>
                                <a:pt x="4840" y="1600"/>
                              </a:lnTo>
                              <a:lnTo>
                                <a:pt x="4840" y="1200"/>
                              </a:lnTo>
                              <a:lnTo>
                                <a:pt x="0" y="1200"/>
                              </a:lnTo>
                              <a:lnTo>
                                <a:pt x="0" y="401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7000">
                              <a:srgbClr val="A0B7A5"/>
                            </a:gs>
                            <a:gs pos="94000">
                              <a:srgbClr val="6AA18E"/>
                            </a:gs>
                          </a:gsLst>
                          <a:lin ang="17460000" scaled="1"/>
                        </a:gradFill>
                        <a:ln w="9525">
                          <a:solidFill>
                            <a:schemeClr val="bg1">
                              <a:alpha val="47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vertOverflow="overflow" horzOverflow="overflow" vert="horz" wrap="square" numCol="1" spcCol="0" rtlCol="0" fromWordArt="0" anchor="ctr" anchorCtr="0" forceAA="0" compatLnSpc="1">
                          <a:noAutofit/>
                        </a:bodyPr>
                        <a:lstStyle/>
                        <a:p>
                          <a:pPr lvl="0" algn="ctr">
                            <a:buClrTx/>
                            <a:buSzTx/>
                            <a:buFontTx/>
                          </a:pPr>
                          <a:endParaRPr lang="zh-CN" altLang="en-US">
                            <a:sym typeface="+mn-ea"/>
                          </a:endParaRPr>
                        </a:p>
                      </p:txBody>
                    </p:sp>
                  </p:grpSp>
                  <p:sp>
                    <p:nvSpPr>
                      <p:cNvPr id="19" name="矩形 18"/>
                      <p:cNvSpPr/>
                      <p:nvPr>
                        <p:custDataLst>
                          <p:tags r:id="rId6"/>
                        </p:custDataLst>
                      </p:nvPr>
                    </p:nvSpPr>
                    <p:spPr>
                      <a:xfrm>
                        <a:off x="4484" y="4417"/>
                        <a:ext cx="3446" cy="40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>
                            <a:solidFill>
                              <a:schemeClr val="tx1"/>
                            </a:solidFill>
                            <a:sym typeface="+mn-ea"/>
                          </a:rPr>
                          <a:t>使用场景</a:t>
                        </a:r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r>
                          <a:rPr lang="zh-CN" altLang="en-US" sz="1400">
                            <a:solidFill>
                              <a:schemeClr val="tx1"/>
                            </a:solidFill>
                            <a:sym typeface="+mn-ea"/>
                          </a:rPr>
                          <a:t>结合笔记种草场景，以路人真实使用感结合，加强对目标人群种草</a:t>
                        </a:r>
                        <a:endParaRPr lang="zh-CN" altLang="en-US" sz="1400">
                          <a:solidFill>
                            <a:schemeClr val="tx1"/>
                          </a:solidFill>
                          <a:sym typeface="+mn-ea"/>
                        </a:endParaRPr>
                      </a:p>
                    </p:txBody>
                  </p:sp>
                  <p:sp>
                    <p:nvSpPr>
                      <p:cNvPr id="20" name="矩形 19"/>
                      <p:cNvSpPr/>
                      <p:nvPr>
                        <p:custDataLst>
                          <p:tags r:id="rId7"/>
                        </p:custDataLst>
                      </p:nvPr>
                    </p:nvSpPr>
                    <p:spPr>
                      <a:xfrm>
                        <a:off x="7930" y="5185"/>
                        <a:ext cx="3548" cy="40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>
                            <a:solidFill>
                              <a:schemeClr val="tx1"/>
                            </a:solidFill>
                            <a:sym typeface="+mn-ea"/>
                          </a:rPr>
                          <a:t>引导购买</a:t>
                        </a:r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r>
                          <a:rPr lang="zh-CN" altLang="en-US" sz="1400">
                            <a:solidFill>
                              <a:schemeClr val="tx1"/>
                            </a:solidFill>
                            <a:sym typeface="+mn-ea"/>
                          </a:rPr>
                          <a:t>引导消费者的购买路径，并配合达人回评或置顶置顶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1" name="矩形 20"/>
                      <p:cNvSpPr/>
                      <p:nvPr>
                        <p:custDataLst>
                          <p:tags r:id="rId8"/>
                        </p:custDataLst>
                      </p:nvPr>
                    </p:nvSpPr>
                    <p:spPr>
                      <a:xfrm>
                        <a:off x="11478" y="6026"/>
                        <a:ext cx="3804" cy="39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>
                            <a:solidFill>
                              <a:schemeClr val="tx1"/>
                            </a:solidFill>
                            <a:sym typeface="+mn-ea"/>
                          </a:rPr>
                          <a:t>品牌输出</a:t>
                        </a:r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endParaRPr lang="zh-CN" altLang="en-US" sz="1400">
                          <a:solidFill>
                            <a:schemeClr val="tx1"/>
                          </a:solidFill>
                          <a:sym typeface="+mn-ea"/>
                        </a:endParaRPr>
                      </a:p>
                      <a:p>
                        <a:pPr algn="ctr"/>
                        <a:r>
                          <a:rPr lang="zh-CN" altLang="en-US" sz="1400">
                            <a:solidFill>
                              <a:schemeClr val="tx1"/>
                            </a:solidFill>
                            <a:sym typeface="+mn-ea"/>
                          </a:rPr>
                          <a:t>从品牌维度出发，输出品牌背书，加深消费者对</a:t>
                        </a:r>
                        <a:r>
                          <a:rPr lang="en-US" altLang="zh-CN" sz="1400">
                            <a:solidFill>
                              <a:schemeClr val="tx1"/>
                            </a:solidFill>
                            <a:sym typeface="+mn-ea"/>
                          </a:rPr>
                          <a:t>cleer</a:t>
                        </a:r>
                        <a:r>
                          <a:rPr lang="zh-CN" altLang="en-US" sz="1400">
                            <a:solidFill>
                              <a:schemeClr val="tx1"/>
                            </a:solidFill>
                            <a:sym typeface="+mn-ea"/>
                          </a:rPr>
                          <a:t>的印象</a:t>
                        </a:r>
                        <a:endParaRPr lang="zh-CN" altLang="en-US" sz="1400">
                          <a:solidFill>
                            <a:schemeClr val="tx1"/>
                          </a:solidFill>
                          <a:sym typeface="+mn-ea"/>
                        </a:endParaRPr>
                      </a:p>
                    </p:txBody>
                  </p:sp>
                  <p:sp>
                    <p:nvSpPr>
                      <p:cNvPr id="24" name="矩形 23"/>
                      <p:cNvSpPr/>
                      <p:nvPr>
                        <p:custDataLst>
                          <p:tags r:id="rId9"/>
                        </p:custDataLst>
                      </p:nvPr>
                    </p:nvSpPr>
                    <p:spPr>
                      <a:xfrm>
                        <a:off x="941" y="3631"/>
                        <a:ext cx="3543" cy="40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>
                            <a:solidFill>
                              <a:schemeClr val="tx1"/>
                            </a:solidFill>
                            <a:sym typeface="+mn-ea"/>
                          </a:rPr>
                          <a:t>使用感受</a:t>
                        </a:r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endParaRPr lang="zh-CN" altLang="en-US">
                          <a:solidFill>
                            <a:schemeClr val="tx1"/>
                          </a:solidFill>
                        </a:endParaRPr>
                      </a:p>
                      <a:p>
                        <a:pPr algn="ctr"/>
                        <a:r>
                          <a:rPr lang="zh-CN" altLang="en-US" sz="1400">
                            <a:solidFill>
                              <a:schemeClr val="tx1"/>
                            </a:solidFill>
                            <a:sym typeface="+mn-ea"/>
                          </a:rPr>
                          <a:t>从个人的体验感对产品进行种草感受分享，加强消费欲望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25" name="文本框 24"/>
                    <p:cNvSpPr txBox="1"/>
                    <p:nvPr>
                      <p:custDataLst>
                        <p:tags r:id="rId10"/>
                      </p:custDataLst>
                    </p:nvPr>
                  </p:nvSpPr>
                  <p:spPr>
                    <a:xfrm>
                      <a:off x="2097" y="2283"/>
                      <a:ext cx="1493" cy="7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8" name="文本框 27"/>
                    <p:cNvSpPr txBox="1"/>
                    <p:nvPr>
                      <p:custDataLst>
                        <p:tags r:id="rId11"/>
                      </p:custDataLst>
                    </p:nvPr>
                  </p:nvSpPr>
                  <p:spPr>
                    <a:xfrm>
                      <a:off x="5499" y="3169"/>
                      <a:ext cx="1493" cy="7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9" name="文本框 28"/>
                    <p:cNvSpPr txBox="1"/>
                    <p:nvPr>
                      <p:custDataLst>
                        <p:tags r:id="rId12"/>
                      </p:custDataLst>
                    </p:nvPr>
                  </p:nvSpPr>
                  <p:spPr>
                    <a:xfrm>
                      <a:off x="8808" y="3861"/>
                      <a:ext cx="1493" cy="7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" name="文本框 29"/>
                    <p:cNvSpPr txBox="1"/>
                    <p:nvPr>
                      <p:custDataLst>
                        <p:tags r:id="rId13"/>
                      </p:custDataLst>
                    </p:nvPr>
                  </p:nvSpPr>
                  <p:spPr>
                    <a:xfrm>
                      <a:off x="12215" y="4683"/>
                      <a:ext cx="1493" cy="7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31" name="文本框 30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-895" y="1900"/>
                    <a:ext cx="1493" cy="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bg1"/>
                        </a:solidFill>
                      </a:rPr>
                      <a:t>维度</a:t>
                    </a:r>
                    <a:endParaRPr lang="zh-CN" altLang="en-US" sz="2000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2" name="矩形 31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-889" y="2650"/>
                    <a:ext cx="3486" cy="3794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>
                        <a:solidFill>
                          <a:schemeClr val="tx1"/>
                        </a:solidFill>
                      </a:rPr>
                      <a:t>效果提问</a:t>
                    </a:r>
                    <a:endParaRPr lang="zh-CN" altLang="en-US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  <a:p>
                    <a:pPr algn="ctr"/>
                    <a:r>
                      <a:rPr lang="zh-CN" altLang="en-US" sz="1400">
                        <a:solidFill>
                          <a:schemeClr val="tx1"/>
                        </a:solidFill>
                      </a:rPr>
                      <a:t>以消费者决策角度出发，达人配合回评，消除消费顾虑</a:t>
                    </a:r>
                    <a:endParaRPr lang="zh-CN" altLang="en-US" sz="140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4" name="文本框 3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303" y="2635"/>
                <a:ext cx="1338" cy="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i="1">
                    <a:solidFill>
                      <a:schemeClr val="bg1"/>
                    </a:solidFill>
                    <a:latin typeface="Bookman Old Style" panose="02050604050505020204" charset="0"/>
                    <a:ea typeface="Malgun Gothic Semilight" panose="020B0502040204020203" charset="-122"/>
                    <a:cs typeface="Bookman Old Style" panose="02050604050505020204" charset="0"/>
                  </a:rPr>
                  <a:t>1</a:t>
                </a:r>
                <a:endParaRPr lang="en-US" altLang="zh-CN" sz="3600" i="1">
                  <a:solidFill>
                    <a:schemeClr val="bg1"/>
                  </a:solidFill>
                  <a:latin typeface="Bookman Old Style" panose="02050604050505020204" charset="0"/>
                  <a:ea typeface="Malgun Gothic Semilight" panose="020B0502040204020203" charset="-122"/>
                  <a:cs typeface="Bookman Old Style" panose="02050604050505020204" charset="0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5475" y="3234"/>
                <a:ext cx="1338" cy="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i="1">
                    <a:solidFill>
                      <a:schemeClr val="bg1"/>
                    </a:solidFill>
                    <a:latin typeface="Bookman Old Style" panose="02050604050505020204" charset="0"/>
                    <a:ea typeface="Malgun Gothic Semilight" panose="020B0502040204020203" charset="-122"/>
                    <a:cs typeface="Bookman Old Style" panose="02050604050505020204" charset="0"/>
                  </a:rPr>
                  <a:t>2</a:t>
                </a:r>
                <a:endParaRPr lang="en-US" altLang="zh-CN" sz="3600" i="1">
                  <a:solidFill>
                    <a:schemeClr val="bg1"/>
                  </a:solidFill>
                  <a:latin typeface="Bookman Old Style" panose="02050604050505020204" charset="0"/>
                  <a:ea typeface="Malgun Gothic Semilight" panose="020B0502040204020203" charset="-122"/>
                  <a:cs typeface="Bookman Old Style" panose="02050604050505020204" charset="0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8551" y="3967"/>
                <a:ext cx="1338" cy="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i="1">
                    <a:solidFill>
                      <a:schemeClr val="bg1"/>
                    </a:solidFill>
                    <a:latin typeface="Bookman Old Style" panose="02050604050505020204" charset="0"/>
                    <a:ea typeface="Malgun Gothic Semilight" panose="020B0502040204020203" charset="-122"/>
                    <a:cs typeface="Bookman Old Style" panose="02050604050505020204" charset="0"/>
                  </a:rPr>
                  <a:t>3</a:t>
                </a:r>
                <a:endParaRPr lang="en-US" altLang="zh-CN" sz="3600" i="1">
                  <a:solidFill>
                    <a:schemeClr val="bg1"/>
                  </a:solidFill>
                  <a:latin typeface="Bookman Old Style" panose="02050604050505020204" charset="0"/>
                  <a:ea typeface="Malgun Gothic Semilight" panose="020B0502040204020203" charset="-122"/>
                  <a:cs typeface="Bookman Old Style" panose="02050604050505020204" charset="0"/>
                </a:endParaRP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1531" y="4616"/>
                <a:ext cx="1338" cy="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i="1">
                    <a:solidFill>
                      <a:schemeClr val="bg1"/>
                    </a:solidFill>
                    <a:latin typeface="Bookman Old Style" panose="02050604050505020204" charset="0"/>
                    <a:ea typeface="Malgun Gothic Semilight" panose="020B0502040204020203" charset="-122"/>
                    <a:cs typeface="Bookman Old Style" panose="02050604050505020204" charset="0"/>
                  </a:rPr>
                  <a:t>4</a:t>
                </a:r>
                <a:endParaRPr lang="en-US" altLang="zh-CN" sz="3600" i="1">
                  <a:solidFill>
                    <a:schemeClr val="bg1"/>
                  </a:solidFill>
                  <a:latin typeface="Bookman Old Style" panose="02050604050505020204" charset="0"/>
                  <a:ea typeface="Malgun Gothic Semilight" panose="020B0502040204020203" charset="-122"/>
                  <a:cs typeface="Bookman Old Style" panose="02050604050505020204" charset="0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4570" y="5289"/>
                <a:ext cx="1338" cy="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i="1">
                    <a:solidFill>
                      <a:schemeClr val="bg1"/>
                    </a:solidFill>
                    <a:latin typeface="Bookman Old Style" panose="02050604050505020204" charset="0"/>
                    <a:ea typeface="Malgun Gothic Semilight" panose="020B0502040204020203" charset="-122"/>
                    <a:cs typeface="Bookman Old Style" panose="02050604050505020204" charset="0"/>
                  </a:rPr>
                  <a:t>5</a:t>
                </a:r>
                <a:endParaRPr lang="en-US" altLang="zh-CN" sz="3600" i="1">
                  <a:solidFill>
                    <a:schemeClr val="bg1"/>
                  </a:solidFill>
                  <a:latin typeface="Bookman Old Style" panose="02050604050505020204" charset="0"/>
                  <a:ea typeface="Malgun Gothic Semilight" panose="020B0502040204020203" charset="-122"/>
                  <a:cs typeface="Bookman Old Style" panose="02050604050505020204" charset="0"/>
                </a:endParaRPr>
              </a:p>
            </p:txBody>
          </p:sp>
        </p:grpSp>
        <p:sp>
          <p:nvSpPr>
            <p:cNvPr id="40" name="下箭头 39"/>
            <p:cNvSpPr/>
            <p:nvPr>
              <p:custDataLst>
                <p:tags r:id="rId21"/>
              </p:custDataLst>
            </p:nvPr>
          </p:nvSpPr>
          <p:spPr>
            <a:xfrm>
              <a:off x="14231" y="9039"/>
              <a:ext cx="855" cy="614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下箭头 40"/>
            <p:cNvSpPr/>
            <p:nvPr>
              <p:custDataLst>
                <p:tags r:id="rId22"/>
              </p:custDataLst>
            </p:nvPr>
          </p:nvSpPr>
          <p:spPr>
            <a:xfrm>
              <a:off x="11378" y="8620"/>
              <a:ext cx="984" cy="1016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下箭头 41"/>
            <p:cNvSpPr/>
            <p:nvPr>
              <p:custDataLst>
                <p:tags r:id="rId23"/>
              </p:custDataLst>
            </p:nvPr>
          </p:nvSpPr>
          <p:spPr>
            <a:xfrm>
              <a:off x="8435" y="8019"/>
              <a:ext cx="1169" cy="1602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下箭头 42"/>
            <p:cNvSpPr/>
            <p:nvPr>
              <p:custDataLst>
                <p:tags r:id="rId24"/>
              </p:custDataLst>
            </p:nvPr>
          </p:nvSpPr>
          <p:spPr>
            <a:xfrm>
              <a:off x="5385" y="7431"/>
              <a:ext cx="1388" cy="2174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下箭头 43"/>
            <p:cNvSpPr/>
            <p:nvPr>
              <p:custDataLst>
                <p:tags r:id="rId25"/>
              </p:custDataLst>
            </p:nvPr>
          </p:nvSpPr>
          <p:spPr>
            <a:xfrm>
              <a:off x="2065" y="6770"/>
              <a:ext cx="1610" cy="2817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34975" y="335280"/>
            <a:ext cx="7237095" cy="583565"/>
            <a:chOff x="1075" y="683"/>
            <a:chExt cx="11397" cy="919"/>
          </a:xfrm>
        </p:grpSpPr>
        <p:grpSp>
          <p:nvGrpSpPr>
            <p:cNvPr id="53" name="组合 52"/>
            <p:cNvGrpSpPr/>
            <p:nvPr/>
          </p:nvGrpSpPr>
          <p:grpSpPr>
            <a:xfrm>
              <a:off x="1075" y="965"/>
              <a:ext cx="2004" cy="354"/>
              <a:chOff x="1375" y="1694"/>
              <a:chExt cx="1977" cy="349"/>
            </a:xfrm>
            <a:solidFill>
              <a:srgbClr val="6C6C76"/>
            </a:solidFill>
          </p:grpSpPr>
          <p:sp>
            <p:nvSpPr>
              <p:cNvPr id="54" name="椭圆 53"/>
              <p:cNvSpPr/>
              <p:nvPr>
                <p:custDataLst>
                  <p:tags r:id="rId26"/>
                </p:custDataLst>
              </p:nvPr>
            </p:nvSpPr>
            <p:spPr>
              <a:xfrm>
                <a:off x="1375" y="1694"/>
                <a:ext cx="349" cy="349"/>
              </a:xfrm>
              <a:prstGeom prst="ellipse">
                <a:avLst/>
              </a:prstGeom>
              <a:solidFill>
                <a:srgbClr val="6F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27"/>
                </p:custDataLst>
              </p:nvPr>
            </p:nvSpPr>
            <p:spPr>
              <a:xfrm>
                <a:off x="2189" y="1694"/>
                <a:ext cx="349" cy="349"/>
              </a:xfrm>
              <a:prstGeom prst="ellipse">
                <a:avLst/>
              </a:prstGeom>
              <a:solidFill>
                <a:srgbClr val="5262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椭圆 55"/>
              <p:cNvSpPr/>
              <p:nvPr>
                <p:custDataLst>
                  <p:tags r:id="rId28"/>
                </p:custDataLst>
              </p:nvPr>
            </p:nvSpPr>
            <p:spPr>
              <a:xfrm>
                <a:off x="3003" y="1694"/>
                <a:ext cx="349" cy="34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" name="文本框 56"/>
            <p:cNvSpPr txBox="1"/>
            <p:nvPr>
              <p:custDataLst>
                <p:tags r:id="rId29"/>
              </p:custDataLst>
            </p:nvPr>
          </p:nvSpPr>
          <p:spPr>
            <a:xfrm>
              <a:off x="3323" y="683"/>
              <a:ext cx="914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600" dirty="0">
                  <a:latin typeface="微软雅黑" panose="020B0503020204020204" charset="-122"/>
                  <a:ea typeface="微软雅黑" panose="020B0503020204020204" charset="-122"/>
                </a:rPr>
                <a:t>评论舆情维护</a:t>
              </a:r>
              <a:endParaRPr lang="zh-CN" altLang="en-US" sz="32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635" y="2002790"/>
            <a:ext cx="12192000" cy="2695575"/>
          </a:xfrm>
          <a:prstGeom prst="rect">
            <a:avLst/>
          </a:prstGeom>
          <a:solidFill>
            <a:srgbClr val="6F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09545" y="1421765"/>
            <a:ext cx="864870" cy="793750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41370" y="1019810"/>
            <a:ext cx="574040" cy="645795"/>
          </a:xfrm>
          <a:prstGeom prst="rect">
            <a:avLst/>
          </a:prstGeom>
          <a:noFill/>
          <a:ln w="19050">
            <a:solidFill>
              <a:srgbClr val="5262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>
            <p:custDataLst>
              <p:tags r:id="rId1"/>
            </p:custDataLst>
          </p:nvPr>
        </p:nvSpPr>
        <p:spPr>
          <a:xfrm>
            <a:off x="1532255" y="2359025"/>
            <a:ext cx="4742815" cy="943610"/>
          </a:xfrm>
          <a:prstGeom prst="rect">
            <a:avLst/>
          </a:prstGeom>
        </p:spPr>
        <p:txBody>
          <a:bodyPr lIns="0" tIns="0" rIns="0" bIns="0"/>
          <a:p>
            <a:pPr marL="7620" defTabSz="544195">
              <a:defRPr/>
            </a:pPr>
            <a:r>
              <a:rPr lang="en-US" altLang="zh-CN" sz="6600" b="1" spc="100" dirty="0">
                <a:solidFill>
                  <a:schemeClr val="bg1"/>
                </a:solidFill>
                <a:latin typeface="Josefin Sans" pitchFamily="2" charset="0"/>
                <a:cs typeface="Source Sans Pro Semibold"/>
              </a:rPr>
              <a:t>THANKS</a:t>
            </a:r>
            <a:endParaRPr lang="en-US" altLang="zh-CN" sz="6600" b="1" spc="100" dirty="0">
              <a:solidFill>
                <a:schemeClr val="bg1"/>
              </a:solidFill>
              <a:latin typeface="Josefin Sans" pitchFamily="2" charset="0"/>
              <a:cs typeface="Source Sans Pro Semibold"/>
            </a:endParaRPr>
          </a:p>
          <a:p>
            <a:pPr marL="7620" defTabSz="544195">
              <a:defRPr/>
            </a:pPr>
            <a:r>
              <a:rPr lang="zh-CN" altLang="en-US" sz="6600" b="1" spc="100" dirty="0">
                <a:solidFill>
                  <a:schemeClr val="bg1"/>
                </a:solidFill>
                <a:latin typeface="Josefin Sans" pitchFamily="2" charset="0"/>
                <a:cs typeface="Source Sans Pro Semibold"/>
              </a:rPr>
              <a:t>感谢阅读</a:t>
            </a:r>
            <a:endParaRPr lang="zh-CN" altLang="en-US" sz="6600" b="1" spc="100" dirty="0">
              <a:solidFill>
                <a:schemeClr val="bg1"/>
              </a:solidFill>
              <a:latin typeface="Josefin Sans" pitchFamily="2" charset="0"/>
              <a:cs typeface="Source Sans Pro Semibold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7948_3*l_h_i*1_3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7948_3*l_h_i*1_3_2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6"/>
  <p:tag name="KSO_WM_UNIT_TEXT_FILL_FORE_SCHEMECOLOR_INDEX" val="2"/>
  <p:tag name="KSO_WM_UNIT_TEXT_FILL_TYPE" val="1"/>
</p:tagLst>
</file>

<file path=ppt/tags/tag74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7948_3*l_h_f*1_3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75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27948_3*l_h_x*1_3_1"/>
  <p:tag name="KSO_WM_TEMPLATE_CATEGORY" val="diagram"/>
  <p:tag name="KSO_WM_TEMPLATE_INDEX" val="20227948"/>
  <p:tag name="KSO_WM_UNIT_LAYERLEVEL" val="1_1_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7948_3*l_h_i*1_2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7948_3*l_h_i*1_2_2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9"/>
  <p:tag name="KSO_WM_UNIT_TEXT_FILL_FORE_SCHEMECOLOR_INDEX" val="2"/>
  <p:tag name="KSO_WM_UNIT_TEXT_FILL_TYPE" val="1"/>
</p:tagLst>
</file>

<file path=ppt/tags/tag78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7948_3*l_h_f*1_2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7948_3*l_h_x*1_2_1"/>
  <p:tag name="KSO_WM_TEMPLATE_CATEGORY" val="diagram"/>
  <p:tag name="KSO_WM_TEMPLATE_INDEX" val="20227948"/>
  <p:tag name="KSO_WM_UNIT_LAYERLEVEL" val="1_1_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7948_3*l_h_i*1_1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7948_3*l_h_i*1_1_2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5"/>
  <p:tag name="KSO_WM_UNIT_TEXT_FILL_FORE_SCHEMECOLOR_INDEX" val="2"/>
  <p:tag name="KSO_WM_UNIT_TEXT_FILL_TYPE" val="1"/>
</p:tagLst>
</file>

<file path=ppt/tags/tag82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7948_3*l_h_f*1_1_1"/>
  <p:tag name="KSO_WM_TEMPLATE_CATEGORY" val="diagram"/>
  <p:tag name="KSO_WM_TEMPLATE_INDEX" val="2022794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83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7948_3*l_h_x*1_1_1"/>
  <p:tag name="KSO_WM_TEMPLATE_CATEGORY" val="diagram"/>
  <p:tag name="KSO_WM_TEMPLATE_INDEX" val="20227948"/>
  <p:tag name="KSO_WM_UNIT_LAYERLEVEL" val="1_1_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5.xml><?xml version="1.0" encoding="utf-8"?>
<p:tagLst xmlns:p="http://schemas.openxmlformats.org/presentationml/2006/main">
  <p:tag name="KSO_WM_TEMPLATE_CATEGORY" val="custom"/>
  <p:tag name="KSO_WM_TEMPLATE_INDEX" val="20185046"/>
  <p:tag name="KSO_WM_UNIT_TYPE" val="b"/>
  <p:tag name="KSO_WM_UNIT_INDEX" val="1"/>
  <p:tag name="KSO_WM_UNIT_ID" val="custom20185046_1*b*1"/>
  <p:tag name="KSO_WM_UNIT_LAYERLEVEL" val="1"/>
  <p:tag name="KSO_WM_UNIT_VALUE" val="8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Lorem ipsum dolor sit amet, consectetur adipisicing elit."/>
  <p:tag name="KSO_WM_UNIT_NOCLEAR" val="0"/>
  <p:tag name="KSO_WM_UNIT_DIAGRAM_ISNUMVISUAL" val="0"/>
  <p:tag name="KSO_WM_UNIT_DIAGRAM_ISREFERUNIT" val="0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UNIT_TABLE_BEAUTIFY" val="smartTable{7738af80-5dd9-4f65-b6df-cce4b9bbbb75}"/>
  <p:tag name="TABLE_ENDDRAG_ORIGIN_RECT" val="753*378"/>
  <p:tag name="TABLE_ENDDRAG_RECT" val="109*130*753*378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668_3*l_h_a*1_1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1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7668_3*l_h_f*1_1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668_3*l_h_a*1_1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1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7668_3*l_h_f*1_2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668_3*l_h_a*1_1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2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7668_3*l_h_f*1_3_1"/>
  <p:tag name="KSO_WM_TEMPLATE_CATEGORY" val="diagram"/>
  <p:tag name="KSO_WM_TEMPLATE_INDEX" val="20227668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TEMPLATE_CATEGORY" val="custom"/>
  <p:tag name="KSO_WM_TEMPLATE_INDEX" val="20185046"/>
  <p:tag name="KSO_WM_UNIT_TYPE" val="b"/>
  <p:tag name="KSO_WM_UNIT_INDEX" val="1"/>
  <p:tag name="KSO_WM_UNIT_ID" val="custom20185046_1*b*1"/>
  <p:tag name="KSO_WM_UNIT_LAYERLEVEL" val="1"/>
  <p:tag name="KSO_WM_UNIT_VALUE" val="8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Lorem ipsum dolor sit amet, consectetur adipisicing elit."/>
  <p:tag name="KSO_WM_UNIT_NOCLEAR" val="0"/>
  <p:tag name="KSO_WM_UNIT_DIAGRAM_ISNUMVISUAL" val="0"/>
  <p:tag name="KSO_WM_UNIT_DIAGRAM_ISREFERUNIT" val="0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32.xml><?xml version="1.0" encoding="utf-8"?>
<p:tagLst xmlns:p="http://schemas.openxmlformats.org/presentationml/2006/main">
  <p:tag name="KSO_WM_UNIT_ISCONTENTSTITLE" val="1"/>
  <p:tag name="KSO_WM_UNIT_ISNUMDGMTITLE" val="0"/>
  <p:tag name="KSO_WM_UNIT_PRESET_TEXT" val="目 录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5427_4*a*1"/>
  <p:tag name="KSO_WM_TEMPLATE_CATEGORY" val="custom"/>
  <p:tag name="KSO_WM_TEMPLATE_INDEX" val="20205427"/>
  <p:tag name="KSO_WM_UNIT_LAYERLEVEL" val="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5427_4*l_h_f*1_2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PRESET_TEXT" val="单击此处输入你的正文，文字是您思想的提炼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5427_4*l_h_f*1_1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PRESET_TEXT" val="单击此处输入你的正文，文字是您思想的提炼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5427_4*l_h_i*1_1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5427_4*l_h_i*1_2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5427_4*l_h_f*1_4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PRESET_TEXT" val="单击此处输入你的正文，文字是您思想的提炼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5427_4*l_h_f*1_3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PRESET_TEXT" val="单击此处输入你的正文，文字是您思想的提炼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5427_4*l_h_i*1_3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5427_4*l_h_i*1_4_1"/>
  <p:tag name="KSO_WM_TEMPLATE_CATEGORY" val="custom"/>
  <p:tag name="KSO_WM_TEMPLATE_INDEX" val="20205427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427"/>
  <p:tag name="KSO_WM_SLIDE_ID" val="custom20205427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l"/>
  <p:tag name="KSO_WM_SLIDE_LAYOUT_CNT" val="1_1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1"/>
  <p:tag name="KSO_WM_UNIT_ID" val="diagram20160834_6*l_h_i*1_1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2"/>
  <p:tag name="KSO_WM_UNIT_ID" val="diagram20160834_6*l_h_i*1_1_2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3"/>
  <p:tag name="KSO_WM_UNIT_ID" val="diagram20160834_6*l_h_i*1_1_3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4"/>
  <p:tag name="KSO_WM_UNIT_ID" val="diagram20160834_6*l_h_i*1_1_4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6_1"/>
  <p:tag name="KSO_WM_UNIT_ID" val="diagram20160834_6*l_h_i*1_6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6_2"/>
  <p:tag name="KSO_WM_UNIT_ID" val="diagram20160834_6*l_h_i*1_6_2"/>
  <p:tag name="KSO_WM_UNIT_LAYERLEVEL" val="1_1_1"/>
  <p:tag name="KSO_WM_DIAGRAM_GROUP_CODE" val="l1-1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6_3"/>
  <p:tag name="KSO_WM_UNIT_ID" val="diagram20160834_6*l_h_i*1_6_3"/>
  <p:tag name="KSO_WM_UNIT_LAYERLEVEL" val="1_1_1"/>
  <p:tag name="KSO_WM_DIAGRAM_GROUP_CODE" val="l1-1"/>
  <p:tag name="KSO_WM_UNIT_FILL_FORE_SCHEMECOLOR_INDEX" val="10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2_1"/>
  <p:tag name="KSO_WM_UNIT_ID" val="diagram20160834_6*l_h_i*1_2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4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2_2"/>
  <p:tag name="KSO_WM_UNIT_ID" val="diagram20160834_6*l_h_i*1_2_2"/>
  <p:tag name="KSO_WM_UNIT_LAYERLEVEL" val="1_1_1"/>
  <p:tag name="KSO_WM_DIAGRAM_GROUP_CODE" val="l1-1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3_1"/>
  <p:tag name="KSO_WM_UNIT_ID" val="diagram20160834_6*l_h_i*1_3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3_2"/>
  <p:tag name="KSO_WM_UNIT_ID" val="diagram20160834_6*l_h_i*1_3_2"/>
  <p:tag name="KSO_WM_UNIT_LAYERLEVEL" val="1_1_1"/>
  <p:tag name="KSO_WM_DIAGRAM_GROUP_CODE" val="l1-1"/>
  <p:tag name="KSO_WM_UNIT_FILL_FORE_SCHEMECOLOR_INDEX" val="7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4_1"/>
  <p:tag name="KSO_WM_UNIT_ID" val="diagram20160834_6*l_h_i*1_4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4_2"/>
  <p:tag name="KSO_WM_UNIT_ID" val="diagram20160834_6*l_h_i*1_4_2"/>
  <p:tag name="KSO_WM_UNIT_LAYERLEVEL" val="1_1_1"/>
  <p:tag name="KSO_WM_DIAGRAM_GROUP_CODE" val="l1-1"/>
  <p:tag name="KSO_WM_UNIT_FILL_FORE_SCHEMECOLOR_INDEX" val="8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5_1"/>
  <p:tag name="KSO_WM_UNIT_ID" val="diagram20160834_6*l_h_i*1_5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6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5_2"/>
  <p:tag name="KSO_WM_UNIT_ID" val="diagram20160834_6*l_h_i*1_5_2"/>
  <p:tag name="KSO_WM_UNIT_LAYERLEVEL" val="1_1_1"/>
  <p:tag name="KSO_WM_DIAGRAM_GROUP_CODE" val="l1-1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6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6_4"/>
  <p:tag name="KSO_WM_UNIT_ID" val="diagram20160834_6*l_h_i*1_6_4"/>
  <p:tag name="KSO_WM_UNIT_LAYERLEVEL" val="1_1_1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6"/>
  <p:tag name="KSO_WM_UNIT_ID" val="diagram20160834_6*l_h_i*1_1_6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3_4"/>
  <p:tag name="KSO_WM_UNIT_ID" val="diagram20160834_6*l_h_i*1_3_4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4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5_4"/>
  <p:tag name="KSO_WM_UNIT_ID" val="diagram20160834_6*l_h_i*1_5_4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2_4"/>
  <p:tag name="KSO_WM_UNIT_ID" val="diagram20160834_6*l_h_i*1_2_4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4_4"/>
  <p:tag name="KSO_WM_UNIT_ID" val="diagram20160834_6*l_h_i*1_4_4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6_5"/>
  <p:tag name="KSO_WM_UNIT_ID" val="diagram20160834_6*l_h_i*1_6_5"/>
  <p:tag name="KSO_WM_UNIT_LAYERLEVEL" val="1_1_1"/>
  <p:tag name="KSO_WM_DIAGRAM_GROUP_CODE" val="l1-1"/>
  <p:tag name="KSO_WM_UNIT_LINE_FORE_SCHEMECOLOR_INDEX" val="14"/>
  <p:tag name="KSO_WM_UNIT_LINE_FILL_TYPE" val="2"/>
  <p:tag name="KSO_WM_UNIT_USESOURCEFORMAT_APPLY" val="1"/>
</p:tagLst>
</file>

<file path=ppt/tags/tag26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2_1"/>
  <p:tag name="KSO_WM_UNIT_ID" val="diagram20160834_6*l_h_a*1_2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69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4_1"/>
  <p:tag name="KSO_WM_UNIT_ID" val="diagram20160834_6*l_h_a*1_4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6_1"/>
  <p:tag name="KSO_WM_UNIT_ID" val="diagram20160834_6*l_h_a*1_6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1_1"/>
  <p:tag name="KSO_WM_UNIT_ID" val="diagram20160834_6*l_h_a*1_1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3_1"/>
  <p:tag name="KSO_WM_UNIT_ID" val="diagram20160834_6*l_h_a*1_3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5_1"/>
  <p:tag name="KSO_WM_UNIT_ID" val="diagram20160834_6*l_h_a*1_5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3_1"/>
  <p:tag name="KSO_WM_UNIT_ID" val="diagram20160834_6*l_h_a*1_3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a"/>
  <p:tag name="KSO_WM_UNIT_INDEX" val="1_3_1"/>
  <p:tag name="KSO_WM_UNIT_ID" val="diagram20160834_6*l_h_a*1_3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3"/>
  <p:tag name="KSO_WM_UNIT_ID" val="diagram20160834_6*l_h_i*1_1_3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3"/>
  <p:tag name="KSO_WM_UNIT_ID" val="diagram20160834_6*l_h_i*1_1_3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34"/>
  <p:tag name="KSO_WM_UNIT_TYPE" val="l_h_i"/>
  <p:tag name="KSO_WM_UNIT_INDEX" val="1_1_3"/>
  <p:tag name="KSO_WM_UNIT_ID" val="diagram20160834_6*l_h_i*1_1_3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6058_1*i*0"/>
  <p:tag name="KSO_WM_TEMPLATE_CATEGORY" val="diagram"/>
  <p:tag name="KSO_WM_TEMPLATE_INDEX" val="20186058"/>
  <p:tag name="KSO_WM_UNIT_INDEX" val="0"/>
</p:tagLst>
</file>

<file path=ppt/tags/tag342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1"/>
  <p:tag name="KSO_WM_UNIT_ID" val="diagram20186058_1*l_h_i*2_2_1"/>
  <p:tag name="KSO_WM_UNIT_LAYERLEVEL" val="1_1_1"/>
  <p:tag name="KSO_WM_BEAUTIFY_FLAG" val="#wm#"/>
  <p:tag name="KSO_WM_TAG_VERSION" val="1.0"/>
  <p:tag name="KSO_WM_DIAGRAM_GROUP_CODE" val="l1l2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TEMPLATE_CATEGORY" val="diagram"/>
  <p:tag name="KSO_WM_TEMPLATE_INDEX" val="20186058"/>
  <p:tag name="KSO_WM_UNIT_TYPE" val="l_h_f"/>
  <p:tag name="KSO_WM_UNIT_INDEX" val="2_2_1"/>
  <p:tag name="KSO_WM_UNIT_ID" val="diagram20186058_1*l_h_f*2_2_1"/>
  <p:tag name="KSO_WM_UNIT_LAYERLEVEL" val="1_1_1"/>
  <p:tag name="KSO_WM_UNIT_VALUE" val="2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l1l2-1"/>
  <p:tag name="KSO_WM_UNIT_PRESET_TEXT" val="80%"/>
  <p:tag name="KSO_WM_UNIT_TEXT_FILL_FORE_SCHEMECOLOR_INDEX" val="14"/>
  <p:tag name="KSO_WM_UNIT_TEXT_FILL_TYPE" val="1"/>
  <p:tag name="KSO_WM_UNIT_USESOURCEFORMAT_APPLY" val="1"/>
</p:tagLst>
</file>

<file path=ppt/tags/tag344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2"/>
  <p:tag name="KSO_WM_UNIT_ID" val="diagram20186058_1*l_h_i*2_2_2"/>
  <p:tag name="KSO_WM_UNIT_LAYERLEVEL" val="1_1_1"/>
  <p:tag name="KSO_WM_BEAUTIFY_FLAG" val="#wm#"/>
  <p:tag name="KSO_WM_TAG_VERSION" val="1.0"/>
  <p:tag name="KSO_WM_DIAGRAM_GROUP_CODE" val="l1l2-1"/>
  <p:tag name="KSO_WM_UNIT_LINE_FORE_SCHEMECOLOR_INDEX" val="14"/>
  <p:tag name="KSO_WM_UNIT_LINE_FILL_TYPE" val="2"/>
  <p:tag name="KSO_WM_UNIT_USESOURCEFORMAT_APPLY" val="1"/>
</p:tagLst>
</file>

<file path=ppt/tags/tag345.xml><?xml version="1.0" encoding="utf-8"?>
<p:tagLst xmlns:p="http://schemas.openxmlformats.org/presentationml/2006/main">
  <p:tag name="KSO_WM_TEMPLATE_CATEGORY" val="diagram"/>
  <p:tag name="KSO_WM_TEMPLATE_INDEX" val="20186058"/>
  <p:tag name="KSO_WM_UNIT_TYPE" val="l_h_a"/>
  <p:tag name="KSO_WM_UNIT_INDEX" val="2_2_1"/>
  <p:tag name="KSO_WM_UNIT_ID" val="diagram20186058_1*l_h_a*2_2_1"/>
  <p:tag name="KSO_WM_UNIT_LAYERLEVEL" val="1_1_1"/>
  <p:tag name="KSO_WM_UNIT_VALUE" val="7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l1l2-1"/>
  <p:tag name="KSO_WM_UNIT_PRESET_TEXT" val="标题文本预设"/>
  <p:tag name="KSO_WM_UNIT_TEXT_FILL_FORE_SCHEMECOLOR_INDEX" val="14"/>
  <p:tag name="KSO_WM_UNIT_TEXT_FILL_TYPE" val="1"/>
  <p:tag name="KSO_WM_UNIT_USESOURCEFORMAT_APPLY" val="1"/>
</p:tagLst>
</file>

<file path=ppt/tags/tag346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1"/>
  <p:tag name="KSO_WM_UNIT_ID" val="diagram20186058_1*l_h_i*2_3_1"/>
  <p:tag name="KSO_WM_UNIT_LAYERLEVEL" val="1_1_1"/>
  <p:tag name="KSO_WM_BEAUTIFY_FLAG" val="#wm#"/>
  <p:tag name="KSO_WM_TAG_VERSION" val="1.0"/>
  <p:tag name="KSO_WM_DIAGRAM_GROUP_CODE" val="l1l2-1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TEMPLATE_CATEGORY" val="diagram"/>
  <p:tag name="KSO_WM_TEMPLATE_INDEX" val="20186058"/>
  <p:tag name="KSO_WM_UNIT_TYPE" val="l_h_f"/>
  <p:tag name="KSO_WM_UNIT_INDEX" val="2_3_1"/>
  <p:tag name="KSO_WM_UNIT_ID" val="diagram20186058_1*l_h_f*2_3_1"/>
  <p:tag name="KSO_WM_UNIT_LAYERLEVEL" val="1_1_1"/>
  <p:tag name="KSO_WM_UNIT_VALUE" val="2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l1l2-1"/>
  <p:tag name="KSO_WM_UNIT_PRESET_TEXT" val="60%"/>
  <p:tag name="KSO_WM_UNIT_TEXT_FILL_FORE_SCHEMECOLOR_INDEX" val="14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2"/>
  <p:tag name="KSO_WM_UNIT_ID" val="diagram20186058_1*l_h_i*2_3_2"/>
  <p:tag name="KSO_WM_UNIT_LAYERLEVEL" val="1_1_1"/>
  <p:tag name="KSO_WM_BEAUTIFY_FLAG" val="#wm#"/>
  <p:tag name="KSO_WM_TAG_VERSION" val="1.0"/>
  <p:tag name="KSO_WM_DIAGRAM_GROUP_CODE" val="l1l2-1"/>
  <p:tag name="KSO_WM_UNIT_LINE_FORE_SCHEMECOLOR_INDEX" val="14"/>
  <p:tag name="KSO_WM_UNIT_LINE_FILL_TYPE" val="2"/>
  <p:tag name="KSO_WM_UNIT_USESOURCEFORMAT_APPLY" val="1"/>
</p:tagLst>
</file>

<file path=ppt/tags/tag349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1"/>
  <p:tag name="KSO_WM_UNIT_ID" val="diagram20186058_1*l_h_i*2_1_1"/>
  <p:tag name="KSO_WM_UNIT_LAYERLEVEL" val="1_1_1"/>
  <p:tag name="KSO_WM_BEAUTIFY_FLAG" val="#wm#"/>
  <p:tag name="KSO_WM_TAG_VERSION" val="1.0"/>
  <p:tag name="KSO_WM_DIAGRAM_GROUP_CODE" val="l1l2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TEMPLATE_CATEGORY" val="diagram"/>
  <p:tag name="KSO_WM_TEMPLATE_INDEX" val="20186058"/>
  <p:tag name="KSO_WM_UNIT_TYPE" val="l_h_f"/>
  <p:tag name="KSO_WM_UNIT_INDEX" val="2_1_1"/>
  <p:tag name="KSO_WM_UNIT_ID" val="diagram20186058_1*l_h_f*2_1_1"/>
  <p:tag name="KSO_WM_UNIT_LAYERLEVEL" val="1_1_1"/>
  <p:tag name="KSO_WM_UNIT_VALUE" val="2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l1l2-1"/>
  <p:tag name="KSO_WM_UNIT_PRESET_TEXT" val="60%"/>
  <p:tag name="KSO_WM_UNIT_TEXT_FILL_FORE_SCHEMECOLOR_INDEX" val="14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2"/>
  <p:tag name="KSO_WM_UNIT_ID" val="diagram20186058_1*l_h_i*2_1_2"/>
  <p:tag name="KSO_WM_UNIT_LAYERLEVEL" val="1_1_1"/>
  <p:tag name="KSO_WM_BEAUTIFY_FLAG" val="#wm#"/>
  <p:tag name="KSO_WM_TAG_VERSION" val="1.0"/>
  <p:tag name="KSO_WM_DIAGRAM_GROUP_CODE" val="l1l2-1"/>
  <p:tag name="KSO_WM_UNIT_LINE_FORE_SCHEMECOLOR_INDEX" val="14"/>
  <p:tag name="KSO_WM_UNIT_LINE_FILL_TYPE" val="2"/>
  <p:tag name="KSO_WM_UNIT_USESOURCEFORMAT_APPLY" val="1"/>
</p:tagLst>
</file>

<file path=ppt/tags/tag352.xml><?xml version="1.0" encoding="utf-8"?>
<p:tagLst xmlns:p="http://schemas.openxmlformats.org/presentationml/2006/main">
  <p:tag name="KSO_WM_TEMPLATE_CATEGORY" val="diagram"/>
  <p:tag name="KSO_WM_TEMPLATE_INDEX" val="20186058"/>
  <p:tag name="KSO_WM_UNIT_TYPE" val="l_h_a"/>
  <p:tag name="KSO_WM_UNIT_INDEX" val="2_1_1"/>
  <p:tag name="KSO_WM_UNIT_ID" val="diagram20186058_1*l_h_a*2_1_1"/>
  <p:tag name="KSO_WM_UNIT_LAYERLEVEL" val="1_1_1"/>
  <p:tag name="KSO_WM_UNIT_VALUE" val="6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l1l2-1"/>
  <p:tag name="KSO_WM_UNIT_PRESET_TEXT" val="标题文本预设"/>
  <p:tag name="KSO_WM_UNIT_TEXT_FILL_FORE_SCHEMECOLOR_INDEX" val="14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4"/>
  <p:tag name="KSO_WM_UNIT_ID" val="diagram20186058_1*l_h_i*2_1_4"/>
  <p:tag name="KSO_WM_UNIT_LAYERLEVEL" val="1_1_1"/>
  <p:tag name="KSO_WM_BEAUTIFY_FLAG" val="#wm#"/>
  <p:tag name="KSO_WM_TAG_VERSION" val="1.0"/>
  <p:tag name="KSO_WM_DIAGRAM_GROUP_CODE" val="l1l2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5"/>
  <p:tag name="KSO_WM_UNIT_ID" val="diagram20186058_1*l_h_i*2_1_5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6"/>
  <p:tag name="KSO_WM_UNIT_ID" val="diagram20186058_1*l_h_i*2_1_6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1_7"/>
  <p:tag name="KSO_WM_UNIT_ID" val="diagram20186058_1*l_h_i*2_1_7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7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4"/>
  <p:tag name="KSO_WM_UNIT_ID" val="diagram20186058_1*l_h_i*2_2_4"/>
  <p:tag name="KSO_WM_UNIT_LAYERLEVEL" val="1_1_1"/>
  <p:tag name="KSO_WM_BEAUTIFY_FLAG" val="#wm#"/>
  <p:tag name="KSO_WM_TAG_VERSION" val="1.0"/>
  <p:tag name="KSO_WM_DIAGRAM_GROUP_CODE" val="l1l2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8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5"/>
  <p:tag name="KSO_WM_UNIT_ID" val="diagram20186058_1*l_h_i*2_2_5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9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6"/>
  <p:tag name="KSO_WM_UNIT_ID" val="diagram20186058_1*l_h_i*2_2_6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0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2_7"/>
  <p:tag name="KSO_WM_UNIT_ID" val="diagram20186058_1*l_h_i*2_2_7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1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4"/>
  <p:tag name="KSO_WM_UNIT_ID" val="diagram20186058_1*l_h_i*2_3_4"/>
  <p:tag name="KSO_WM_UNIT_LAYERLEVEL" val="1_1_1"/>
  <p:tag name="KSO_WM_BEAUTIFY_FLAG" val="#wm#"/>
  <p:tag name="KSO_WM_TAG_VERSION" val="1.0"/>
  <p:tag name="KSO_WM_DIAGRAM_GROUP_CODE" val="l1l2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2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5"/>
  <p:tag name="KSO_WM_UNIT_ID" val="diagram20186058_1*l_h_i*2_3_5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3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6"/>
  <p:tag name="KSO_WM_UNIT_ID" val="diagram20186058_1*l_h_i*2_3_6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4.xml><?xml version="1.0" encoding="utf-8"?>
<p:tagLst xmlns:p="http://schemas.openxmlformats.org/presentationml/2006/main">
  <p:tag name="KSO_WM_TEMPLATE_CATEGORY" val="diagram"/>
  <p:tag name="KSO_WM_TEMPLATE_INDEX" val="20186058"/>
  <p:tag name="KSO_WM_UNIT_TYPE" val="l_h_i"/>
  <p:tag name="KSO_WM_UNIT_INDEX" val="2_3_7"/>
  <p:tag name="KSO_WM_UNIT_ID" val="diagram20186058_1*l_h_i*2_3_7"/>
  <p:tag name="KSO_WM_UNIT_LAYERLEVEL" val="1_1_1"/>
  <p:tag name="KSO_WM_BEAUTIFY_FLAG" val="#wm#"/>
  <p:tag name="KSO_WM_TAG_VERSION" val="1.0"/>
  <p:tag name="KSO_WM_DIAGRAM_GROUP_CODE" val="l1l2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TEMPLATE_INDEX" val="20186058"/>
  <p:tag name="KSO_WM_TAG_VERSION" val="1.0"/>
  <p:tag name="KSO_WM_SLIDE_INDEX" val="1"/>
  <p:tag name="KSO_WM_SLIDE_ITEM_CNT" val="6"/>
  <p:tag name="KSO_WM_SLIDE_LAYOUT" val="l"/>
  <p:tag name="KSO_WM_SLIDE_LAYOUT_CNT" val="2"/>
  <p:tag name="KSO_WM_SLIDE_TYPE" val="text"/>
  <p:tag name="KSO_WM_SLIDE_SUBTYPE" val="diag"/>
  <p:tag name="KSO_WM_BEAUTIFY_FLAG" val="#wm#"/>
  <p:tag name="KSO_WM_SLIDE_POSITION" val="45*108"/>
  <p:tag name="KSO_WM_SLIDE_SIZE" val="894*347"/>
  <p:tag name="KSO_WM_DIAGRAM_GROUP_CODE" val="l1l2-1"/>
  <p:tag name="KSO_WM_TEMPLATE_CATEGORY" val="diagram"/>
  <p:tag name="KSO_WM_SLIDE_ID" val="diagram20186058_1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2"/>
  <p:tag name="KSO_WM_UNIT_ID" val="diagram20174809_2*o_h_i*1_3_2"/>
  <p:tag name="KSO_WM_TEMPLATE_CATEGORY" val="diagram"/>
  <p:tag name="KSO_WM_TEMPLATE_INDEX" val="20174809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3"/>
  <p:tag name="KSO_WM_UNIT_ID" val="diagram20174809_2*o_h_i*1_2_3"/>
  <p:tag name="KSO_WM_TEMPLATE_CATEGORY" val="diagram"/>
  <p:tag name="KSO_WM_TEMPLATE_INDEX" val="20174809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2"/>
  <p:tag name="KSO_WM_UNIT_ID" val="diagram20174809_2*o_h_i*1_2_2"/>
  <p:tag name="KSO_WM_TEMPLATE_CATEGORY" val="diagram"/>
  <p:tag name="KSO_WM_TEMPLATE_INDEX" val="20174809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1"/>
  <p:tag name="KSO_WM_UNIT_ID" val="diagram20174809_2*o_h_i*1_1_1"/>
  <p:tag name="KSO_WM_TEMPLATE_CATEGORY" val="diagram"/>
  <p:tag name="KSO_WM_TEMPLATE_INDEX" val="20174809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3"/>
  <p:tag name="KSO_WM_UNIT_ID" val="diagram20174809_2*o_h_i*1_3_3"/>
  <p:tag name="KSO_WM_TEMPLATE_CATEGORY" val="diagram"/>
  <p:tag name="KSO_WM_TEMPLATE_INDEX" val="20174809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041_4*l_h_i*1_3_1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41_4*l_h_i*1_4_1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41_4*l_h_i*1_1_1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42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28041_4*l_h_i*1_4_2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SHADOW_SCHEMECOLOR_INDEX" val="14"/>
</p:tagLst>
</file>

<file path=ppt/tags/tag4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28041_4*l_h_i*1_4_3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28041_4*l_h_i*1_4_4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28041_4*l_h_a*1_4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41_4*l_h_f*1_4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VALUE" val="97*9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28041_4*l_h_x*1_4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8041_4*l_h_i*1_3_2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SHADOW_SCHEMECOLOR_INDEX" val="14"/>
</p:tagLst>
</file>

<file path=ppt/tags/tag4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28041_4*l_h_i*1_3_3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28041_4*l_h_i*1_3_4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041_4*l_h_a*1_3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41_4*l_h_f*1_3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VALUE" val="97*9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28041_4*l_h_x*1_3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8041_4*l_h_i*1_1_2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SHADOW_SCHEMECOLOR_INDEX" val="14"/>
</p:tagLst>
</file>

<file path=ppt/tags/tag4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41_4*l_h_i*1_1_3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41_4*l_h_i*1_1_4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41_4*l_h_f*1_1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41_4*l_h_a*1_1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VALUE" val="97*9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8041_4*l_h_x*1_1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41_4*l_h_i*1_2_1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4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8041_4*l_h_i*1_2_2"/>
  <p:tag name="KSO_WM_TEMPLATE_CATEGORY" val="diagram"/>
  <p:tag name="KSO_WM_TEMPLATE_INDEX" val="20228041"/>
  <p:tag name="KSO_WM_UNIT_LAYERLEVEL" val="1_1_1"/>
  <p:tag name="KSO_WM_TAG_VERSION" val="1.0"/>
  <p:tag name="KSO_WM_BEAUTIFY_FLAG" val="#wm#"/>
  <p:tag name="KSO_WM_UNIT_SHADOW_SCHEMECOLOR_INDEX" val="14"/>
</p:tagLst>
</file>

<file path=ppt/tags/tag44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41_4*l_h_i*1_2_3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41_4*l_h_i*1_2_4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41_4*l_h_a*1_2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41_4*l_h_f*1_2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VALUE" val="97*9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8041_4*l_h_x*1_2_1"/>
  <p:tag name="KSO_WM_TEMPLATE_CATEGORY" val="diagram"/>
  <p:tag name="KSO_WM_TEMPLATE_INDEX" val="20228041"/>
  <p:tag name="KSO_WM_UNIT_LAYERLEVEL" val="1_1_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427"/>
  <p:tag name="KSO_WM_SLIDE_ID" val="custom20205427_14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4"/>
  <p:tag name="KSO_WM_SLIDE_INDEX" val="14"/>
  <p:tag name="KSO_WM_SLIDE_SIZE" val="809.1*254.497"/>
  <p:tag name="KSO_WM_SLIDE_POSITION" val="75.45*171.3"/>
  <p:tag name="KSO_WM_DIAGRAM_GROUP_CODE" val="l1-2"/>
  <p:tag name="KSO_WM_SLIDE_DIAGTYPE" val="l"/>
  <p:tag name="KSO_WM_TAG_VERSION" val="1.0"/>
  <p:tag name="KSO_WM_SLIDE_LAYOUT" val="a_l"/>
  <p:tag name="KSO_WM_SLIDE_LAYOUT_CNT" val="1_1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76.xml><?xml version="1.0" encoding="utf-8"?>
<p:tagLst xmlns:p="http://schemas.openxmlformats.org/presentationml/2006/main">
  <p:tag name="KSO_WM_TEMPLATE_CATEGORY" val="custom"/>
  <p:tag name="KSO_WM_TEMPLATE_INDEX" val="20185046"/>
  <p:tag name="KSO_WM_UNIT_TYPE" val="b"/>
  <p:tag name="KSO_WM_UNIT_INDEX" val="1"/>
  <p:tag name="KSO_WM_UNIT_ID" val="custom20185046_1*b*1"/>
  <p:tag name="KSO_WM_UNIT_LAYERLEVEL" val="1"/>
  <p:tag name="KSO_WM_UNIT_VALUE" val="8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Lorem ipsum dolor sit amet, consectetur adipisicing elit."/>
  <p:tag name="KSO_WM_UNIT_NOCLEAR" val="0"/>
  <p:tag name="KSO_WM_UNIT_DIAGRAM_ISNUMVISUAL" val="0"/>
  <p:tag name="KSO_WM_UNIT_DIAGRAM_ISREFERUNIT" val="0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79.xml><?xml version="1.0" encoding="utf-8"?>
<p:tagLst xmlns:p="http://schemas.openxmlformats.org/presentationml/2006/main">
  <p:tag name="KSO_WM_UNIT_TIMELINE_IDINGROUP" val="2"/>
  <p:tag name="KSO_WM_UNIT_TIMELINE_EMPHASIS_ID" val="2"/>
  <p:tag name="KSO_WM_UNIT_COLOR_SCHEME_SHAPE_ID" val="22"/>
  <p:tag name="KSO_WM_UNIT_COLOR_SCHEME_PARENT_PAGE" val="0_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5364"/>
  <p:tag name="KSO_WM_UNIT_ID" val="custom20205364_28*m_h_i*1_1_2"/>
  <p:tag name="KSO_WM_UNIT_FILL_FORE_SCHEMECOLOR_INDEX" val="5"/>
  <p:tag name="KSO_WM_UNIT_FILL_TYPE" val="1"/>
  <p:tag name="KSO_WM_UNIT_USESOURCEFORMAT_APPLY" val="1"/>
</p:tagLst>
</file>

<file path=ppt/tags/tag480.xml><?xml version="1.0" encoding="utf-8"?>
<p:tagLst xmlns:p="http://schemas.openxmlformats.org/presentationml/2006/main">
  <p:tag name="KSO_WM_UNIT_TIMELINE_IDINGROUP" val="5"/>
  <p:tag name="KSO_WM_UNIT_TIMELINE_EMPHASIS_ID" val="5"/>
  <p:tag name="KSO_WM_UNIT_COLOR_SCHEME_SHAPE_ID" val="37"/>
  <p:tag name="KSO_WM_UNIT_COLOR_SCHEME_PARENT_PAGE" val="0_6"/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LAYERLEVEL" val="1_1_1"/>
  <p:tag name="KSO_WM_TAG_VERSION" val="1.0"/>
  <p:tag name="KSO_WM_BEAUTIFY_FLAG" val="#wm#"/>
  <p:tag name="KSO_WM_UNIT_PRESET_TEXT" val="第一步"/>
  <p:tag name="KSO_WM_TEMPLATE_CATEGORY" val="custom"/>
  <p:tag name="KSO_WM_TEMPLATE_INDEX" val="20205364"/>
  <p:tag name="KSO_WM_UNIT_ID" val="custom20205364_28*m_h_a*1_1_1"/>
  <p:tag name="KSO_WM_UNIT_ISNUMDGMTITLE" val="0"/>
  <p:tag name="KSO_WM_UNIT_TEXT_FILL_FORE_SCHEMECOLOR_INDEX" val="14"/>
  <p:tag name="KSO_WM_UNIT_TEXT_FILL_TYPE" val="1"/>
  <p:tag name="KSO_WM_UNIT_USESOURCEFORMAT_APPLY" val="1"/>
</p:tagLst>
</file>

<file path=ppt/tags/tag481.xml><?xml version="1.0" encoding="utf-8"?>
<p:tagLst xmlns:p="http://schemas.openxmlformats.org/presentationml/2006/main">
  <p:tag name="KSO_WM_UNIT_TIMELINE_IDINGROUP" val="2"/>
  <p:tag name="KSO_WM_UNIT_TIMELINE_EMPHASIS_ID" val="2"/>
  <p:tag name="KSO_WM_UNIT_COLOR_SCHEME_SHAPE_ID" val="14"/>
  <p:tag name="KSO_WM_UNIT_COLOR_SCHEME_PARENT_PAGE" val="0_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5364"/>
  <p:tag name="KSO_WM_UNIT_ID" val="custom20205364_28*m_h_i*1_2_2"/>
  <p:tag name="KSO_WM_UNIT_FILL_FORE_SCHEMECOLOR_INDEX" val="6"/>
  <p:tag name="KSO_WM_UNIT_FILL_TYPE" val="1"/>
  <p:tag name="KSO_WM_UNIT_USESOURCEFORMAT_APPLY" val="1"/>
</p:tagLst>
</file>

<file path=ppt/tags/tag482.xml><?xml version="1.0" encoding="utf-8"?>
<p:tagLst xmlns:p="http://schemas.openxmlformats.org/presentationml/2006/main">
  <p:tag name="KSO_WM_UNIT_TIMELINE_IDINGROUP" val="2"/>
  <p:tag name="KSO_WM_UNIT_TIMELINE_EMPHASIS_ID" val="2"/>
  <p:tag name="KSO_WM_UNIT_COLOR_SCHEME_SHAPE_ID" val="20"/>
  <p:tag name="KSO_WM_UNIT_COLOR_SCHEME_PARENT_PAGE" val="0_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5364"/>
  <p:tag name="KSO_WM_UNIT_ID" val="custom20205364_28*m_h_i*1_3_2"/>
  <p:tag name="KSO_WM_UNIT_FILL_FORE_SCHEMECOLOR_INDEX" val="5"/>
  <p:tag name="KSO_WM_UNIT_FILL_TYPE" val="1"/>
  <p:tag name="KSO_WM_UNIT_USESOURCEFORMAT_APPLY" val="1"/>
</p:tagLst>
</file>

<file path=ppt/tags/tag483.xml><?xml version="1.0" encoding="utf-8"?>
<p:tagLst xmlns:p="http://schemas.openxmlformats.org/presentationml/2006/main">
  <p:tag name="KSO_WM_UNIT_TIMELINE_IDINGROUP" val="5"/>
  <p:tag name="KSO_WM_UNIT_TIMELINE_EMPHASIS_ID" val="5"/>
  <p:tag name="KSO_WM_UNIT_COLOR_SCHEME_SHAPE_ID" val="24"/>
  <p:tag name="KSO_WM_UNIT_COLOR_SCHEME_PARENT_PAGE" val="0_6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LAYERLEVEL" val="1_1_1"/>
  <p:tag name="KSO_WM_TAG_VERSION" val="1.0"/>
  <p:tag name="KSO_WM_BEAUTIFY_FLAG" val="#wm#"/>
  <p:tag name="KSO_WM_UNIT_PRESET_TEXT" val="第三步"/>
  <p:tag name="KSO_WM_TEMPLATE_CATEGORY" val="custom"/>
  <p:tag name="KSO_WM_TEMPLATE_INDEX" val="20205364"/>
  <p:tag name="KSO_WM_UNIT_ID" val="custom20205364_28*m_h_a*1_3_1"/>
  <p:tag name="KSO_WM_UNIT_ISNUMDGMTITLE" val="0"/>
  <p:tag name="KSO_WM_UNIT_TEXT_FILL_FORE_SCHEMECOLOR_INDEX" val="14"/>
  <p:tag name="KSO_WM_UNIT_TEXT_FILL_TYPE" val="1"/>
  <p:tag name="KSO_WM_UNIT_USESOURCEFORMAT_APPLY" val="1"/>
</p:tagLst>
</file>

<file path=ppt/tags/tag484.xml><?xml version="1.0" encoding="utf-8"?>
<p:tagLst xmlns:p="http://schemas.openxmlformats.org/presentationml/2006/main">
  <p:tag name="KSO_WM_UNIT_TIMELINE_IDINGROUP" val="5"/>
  <p:tag name="KSO_WM_UNIT_TIMELINE_EMPHASIS_ID" val="5"/>
  <p:tag name="KSO_WM_UNIT_COLOR_SCHEME_SHAPE_ID" val="37"/>
  <p:tag name="KSO_WM_UNIT_COLOR_SCHEME_PARENT_PAGE" val="0_6"/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LAYERLEVEL" val="1_1_1"/>
  <p:tag name="KSO_WM_TAG_VERSION" val="1.0"/>
  <p:tag name="KSO_WM_BEAUTIFY_FLAG" val="#wm#"/>
  <p:tag name="KSO_WM_UNIT_PRESET_TEXT" val="第一步"/>
  <p:tag name="KSO_WM_TEMPLATE_CATEGORY" val="custom"/>
  <p:tag name="KSO_WM_TEMPLATE_INDEX" val="20205364"/>
  <p:tag name="KSO_WM_UNIT_ID" val="custom20205364_28*m_h_a*1_1_1"/>
  <p:tag name="KSO_WM_UNIT_ISNUMDGMTITLE" val="0"/>
  <p:tag name="KSO_WM_UNIT_TEXT_FILL_FORE_SCHEMECOLOR_INDEX" val="14"/>
  <p:tag name="KSO_WM_UNIT_TEXT_FILL_TYPE" val="1"/>
  <p:tag name="KSO_WM_UNIT_USESOURCEFORMAT_APPLY" val="1"/>
</p:tagLst>
</file>

<file path=ppt/tags/tag48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710_3*l_h_i*1_1_3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710_3*l_h_i*1_1_4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487.xml><?xml version="1.0" encoding="utf-8"?>
<p:tagLst xmlns:p="http://schemas.openxmlformats.org/presentationml/2006/main"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710_3*l_h_f*1_1_1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4"/>
  <p:tag name="KSO_WM_UNIT_TEXT_FILL_TYPE" val="1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710_3*l_h_i*1_3_4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48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710_3*l_h_i*1_1_3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490.xml><?xml version="1.0" encoding="utf-8"?>
<p:tagLst xmlns:p="http://schemas.openxmlformats.org/presentationml/2006/main"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710_3*l_h_f*1_1_1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4"/>
  <p:tag name="KSO_WM_UNIT_TEXT_FILL_TYPE" val="1"/>
</p:tagLst>
</file>

<file path=ppt/tags/tag49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710_3*l_h_i*1_1_3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492.xml><?xml version="1.0" encoding="utf-8"?>
<p:tagLst xmlns:p="http://schemas.openxmlformats.org/presentationml/2006/main"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710_3*l_h_f*1_1_1"/>
  <p:tag name="KSO_WM_TEMPLATE_CATEGORY" val="diagram"/>
  <p:tag name="KSO_WM_TEMPLATE_INDEX" val="71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4"/>
  <p:tag name="KSO_WM_UNIT_TEXT_FILL_TYPE" val="1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}"/>
  <p:tag name="KSO_WM_SLIDE_CAN_ADD_NAVIGATION" val="1"/>
  <p:tag name="KSO_WM_SLIDE_BACKGROUND" val="[&quot;general&quot;]"/>
  <p:tag name="KSO_WM_SLIDE_RATIO" val="1.777778"/>
  <p:tag name="KSO_WM_SLIDE_TIMELINE_TYPE" val="middle"/>
  <p:tag name="KSO_WM_SLIDE_MODEL_TYPE" val="timeline"/>
  <p:tag name="KSO_WM_SLIDE_TIMELINE_MINITEMS" val="2"/>
  <p:tag name="KSO_WM_SLIDE_TIMELINE_MAXITEMS" val="4"/>
  <p:tag name="KSO_WM_SLIDE_COLORSCHEME_VERSION" val="3.2"/>
  <p:tag name="KSO_WM_TEMPLATE_SUBCATEGORY" val="0"/>
  <p:tag name="KSO_WM_SLIDE_TYPE" val="text"/>
  <p:tag name="KSO_WM_SLIDE_SUBTYPE" val="diag"/>
  <p:tag name="KSO_WM_SLIDE_ITEM_CNT" val="3"/>
  <p:tag name="KSO_WM_SLIDE_INDEX" val="28"/>
  <p:tag name="KSO_WM_SLIDE_SIZE" val="959.956*321.293"/>
  <p:tag name="KSO_WM_SLIDE_POSITION" val="0.0219685*158.159"/>
  <p:tag name="KSO_WM_DIAGRAM_GROUP_CODE" val="m1-1"/>
  <p:tag name="KSO_WM_SLIDE_DIAGTYPE" val="m"/>
  <p:tag name="KSO_WM_TAG_VERSION" val="1.0"/>
  <p:tag name="KSO_WM_BEAUTIFY_FLAG" val="#wm#"/>
  <p:tag name="KSO_WM_SLIDE_LAYOUT" val="a_i_m"/>
  <p:tag name="KSO_WM_SLIDE_LAYOUT_CNT" val="1_1_1"/>
  <p:tag name="KSO_WM_TEMPLATE_MASTER_TYPE" val="1"/>
  <p:tag name="KSO_WM_TEMPLATE_COLOR_TYPE" val="1"/>
  <p:tag name="KSO_WM_TEMPLATE_CATEGORY" val="custom"/>
  <p:tag name="KSO_WM_TEMPLATE_INDEX" val="20205364"/>
  <p:tag name="KSO_WM_SLIDE_ID" val="custom20205364_28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SPECIAL_SOURCE" val="bdnull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UNIT_TABLE_BEAUTIFY" val="smartTable{2015615f-0c80-4432-a897-0d34c90b64a8}"/>
</p:tagLst>
</file>

<file path=ppt/tags/tag585.xml><?xml version="1.0" encoding="utf-8"?>
<p:tagLst xmlns:p="http://schemas.openxmlformats.org/presentationml/2006/main">
  <p:tag name="KSO_WM_UNIT_TABLE_BEAUTIFY" val="smartTable{6a2da14b-2ea5-49ed-8a8d-c119b672aae9}"/>
  <p:tag name="TABLE_ENDDRAG_ORIGIN_RECT" val="307*207"/>
  <p:tag name="TABLE_ENDDRAG_RECT" val="551*141*307*207"/>
</p:tagLst>
</file>

<file path=ppt/tags/tag586.xml><?xml version="1.0" encoding="utf-8"?>
<p:tagLst xmlns:p="http://schemas.openxmlformats.org/presentationml/2006/main">
  <p:tag name="KSO_WM_UNIT_TABLE_BEAUTIFY" val="smartTable{a4a83292-9efb-4d19-b9d1-68ca5dbe7d4e}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62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22.xml><?xml version="1.0" encoding="utf-8"?>
<p:tagLst xmlns:p="http://schemas.openxmlformats.org/presentationml/2006/main">
  <p:tag name="COMMONDATA" val="eyJoZGlkIjoiODk2ZDFiNTNiZDk4YWIzZjI0NDI1OTdmMmRmMjhmYTQifQ=="/>
  <p:tag name="KSO_WPP_MARK_KEY" val="a533079e-5123-4e0d-ab77-2ebe1c791824"/>
  <p:tag name="commondata" val="eyJoZGlkIjoiYTU3MjAzOGI1ZWM1NjI3YTE0MjIzZDIwNTMwM2NhZj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8953</Words>
  <Application>WPS 演示</Application>
  <PresentationFormat>宽屏</PresentationFormat>
  <Paragraphs>1104</Paragraphs>
  <Slides>38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63" baseType="lpstr">
      <vt:lpstr>Arial</vt:lpstr>
      <vt:lpstr>宋体</vt:lpstr>
      <vt:lpstr>Wingdings</vt:lpstr>
      <vt:lpstr>Wingdings</vt:lpstr>
      <vt:lpstr>汉仪中黑S</vt:lpstr>
      <vt:lpstr>微软雅黑</vt:lpstr>
      <vt:lpstr>黑体</vt:lpstr>
      <vt:lpstr>汉仪雅酷黑 75W</vt:lpstr>
      <vt:lpstr>思源黑体 CN Light</vt:lpstr>
      <vt:lpstr>Times New Roman</vt:lpstr>
      <vt:lpstr>汉仪中黑简</vt:lpstr>
      <vt:lpstr>Arial Unicode MS</vt:lpstr>
      <vt:lpstr>Calibri</vt:lpstr>
      <vt:lpstr>思源黑体 CN Regular</vt:lpstr>
      <vt:lpstr>等线</vt:lpstr>
      <vt:lpstr>汉仪旗黑-85S</vt:lpstr>
      <vt:lpstr>思源黑体 CN Bold</vt:lpstr>
      <vt:lpstr>Avant GardeBook</vt:lpstr>
      <vt:lpstr>Noto Sans S Chinese Light</vt:lpstr>
      <vt:lpstr>Bookman Old Style</vt:lpstr>
      <vt:lpstr>Malgun Gothic Semilight</vt:lpstr>
      <vt:lpstr>Josefin Sans</vt:lpstr>
      <vt:lpstr>Segoe Print</vt:lpstr>
      <vt:lpstr>Source Sans Pro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HP</dc:creator>
  <cp:lastModifiedBy>阿锟</cp:lastModifiedBy>
  <cp:revision>344</cp:revision>
  <dcterms:created xsi:type="dcterms:W3CDTF">2019-06-19T02:08:00Z</dcterms:created>
  <dcterms:modified xsi:type="dcterms:W3CDTF">2025-06-16T05:43:14Z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A44853B1A2354029A8DC72C6D4962785_12</vt:lpwstr>
  </property>
</Properties>
</file>