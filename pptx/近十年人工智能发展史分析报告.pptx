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00" cy="9144000"/>
  <p:notesSz cx="9144000" cy="16256000"/>
  <p:embeddedFontLs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参数量(十亿)</c:v>
                </c:pt>
              </c:strCache>
            </c:strRef>
          </c:tx>
          <c:spPr>
            <a:solidFill>
              <a:srgbClr val="1C1C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GPT-1 (2018)</c:v>
                  </c:pt>
                  <c:pt idx="1">
                    <c:v>GPT-2 (2019)</c:v>
                  </c:pt>
                  <c:pt idx="2">
                    <c:v>GPT-3 (2020)</c:v>
                  </c:pt>
                  <c:pt idx="3">
                    <c:v>GPT-4 (2023)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0.117</c:v>
                </c:pt>
                <c:pt idx="1">
                  <c:v>1.5</c:v>
                </c:pt>
                <c:pt idx="2">
                  <c:v>175</c:v>
                </c:pt>
                <c:pt idx="3">
                  <c:v>1800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市场规模(亿元)</c:v>
                </c:pt>
              </c:strCache>
            </c:strRef>
          </c:tx>
          <c:spPr>
            <a:solidFill>
              <a:srgbClr val="1C1C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D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1600</c:v>
                </c:pt>
                <c:pt idx="1">
                  <c:v>2200</c:v>
                </c:pt>
                <c:pt idx="2">
                  <c:v>3200</c:v>
                </c:pt>
                <c:pt idx="3">
                  <c:v>5784</c:v>
                </c:pt>
                <c:pt idx="4">
                  <c:v>7470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2D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同比增速</c:v>
                </c:pt>
              </c:strCache>
            </c:strRef>
          </c:tx>
          <c:spPr>
            <a:solidFill>
              <a:srgbClr val="C8963E"/>
            </a:solidFill>
            <a:ln w="25400" cap="flat">
              <a:solidFill>
                <a:srgbClr val="C896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D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963E"/>
              </a:solidFill>
              <a:ln w="9525" cap="flat">
                <a:solidFill>
                  <a:srgbClr val="C896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</c:v>
                </c:pt>
                <c:pt idx="1">
                  <c:v>0.375</c:v>
                </c:pt>
                <c:pt idx="2">
                  <c:v>0.455</c:v>
                </c:pt>
                <c:pt idx="3">
                  <c:v>0.139</c:v>
                </c:pt>
                <c:pt idx="4">
                  <c:v>0.41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2D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亿元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亿元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7B"/>
                </a:solidFill>
                <a:latin typeface="Arial"/>
              </a:defRPr>
            </a:pPr>
            <a:endParaRPr lang="en-US"/>
          </a:p>
        </c:txPr>
        <c:crossAx val="209473455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ashifmukhtar.com/evolution-of-ai-1940-2025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toloka.ai/blog/history-of-generative-ai/" TargetMode="External"/><Relationship Id="rId3" Type="http://schemas.openxmlformats.org/officeDocument/2006/relationships/hyperlink" Target="https://cloud.tencent.com/developer/article/2478399" TargetMode="External"/><Relationship Id="rId1" Type="http://schemas.openxmlformats.org/officeDocument/2006/relationships/chart" Target="/ppt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mylens.ai/space/y7ookqvkwp7/llm%E5%8F%91%E5%B1%95%E5%A4%A7%E4%BA%8B%E8%AE%B0-i4dddg" TargetMode="External"/><Relationship Id="rId2" Type="http://schemas.openxmlformats.org/officeDocument/2006/relationships/hyperlink" Target="https://www.fortunebusinessinsights.com/zh/industry-reports/artificial-intelligence-market-100114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imedia.cn/c1020/104720.html" TargetMode="External"/><Relationship Id="rId3" Type="http://schemas.openxmlformats.org/officeDocument/2006/relationships/hyperlink" Target="https://repository.ceibs.edu/files/58734763/AI_-AI.pdf" TargetMode="External"/><Relationship Id="rId1" Type="http://schemas.openxmlformats.org/officeDocument/2006/relationships/chart" Target="/ppt/charts/chart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ortunebusinessinsights.com/zh/industry-reports/artificial-intelligence-market-10011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wlfhhv3mjf2a/mnt/agents/output/ai_history_report/images/6_Abstract_digital_technology_concept.png">    </p:cNvPr>
          <p:cNvPicPr>
            <a:picLocks noChangeAspect="1"/>
          </p:cNvPicPr>
          <p:nvPr/>
        </p:nvPicPr>
        <p:blipFill>
          <a:blip r:embed="rId1"/>
          <a:srcRect l="18" r="1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26">
                  <a:alpha val="94000"/>
                </a:srgbClr>
              </a:gs>
              <a:gs pos="55000">
                <a:srgbClr val="141426">
                  <a:alpha val="82000"/>
                </a:srgbClr>
              </a:gs>
              <a:gs pos="100000">
                <a:srgbClr val="141426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REPORT 2025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2794000"/>
            <a:ext cx="889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近十年人工智能</a:t>
            </a:r>
            <a:endParaRPr lang="en-US" sz="5200" dirty="0"/>
          </a:p>
          <a:p>
            <a:pPr>
              <a:lnSpc>
                <a:spcPct val="130000"/>
              </a:lnSpc>
            </a:pPr>
            <a:r>
              <a:rPr lang="en-US" sz="5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发展史分析报告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016000" y="4826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从深度学习到生成式AI的变革之路 (2014-2024)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16000" y="5588000"/>
            <a:ext cx="1524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1016000" y="5842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2026年5月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报告目录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714500"/>
            <a:ext cx="14732000" cy="0"/>
          </a:xfrm>
          <a:prstGeom prst="straightConnector1">
            <a:avLst/>
          </a:prstGeom>
          <a:noFill/>
          <a:ln w="12700">
            <a:solidFill>
              <a:srgbClr val="6B6B7B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29845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技术突破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深度学习的崛起与关键里程碑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096000" y="29845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范式革命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Transformer与GPT系列模型演进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176000" y="29845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爆发元年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生成式AI主流化与多模态突破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508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16000" y="57785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中国力量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政策驱动、自主创新与产业生态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508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96000" y="57785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未来展望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AI发展趋势、挑战与机遇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6000" y="508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176000" y="57785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产业图景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市场规模与应用落地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572000"/>
            <a:ext cx="14732000" cy="0"/>
          </a:xfrm>
          <a:prstGeom prst="straightConnector1">
            <a:avLst/>
          </a:prstGeom>
          <a:noFill/>
          <a:ln w="12700">
            <a:solidFill>
              <a:srgbClr val="6B6B7B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334000" y="2032000"/>
            <a:ext cx="0" cy="4572000"/>
          </a:xfrm>
          <a:prstGeom prst="straightConnector1">
            <a:avLst/>
          </a:prstGeom>
          <a:noFill/>
          <a:ln w="12700">
            <a:solidFill>
              <a:srgbClr val="6B6B7B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0414000" y="2032000"/>
            <a:ext cx="0" cy="4572000"/>
          </a:xfrm>
          <a:prstGeom prst="straightConnector1">
            <a:avLst/>
          </a:prstGeom>
          <a:noFill/>
          <a:ln w="12700">
            <a:solidFill>
              <a:srgbClr val="6B6B7B">
                <a:alpha val="25098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wlfhhv3mjf2a/mnt/agents/output/ai_history_report/images/4_Free_Neural_Network_Visualization.png">    </p:cNvPr>
          <p:cNvPicPr>
            <a:picLocks noChangeAspect="1"/>
          </p:cNvPicPr>
          <p:nvPr/>
        </p:nvPicPr>
        <p:blipFill>
          <a:blip r:embed="rId1"/>
          <a:srcRect l="183" r="18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26">
                  <a:alpha val="94000"/>
                </a:srgbClr>
              </a:gs>
              <a:gs pos="60000">
                <a:srgbClr val="141426">
                  <a:alpha val="75000"/>
                </a:srgbClr>
              </a:gs>
              <a:gs pos="100000">
                <a:srgbClr val="141426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746500"/>
            <a:ext cx="1270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016000" y="40005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技术突破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48895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深度学习的崛起与关键里程碑 (2014-2017)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深度学习奠定AI第三次浪潮的技术根基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4732000" cy="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206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2014-2017年是AI技术基础奠定的关键阶段，三大突破分别代表了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生成建模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、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强化学习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和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序列建模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的里程碑，为后续十年发展奠定技术支柱。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5720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222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67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GAN生成对抗网络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1750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Ian Goodfellow提出GAN架构，通过生成器与判别器的对抗训练，首次实现高质量图像生成。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意义：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开启生成式AI新时代，为后续图像合成、风格迁移、DeepFake等技术奠定基础。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7112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关键词：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生成建模 · 对抗训练 · 图像合成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032000"/>
            <a:ext cx="45720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0" y="2222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2667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AlphaGo击败李世石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1750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DeepMind的AlphaGo以4:1击败围棋世界冠军李世石，AI首次在围棋领域超越人类顶尖选手。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意义：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证明深度强化学习可解决高复杂度策略问题，引发全球AI关注热潮。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7112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关键词：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强化学习 · 策略推理 · 蒙特卡洛树搜索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2032000"/>
            <a:ext cx="45720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76000" y="2222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6000" y="2667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Transformer架构问世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76000" y="31750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Google发表"Attention Is All You Need"，提出Transformer架构，自注意力机制彻底改变NLP范式。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意义：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成为GPT、BERT等所有大模型的基础架构，开启NLP革命。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0" y="7112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关键词：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自注意力 · 并行计算 · 序列建模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7630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Evolution of AI Timeline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Vaswani et al., "Attention Is All You Need", 2017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859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wlfhhv3mjf2a/mnt/agents/output/ai_history_report/images/1_23_737_Neural_Network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26">
                  <a:alpha val="94000"/>
                </a:srgbClr>
              </a:gs>
              <a:gs pos="60000">
                <a:srgbClr val="141426">
                  <a:alpha val="75000"/>
                </a:srgbClr>
              </a:gs>
              <a:gs pos="100000">
                <a:srgbClr val="141426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746500"/>
            <a:ext cx="1270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016000" y="40005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范式革命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4889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Transformer架构与GPT系列模型演进 (2018-2021)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GPT系列参数规模指数级增长，少样本学习能力持续突破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4732000" cy="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graphicFrame>
        <p:nvGraphicFramePr>
          <p:cNvPr id="4" name="Chart 0" descr=""/>
          <p:cNvGraphicFramePr/>
          <p:nvPr/>
        </p:nvGraphicFramePr>
        <p:xfrm>
          <a:off x="762000" y="1270000"/>
          <a:ext cx="7366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636000" y="1270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同期关键突破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36000" y="177800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2018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Google发布BERT，双向编码刷新NLP基准测试纪录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2019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GPT-2展示惊人文本连贯性，OpenAI最初因安全顾虑未完整开源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GPT-3(1750亿参数)首次展现强大少样本学习能力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CLIP+DALL-E实现语言-视觉跨模态连接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AlphaFold2解决蛋白质折叠50年科学难题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GitHub Copilot推出，AI辅助编程成为现实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5969000"/>
            <a:ext cx="1473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6000" y="6096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6477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从GPT-1到GPT-3，模型参数量增长超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15,000倍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，从1.17亿增至1,750亿。GPT-3首次展现强大的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少样本学习(Few-Shot Learning)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能力，无需微调即可适应多种任务。同期，Transformer架构催生了BERT、T5、CLIP等一系列里程碑模型，AI能力从单一文本理解扩展至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跨模态推理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和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科学发现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领域。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7630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History of Generative AI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3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Tencent Cloud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859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wlfhhv3mjf2a/mnt/agents/output/ai_history_report/images/5_Abstract_technology_background_futurist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26">
                  <a:alpha val="94000"/>
                </a:srgbClr>
              </a:gs>
              <a:gs pos="60000">
                <a:srgbClr val="141426">
                  <a:alpha val="75000"/>
                </a:srgbClr>
              </a:gs>
              <a:gs pos="100000">
                <a:srgbClr val="141426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746500"/>
            <a:ext cx="1270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016000" y="40005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爆发元年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4889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生成式AI主流化与多模态突破 (2022-2024)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ChatGPT两月破亿用户，GPT-4开启多模态智能新纪元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4732000" cy="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62000" y="12700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3716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1亿+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2032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ChatGPT上线2个月用户数，史上增长最快的消费级应用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08500" y="12700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9000" y="13716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$150亿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699000" y="2032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2024年全球生成式AI市场规模，预计2029年达$730亿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55000" y="12700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5500" y="13716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25,000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445500" y="2032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GPT-4单次文本输出上限(词)，支持文本+图像多模态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001500" y="1270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92000" y="1371600"/>
            <a:ext cx="311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192000" y="2032000"/>
            <a:ext cx="31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生成式AI市场2024-2029年复合年增长率(CAGR)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11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2022-2024关键事件时间线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556000"/>
          <a:ext cx="14732000" cy="4699000"/>
        </p:xfrm>
        <a:graphic>
          <a:graphicData uri="http://schemas.openxmlformats.org/drawingml/2006/table">
            <a:tbl>
              <a:tblPr/>
              <a:tblGrid>
                <a:gridCol w="1473200"/>
                <a:gridCol w="3241040"/>
                <a:gridCol w="10017760"/>
              </a:tblGrid>
              <a:tr h="56183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时间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事件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意义与影响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2022.11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ChatGPT发布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基于GPT-3.5+RLHF，引发全球AI对话热潮，证明大模型产品化路径可行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2022.08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Stable Diffusion开源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高质量文本到图像生成普及化，AIGC创作门槛大幅降低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2023.03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GPT-4发布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多模态能力+显著性能提升，可靠性、创造力和解决问题能力大幅增强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2023.03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百度文心一言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中国首个对标ChatGPT的大模型产品，标志中国进入生成式AI竞赛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2024.02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OpenAI Sora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文本到视频生成突破，可生成长达60秒的高保真视频，拓展AIGC边界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2024.09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OpenAI o1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引入推理新范式，通过思维链提升复杂推理能力，AI安全治理同步加速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6129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2024.12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DeepSeek V3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中国开源大模型以极低成本实现GPT-4级别性能，推动AI普惠化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2000" y="87630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LLM发展大事记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Fortune Business Insights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859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wlfhhv3mjf2a/mnt/agents/output/ai_history_report/images/3_Artificial_intelligence_chip_concept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26">
                  <a:alpha val="94000"/>
                </a:srgbClr>
              </a:gs>
              <a:gs pos="60000">
                <a:srgbClr val="141426">
                  <a:alpha val="75000"/>
                </a:srgbClr>
              </a:gs>
              <a:gs pos="100000">
                <a:srgbClr val="141426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746500"/>
            <a:ext cx="1270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016000" y="40005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中国力量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4889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政策驱动、自主创新与产业生态构建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中国AI产业规模2024年达7470亿元，"人工智能+"战略全面升级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4732000" cy="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270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中国AI市场规模增长趋势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62000" y="1714500"/>
          <a:ext cx="6858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82000" y="1270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中国AI核心指标 (2024)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82000" y="1778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20.9%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82000" y="234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全球AI市场占比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76000" y="1778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76000" y="234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全球大模型数量占比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970000" y="1778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61.5%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0" y="23495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生成式AI专利占比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2794000"/>
            <a:ext cx="7112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8382000" y="29845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政策演进与产业布局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2000" y="33655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2017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国务院发布《新一代人工智能发展规划》，确立三步走战略目标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政府工作报告首提"人工智能+"行动，标志AI从技术研发进入产业赋能新阶段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国产大模型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百度"文心一言"、阿里"通义千问"、华为"盘古"等加速迭代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DeepSeek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以开源+低成本策略实现GPT-4级别性能，推动AI普惠化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5651500"/>
            <a:ext cx="14732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6000" y="5778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中美AI发展对比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6197600"/>
          <a:ext cx="14224000" cy="1905000"/>
        </p:xfrm>
        <a:graphic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  <a:gridCol w="3556000"/>
              </a:tblGrid>
              <a:tr h="56771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维度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中国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美国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差距分析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668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AI融资规模(2024)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~15%全球份额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&gt;70%全球份额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美国主导，中国追赶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8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大模型数量(2024Q1)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36%全球份额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44%全球份额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2D3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差距缩小，中国发力明显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762000" y="8763000"/>
            <a:ext cx="1016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iimedia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3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CEIBS AI产业洞察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中国信通院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4859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wlfhhv3mjf2a/mnt/agents/output/ai_history_report/images/7_Abstract_Neural_Network_Visualization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426">
                  <a:alpha val="94000"/>
                </a:srgbClr>
              </a:gs>
              <a:gs pos="60000">
                <a:srgbClr val="141426">
                  <a:alpha val="75000"/>
                </a:srgbClr>
              </a:gs>
              <a:gs pos="100000">
                <a:srgbClr val="141426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746500"/>
            <a:ext cx="1270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016000" y="40005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未来展望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4889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AI发展趋势、挑战与机遇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Agent与具身智能成为下一波浪潮，安全治理同步加速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4732000" cy="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2700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技术趋势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676400"/>
            <a:ext cx="457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841500"/>
            <a:ext cx="457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从概念走向应用，可自主规划、执行复杂任务的智能体成为新焦点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多模态+推理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成为标准配置，文本/图像/视频/音频统一理解与生成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开源逼近闭源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DeepSeek、Llama等开源模型性能快速追赶商业闭源模型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12700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产业趋势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1676400"/>
            <a:ext cx="457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842000" y="1841500"/>
            <a:ext cx="457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企业级落地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AI应用从消费端向企业端规模化渗透，降本增效成为核心驱动力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具身智能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AI与机器人融合进入商业化初期，人形机器人、自动驾驶加速落地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量子-AI混合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量子计算与AI结合探索前沿，有望突破经典算力瓶颈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22000" y="12700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22000" y="1676400"/>
            <a:ext cx="457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0922000" y="1841500"/>
            <a:ext cx="457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AI幻觉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大模型生成虚假信息问题尚未根本解决，影响高风险场景应用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算力瓶颈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高端AI芯片供应受限，国产替代仍需时间突破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数据质量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高质量中文训练数据资源相对不足，影响模型能力上限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147320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5232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OUTLOOK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5626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C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全球AI市场预测与投资展望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096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$2,000亿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67564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2025年全球AI投资预计规模 (高盛预测)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9000" y="6096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$3.69万亿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99000" y="67564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2025年全球AI市场规模预测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6096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26.6%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67564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2025-2034年全球AI市场CAGR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065000" y="6096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$6,520亿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65000" y="67564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2030年全球生成式AI市场预测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74930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AI正从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"技术探索"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进入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"规模化应用"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新阶段。企业需关注AI Agent、多模态融合等前沿方向，同时重视数据安全、伦理治理和人才储备，以抓住下一波智能化浪潮的先机。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763000"/>
            <a:ext cx="1016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Fortune Business Insights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Goldman Sachs; Statista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859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3048000" y="3175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谢谢观看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4318000"/>
            <a:ext cx="2540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3048000" y="4826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人工智能正在重塑人类社会的每一个角落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B0B0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未来十年，将是AI从工具向伙伴演进的关键十年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88000" y="635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2026年5月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近十年人工智能发展史分析报告</dc:title>
  <dc:subject>近十年人工智能发展史分析报告</dc:subject>
  <dc:creator>Kimi</dc:creator>
  <cp:lastModifiedBy>Kimi</cp:lastModifiedBy>
  <cp:revision>1</cp:revision>
  <dcterms:created xsi:type="dcterms:W3CDTF">2026-05-20T01:37:44Z</dcterms:created>
  <dcterms:modified xsi:type="dcterms:W3CDTF">2026-05-20T01:37:44Z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近十年人工智能发展史分析报告","ContentProducer":"001191110108MACG2KBH8F10000","ProduceID":"19e43055-fcc2-8954-8000-0000ec5fede9","ReservedCode1":"","ContentPropagator":"001191110108MACG2KBH8F20000","PropagateID":"19e43055-fcc2-8954-8000-0000ec5fede9","ReservedCode2":""}</vt:lpwstr>
  </property>
</Properties>
</file>